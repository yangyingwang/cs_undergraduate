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5" r:id="rId1"/>
  </p:sldMasterIdLst>
  <p:notesMasterIdLst>
    <p:notesMasterId r:id="rId48"/>
  </p:notesMasterIdLst>
  <p:handoutMasterIdLst>
    <p:handoutMasterId r:id="rId49"/>
  </p:handoutMasterIdLst>
  <p:sldIdLst>
    <p:sldId id="893" r:id="rId2"/>
    <p:sldId id="894" r:id="rId3"/>
    <p:sldId id="895" r:id="rId4"/>
    <p:sldId id="896" r:id="rId5"/>
    <p:sldId id="897" r:id="rId6"/>
    <p:sldId id="898" r:id="rId7"/>
    <p:sldId id="899" r:id="rId8"/>
    <p:sldId id="910" r:id="rId9"/>
    <p:sldId id="911" r:id="rId10"/>
    <p:sldId id="901" r:id="rId11"/>
    <p:sldId id="902" r:id="rId12"/>
    <p:sldId id="903" r:id="rId13"/>
    <p:sldId id="904" r:id="rId14"/>
    <p:sldId id="907" r:id="rId15"/>
    <p:sldId id="906" r:id="rId16"/>
    <p:sldId id="908" r:id="rId17"/>
    <p:sldId id="909" r:id="rId18"/>
    <p:sldId id="950" r:id="rId19"/>
    <p:sldId id="939" r:id="rId20"/>
    <p:sldId id="940" r:id="rId21"/>
    <p:sldId id="953" r:id="rId22"/>
    <p:sldId id="954" r:id="rId23"/>
    <p:sldId id="913" r:id="rId24"/>
    <p:sldId id="914" r:id="rId25"/>
    <p:sldId id="952" r:id="rId26"/>
    <p:sldId id="915" r:id="rId27"/>
    <p:sldId id="916" r:id="rId28"/>
    <p:sldId id="917" r:id="rId29"/>
    <p:sldId id="918" r:id="rId30"/>
    <p:sldId id="919" r:id="rId31"/>
    <p:sldId id="920" r:id="rId32"/>
    <p:sldId id="921" r:id="rId33"/>
    <p:sldId id="951" r:id="rId34"/>
    <p:sldId id="926" r:id="rId35"/>
    <p:sldId id="927" r:id="rId36"/>
    <p:sldId id="928" r:id="rId37"/>
    <p:sldId id="929" r:id="rId38"/>
    <p:sldId id="941" r:id="rId39"/>
    <p:sldId id="942" r:id="rId40"/>
    <p:sldId id="944" r:id="rId41"/>
    <p:sldId id="945" r:id="rId42"/>
    <p:sldId id="946" r:id="rId43"/>
    <p:sldId id="930" r:id="rId44"/>
    <p:sldId id="947" r:id="rId45"/>
    <p:sldId id="948" r:id="rId46"/>
    <p:sldId id="949" r:id="rId47"/>
  </p:sldIdLst>
  <p:sldSz cx="12192000" cy="6858000"/>
  <p:notesSz cx="6934200" cy="9232900"/>
  <p:defaultTextStyle>
    <a:defPPr>
      <a:defRPr lang="en-US"/>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688"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1920">
          <p15:clr>
            <a:srgbClr val="A4A3A4"/>
          </p15:clr>
        </p15:guide>
        <p15:guide id="2" pos="2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5CD509"/>
    <a:srgbClr val="FFFF00"/>
    <a:srgbClr val="8A2A83"/>
    <a:srgbClr val="AA34A2"/>
    <a:srgbClr val="CA14C1"/>
    <a:srgbClr val="CC00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08" autoAdjust="0"/>
    <p:restoredTop sz="94772" autoAdjust="0"/>
  </p:normalViewPr>
  <p:slideViewPr>
    <p:cSldViewPr>
      <p:cViewPr varScale="1">
        <p:scale>
          <a:sx n="58" d="100"/>
          <a:sy n="58" d="100"/>
        </p:scale>
        <p:origin x="45" y="525"/>
      </p:cViewPr>
      <p:guideLst>
        <p:guide orient="horz" pos="2688"/>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028"/>
    </p:cViewPr>
  </p:sorterViewPr>
  <p:notesViewPr>
    <p:cSldViewPr>
      <p:cViewPr>
        <p:scale>
          <a:sx n="100" d="100"/>
          <a:sy n="100" d="100"/>
        </p:scale>
        <p:origin x="-840" y="2610"/>
      </p:cViewPr>
      <p:guideLst>
        <p:guide orient="horz" pos="1920"/>
        <p:guide pos="2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4" name="Rectangle 8"/>
          <p:cNvSpPr>
            <a:spLocks noGrp="1" noChangeArrowheads="1"/>
          </p:cNvSpPr>
          <p:nvPr>
            <p:ph type="hdr" sz="quarter"/>
          </p:nvPr>
        </p:nvSpPr>
        <p:spPr bwMode="auto">
          <a:xfrm>
            <a:off x="506413" y="228600"/>
            <a:ext cx="5934075" cy="460375"/>
          </a:xfrm>
          <a:prstGeom prst="rect">
            <a:avLst/>
          </a:prstGeom>
          <a:noFill/>
          <a:ln w="12700">
            <a:noFill/>
            <a:miter lim="800000"/>
            <a:headEnd/>
            <a:tailEnd/>
          </a:ln>
          <a:effectLst/>
        </p:spPr>
        <p:txBody>
          <a:bodyPr vert="horz" wrap="square" lIns="91440" tIns="45721" rIns="91440" bIns="45721" numCol="1" anchor="t" anchorCtr="0" compatLnSpc="1">
            <a:prstTxWarp prst="textNoShape">
              <a:avLst/>
            </a:prstTxWarp>
          </a:bodyPr>
          <a:lstStyle>
            <a:lvl1pPr algn="ctr" defTabSz="915988" eaLnBrk="0" hangingPunct="0">
              <a:defRPr sz="1400">
                <a:latin typeface="Arial" charset="0"/>
                <a:ea typeface="+mn-ea"/>
              </a:defRPr>
            </a:lvl1pPr>
          </a:lstStyle>
          <a:p>
            <a:pPr>
              <a:defRPr/>
            </a:pPr>
            <a:r>
              <a:rPr lang="en-US" altLang="zh-CN"/>
              <a:t>China’s Software Industry</a:t>
            </a:r>
          </a:p>
          <a:p>
            <a:pPr>
              <a:defRPr/>
            </a:pPr>
            <a:r>
              <a:rPr lang="en-US" altLang="zh-CN"/>
              <a:t>August 2006</a:t>
            </a:r>
            <a:endParaRPr lang="en-US" altLang="zh-CN" i="1"/>
          </a:p>
        </p:txBody>
      </p:sp>
    </p:spTree>
    <p:extLst>
      <p:ext uri="{BB962C8B-B14F-4D97-AF65-F5344CB8AC3E}">
        <p14:creationId xmlns:p14="http://schemas.microsoft.com/office/powerpoint/2010/main" val="22438286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381000" y="228600"/>
            <a:ext cx="6172200" cy="460375"/>
          </a:xfrm>
          <a:prstGeom prst="rect">
            <a:avLst/>
          </a:prstGeom>
          <a:noFill/>
          <a:ln w="12700">
            <a:noFill/>
            <a:miter lim="800000"/>
            <a:headEnd/>
            <a:tailEnd/>
          </a:ln>
          <a:effectLst/>
        </p:spPr>
        <p:txBody>
          <a:bodyPr vert="horz" wrap="square" lIns="91440" tIns="45721" rIns="91440" bIns="45721" numCol="1" anchor="t" anchorCtr="0" compatLnSpc="1">
            <a:prstTxWarp prst="textNoShape">
              <a:avLst/>
            </a:prstTxWarp>
          </a:bodyPr>
          <a:lstStyle>
            <a:lvl1pPr algn="ctr" defTabSz="915988" eaLnBrk="0" hangingPunct="0">
              <a:defRPr sz="1400">
                <a:latin typeface="Arial" charset="0"/>
                <a:ea typeface="+mn-ea"/>
              </a:defRPr>
            </a:lvl1pPr>
          </a:lstStyle>
          <a:p>
            <a:pPr>
              <a:defRPr/>
            </a:pPr>
            <a:r>
              <a:rPr lang="en-US" altLang="zh-CN"/>
              <a:t>China’s Software Industry</a:t>
            </a:r>
          </a:p>
          <a:p>
            <a:pPr>
              <a:defRPr/>
            </a:pPr>
            <a:r>
              <a:rPr lang="en-US" altLang="zh-CN"/>
              <a:t>August 2006</a:t>
            </a:r>
          </a:p>
        </p:txBody>
      </p:sp>
      <p:sp>
        <p:nvSpPr>
          <p:cNvPr id="14339" name="Rectangle 4"/>
          <p:cNvSpPr>
            <a:spLocks noGrp="1" noRot="1" noChangeAspect="1" noChangeArrowheads="1" noTextEdit="1"/>
          </p:cNvSpPr>
          <p:nvPr>
            <p:ph type="sldImg" idx="2"/>
          </p:nvPr>
        </p:nvSpPr>
        <p:spPr bwMode="auto">
          <a:xfrm>
            <a:off x="1582738" y="762000"/>
            <a:ext cx="3694112" cy="2079625"/>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381000" y="3048000"/>
            <a:ext cx="6172200" cy="5799138"/>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p>
            <a:pPr lvl="0"/>
            <a:r>
              <a:rPr lang="en-US" altLang="zh-CN" noProof="0"/>
              <a:t>Click to edit Master text styles</a:t>
            </a:r>
          </a:p>
          <a:p>
            <a:pPr lvl="1"/>
            <a:r>
              <a:rPr lang="en-US" altLang="zh-CN" noProof="0"/>
              <a:t>Second level</a:t>
            </a:r>
          </a:p>
        </p:txBody>
      </p:sp>
      <p:sp>
        <p:nvSpPr>
          <p:cNvPr id="5127" name="Rectangle 7"/>
          <p:cNvSpPr>
            <a:spLocks noGrp="1" noChangeArrowheads="1"/>
          </p:cNvSpPr>
          <p:nvPr>
            <p:ph type="sldNum" sz="quarter" idx="5"/>
          </p:nvPr>
        </p:nvSpPr>
        <p:spPr bwMode="auto">
          <a:xfrm>
            <a:off x="3233738" y="9004300"/>
            <a:ext cx="466725" cy="228600"/>
          </a:xfrm>
          <a:prstGeom prst="rect">
            <a:avLst/>
          </a:prstGeom>
          <a:noFill/>
          <a:ln w="12700">
            <a:noFill/>
            <a:miter lim="800000"/>
            <a:headEnd/>
            <a:tailEnd/>
          </a:ln>
          <a:effectLst/>
        </p:spPr>
        <p:txBody>
          <a:bodyPr vert="horz" wrap="square" lIns="91440" tIns="45721" rIns="91440" bIns="45721" numCol="1" anchor="b" anchorCtr="0" compatLnSpc="1">
            <a:prstTxWarp prst="textNoShape">
              <a:avLst/>
            </a:prstTxWarp>
          </a:bodyPr>
          <a:lstStyle>
            <a:lvl1pPr algn="ctr" defTabSz="915988" eaLnBrk="0" hangingPunct="0">
              <a:defRPr sz="800">
                <a:latin typeface="Arial" charset="0"/>
                <a:ea typeface="+mn-ea"/>
              </a:defRPr>
            </a:lvl1pPr>
          </a:lstStyle>
          <a:p>
            <a:pPr>
              <a:defRPr/>
            </a:pPr>
            <a:fld id="{0C0A3695-287C-4345-B1D2-08D3289A0AD0}" type="slidenum">
              <a:rPr lang="zh-CN" altLang="en-US"/>
              <a:pPr>
                <a:defRPr/>
              </a:pPr>
              <a:t>‹#›</a:t>
            </a:fld>
            <a:endParaRPr lang="en-US" altLang="zh-CN"/>
          </a:p>
        </p:txBody>
      </p:sp>
    </p:spTree>
    <p:extLst>
      <p:ext uri="{BB962C8B-B14F-4D97-AF65-F5344CB8AC3E}">
        <p14:creationId xmlns:p14="http://schemas.microsoft.com/office/powerpoint/2010/main" val="333855773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0"/>
      </a:spcBef>
      <a:spcAft>
        <a:spcPct val="0"/>
      </a:spcAft>
      <a:defRPr sz="1000" kern="1200">
        <a:solidFill>
          <a:schemeClr val="tx1"/>
        </a:solidFill>
        <a:latin typeface="Arial" charset="0"/>
        <a:ea typeface="+mn-ea"/>
        <a:cs typeface="+mn-cs"/>
      </a:defRPr>
    </a:lvl1pPr>
    <a:lvl2pPr marL="342900" indent="-171450" algn="l" rtl="0" eaLnBrk="0" fontAlgn="base" hangingPunct="0">
      <a:spcBef>
        <a:spcPct val="30000"/>
      </a:spcBef>
      <a:spcAft>
        <a:spcPct val="0"/>
      </a:spcAft>
      <a:buFont typeface="Wingdings" pitchFamily="2" charset="2"/>
      <a:buChar char="n"/>
      <a:defRPr sz="1000" kern="1200">
        <a:solidFill>
          <a:schemeClr val="tx1"/>
        </a:solidFill>
        <a:latin typeface="Arial" charset="0"/>
        <a:ea typeface="+mn-ea"/>
        <a:cs typeface="+mn-cs"/>
      </a:defRPr>
    </a:lvl2pPr>
    <a:lvl3pPr marL="1143000" indent="-228600" algn="l" rtl="0" eaLnBrk="0" fontAlgn="base" hangingPunct="0">
      <a:spcBef>
        <a:spcPct val="30000"/>
      </a:spcBef>
      <a:spcAft>
        <a:spcPct val="0"/>
      </a:spcAft>
      <a:buChar char="—"/>
      <a:defRPr sz="1000" kern="1200">
        <a:solidFill>
          <a:schemeClr val="tx1"/>
        </a:solidFill>
        <a:latin typeface="Arial" charset="0"/>
        <a:ea typeface="+mn-ea"/>
        <a:cs typeface="+mn-cs"/>
      </a:defRPr>
    </a:lvl3pPr>
    <a:lvl4pPr marL="1600200" indent="-228600" algn="l" rtl="0" eaLnBrk="0" fontAlgn="base" hangingPunct="0">
      <a:spcBef>
        <a:spcPct val="30000"/>
      </a:spcBef>
      <a:spcAft>
        <a:spcPct val="0"/>
      </a:spcAft>
      <a:buChar char="•"/>
      <a:defRPr sz="1000" kern="1200">
        <a:solidFill>
          <a:schemeClr val="tx1"/>
        </a:solidFill>
        <a:latin typeface="Arial" charset="0"/>
        <a:ea typeface="+mn-ea"/>
        <a:cs typeface="+mn-cs"/>
      </a:defRPr>
    </a:lvl4pPr>
    <a:lvl5pPr marL="2057400" indent="-228600" algn="l" rtl="0" eaLnBrk="0" fontAlgn="base" hangingPunct="0">
      <a:spcBef>
        <a:spcPct val="3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Rectangle 2"/>
          <p:cNvSpPr>
            <a:spLocks noGrp="1" noRot="1" noChangeAspect="1" noChangeArrowheads="1" noTextEdit="1"/>
          </p:cNvSpPr>
          <p:nvPr>
            <p:ph type="sldImg"/>
          </p:nvPr>
        </p:nvSpPr>
        <p:spPr>
          <a:xfrm>
            <a:off x="390525" y="692150"/>
            <a:ext cx="6153150" cy="3462338"/>
          </a:xfrm>
          <a:ln/>
        </p:spPr>
      </p:sp>
      <p:sp>
        <p:nvSpPr>
          <p:cNvPr id="1113091" name="Rectangle 3"/>
          <p:cNvSpPr>
            <a:spLocks noGrp="1" noChangeArrowheads="1"/>
          </p:cNvSpPr>
          <p:nvPr>
            <p:ph type="body" idx="1"/>
          </p:nvPr>
        </p:nvSpPr>
        <p:spPr>
          <a:xfrm>
            <a:off x="923925" y="4386263"/>
            <a:ext cx="5086350" cy="4154487"/>
          </a:xfrm>
          <a:noFill/>
          <a:ln w="9525"/>
        </p:spPr>
        <p:txBody>
          <a:bodyPr/>
          <a:lstStyle/>
          <a:p>
            <a:r>
              <a:rPr lang="zh-CN" altLang="en-US" dirty="0">
                <a:latin typeface="Arial" pitchFamily="34" charset="0"/>
              </a:rPr>
              <a:t>作业调度</a:t>
            </a:r>
            <a:r>
              <a:rPr lang="en-US" altLang="zh-CN" dirty="0">
                <a:latin typeface="Arial" pitchFamily="34" charset="0"/>
              </a:rPr>
              <a:t>——FCFS</a:t>
            </a:r>
            <a:r>
              <a:rPr lang="zh-CN" altLang="en-US" dirty="0">
                <a:latin typeface="Arial" pitchFamily="34" charset="0"/>
              </a:rPr>
              <a:t>，进程调度</a:t>
            </a:r>
            <a:r>
              <a:rPr lang="en-US" altLang="zh-CN" dirty="0">
                <a:latin typeface="Arial" pitchFamily="34" charset="0"/>
              </a:rPr>
              <a:t>——FIFO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Rectangle 2"/>
          <p:cNvSpPr>
            <a:spLocks noGrp="1" noRot="1" noChangeAspect="1" noChangeArrowheads="1" noTextEdit="1"/>
          </p:cNvSpPr>
          <p:nvPr>
            <p:ph type="sldImg"/>
          </p:nvPr>
        </p:nvSpPr>
        <p:spPr>
          <a:xfrm>
            <a:off x="390525" y="692150"/>
            <a:ext cx="6153150" cy="3462338"/>
          </a:xfrm>
          <a:ln/>
        </p:spPr>
      </p:sp>
      <p:sp>
        <p:nvSpPr>
          <p:cNvPr id="1115139" name="Rectangle 3"/>
          <p:cNvSpPr>
            <a:spLocks noGrp="1" noChangeArrowheads="1"/>
          </p:cNvSpPr>
          <p:nvPr>
            <p:ph type="body" idx="1"/>
          </p:nvPr>
        </p:nvSpPr>
        <p:spPr>
          <a:xfrm>
            <a:off x="923925" y="4386263"/>
            <a:ext cx="5086350" cy="4154487"/>
          </a:xfrm>
          <a:noFill/>
          <a:ln w="9525"/>
        </p:spPr>
        <p:txBody>
          <a:bodyPr/>
          <a:lstStyle/>
          <a:p>
            <a:r>
              <a:rPr lang="zh-CN" altLang="en-US">
                <a:latin typeface="Arial" pitchFamily="34" charset="0"/>
              </a:rPr>
              <a:t>各进程为纯计算型，没有输入</a:t>
            </a:r>
            <a:r>
              <a:rPr lang="en-US" altLang="zh-CN">
                <a:latin typeface="Arial" pitchFamily="34" charset="0"/>
              </a:rPr>
              <a:t>/</a:t>
            </a:r>
            <a:r>
              <a:rPr lang="zh-CN" altLang="en-US">
                <a:latin typeface="Arial" pitchFamily="34" charset="0"/>
              </a:rPr>
              <a:t>输出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p:cNvSpPr>
            <a:spLocks noGrp="1" noRot="1" noChangeAspect="1" noChangeArrowheads="1" noTextEdit="1"/>
          </p:cNvSpPr>
          <p:nvPr>
            <p:ph type="sldImg"/>
          </p:nvPr>
        </p:nvSpPr>
        <p:spPr>
          <a:xfrm>
            <a:off x="390525" y="692150"/>
            <a:ext cx="6153150" cy="3462338"/>
          </a:xfrm>
          <a:ln/>
        </p:spPr>
      </p:sp>
      <p:sp>
        <p:nvSpPr>
          <p:cNvPr id="1118211" name="Rectangle 3"/>
          <p:cNvSpPr>
            <a:spLocks noGrp="1" noChangeArrowheads="1"/>
          </p:cNvSpPr>
          <p:nvPr>
            <p:ph type="body" idx="1"/>
          </p:nvPr>
        </p:nvSpPr>
        <p:spPr>
          <a:xfrm>
            <a:off x="923925" y="4386263"/>
            <a:ext cx="5086350" cy="4154487"/>
          </a:xfrm>
          <a:noFill/>
          <a:ln w="9525"/>
        </p:spPr>
        <p:txBody>
          <a:bodyPr/>
          <a:lstStyle/>
          <a:p>
            <a:r>
              <a:rPr lang="en-US" altLang="zh-CN" dirty="0">
                <a:latin typeface="Arial" pitchFamily="34" charset="0"/>
              </a:rPr>
              <a:t>:</a:t>
            </a:r>
            <a:r>
              <a:rPr lang="zh-CN" altLang="en-US" dirty="0">
                <a:latin typeface="Arial" pitchFamily="34" charset="0"/>
              </a:rPr>
              <a:t>注意：作业和进程调度的不同之处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18</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19</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r>
              <a:rPr lang="en-US" altLang="zh-CN"/>
              <a:t>1)89;2)15</a:t>
            </a:r>
            <a:endParaRPr lang="zh-CN" altLang="en-US"/>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20</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22</a:t>
            </a:fld>
            <a:endParaRPr lang="en-US" altLang="zh-CN"/>
          </a:p>
        </p:txBody>
      </p:sp>
    </p:spTree>
    <p:extLst>
      <p:ext uri="{BB962C8B-B14F-4D97-AF65-F5344CB8AC3E}">
        <p14:creationId xmlns:p14="http://schemas.microsoft.com/office/powerpoint/2010/main" val="721298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23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2786" name="Rectangle 2"/>
          <p:cNvSpPr>
            <a:spLocks noGrp="1" noRot="1" noChangeAspect="1" noChangeArrowheads="1" noTextEdit="1"/>
          </p:cNvSpPr>
          <p:nvPr>
            <p:ph type="sldImg"/>
          </p:nvPr>
        </p:nvSpPr>
        <p:spPr>
          <a:xfrm>
            <a:off x="390525" y="692150"/>
            <a:ext cx="6153150" cy="3462338"/>
          </a:xfrm>
          <a:ln/>
        </p:spPr>
      </p:sp>
      <p:sp>
        <p:nvSpPr>
          <p:cNvPr id="1142787" name="Rectangle 3"/>
          <p:cNvSpPr>
            <a:spLocks noGrp="1" noChangeArrowheads="1"/>
          </p:cNvSpPr>
          <p:nvPr>
            <p:ph type="body" idx="1"/>
          </p:nvPr>
        </p:nvSpPr>
        <p:spPr>
          <a:xfrm>
            <a:off x="923925" y="4386263"/>
            <a:ext cx="5086350" cy="4154487"/>
          </a:xfrm>
          <a:noFill/>
          <a:ln w="9525"/>
        </p:spPr>
        <p:txBody>
          <a:bodyPr/>
          <a:lstStyle/>
          <a:p>
            <a:pPr lvl="3">
              <a:buNone/>
            </a:pPr>
            <a:endParaRPr lang="zh-CN" altLang="en-US" dirty="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050" name="Rectangle 2"/>
          <p:cNvSpPr>
            <a:spLocks noGrp="1" noRot="1" noChangeAspect="1" noChangeArrowheads="1" noTextEdit="1"/>
          </p:cNvSpPr>
          <p:nvPr>
            <p:ph type="sldImg"/>
          </p:nvPr>
        </p:nvSpPr>
        <p:spPr>
          <a:xfrm>
            <a:off x="1582738" y="762000"/>
            <a:ext cx="3694112" cy="2079625"/>
          </a:xfrm>
          <a:ln/>
        </p:spPr>
      </p:sp>
      <p:sp>
        <p:nvSpPr>
          <p:cNvPr id="1154051" name="Rectangle 3"/>
          <p:cNvSpPr>
            <a:spLocks noGrp="1" noChangeArrowheads="1"/>
          </p:cNvSpPr>
          <p:nvPr>
            <p:ph type="body" idx="1"/>
          </p:nvPr>
        </p:nvSpPr>
        <p:spPr>
          <a:noFill/>
          <a:ln w="9525"/>
        </p:spPr>
        <p:txBody>
          <a:bodyPr/>
          <a:lstStyle/>
          <a:p>
            <a:r>
              <a:rPr lang="zh-CN" altLang="en-US">
                <a:latin typeface="Arial" pitchFamily="34" charset="0"/>
              </a:rPr>
              <a:t>比如计算导弹来袭轨迹的进程，其计算时间非常有限。如果进程不能在规定时间内计算出来，则结果就毫无意义。但如果能在截止时间前完成，那提前多少则无关紧要。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38</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40</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2738" y="762000"/>
            <a:ext cx="3694112" cy="2079625"/>
          </a:xfrm>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China’s Software Industry</a:t>
            </a:r>
          </a:p>
          <a:p>
            <a:pPr>
              <a:defRPr/>
            </a:pPr>
            <a:r>
              <a:rPr lang="en-US" altLang="zh-CN"/>
              <a:t>August 2006</a:t>
            </a:r>
          </a:p>
        </p:txBody>
      </p:sp>
      <p:sp>
        <p:nvSpPr>
          <p:cNvPr id="5" name="灯片编号占位符 4"/>
          <p:cNvSpPr>
            <a:spLocks noGrp="1"/>
          </p:cNvSpPr>
          <p:nvPr>
            <p:ph type="sldNum" sz="quarter" idx="11"/>
          </p:nvPr>
        </p:nvSpPr>
        <p:spPr/>
        <p:txBody>
          <a:bodyPr/>
          <a:lstStyle/>
          <a:p>
            <a:pPr>
              <a:defRPr/>
            </a:pPr>
            <a:fld id="{0C0A3695-287C-4345-B1D2-08D3289A0AD0}" type="slidenum">
              <a:rPr lang="zh-CN" altLang="en-US" smtClean="0"/>
              <a:pPr>
                <a:defRPr/>
              </a:pPr>
              <a:t>44</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4" name="Rectangle 6"/>
          <p:cNvSpPr>
            <a:spLocks noChangeArrowheads="1"/>
          </p:cNvSpPr>
          <p:nvPr/>
        </p:nvSpPr>
        <p:spPr bwMode="gray">
          <a:xfrm>
            <a:off x="1524000" y="6086445"/>
            <a:ext cx="9753600" cy="400110"/>
          </a:xfrm>
          <a:prstGeom prst="rect">
            <a:avLst/>
          </a:prstGeom>
          <a:solidFill>
            <a:srgbClr val="008000"/>
          </a:solidFill>
          <a:ln w="9525">
            <a:noFill/>
            <a:miter lim="800000"/>
            <a:headEnd/>
            <a:tailEnd/>
          </a:ln>
          <a:effectLst/>
        </p:spPr>
        <p:txBody>
          <a:bodyPr anchor="ctr">
            <a:spAutoFit/>
          </a:bodyPr>
          <a:lstStyle/>
          <a:p>
            <a:pPr algn="ctr">
              <a:defRPr/>
            </a:pPr>
            <a:endParaRPr lang="zh-CN" altLang="en-US" sz="2000">
              <a:latin typeface="Arial" charset="0"/>
              <a:ea typeface="+mn-ea"/>
            </a:endParaRPr>
          </a:p>
        </p:txBody>
      </p:sp>
      <p:sp>
        <p:nvSpPr>
          <p:cNvPr id="5" name="Rectangle 8"/>
          <p:cNvSpPr>
            <a:spLocks noChangeArrowheads="1"/>
          </p:cNvSpPr>
          <p:nvPr/>
        </p:nvSpPr>
        <p:spPr bwMode="gray">
          <a:xfrm>
            <a:off x="11885084" y="6716714"/>
            <a:ext cx="304800" cy="122237"/>
          </a:xfrm>
          <a:prstGeom prst="rect">
            <a:avLst/>
          </a:prstGeom>
          <a:noFill/>
          <a:ln w="12700">
            <a:noFill/>
            <a:miter lim="800000"/>
            <a:headEnd/>
            <a:tailEnd/>
          </a:ln>
          <a:effectLst/>
        </p:spPr>
        <p:txBody>
          <a:bodyPr lIns="0" tIns="0" rIns="0" bIns="0">
            <a:spAutoFit/>
          </a:bodyPr>
          <a:lstStyle/>
          <a:p>
            <a:pPr algn="ctr" eaLnBrk="0" hangingPunct="0">
              <a:defRPr/>
            </a:pPr>
            <a:fld id="{2F99F06A-5578-4D55-82AB-8E9AE43D564E}" type="slidenum">
              <a:rPr lang="zh-CN" altLang="en-US" sz="800">
                <a:latin typeface="Times New Roman" pitchFamily="18" charset="0"/>
              </a:rPr>
              <a:pPr algn="ctr" eaLnBrk="0" hangingPunct="0">
                <a:defRPr/>
              </a:pPr>
              <a:t>‹#›</a:t>
            </a:fld>
            <a:endParaRPr lang="en-US" altLang="zh-CN" sz="800">
              <a:latin typeface="Times New Roman" pitchFamily="18" charset="0"/>
            </a:endParaRPr>
          </a:p>
        </p:txBody>
      </p:sp>
      <p:sp>
        <p:nvSpPr>
          <p:cNvPr id="6" name="Rectangle 9"/>
          <p:cNvSpPr>
            <a:spLocks noChangeArrowheads="1"/>
          </p:cNvSpPr>
          <p:nvPr/>
        </p:nvSpPr>
        <p:spPr bwMode="gray">
          <a:xfrm>
            <a:off x="11885084" y="6716714"/>
            <a:ext cx="304800" cy="122237"/>
          </a:xfrm>
          <a:prstGeom prst="rect">
            <a:avLst/>
          </a:prstGeom>
          <a:noFill/>
          <a:ln w="12700">
            <a:noFill/>
            <a:miter lim="800000"/>
            <a:headEnd/>
            <a:tailEnd/>
          </a:ln>
          <a:effectLst/>
        </p:spPr>
        <p:txBody>
          <a:bodyPr lIns="0" tIns="0" rIns="0" bIns="0">
            <a:spAutoFit/>
          </a:bodyPr>
          <a:lstStyle/>
          <a:p>
            <a:pPr algn="ctr" eaLnBrk="0" hangingPunct="0">
              <a:defRPr/>
            </a:pPr>
            <a:fld id="{D9F20204-34F3-44A5-BDA7-F111C7D29AAB}" type="slidenum">
              <a:rPr lang="zh-CN" altLang="en-US" sz="800">
                <a:latin typeface="Times New Roman" pitchFamily="18" charset="0"/>
              </a:rPr>
              <a:pPr algn="ctr" eaLnBrk="0" hangingPunct="0">
                <a:defRPr/>
              </a:pPr>
              <a:t>‹#›</a:t>
            </a:fld>
            <a:endParaRPr lang="en-US" altLang="zh-CN" sz="800">
              <a:latin typeface="Times New Roman" pitchFamily="18" charset="0"/>
            </a:endParaRPr>
          </a:p>
        </p:txBody>
      </p:sp>
      <p:pic>
        <p:nvPicPr>
          <p:cNvPr id="7" name="Picture 11" descr="复件 复件 earth020"/>
          <p:cNvPicPr>
            <a:picLocks noChangeAspect="1" noChangeArrowheads="1"/>
          </p:cNvPicPr>
          <p:nvPr userDrawn="1"/>
        </p:nvPicPr>
        <p:blipFill>
          <a:blip r:embed="rId2">
            <a:clrChange>
              <a:clrFrom>
                <a:srgbClr val="FFFFFF"/>
              </a:clrFrom>
              <a:clrTo>
                <a:srgbClr val="FFFFFF">
                  <a:alpha val="0"/>
                </a:srgbClr>
              </a:clrTo>
            </a:clrChange>
          </a:blip>
          <a:srcRect/>
          <a:stretch>
            <a:fillRect/>
          </a:stretch>
        </p:blipFill>
        <p:spPr bwMode="auto">
          <a:xfrm>
            <a:off x="311151" y="5700713"/>
            <a:ext cx="1189567" cy="919162"/>
          </a:xfrm>
          <a:prstGeom prst="rect">
            <a:avLst/>
          </a:prstGeom>
          <a:noFill/>
          <a:ln w="9525">
            <a:noFill/>
            <a:miter lim="800000"/>
            <a:headEnd/>
            <a:tailEnd/>
          </a:ln>
        </p:spPr>
      </p:pic>
      <p:grpSp>
        <p:nvGrpSpPr>
          <p:cNvPr id="8" name="Group 12"/>
          <p:cNvGrpSpPr>
            <a:grpSpLocks/>
          </p:cNvGrpSpPr>
          <p:nvPr userDrawn="1"/>
        </p:nvGrpSpPr>
        <p:grpSpPr bwMode="auto">
          <a:xfrm>
            <a:off x="10363201" y="331788"/>
            <a:ext cx="1248833" cy="931862"/>
            <a:chOff x="2097" y="1570"/>
            <a:chExt cx="1540" cy="1533"/>
          </a:xfrm>
        </p:grpSpPr>
        <p:sp>
          <p:nvSpPr>
            <p:cNvPr id="9" name="AutoShape 13"/>
            <p:cNvSpPr>
              <a:spLocks noChangeArrowheads="1"/>
            </p:cNvSpPr>
            <p:nvPr/>
          </p:nvSpPr>
          <p:spPr bwMode="auto">
            <a:xfrm>
              <a:off x="2700" y="1570"/>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10" name="AutoShape 14"/>
            <p:cNvSpPr>
              <a:spLocks noChangeArrowheads="1"/>
            </p:cNvSpPr>
            <p:nvPr/>
          </p:nvSpPr>
          <p:spPr bwMode="auto">
            <a:xfrm rot="3086496">
              <a:off x="3202" y="1812"/>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11" name="AutoShape 15"/>
            <p:cNvSpPr>
              <a:spLocks noChangeArrowheads="1"/>
            </p:cNvSpPr>
            <p:nvPr/>
          </p:nvSpPr>
          <p:spPr bwMode="auto">
            <a:xfrm rot="9154589">
              <a:off x="2995" y="2782"/>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12" name="AutoShape 16"/>
            <p:cNvSpPr>
              <a:spLocks noChangeArrowheads="1"/>
            </p:cNvSpPr>
            <p:nvPr/>
          </p:nvSpPr>
          <p:spPr bwMode="auto">
            <a:xfrm rot="18419257">
              <a:off x="2186" y="1826"/>
              <a:ext cx="319"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13" name="AutoShape 17"/>
            <p:cNvSpPr>
              <a:spLocks noChangeArrowheads="1"/>
            </p:cNvSpPr>
            <p:nvPr/>
          </p:nvSpPr>
          <p:spPr bwMode="auto">
            <a:xfrm rot="15307577">
              <a:off x="2089" y="2377"/>
              <a:ext cx="319"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14" name="AutoShape 18"/>
            <p:cNvSpPr>
              <a:spLocks noChangeArrowheads="1"/>
            </p:cNvSpPr>
            <p:nvPr/>
          </p:nvSpPr>
          <p:spPr bwMode="auto">
            <a:xfrm rot="12211607">
              <a:off x="2442" y="2800"/>
              <a:ext cx="318"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15" name="AutoShape 19"/>
            <p:cNvSpPr>
              <a:spLocks noChangeArrowheads="1"/>
            </p:cNvSpPr>
            <p:nvPr/>
          </p:nvSpPr>
          <p:spPr bwMode="auto">
            <a:xfrm rot="6114087">
              <a:off x="3328" y="2344"/>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grpSp>
      <p:sp>
        <p:nvSpPr>
          <p:cNvPr id="646146" name="Rectangle 2"/>
          <p:cNvSpPr>
            <a:spLocks noGrp="1" noChangeArrowheads="1"/>
          </p:cNvSpPr>
          <p:nvPr>
            <p:ph type="ctrTitle"/>
          </p:nvPr>
        </p:nvSpPr>
        <p:spPr>
          <a:xfrm>
            <a:off x="914400" y="1905000"/>
            <a:ext cx="10871200" cy="1143000"/>
          </a:xfrm>
        </p:spPr>
        <p:txBody>
          <a:bodyPr anchor="b"/>
          <a:lstStyle>
            <a:lvl1pPr>
              <a:defRPr sz="4000" b="0"/>
            </a:lvl1pPr>
          </a:lstStyle>
          <a:p>
            <a:r>
              <a:rPr lang="en-US" altLang="zh-CN"/>
              <a:t>Click to edit Master title style</a:t>
            </a:r>
          </a:p>
        </p:txBody>
      </p:sp>
      <p:sp>
        <p:nvSpPr>
          <p:cNvPr id="646147" name="Rectangle 3"/>
          <p:cNvSpPr>
            <a:spLocks noGrp="1" noChangeArrowheads="1"/>
          </p:cNvSpPr>
          <p:nvPr>
            <p:ph type="subTitle" idx="1"/>
          </p:nvPr>
        </p:nvSpPr>
        <p:spPr>
          <a:xfrm>
            <a:off x="914400" y="3352800"/>
            <a:ext cx="10871200" cy="381000"/>
          </a:xfrm>
        </p:spPr>
        <p:txBody>
          <a:bodyPr bIns="45720"/>
          <a:lstStyle>
            <a:lvl1pPr marL="0" indent="0">
              <a:spcBef>
                <a:spcPct val="0"/>
              </a:spcBef>
              <a:buFont typeface="Wingdings" pitchFamily="2" charset="2"/>
              <a:buNone/>
              <a:defRPr b="1"/>
            </a:lvl1pPr>
          </a:lstStyle>
          <a:p>
            <a:r>
              <a:rPr lang="en-US" altLang="zh-CN"/>
              <a:t>Click to edit Master subtitle style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461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7" grpId="0" build="p" bldLvl="2"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447800"/>
            <a:ext cx="5588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447800"/>
            <a:ext cx="5588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0800" y="762000"/>
            <a:ext cx="2844800"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762000"/>
            <a:ext cx="83312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762000"/>
            <a:ext cx="11379200" cy="381000"/>
          </a:xfrm>
        </p:spPr>
        <p:txBody>
          <a:bodyPr/>
          <a:lstStyle/>
          <a:p>
            <a:r>
              <a:rPr lang="zh-CN" altLang="en-US"/>
              <a:t>单击此处编辑母版标题样式</a:t>
            </a:r>
          </a:p>
        </p:txBody>
      </p:sp>
      <p:sp>
        <p:nvSpPr>
          <p:cNvPr id="3" name="文本占位符 2"/>
          <p:cNvSpPr>
            <a:spLocks noGrp="1"/>
          </p:cNvSpPr>
          <p:nvPr>
            <p:ph type="body" sz="half" idx="1"/>
          </p:nvPr>
        </p:nvSpPr>
        <p:spPr>
          <a:xfrm>
            <a:off x="406400" y="1447800"/>
            <a:ext cx="5588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447800"/>
            <a:ext cx="5588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gray">
          <a:xfrm>
            <a:off x="406400" y="762000"/>
            <a:ext cx="11379200" cy="381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ltLang="zh-CN"/>
              <a:t>Click to edit Master title style</a:t>
            </a:r>
          </a:p>
        </p:txBody>
      </p:sp>
      <p:sp>
        <p:nvSpPr>
          <p:cNvPr id="645123" name="Rectangle 3"/>
          <p:cNvSpPr>
            <a:spLocks noGrp="1" noChangeArrowheads="1"/>
          </p:cNvSpPr>
          <p:nvPr>
            <p:ph type="body" idx="1"/>
          </p:nvPr>
        </p:nvSpPr>
        <p:spPr bwMode="gray">
          <a:xfrm>
            <a:off x="406400" y="1447800"/>
            <a:ext cx="11379200" cy="5029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645128" name="Rectangle 8"/>
          <p:cNvSpPr>
            <a:spLocks noChangeArrowheads="1"/>
          </p:cNvSpPr>
          <p:nvPr/>
        </p:nvSpPr>
        <p:spPr bwMode="gray">
          <a:xfrm>
            <a:off x="11885084" y="6716714"/>
            <a:ext cx="304800" cy="122237"/>
          </a:xfrm>
          <a:prstGeom prst="rect">
            <a:avLst/>
          </a:prstGeom>
          <a:noFill/>
          <a:ln w="12700">
            <a:noFill/>
            <a:miter lim="800000"/>
            <a:headEnd/>
            <a:tailEnd/>
          </a:ln>
          <a:effectLst/>
        </p:spPr>
        <p:txBody>
          <a:bodyPr lIns="0" tIns="0" rIns="0" bIns="0">
            <a:spAutoFit/>
          </a:bodyPr>
          <a:lstStyle/>
          <a:p>
            <a:pPr algn="ctr" eaLnBrk="0" hangingPunct="0">
              <a:defRPr/>
            </a:pPr>
            <a:fld id="{00422F49-54BF-49A9-BEFF-14FF34A1EDF3}" type="slidenum">
              <a:rPr lang="zh-CN" altLang="en-US" sz="800">
                <a:latin typeface="Times New Roman" pitchFamily="18" charset="0"/>
                <a:ea typeface="仿宋_GB2312" pitchFamily="49" charset="-122"/>
              </a:rPr>
              <a:pPr algn="ctr" eaLnBrk="0" hangingPunct="0">
                <a:defRPr/>
              </a:pPr>
              <a:t>‹#›</a:t>
            </a:fld>
            <a:endParaRPr lang="en-US" altLang="zh-CN" sz="800">
              <a:latin typeface="Times New Roman" pitchFamily="18" charset="0"/>
              <a:ea typeface="仿宋_GB2312" pitchFamily="49" charset="-122"/>
            </a:endParaRPr>
          </a:p>
        </p:txBody>
      </p:sp>
      <p:sp>
        <p:nvSpPr>
          <p:cNvPr id="645129" name="Rectangle 9"/>
          <p:cNvSpPr>
            <a:spLocks noChangeArrowheads="1"/>
          </p:cNvSpPr>
          <p:nvPr/>
        </p:nvSpPr>
        <p:spPr bwMode="gray">
          <a:xfrm>
            <a:off x="11885084" y="6716714"/>
            <a:ext cx="304800" cy="122237"/>
          </a:xfrm>
          <a:prstGeom prst="rect">
            <a:avLst/>
          </a:prstGeom>
          <a:noFill/>
          <a:ln w="12700">
            <a:noFill/>
            <a:miter lim="800000"/>
            <a:headEnd/>
            <a:tailEnd/>
          </a:ln>
          <a:effectLst/>
        </p:spPr>
        <p:txBody>
          <a:bodyPr lIns="0" tIns="0" rIns="0" bIns="0">
            <a:spAutoFit/>
          </a:bodyPr>
          <a:lstStyle/>
          <a:p>
            <a:pPr algn="ctr" eaLnBrk="0" hangingPunct="0">
              <a:defRPr/>
            </a:pPr>
            <a:fld id="{F6D8FC8E-FDC2-4B35-8EBE-E0C6CC1E672B}" type="slidenum">
              <a:rPr lang="zh-CN" altLang="en-US" sz="800">
                <a:latin typeface="Times New Roman" pitchFamily="18" charset="0"/>
                <a:ea typeface="仿宋_GB2312" pitchFamily="49" charset="-122"/>
              </a:rPr>
              <a:pPr algn="ctr" eaLnBrk="0" hangingPunct="0">
                <a:defRPr/>
              </a:pPr>
              <a:t>‹#›</a:t>
            </a:fld>
            <a:endParaRPr lang="en-US" altLang="zh-CN" sz="800">
              <a:latin typeface="Times New Roman" pitchFamily="18" charset="0"/>
              <a:ea typeface="仿宋_GB2312" pitchFamily="49" charset="-122"/>
            </a:endParaRPr>
          </a:p>
        </p:txBody>
      </p:sp>
      <p:pic>
        <p:nvPicPr>
          <p:cNvPr id="1030" name="Picture 10" descr="复件 复件 earth020"/>
          <p:cNvPicPr>
            <a:picLocks noChangeAspect="1" noChangeArrowheads="1"/>
          </p:cNvPicPr>
          <p:nvPr userDrawn="1"/>
        </p:nvPicPr>
        <p:blipFill>
          <a:blip r:embed="rId14">
            <a:clrChange>
              <a:clrFrom>
                <a:srgbClr val="FFFFFF"/>
              </a:clrFrom>
              <a:clrTo>
                <a:srgbClr val="FFFFFF">
                  <a:alpha val="0"/>
                </a:srgbClr>
              </a:clrTo>
            </a:clrChange>
          </a:blip>
          <a:srcRect/>
          <a:stretch>
            <a:fillRect/>
          </a:stretch>
        </p:blipFill>
        <p:spPr bwMode="auto">
          <a:xfrm>
            <a:off x="311151" y="5700713"/>
            <a:ext cx="1189567" cy="919162"/>
          </a:xfrm>
          <a:prstGeom prst="rect">
            <a:avLst/>
          </a:prstGeom>
          <a:noFill/>
          <a:ln w="9525">
            <a:noFill/>
            <a:miter lim="800000"/>
            <a:headEnd/>
            <a:tailEnd/>
          </a:ln>
        </p:spPr>
      </p:pic>
      <p:grpSp>
        <p:nvGrpSpPr>
          <p:cNvPr id="1031" name="Group 11"/>
          <p:cNvGrpSpPr>
            <a:grpSpLocks/>
          </p:cNvGrpSpPr>
          <p:nvPr userDrawn="1"/>
        </p:nvGrpSpPr>
        <p:grpSpPr bwMode="auto">
          <a:xfrm>
            <a:off x="10625668" y="331788"/>
            <a:ext cx="1248833" cy="931862"/>
            <a:chOff x="2097" y="1570"/>
            <a:chExt cx="1540" cy="1533"/>
          </a:xfrm>
        </p:grpSpPr>
        <p:sp>
          <p:nvSpPr>
            <p:cNvPr id="645132" name="AutoShape 12"/>
            <p:cNvSpPr>
              <a:spLocks noChangeArrowheads="1"/>
            </p:cNvSpPr>
            <p:nvPr/>
          </p:nvSpPr>
          <p:spPr bwMode="auto">
            <a:xfrm>
              <a:off x="2700" y="1570"/>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645133" name="AutoShape 13"/>
            <p:cNvSpPr>
              <a:spLocks noChangeArrowheads="1"/>
            </p:cNvSpPr>
            <p:nvPr/>
          </p:nvSpPr>
          <p:spPr bwMode="auto">
            <a:xfrm rot="3086496">
              <a:off x="3202" y="1812"/>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645134" name="AutoShape 14"/>
            <p:cNvSpPr>
              <a:spLocks noChangeArrowheads="1"/>
            </p:cNvSpPr>
            <p:nvPr/>
          </p:nvSpPr>
          <p:spPr bwMode="auto">
            <a:xfrm rot="9154589">
              <a:off x="2995" y="2782"/>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645135" name="AutoShape 15"/>
            <p:cNvSpPr>
              <a:spLocks noChangeArrowheads="1"/>
            </p:cNvSpPr>
            <p:nvPr/>
          </p:nvSpPr>
          <p:spPr bwMode="auto">
            <a:xfrm rot="18419257">
              <a:off x="2186" y="1826"/>
              <a:ext cx="319"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645136" name="AutoShape 16"/>
            <p:cNvSpPr>
              <a:spLocks noChangeArrowheads="1"/>
            </p:cNvSpPr>
            <p:nvPr/>
          </p:nvSpPr>
          <p:spPr bwMode="auto">
            <a:xfrm rot="15307577">
              <a:off x="2089" y="2377"/>
              <a:ext cx="319"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645137" name="AutoShape 17"/>
            <p:cNvSpPr>
              <a:spLocks noChangeArrowheads="1"/>
            </p:cNvSpPr>
            <p:nvPr/>
          </p:nvSpPr>
          <p:spPr bwMode="auto">
            <a:xfrm rot="12211607">
              <a:off x="2442" y="2800"/>
              <a:ext cx="318"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sp>
          <p:nvSpPr>
            <p:cNvPr id="645138" name="AutoShape 18"/>
            <p:cNvSpPr>
              <a:spLocks noChangeArrowheads="1"/>
            </p:cNvSpPr>
            <p:nvPr/>
          </p:nvSpPr>
          <p:spPr bwMode="auto">
            <a:xfrm rot="6114087">
              <a:off x="3328" y="2344"/>
              <a:ext cx="316" cy="303"/>
            </a:xfrm>
            <a:prstGeom prst="star5">
              <a:avLst/>
            </a:prstGeom>
            <a:solidFill>
              <a:schemeClr val="tx2"/>
            </a:solidFill>
            <a:ln w="9525">
              <a:noFill/>
              <a:miter lim="800000"/>
              <a:headEnd/>
              <a:tailEnd/>
            </a:ln>
            <a:effectLst/>
          </p:spPr>
          <p:txBody>
            <a:bodyPr wrap="none" anchor="ctr"/>
            <a:lstStyle/>
            <a:p>
              <a:pPr algn="ctr">
                <a:defRPr/>
              </a:pPr>
              <a:endParaRPr lang="zh-CN" altLang="en-US" sz="2000">
                <a:latin typeface="Arial" charset="0"/>
                <a:ea typeface="+mn-ea"/>
              </a:endParaRPr>
            </a:p>
          </p:txBody>
        </p:sp>
      </p:grpSp>
      <p:sp>
        <p:nvSpPr>
          <p:cNvPr id="645139" name="Line 19"/>
          <p:cNvSpPr>
            <a:spLocks noChangeShapeType="1"/>
          </p:cNvSpPr>
          <p:nvPr userDrawn="1"/>
        </p:nvSpPr>
        <p:spPr bwMode="auto">
          <a:xfrm>
            <a:off x="406400" y="1295400"/>
            <a:ext cx="11379200" cy="0"/>
          </a:xfrm>
          <a:prstGeom prst="line">
            <a:avLst/>
          </a:prstGeom>
          <a:noFill/>
          <a:ln w="9525">
            <a:solidFill>
              <a:srgbClr val="CA14C1"/>
            </a:solidFill>
            <a:round/>
            <a:headEnd/>
            <a:tailEnd/>
          </a:ln>
          <a:effectLst/>
        </p:spPr>
        <p:txBody>
          <a:bodyPr wrap="none" anchor="ctr"/>
          <a:lstStyle/>
          <a:p>
            <a:pPr algn="ctr">
              <a:defRPr/>
            </a:pPr>
            <a:endParaRPr lang="zh-CN" altLang="en-US" sz="2000">
              <a:latin typeface="Arial" charset="0"/>
              <a:ea typeface="+mn-ea"/>
            </a:endParaRPr>
          </a:p>
        </p:txBody>
      </p:sp>
      <p:sp>
        <p:nvSpPr>
          <p:cNvPr id="645140" name="Line 20"/>
          <p:cNvSpPr>
            <a:spLocks noChangeShapeType="1"/>
          </p:cNvSpPr>
          <p:nvPr userDrawn="1"/>
        </p:nvSpPr>
        <p:spPr bwMode="auto">
          <a:xfrm>
            <a:off x="1422400" y="6477000"/>
            <a:ext cx="10363200" cy="0"/>
          </a:xfrm>
          <a:prstGeom prst="line">
            <a:avLst/>
          </a:prstGeom>
          <a:noFill/>
          <a:ln w="9525">
            <a:solidFill>
              <a:srgbClr val="CA14C1"/>
            </a:solidFill>
            <a:round/>
            <a:headEnd/>
            <a:tailEnd/>
          </a:ln>
          <a:effectLst/>
        </p:spPr>
        <p:txBody>
          <a:bodyPr wrap="none" anchor="ctr"/>
          <a:lstStyle/>
          <a:p>
            <a:pPr algn="ctr">
              <a:defRPr/>
            </a:pPr>
            <a:endParaRPr lang="zh-CN" altLang="en-US" sz="2000">
              <a:latin typeface="Arial" charset="0"/>
              <a:ea typeface="+mn-ea"/>
            </a:endParaRPr>
          </a:p>
        </p:txBody>
      </p:sp>
    </p:spTree>
  </p:cSld>
  <p:clrMap bg1="lt1" tx1="dk1" bg2="lt2" tx2="dk2" accent1="accent1" accent2="accent2" accent3="accent3" accent4="accent4" accent5="accent5" accent6="accent6" hlink="hlink" folHlink="folHlink"/>
  <p:sldLayoutIdLst>
    <p:sldLayoutId id="2147483668" r:id="rId1"/>
    <p:sldLayoutId id="2147483667" r:id="rId2"/>
    <p:sldLayoutId id="2147483666" r:id="rId3"/>
    <p:sldLayoutId id="2147483665" r:id="rId4"/>
    <p:sldLayoutId id="2147483664" r:id="rId5"/>
    <p:sldLayoutId id="2147483663" r:id="rId6"/>
    <p:sldLayoutId id="2147483662" r:id="rId7"/>
    <p:sldLayoutId id="2147483661" r:id="rId8"/>
    <p:sldLayoutId id="2147483660" r:id="rId9"/>
    <p:sldLayoutId id="2147483659" r:id="rId10"/>
    <p:sldLayoutId id="2147483658" r:id="rId11"/>
    <p:sldLayoutId id="2147483657" r:id="rId12"/>
  </p:sldLayoutIdLst>
  <p:txStyles>
    <p:titleStyle>
      <a:lvl1pPr algn="l" rtl="0" eaLnBrk="0" fontAlgn="base" hangingPunct="0">
        <a:lnSpc>
          <a:spcPct val="85000"/>
        </a:lnSpc>
        <a:spcBef>
          <a:spcPct val="0"/>
        </a:spcBef>
        <a:spcAft>
          <a:spcPct val="0"/>
        </a:spcAft>
        <a:defRPr sz="2800" b="1">
          <a:solidFill>
            <a:schemeClr val="tx2"/>
          </a:solidFill>
          <a:latin typeface="+mj-lt"/>
          <a:ea typeface="+mj-ea"/>
          <a:cs typeface="+mj-cs"/>
        </a:defRPr>
      </a:lvl1pPr>
      <a:lvl2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2pPr>
      <a:lvl3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3pPr>
      <a:lvl4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4pPr>
      <a:lvl5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5pPr>
      <a:lvl6pPr marL="4572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6pPr>
      <a:lvl7pPr marL="9144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7pPr>
      <a:lvl8pPr marL="13716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8pPr>
      <a:lvl9pPr marL="18288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9pPr>
    </p:titleStyle>
    <p:bodyStyle>
      <a:lvl1pPr marL="265113" indent="-265113" algn="l" rtl="0" eaLnBrk="0" fontAlgn="base" hangingPunct="0">
        <a:spcBef>
          <a:spcPct val="35000"/>
        </a:spcBef>
        <a:spcAft>
          <a:spcPct val="0"/>
        </a:spcAft>
        <a:buClr>
          <a:schemeClr val="hlink"/>
        </a:buClr>
        <a:buSzPct val="85000"/>
        <a:buFont typeface="Wingdings" pitchFamily="2" charset="2"/>
        <a:buChar char="Ü"/>
        <a:defRPr sz="2200">
          <a:solidFill>
            <a:schemeClr val="tx1"/>
          </a:solidFill>
          <a:latin typeface="+mn-lt"/>
          <a:ea typeface="+mn-ea"/>
          <a:cs typeface="+mn-cs"/>
        </a:defRPr>
      </a:lvl1pPr>
      <a:lvl2pPr marL="625475" indent="-176213" algn="l" rtl="0" eaLnBrk="0" fontAlgn="base" hangingPunct="0">
        <a:spcBef>
          <a:spcPct val="35000"/>
        </a:spcBef>
        <a:spcAft>
          <a:spcPct val="0"/>
        </a:spcAft>
        <a:buClr>
          <a:schemeClr val="hlink"/>
        </a:buClr>
        <a:buChar char="–"/>
        <a:defRPr sz="2200">
          <a:solidFill>
            <a:schemeClr val="tx1"/>
          </a:solidFill>
          <a:latin typeface="+mn-lt"/>
          <a:ea typeface="+mn-ea"/>
        </a:defRPr>
      </a:lvl2pPr>
      <a:lvl3pPr marL="981075" indent="-176213" algn="l" rtl="0" eaLnBrk="0" fontAlgn="base" hangingPunct="0">
        <a:spcBef>
          <a:spcPct val="35000"/>
        </a:spcBef>
        <a:spcAft>
          <a:spcPct val="0"/>
        </a:spcAft>
        <a:buClr>
          <a:schemeClr val="hlink"/>
        </a:buClr>
        <a:buSzPct val="95000"/>
        <a:buFont typeface="Arial" pitchFamily="34" charset="0"/>
        <a:buChar char="→"/>
        <a:defRPr sz="2200">
          <a:solidFill>
            <a:schemeClr val="tx1"/>
          </a:solidFill>
          <a:latin typeface="+mn-lt"/>
          <a:ea typeface="+mn-ea"/>
        </a:defRPr>
      </a:lvl3pPr>
      <a:lvl4pPr marL="1657350" indent="-171450" algn="l" rtl="0" eaLnBrk="0" fontAlgn="base" hangingPunct="0">
        <a:lnSpc>
          <a:spcPct val="85000"/>
        </a:lnSpc>
        <a:spcBef>
          <a:spcPct val="25000"/>
        </a:spcBef>
        <a:spcAft>
          <a:spcPct val="0"/>
        </a:spcAft>
        <a:buClr>
          <a:schemeClr val="hlink"/>
        </a:buClr>
        <a:buChar char="–"/>
        <a:defRPr sz="1400">
          <a:solidFill>
            <a:schemeClr val="tx1"/>
          </a:solidFill>
          <a:latin typeface="Arial" charset="0"/>
          <a:ea typeface="+mn-ea"/>
        </a:defRPr>
      </a:lvl4pPr>
      <a:lvl5pPr marL="2057400" indent="-228600" algn="l" rtl="0" eaLnBrk="0" fontAlgn="base" hangingPunct="0">
        <a:lnSpc>
          <a:spcPct val="85000"/>
        </a:lnSpc>
        <a:spcBef>
          <a:spcPct val="25000"/>
        </a:spcBef>
        <a:spcAft>
          <a:spcPct val="0"/>
        </a:spcAft>
        <a:buClr>
          <a:schemeClr val="hlink"/>
        </a:buClr>
        <a:buChar char="–"/>
        <a:defRPr sz="1400">
          <a:solidFill>
            <a:schemeClr val="tx1"/>
          </a:solidFill>
          <a:latin typeface="Arial" charset="0"/>
          <a:ea typeface="+mn-ea"/>
        </a:defRPr>
      </a:lvl5pPr>
      <a:lvl6pPr marL="25146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6pPr>
      <a:lvl7pPr marL="29718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7pPr>
      <a:lvl8pPr marL="34290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8pPr>
      <a:lvl9pPr marL="38862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2067" name="Rectangle 3"/>
          <p:cNvSpPr>
            <a:spLocks noGrp="1" noChangeArrowheads="1"/>
          </p:cNvSpPr>
          <p:nvPr>
            <p:ph type="body" idx="1"/>
          </p:nvPr>
        </p:nvSpPr>
        <p:spPr>
          <a:xfrm>
            <a:off x="1828800" y="1371600"/>
            <a:ext cx="8229600" cy="5715000"/>
          </a:xfrm>
        </p:spPr>
        <p:txBody>
          <a:bodyPr/>
          <a:lstStyle/>
          <a:p>
            <a:pPr marL="533400" indent="-533400"/>
            <a:r>
              <a:rPr lang="zh-CN" altLang="en-US" sz="2400" b="1" dirty="0">
                <a:ea typeface="楷体_GB2312" pitchFamily="49" charset="-122"/>
              </a:rPr>
              <a:t>先来先服务</a:t>
            </a:r>
            <a:r>
              <a:rPr lang="en-US" altLang="zh-CN" sz="2400" b="1" dirty="0">
                <a:ea typeface="楷体_GB2312" pitchFamily="49" charset="-122"/>
              </a:rPr>
              <a:t>(FCFS)</a:t>
            </a:r>
            <a:endParaRPr lang="zh-CN" altLang="en-US" sz="2400" b="1" dirty="0">
              <a:ea typeface="楷体_GB2312" pitchFamily="49" charset="-122"/>
            </a:endParaRPr>
          </a:p>
          <a:p>
            <a:pPr marL="914400" lvl="1" indent="-457200"/>
            <a:r>
              <a:rPr lang="zh-CN" altLang="en-US" sz="2600" b="1" dirty="0">
                <a:ea typeface="楷体_GB2312" pitchFamily="49" charset="-122"/>
              </a:rPr>
              <a:t>按照作业</a:t>
            </a:r>
            <a:r>
              <a:rPr lang="en-US" altLang="zh-CN" sz="2600" b="1" dirty="0">
                <a:ea typeface="楷体_GB2312" pitchFamily="49" charset="-122"/>
              </a:rPr>
              <a:t>/</a:t>
            </a:r>
            <a:r>
              <a:rPr lang="zh-CN" altLang="en-US" sz="2600" b="1" dirty="0">
                <a:ea typeface="楷体_GB2312" pitchFamily="49" charset="-122"/>
              </a:rPr>
              <a:t>进程进入系统的</a:t>
            </a:r>
            <a:r>
              <a:rPr lang="zh-CN" altLang="en-US" sz="2600" b="1" dirty="0">
                <a:solidFill>
                  <a:srgbClr val="990000"/>
                </a:solidFill>
                <a:ea typeface="楷体_GB2312" pitchFamily="49" charset="-122"/>
              </a:rPr>
              <a:t>先后次序</a:t>
            </a:r>
            <a:r>
              <a:rPr lang="zh-CN" altLang="en-US" sz="2600" b="1" dirty="0">
                <a:ea typeface="楷体_GB2312" pitchFamily="49" charset="-122"/>
              </a:rPr>
              <a:t>进行调度，先进入系统者先调度；即启动等待时间最长的作业</a:t>
            </a:r>
            <a:r>
              <a:rPr lang="en-US" altLang="zh-CN" sz="2600" b="1" dirty="0">
                <a:ea typeface="楷体_GB2312" pitchFamily="49" charset="-122"/>
              </a:rPr>
              <a:t>/</a:t>
            </a:r>
            <a:r>
              <a:rPr lang="zh-CN" altLang="en-US" sz="2600" b="1" dirty="0">
                <a:ea typeface="楷体_GB2312" pitchFamily="49" charset="-122"/>
              </a:rPr>
              <a:t>进程</a:t>
            </a:r>
          </a:p>
          <a:p>
            <a:pPr marL="914400" lvl="1" indent="-457200"/>
            <a:r>
              <a:rPr lang="zh-CN" altLang="en-US" sz="2600" b="1" dirty="0">
                <a:ea typeface="楷体_GB2312" pitchFamily="49" charset="-122"/>
              </a:rPr>
              <a:t>是一种最简单的调度算法，即可用于</a:t>
            </a:r>
            <a:r>
              <a:rPr lang="zh-CN" altLang="en-US" sz="2600" b="1" dirty="0">
                <a:solidFill>
                  <a:srgbClr val="990000"/>
                </a:solidFill>
                <a:ea typeface="楷体_GB2312" pitchFamily="49" charset="-122"/>
              </a:rPr>
              <a:t>作业调度</a:t>
            </a:r>
            <a:r>
              <a:rPr lang="zh-CN" altLang="en-US" sz="2600" b="1" dirty="0">
                <a:ea typeface="楷体_GB2312" pitchFamily="49" charset="-122"/>
              </a:rPr>
              <a:t>，也可用于</a:t>
            </a:r>
            <a:r>
              <a:rPr lang="zh-CN" altLang="en-US" sz="2600" b="1" dirty="0">
                <a:solidFill>
                  <a:srgbClr val="990000"/>
                </a:solidFill>
                <a:ea typeface="楷体_GB2312" pitchFamily="49" charset="-122"/>
              </a:rPr>
              <a:t>进程调度</a:t>
            </a:r>
          </a:p>
          <a:p>
            <a:pPr marL="533400" indent="-533400"/>
            <a:r>
              <a:rPr lang="zh-CN" altLang="en-US" sz="2600" b="1" dirty="0">
                <a:ea typeface="楷体_GB2312" pitchFamily="49" charset="-122"/>
              </a:rPr>
              <a:t>几个术语</a:t>
            </a:r>
          </a:p>
          <a:p>
            <a:pPr marL="914400" lvl="1" indent="-457200">
              <a:spcBef>
                <a:spcPct val="20000"/>
              </a:spcBef>
            </a:pPr>
            <a:r>
              <a:rPr lang="zh-CN" altLang="en-US" sz="2600" b="1" dirty="0">
                <a:ea typeface="楷体_GB2312" pitchFamily="49" charset="-122"/>
              </a:rPr>
              <a:t>到达时间、服务时间、开始时间</a:t>
            </a:r>
          </a:p>
          <a:p>
            <a:pPr marL="914400" lvl="1" indent="-457200">
              <a:spcBef>
                <a:spcPct val="20000"/>
              </a:spcBef>
            </a:pPr>
            <a:r>
              <a:rPr lang="zh-CN" altLang="en-US" sz="2600" b="1" dirty="0">
                <a:ea typeface="楷体_GB2312" pitchFamily="49" charset="-122"/>
              </a:rPr>
              <a:t>完成时间、等待时间</a:t>
            </a:r>
          </a:p>
          <a:p>
            <a:pPr marL="914400" lvl="1" indent="-457200">
              <a:spcBef>
                <a:spcPct val="20000"/>
              </a:spcBef>
            </a:pPr>
            <a:r>
              <a:rPr lang="zh-CN" altLang="en-US" sz="2600" b="1" dirty="0">
                <a:ea typeface="楷体_GB2312" pitchFamily="49" charset="-122"/>
              </a:rPr>
              <a:t>周转时间：完成时间</a:t>
            </a:r>
            <a:r>
              <a:rPr lang="en-US" altLang="zh-CN" sz="2600" b="1" dirty="0">
                <a:ea typeface="楷体_GB2312" pitchFamily="49" charset="-122"/>
              </a:rPr>
              <a:t>-</a:t>
            </a:r>
            <a:r>
              <a:rPr lang="zh-CN" altLang="en-US" sz="2600" b="1" dirty="0">
                <a:ea typeface="楷体_GB2312" pitchFamily="49" charset="-122"/>
              </a:rPr>
              <a:t>到达时间</a:t>
            </a:r>
          </a:p>
          <a:p>
            <a:pPr marL="914400" lvl="1" indent="-457200">
              <a:spcBef>
                <a:spcPct val="20000"/>
              </a:spcBef>
            </a:pPr>
            <a:r>
              <a:rPr lang="zh-CN" altLang="en-US" sz="2600" b="1" dirty="0">
                <a:ea typeface="楷体_GB2312" pitchFamily="49" charset="-122"/>
              </a:rPr>
              <a:t>带权周转时间：周转时间</a:t>
            </a:r>
            <a:r>
              <a:rPr lang="en-US" altLang="zh-CN" sz="2600" b="1" dirty="0">
                <a:ea typeface="楷体_GB2312" pitchFamily="49" charset="-122"/>
              </a:rPr>
              <a:t>/</a:t>
            </a:r>
            <a:r>
              <a:rPr lang="zh-CN" altLang="en-US" sz="2600" b="1" dirty="0">
                <a:ea typeface="楷体_GB2312" pitchFamily="49" charset="-122"/>
              </a:rPr>
              <a:t>服务时间</a:t>
            </a:r>
          </a:p>
        </p:txBody>
      </p:sp>
      <p:sp>
        <p:nvSpPr>
          <p:cNvPr id="1112068" name="Rectangle 4"/>
          <p:cNvSpPr>
            <a:spLocks noChangeArrowheads="1"/>
          </p:cNvSpPr>
          <p:nvPr/>
        </p:nvSpPr>
        <p:spPr bwMode="auto">
          <a:xfrm>
            <a:off x="3733800" y="751185"/>
            <a:ext cx="494046" cy="461665"/>
          </a:xfrm>
          <a:prstGeom prst="rect">
            <a:avLst/>
          </a:prstGeom>
          <a:noFill/>
          <a:ln w="9525">
            <a:noFill/>
            <a:miter lim="800000"/>
            <a:headEnd/>
            <a:tailEnd/>
          </a:ln>
          <a:effectLst/>
        </p:spPr>
        <p:txBody>
          <a:bodyPr wrap="none">
            <a:spAutoFit/>
          </a:bodyPr>
          <a:lstStyle/>
          <a:p>
            <a:r>
              <a:rPr kumimoji="1" lang="zh-CN" altLang="en-US" sz="2400" b="1" dirty="0">
                <a:solidFill>
                  <a:srgbClr val="FF0066"/>
                </a:solidFill>
                <a:latin typeface="Times New Roman" pitchFamily="18" charset="0"/>
              </a:rPr>
              <a:t>①</a:t>
            </a:r>
          </a:p>
        </p:txBody>
      </p:sp>
      <p:sp>
        <p:nvSpPr>
          <p:cNvPr id="1112070" name="Rectangle 2"/>
          <p:cNvSpPr>
            <a:spLocks noChangeArrowheads="1"/>
          </p:cNvSpPr>
          <p:nvPr/>
        </p:nvSpPr>
        <p:spPr bwMode="gray">
          <a:xfrm>
            <a:off x="533400" y="838200"/>
            <a:ext cx="8534400" cy="381000"/>
          </a:xfrm>
          <a:prstGeom prst="rect">
            <a:avLst/>
          </a:prstGeom>
          <a:noFill/>
          <a:ln w="9525">
            <a:noFill/>
            <a:miter lim="800000"/>
            <a:headEnd/>
            <a:tailEnd/>
          </a:ln>
        </p:spPr>
        <p:txBody>
          <a:bodyPr lIns="0" tIns="0" rIns="0" bIns="0"/>
          <a:lstStyle/>
          <a:p>
            <a:pPr>
              <a:lnSpc>
                <a:spcPct val="85000"/>
              </a:lnSpc>
            </a:pPr>
            <a:r>
              <a:rPr lang="zh-CN" altLang="en-US" sz="2800" b="1" dirty="0">
                <a:solidFill>
                  <a:schemeClr val="tx2"/>
                </a:solidFill>
                <a:latin typeface="Times New Roman" pitchFamily="18" charset="0"/>
              </a:rPr>
              <a:t>先来先服务调度算法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12067">
                                            <p:txEl>
                                              <p:pRg st="0" end="0"/>
                                            </p:txEl>
                                          </p:spTgt>
                                        </p:tgtEl>
                                        <p:attrNameLst>
                                          <p:attrName>style.visibility</p:attrName>
                                        </p:attrNameLst>
                                      </p:cBhvr>
                                      <p:to>
                                        <p:strVal val="visible"/>
                                      </p:to>
                                    </p:set>
                                    <p:animEffect transition="in" filter="wipe(up)">
                                      <p:cBhvr>
                                        <p:cTn id="7" dur="500"/>
                                        <p:tgtEl>
                                          <p:spTgt spid="1112067">
                                            <p:txEl>
                                              <p:pRg st="0" end="0"/>
                                            </p:txEl>
                                          </p:spTgt>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1112068"/>
                                        </p:tgtEl>
                                        <p:attrNameLst>
                                          <p:attrName>style.visibility</p:attrName>
                                        </p:attrNameLst>
                                      </p:cBhvr>
                                      <p:to>
                                        <p:strVal val="visible"/>
                                      </p:to>
                                    </p:set>
                                    <p:anim calcmode="lin" valueType="num">
                                      <p:cBhvr>
                                        <p:cTn id="11" dur="1000" fill="hold"/>
                                        <p:tgtEl>
                                          <p:spTgt spid="1112068"/>
                                        </p:tgtEl>
                                        <p:attrNameLst>
                                          <p:attrName>ppt_w</p:attrName>
                                        </p:attrNameLst>
                                      </p:cBhvr>
                                      <p:tavLst>
                                        <p:tav tm="0">
                                          <p:val>
                                            <p:fltVal val="0"/>
                                          </p:val>
                                        </p:tav>
                                        <p:tav tm="100000">
                                          <p:val>
                                            <p:strVal val="#ppt_w"/>
                                          </p:val>
                                        </p:tav>
                                      </p:tavLst>
                                    </p:anim>
                                    <p:anim calcmode="lin" valueType="num">
                                      <p:cBhvr>
                                        <p:cTn id="12" dur="1000" fill="hold"/>
                                        <p:tgtEl>
                                          <p:spTgt spid="1112068"/>
                                        </p:tgtEl>
                                        <p:attrNameLst>
                                          <p:attrName>ppt_h</p:attrName>
                                        </p:attrNameLst>
                                      </p:cBhvr>
                                      <p:tavLst>
                                        <p:tav tm="0">
                                          <p:val>
                                            <p:fltVal val="0"/>
                                          </p:val>
                                        </p:tav>
                                        <p:tav tm="100000">
                                          <p:val>
                                            <p:strVal val="#ppt_h"/>
                                          </p:val>
                                        </p:tav>
                                      </p:tavLst>
                                    </p:anim>
                                    <p:anim calcmode="lin" valueType="num">
                                      <p:cBhvr>
                                        <p:cTn id="13" dur="1000" fill="hold"/>
                                        <p:tgtEl>
                                          <p:spTgt spid="1112068"/>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111206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12067">
                                            <p:txEl>
                                              <p:pRg st="1" end="1"/>
                                            </p:txEl>
                                          </p:spTgt>
                                        </p:tgtEl>
                                        <p:attrNameLst>
                                          <p:attrName>style.visibility</p:attrName>
                                        </p:attrNameLst>
                                      </p:cBhvr>
                                      <p:to>
                                        <p:strVal val="visible"/>
                                      </p:to>
                                    </p:set>
                                    <p:animEffect transition="in" filter="wipe(up)">
                                      <p:cBhvr>
                                        <p:cTn id="19" dur="500"/>
                                        <p:tgtEl>
                                          <p:spTgt spid="1112067">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112067">
                                            <p:txEl>
                                              <p:pRg st="2" end="2"/>
                                            </p:txEl>
                                          </p:spTgt>
                                        </p:tgtEl>
                                        <p:attrNameLst>
                                          <p:attrName>style.visibility</p:attrName>
                                        </p:attrNameLst>
                                      </p:cBhvr>
                                      <p:to>
                                        <p:strVal val="visible"/>
                                      </p:to>
                                    </p:set>
                                    <p:animEffect transition="in" filter="wipe(up)">
                                      <p:cBhvr>
                                        <p:cTn id="24" dur="500"/>
                                        <p:tgtEl>
                                          <p:spTgt spid="111206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112067">
                                            <p:txEl>
                                              <p:pRg st="3" end="3"/>
                                            </p:txEl>
                                          </p:spTgt>
                                        </p:tgtEl>
                                        <p:attrNameLst>
                                          <p:attrName>style.visibility</p:attrName>
                                        </p:attrNameLst>
                                      </p:cBhvr>
                                      <p:to>
                                        <p:strVal val="visible"/>
                                      </p:to>
                                    </p:set>
                                    <p:animEffect transition="in" filter="wipe(up)">
                                      <p:cBhvr>
                                        <p:cTn id="29" dur="500"/>
                                        <p:tgtEl>
                                          <p:spTgt spid="1112067">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112067">
                                            <p:txEl>
                                              <p:pRg st="4" end="4"/>
                                            </p:txEl>
                                          </p:spTgt>
                                        </p:tgtEl>
                                        <p:attrNameLst>
                                          <p:attrName>style.visibility</p:attrName>
                                        </p:attrNameLst>
                                      </p:cBhvr>
                                      <p:to>
                                        <p:strVal val="visible"/>
                                      </p:to>
                                    </p:set>
                                    <p:animEffect transition="in" filter="wipe(up)">
                                      <p:cBhvr>
                                        <p:cTn id="34" dur="500"/>
                                        <p:tgtEl>
                                          <p:spTgt spid="1112067">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112067">
                                            <p:txEl>
                                              <p:pRg st="5" end="5"/>
                                            </p:txEl>
                                          </p:spTgt>
                                        </p:tgtEl>
                                        <p:attrNameLst>
                                          <p:attrName>style.visibility</p:attrName>
                                        </p:attrNameLst>
                                      </p:cBhvr>
                                      <p:to>
                                        <p:strVal val="visible"/>
                                      </p:to>
                                    </p:set>
                                    <p:animEffect transition="in" filter="wipe(up)">
                                      <p:cBhvr>
                                        <p:cTn id="39" dur="500"/>
                                        <p:tgtEl>
                                          <p:spTgt spid="1112067">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112067">
                                            <p:txEl>
                                              <p:pRg st="6" end="6"/>
                                            </p:txEl>
                                          </p:spTgt>
                                        </p:tgtEl>
                                        <p:attrNameLst>
                                          <p:attrName>style.visibility</p:attrName>
                                        </p:attrNameLst>
                                      </p:cBhvr>
                                      <p:to>
                                        <p:strVal val="visible"/>
                                      </p:to>
                                    </p:set>
                                    <p:animEffect transition="in" filter="wipe(up)">
                                      <p:cBhvr>
                                        <p:cTn id="44" dur="500"/>
                                        <p:tgtEl>
                                          <p:spTgt spid="111206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112067">
                                            <p:txEl>
                                              <p:pRg st="7" end="7"/>
                                            </p:txEl>
                                          </p:spTgt>
                                        </p:tgtEl>
                                        <p:attrNameLst>
                                          <p:attrName>style.visibility</p:attrName>
                                        </p:attrNameLst>
                                      </p:cBhvr>
                                      <p:to>
                                        <p:strVal val="visible"/>
                                      </p:to>
                                    </p:set>
                                    <p:animEffect transition="in" filter="wipe(up)">
                                      <p:cBhvr>
                                        <p:cTn id="49" dur="500"/>
                                        <p:tgtEl>
                                          <p:spTgt spid="11120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2067" grpId="0" build="p" bldLvl="5" autoUpdateAnimBg="0"/>
      <p:bldP spid="111206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4115" name="Group 3"/>
          <p:cNvGraphicFramePr>
            <a:graphicFrameLocks noGrp="1"/>
          </p:cNvGraphicFramePr>
          <p:nvPr>
            <p:extLst>
              <p:ext uri="{D42A27DB-BD31-4B8C-83A1-F6EECF244321}">
                <p14:modId xmlns:p14="http://schemas.microsoft.com/office/powerpoint/2010/main" val="2347500855"/>
              </p:ext>
            </p:extLst>
          </p:nvPr>
        </p:nvGraphicFramePr>
        <p:xfrm>
          <a:off x="1746250" y="1608930"/>
          <a:ext cx="8534400" cy="3640139"/>
        </p:xfrm>
        <a:graphic>
          <a:graphicData uri="http://schemas.openxmlformats.org/drawingml/2006/table">
            <a:tbl>
              <a:tblPr/>
              <a:tblGrid>
                <a:gridCol w="1220788">
                  <a:extLst>
                    <a:ext uri="{9D8B030D-6E8A-4147-A177-3AD203B41FA5}">
                      <a16:colId xmlns:a16="http://schemas.microsoft.com/office/drawing/2014/main" val="20000"/>
                    </a:ext>
                  </a:extLst>
                </a:gridCol>
                <a:gridCol w="1217612">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7613">
                  <a:extLst>
                    <a:ext uri="{9D8B030D-6E8A-4147-A177-3AD203B41FA5}">
                      <a16:colId xmlns:a16="http://schemas.microsoft.com/office/drawing/2014/main" val="20005"/>
                    </a:ext>
                  </a:extLst>
                </a:gridCol>
                <a:gridCol w="1220787">
                  <a:extLst>
                    <a:ext uri="{9D8B030D-6E8A-4147-A177-3AD203B41FA5}">
                      <a16:colId xmlns:a16="http://schemas.microsoft.com/office/drawing/2014/main" val="20006"/>
                    </a:ext>
                  </a:extLst>
                </a:gridCol>
              </a:tblGrid>
              <a:tr h="760413">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进程名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服务时间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577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97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114191" name="Group 79"/>
          <p:cNvGrpSpPr>
            <a:grpSpLocks/>
          </p:cNvGrpSpPr>
          <p:nvPr/>
        </p:nvGrpSpPr>
        <p:grpSpPr bwMode="auto">
          <a:xfrm>
            <a:off x="2127250" y="2370929"/>
            <a:ext cx="2895600" cy="519112"/>
            <a:chOff x="384" y="1632"/>
            <a:chExt cx="1824" cy="327"/>
          </a:xfrm>
        </p:grpSpPr>
        <p:sp>
          <p:nvSpPr>
            <p:cNvPr id="1114192" name="Text Box 80"/>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0</a:t>
              </a:r>
            </a:p>
          </p:txBody>
        </p:sp>
        <p:sp>
          <p:nvSpPr>
            <p:cNvPr id="1114193" name="Text Box 81"/>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14194" name="Text Box 82"/>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A</a:t>
              </a:r>
            </a:p>
          </p:txBody>
        </p:sp>
      </p:grpSp>
      <p:grpSp>
        <p:nvGrpSpPr>
          <p:cNvPr id="1114195" name="Group 83"/>
          <p:cNvGrpSpPr>
            <a:grpSpLocks/>
          </p:cNvGrpSpPr>
          <p:nvPr/>
        </p:nvGrpSpPr>
        <p:grpSpPr bwMode="auto">
          <a:xfrm>
            <a:off x="2127250" y="2842417"/>
            <a:ext cx="2895600" cy="519113"/>
            <a:chOff x="384" y="1632"/>
            <a:chExt cx="1824" cy="327"/>
          </a:xfrm>
        </p:grpSpPr>
        <p:sp>
          <p:nvSpPr>
            <p:cNvPr id="1114196" name="Text Box 84"/>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1</a:t>
              </a:r>
            </a:p>
          </p:txBody>
        </p:sp>
        <p:sp>
          <p:nvSpPr>
            <p:cNvPr id="1114197" name="Text Box 85"/>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14198" name="Text Box 86"/>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B</a:t>
              </a:r>
            </a:p>
          </p:txBody>
        </p:sp>
      </p:grpSp>
      <p:grpSp>
        <p:nvGrpSpPr>
          <p:cNvPr id="1114199" name="Group 87"/>
          <p:cNvGrpSpPr>
            <a:grpSpLocks/>
          </p:cNvGrpSpPr>
          <p:nvPr/>
        </p:nvGrpSpPr>
        <p:grpSpPr bwMode="auto">
          <a:xfrm>
            <a:off x="2127250" y="3298029"/>
            <a:ext cx="2895600" cy="519112"/>
            <a:chOff x="384" y="1632"/>
            <a:chExt cx="1824" cy="327"/>
          </a:xfrm>
        </p:grpSpPr>
        <p:sp>
          <p:nvSpPr>
            <p:cNvPr id="1114200" name="Text Box 88"/>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2</a:t>
              </a:r>
            </a:p>
          </p:txBody>
        </p:sp>
        <p:sp>
          <p:nvSpPr>
            <p:cNvPr id="1114201" name="Text Box 89"/>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114202" name="Text Box 90"/>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C</a:t>
              </a:r>
            </a:p>
          </p:txBody>
        </p:sp>
      </p:grpSp>
      <p:grpSp>
        <p:nvGrpSpPr>
          <p:cNvPr id="1114203" name="Group 91"/>
          <p:cNvGrpSpPr>
            <a:grpSpLocks/>
          </p:cNvGrpSpPr>
          <p:nvPr/>
        </p:nvGrpSpPr>
        <p:grpSpPr bwMode="auto">
          <a:xfrm>
            <a:off x="2127250" y="3742529"/>
            <a:ext cx="2895600" cy="519112"/>
            <a:chOff x="384" y="1632"/>
            <a:chExt cx="1824" cy="327"/>
          </a:xfrm>
        </p:grpSpPr>
        <p:sp>
          <p:nvSpPr>
            <p:cNvPr id="1114204" name="Text Box 92"/>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3</a:t>
              </a:r>
            </a:p>
          </p:txBody>
        </p:sp>
        <p:sp>
          <p:nvSpPr>
            <p:cNvPr id="1114205" name="Text Box 93"/>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14206" name="Text Box 94"/>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D</a:t>
              </a:r>
            </a:p>
          </p:txBody>
        </p:sp>
      </p:grpSp>
      <p:grpSp>
        <p:nvGrpSpPr>
          <p:cNvPr id="1114207" name="Group 95"/>
          <p:cNvGrpSpPr>
            <a:grpSpLocks/>
          </p:cNvGrpSpPr>
          <p:nvPr/>
        </p:nvGrpSpPr>
        <p:grpSpPr bwMode="auto">
          <a:xfrm>
            <a:off x="2127250" y="4290217"/>
            <a:ext cx="2895600" cy="519113"/>
            <a:chOff x="384" y="1632"/>
            <a:chExt cx="1824" cy="327"/>
          </a:xfrm>
        </p:grpSpPr>
        <p:sp>
          <p:nvSpPr>
            <p:cNvPr id="1114208" name="Text Box 96"/>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4</a:t>
              </a:r>
            </a:p>
          </p:txBody>
        </p:sp>
        <p:sp>
          <p:nvSpPr>
            <p:cNvPr id="1114209" name="Text Box 97"/>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14210" name="Text Box 98"/>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E</a:t>
              </a:r>
            </a:p>
          </p:txBody>
        </p:sp>
      </p:grpSp>
      <p:sp>
        <p:nvSpPr>
          <p:cNvPr id="1114211" name="Text Box 99"/>
          <p:cNvSpPr txBox="1">
            <a:spLocks noChangeArrowheads="1"/>
          </p:cNvSpPr>
          <p:nvPr/>
        </p:nvSpPr>
        <p:spPr bwMode="auto">
          <a:xfrm>
            <a:off x="5784850" y="2370929"/>
            <a:ext cx="457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14212" name="Text Box 100"/>
          <p:cNvSpPr txBox="1">
            <a:spLocks noChangeArrowheads="1"/>
          </p:cNvSpPr>
          <p:nvPr/>
        </p:nvSpPr>
        <p:spPr bwMode="auto">
          <a:xfrm>
            <a:off x="7004050" y="2370929"/>
            <a:ext cx="457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14213" name="Text Box 101"/>
          <p:cNvSpPr txBox="1">
            <a:spLocks noChangeArrowheads="1"/>
          </p:cNvSpPr>
          <p:nvPr/>
        </p:nvSpPr>
        <p:spPr bwMode="auto">
          <a:xfrm>
            <a:off x="8223250" y="2370929"/>
            <a:ext cx="457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14214" name="Text Box 102"/>
          <p:cNvSpPr txBox="1">
            <a:spLocks noChangeArrowheads="1"/>
          </p:cNvSpPr>
          <p:nvPr/>
        </p:nvSpPr>
        <p:spPr bwMode="auto">
          <a:xfrm>
            <a:off x="5708650" y="2842417"/>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14215" name="Text Box 103"/>
          <p:cNvSpPr txBox="1">
            <a:spLocks noChangeArrowheads="1"/>
          </p:cNvSpPr>
          <p:nvPr/>
        </p:nvSpPr>
        <p:spPr bwMode="auto">
          <a:xfrm>
            <a:off x="6927850" y="2842417"/>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7</a:t>
            </a:r>
          </a:p>
        </p:txBody>
      </p:sp>
      <p:sp>
        <p:nvSpPr>
          <p:cNvPr id="1114216" name="Text Box 104"/>
          <p:cNvSpPr txBox="1">
            <a:spLocks noChangeArrowheads="1"/>
          </p:cNvSpPr>
          <p:nvPr/>
        </p:nvSpPr>
        <p:spPr bwMode="auto">
          <a:xfrm>
            <a:off x="8070850" y="2842417"/>
            <a:ext cx="7620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6</a:t>
            </a:r>
          </a:p>
        </p:txBody>
      </p:sp>
      <p:sp>
        <p:nvSpPr>
          <p:cNvPr id="1114218" name="Text Box 106"/>
          <p:cNvSpPr txBox="1">
            <a:spLocks noChangeArrowheads="1"/>
          </p:cNvSpPr>
          <p:nvPr/>
        </p:nvSpPr>
        <p:spPr bwMode="auto">
          <a:xfrm>
            <a:off x="5708650" y="3298029"/>
            <a:ext cx="5334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7</a:t>
            </a:r>
          </a:p>
        </p:txBody>
      </p:sp>
      <p:sp>
        <p:nvSpPr>
          <p:cNvPr id="1114219" name="Text Box 107"/>
          <p:cNvSpPr txBox="1">
            <a:spLocks noChangeArrowheads="1"/>
          </p:cNvSpPr>
          <p:nvPr/>
        </p:nvSpPr>
        <p:spPr bwMode="auto">
          <a:xfrm>
            <a:off x="6851650" y="329802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12</a:t>
            </a:r>
          </a:p>
        </p:txBody>
      </p:sp>
      <p:sp>
        <p:nvSpPr>
          <p:cNvPr id="1114220" name="Text Box 108"/>
          <p:cNvSpPr txBox="1">
            <a:spLocks noChangeArrowheads="1"/>
          </p:cNvSpPr>
          <p:nvPr/>
        </p:nvSpPr>
        <p:spPr bwMode="auto">
          <a:xfrm>
            <a:off x="7994650" y="329802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10</a:t>
            </a:r>
          </a:p>
        </p:txBody>
      </p:sp>
      <p:sp>
        <p:nvSpPr>
          <p:cNvPr id="1114221" name="Text Box 109"/>
          <p:cNvSpPr txBox="1">
            <a:spLocks noChangeArrowheads="1"/>
          </p:cNvSpPr>
          <p:nvPr/>
        </p:nvSpPr>
        <p:spPr bwMode="auto">
          <a:xfrm>
            <a:off x="5556250" y="3742529"/>
            <a:ext cx="7620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12</a:t>
            </a:r>
          </a:p>
        </p:txBody>
      </p:sp>
      <p:sp>
        <p:nvSpPr>
          <p:cNvPr id="1114222" name="Text Box 110"/>
          <p:cNvSpPr txBox="1">
            <a:spLocks noChangeArrowheads="1"/>
          </p:cNvSpPr>
          <p:nvPr/>
        </p:nvSpPr>
        <p:spPr bwMode="auto">
          <a:xfrm>
            <a:off x="6775450" y="3742529"/>
            <a:ext cx="7620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14</a:t>
            </a:r>
          </a:p>
        </p:txBody>
      </p:sp>
      <p:sp>
        <p:nvSpPr>
          <p:cNvPr id="1114223" name="Text Box 111"/>
          <p:cNvSpPr txBox="1">
            <a:spLocks noChangeArrowheads="1"/>
          </p:cNvSpPr>
          <p:nvPr/>
        </p:nvSpPr>
        <p:spPr bwMode="auto">
          <a:xfrm>
            <a:off x="8070850" y="3742529"/>
            <a:ext cx="7620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11</a:t>
            </a:r>
          </a:p>
        </p:txBody>
      </p:sp>
      <p:sp>
        <p:nvSpPr>
          <p:cNvPr id="1114224" name="Text Box 112"/>
          <p:cNvSpPr txBox="1">
            <a:spLocks noChangeArrowheads="1"/>
          </p:cNvSpPr>
          <p:nvPr/>
        </p:nvSpPr>
        <p:spPr bwMode="auto">
          <a:xfrm>
            <a:off x="5556250" y="4290217"/>
            <a:ext cx="7620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14</a:t>
            </a:r>
          </a:p>
        </p:txBody>
      </p:sp>
      <p:sp>
        <p:nvSpPr>
          <p:cNvPr id="1114225" name="Text Box 113"/>
          <p:cNvSpPr txBox="1">
            <a:spLocks noChangeArrowheads="1"/>
          </p:cNvSpPr>
          <p:nvPr/>
        </p:nvSpPr>
        <p:spPr bwMode="auto">
          <a:xfrm>
            <a:off x="6775450" y="4290217"/>
            <a:ext cx="838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18</a:t>
            </a:r>
          </a:p>
        </p:txBody>
      </p:sp>
      <p:sp>
        <p:nvSpPr>
          <p:cNvPr id="1114226" name="Text Box 114"/>
          <p:cNvSpPr txBox="1">
            <a:spLocks noChangeArrowheads="1"/>
          </p:cNvSpPr>
          <p:nvPr/>
        </p:nvSpPr>
        <p:spPr bwMode="auto">
          <a:xfrm>
            <a:off x="7994650" y="4290217"/>
            <a:ext cx="838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14</a:t>
            </a:r>
          </a:p>
        </p:txBody>
      </p:sp>
      <p:grpSp>
        <p:nvGrpSpPr>
          <p:cNvPr id="1114227" name="Group 115"/>
          <p:cNvGrpSpPr>
            <a:grpSpLocks/>
          </p:cNvGrpSpPr>
          <p:nvPr/>
        </p:nvGrpSpPr>
        <p:grpSpPr bwMode="auto">
          <a:xfrm>
            <a:off x="9213850" y="2370929"/>
            <a:ext cx="914400" cy="2438400"/>
            <a:chOff x="4848" y="1497"/>
            <a:chExt cx="576" cy="1536"/>
          </a:xfrm>
        </p:grpSpPr>
        <p:sp>
          <p:nvSpPr>
            <p:cNvPr id="1114228" name="Text Box 116"/>
            <p:cNvSpPr txBox="1">
              <a:spLocks noChangeArrowheads="1"/>
            </p:cNvSpPr>
            <p:nvPr/>
          </p:nvSpPr>
          <p:spPr bwMode="auto">
            <a:xfrm>
              <a:off x="4944" y="1497"/>
              <a:ext cx="336"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a:t>
              </a:r>
            </a:p>
          </p:txBody>
        </p:sp>
        <p:sp>
          <p:nvSpPr>
            <p:cNvPr id="1114229" name="Text Box 117"/>
            <p:cNvSpPr txBox="1">
              <a:spLocks noChangeArrowheads="1"/>
            </p:cNvSpPr>
            <p:nvPr/>
          </p:nvSpPr>
          <p:spPr bwMode="auto">
            <a:xfrm>
              <a:off x="4944" y="1794"/>
              <a:ext cx="336"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2</a:t>
              </a:r>
            </a:p>
          </p:txBody>
        </p:sp>
        <p:sp>
          <p:nvSpPr>
            <p:cNvPr id="1114230" name="Text Box 118"/>
            <p:cNvSpPr txBox="1">
              <a:spLocks noChangeArrowheads="1"/>
            </p:cNvSpPr>
            <p:nvPr/>
          </p:nvSpPr>
          <p:spPr bwMode="auto">
            <a:xfrm>
              <a:off x="4944" y="2073"/>
              <a:ext cx="336"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2</a:t>
              </a:r>
            </a:p>
          </p:txBody>
        </p:sp>
        <p:sp>
          <p:nvSpPr>
            <p:cNvPr id="1114231" name="Text Box 119"/>
            <p:cNvSpPr txBox="1">
              <a:spLocks noChangeArrowheads="1"/>
            </p:cNvSpPr>
            <p:nvPr/>
          </p:nvSpPr>
          <p:spPr bwMode="auto">
            <a:xfrm>
              <a:off x="4848" y="2361"/>
              <a:ext cx="528"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5.5</a:t>
              </a:r>
            </a:p>
          </p:txBody>
        </p:sp>
        <p:sp>
          <p:nvSpPr>
            <p:cNvPr id="1114232" name="Text Box 120"/>
            <p:cNvSpPr txBox="1">
              <a:spLocks noChangeArrowheads="1"/>
            </p:cNvSpPr>
            <p:nvPr/>
          </p:nvSpPr>
          <p:spPr bwMode="auto">
            <a:xfrm>
              <a:off x="4848" y="2706"/>
              <a:ext cx="576"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3.5</a:t>
              </a:r>
            </a:p>
          </p:txBody>
        </p:sp>
      </p:grpSp>
      <p:grpSp>
        <p:nvGrpSpPr>
          <p:cNvPr id="1114233" name="Group 121"/>
          <p:cNvGrpSpPr>
            <a:grpSpLocks/>
          </p:cNvGrpSpPr>
          <p:nvPr/>
        </p:nvGrpSpPr>
        <p:grpSpPr bwMode="auto">
          <a:xfrm>
            <a:off x="8147050" y="4733129"/>
            <a:ext cx="1905000" cy="519112"/>
            <a:chOff x="4176" y="2985"/>
            <a:chExt cx="1200" cy="327"/>
          </a:xfrm>
        </p:grpSpPr>
        <p:sp>
          <p:nvSpPr>
            <p:cNvPr id="1114234" name="Text Box 122"/>
            <p:cNvSpPr txBox="1">
              <a:spLocks noChangeArrowheads="1"/>
            </p:cNvSpPr>
            <p:nvPr/>
          </p:nvSpPr>
          <p:spPr bwMode="auto">
            <a:xfrm>
              <a:off x="4176" y="2985"/>
              <a:ext cx="432"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a:t>
              </a:r>
            </a:p>
          </p:txBody>
        </p:sp>
        <p:sp>
          <p:nvSpPr>
            <p:cNvPr id="1114235" name="Text Box 123"/>
            <p:cNvSpPr txBox="1">
              <a:spLocks noChangeArrowheads="1"/>
            </p:cNvSpPr>
            <p:nvPr/>
          </p:nvSpPr>
          <p:spPr bwMode="auto">
            <a:xfrm>
              <a:off x="4848" y="2985"/>
              <a:ext cx="528" cy="327"/>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2.8</a:t>
              </a:r>
            </a:p>
          </p:txBody>
        </p:sp>
      </p:grpSp>
      <p:grpSp>
        <p:nvGrpSpPr>
          <p:cNvPr id="1114236" name="Group 124"/>
          <p:cNvGrpSpPr>
            <a:grpSpLocks/>
          </p:cNvGrpSpPr>
          <p:nvPr/>
        </p:nvGrpSpPr>
        <p:grpSpPr bwMode="auto">
          <a:xfrm>
            <a:off x="2146300" y="5549102"/>
            <a:ext cx="1524000" cy="457200"/>
            <a:chOff x="480" y="3504"/>
            <a:chExt cx="960" cy="288"/>
          </a:xfrm>
        </p:grpSpPr>
        <p:sp>
          <p:nvSpPr>
            <p:cNvPr id="1114237" name="Rectangle 125"/>
            <p:cNvSpPr>
              <a:spLocks noChangeArrowheads="1"/>
            </p:cNvSpPr>
            <p:nvPr/>
          </p:nvSpPr>
          <p:spPr bwMode="auto">
            <a:xfrm>
              <a:off x="48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14238" name="Rectangle 126"/>
            <p:cNvSpPr>
              <a:spLocks noChangeArrowheads="1"/>
            </p:cNvSpPr>
            <p:nvPr/>
          </p:nvSpPr>
          <p:spPr bwMode="auto">
            <a:xfrm>
              <a:off x="72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14239" name="Rectangle 127"/>
            <p:cNvSpPr>
              <a:spLocks noChangeArrowheads="1"/>
            </p:cNvSpPr>
            <p:nvPr/>
          </p:nvSpPr>
          <p:spPr bwMode="auto">
            <a:xfrm>
              <a:off x="96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14240" name="Rectangle 128"/>
            <p:cNvSpPr>
              <a:spLocks noChangeArrowheads="1"/>
            </p:cNvSpPr>
            <p:nvPr/>
          </p:nvSpPr>
          <p:spPr bwMode="auto">
            <a:xfrm>
              <a:off x="120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grpSp>
      <p:grpSp>
        <p:nvGrpSpPr>
          <p:cNvPr id="1114241" name="Group 129"/>
          <p:cNvGrpSpPr>
            <a:grpSpLocks/>
          </p:cNvGrpSpPr>
          <p:nvPr/>
        </p:nvGrpSpPr>
        <p:grpSpPr bwMode="auto">
          <a:xfrm>
            <a:off x="3670300" y="5549102"/>
            <a:ext cx="1143000" cy="457200"/>
            <a:chOff x="1440" y="3504"/>
            <a:chExt cx="720" cy="288"/>
          </a:xfrm>
        </p:grpSpPr>
        <p:sp>
          <p:nvSpPr>
            <p:cNvPr id="1114242" name="Rectangle 130"/>
            <p:cNvSpPr>
              <a:spLocks noChangeArrowheads="1"/>
            </p:cNvSpPr>
            <p:nvPr/>
          </p:nvSpPr>
          <p:spPr bwMode="auto">
            <a:xfrm>
              <a:off x="1440" y="3504"/>
              <a:ext cx="240" cy="288"/>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14243" name="Rectangle 131"/>
            <p:cNvSpPr>
              <a:spLocks noChangeArrowheads="1"/>
            </p:cNvSpPr>
            <p:nvPr/>
          </p:nvSpPr>
          <p:spPr bwMode="auto">
            <a:xfrm>
              <a:off x="1680" y="3504"/>
              <a:ext cx="240" cy="288"/>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14244" name="Rectangle 132"/>
            <p:cNvSpPr>
              <a:spLocks noChangeArrowheads="1"/>
            </p:cNvSpPr>
            <p:nvPr/>
          </p:nvSpPr>
          <p:spPr bwMode="auto">
            <a:xfrm>
              <a:off x="1920" y="3504"/>
              <a:ext cx="240" cy="288"/>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grpSp>
      <p:grpSp>
        <p:nvGrpSpPr>
          <p:cNvPr id="1114245" name="Group 133"/>
          <p:cNvGrpSpPr>
            <a:grpSpLocks/>
          </p:cNvGrpSpPr>
          <p:nvPr/>
        </p:nvGrpSpPr>
        <p:grpSpPr bwMode="auto">
          <a:xfrm>
            <a:off x="4813300" y="5549102"/>
            <a:ext cx="1905000" cy="457200"/>
            <a:chOff x="2160" y="3504"/>
            <a:chExt cx="1200" cy="288"/>
          </a:xfrm>
        </p:grpSpPr>
        <p:sp>
          <p:nvSpPr>
            <p:cNvPr id="1114246" name="Rectangle 134"/>
            <p:cNvSpPr>
              <a:spLocks noChangeArrowheads="1"/>
            </p:cNvSpPr>
            <p:nvPr/>
          </p:nvSpPr>
          <p:spPr bwMode="auto">
            <a:xfrm>
              <a:off x="216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4247" name="Rectangle 135"/>
            <p:cNvSpPr>
              <a:spLocks noChangeArrowheads="1"/>
            </p:cNvSpPr>
            <p:nvPr/>
          </p:nvSpPr>
          <p:spPr bwMode="auto">
            <a:xfrm>
              <a:off x="240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4248" name="Rectangle 136"/>
            <p:cNvSpPr>
              <a:spLocks noChangeArrowheads="1"/>
            </p:cNvSpPr>
            <p:nvPr/>
          </p:nvSpPr>
          <p:spPr bwMode="auto">
            <a:xfrm>
              <a:off x="264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4249" name="Rectangle 137"/>
            <p:cNvSpPr>
              <a:spLocks noChangeArrowheads="1"/>
            </p:cNvSpPr>
            <p:nvPr/>
          </p:nvSpPr>
          <p:spPr bwMode="auto">
            <a:xfrm>
              <a:off x="288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4250" name="Rectangle 138"/>
            <p:cNvSpPr>
              <a:spLocks noChangeArrowheads="1"/>
            </p:cNvSpPr>
            <p:nvPr/>
          </p:nvSpPr>
          <p:spPr bwMode="auto">
            <a:xfrm>
              <a:off x="312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grpSp>
      <p:grpSp>
        <p:nvGrpSpPr>
          <p:cNvPr id="1114251" name="Group 139"/>
          <p:cNvGrpSpPr>
            <a:grpSpLocks/>
          </p:cNvGrpSpPr>
          <p:nvPr/>
        </p:nvGrpSpPr>
        <p:grpSpPr bwMode="auto">
          <a:xfrm>
            <a:off x="6718300" y="5549102"/>
            <a:ext cx="762000" cy="457200"/>
            <a:chOff x="3360" y="3504"/>
            <a:chExt cx="480" cy="288"/>
          </a:xfrm>
        </p:grpSpPr>
        <p:sp>
          <p:nvSpPr>
            <p:cNvPr id="1114252" name="Rectangle 140"/>
            <p:cNvSpPr>
              <a:spLocks noChangeArrowheads="1"/>
            </p:cNvSpPr>
            <p:nvPr/>
          </p:nvSpPr>
          <p:spPr bwMode="auto">
            <a:xfrm>
              <a:off x="3360" y="3504"/>
              <a:ext cx="240" cy="288"/>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D</a:t>
              </a:r>
            </a:p>
          </p:txBody>
        </p:sp>
        <p:sp>
          <p:nvSpPr>
            <p:cNvPr id="1114253" name="Rectangle 141"/>
            <p:cNvSpPr>
              <a:spLocks noChangeArrowheads="1"/>
            </p:cNvSpPr>
            <p:nvPr/>
          </p:nvSpPr>
          <p:spPr bwMode="auto">
            <a:xfrm>
              <a:off x="3600" y="3504"/>
              <a:ext cx="240" cy="288"/>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D</a:t>
              </a:r>
            </a:p>
          </p:txBody>
        </p:sp>
      </p:grpSp>
      <p:grpSp>
        <p:nvGrpSpPr>
          <p:cNvPr id="1114254" name="Group 142"/>
          <p:cNvGrpSpPr>
            <a:grpSpLocks/>
          </p:cNvGrpSpPr>
          <p:nvPr/>
        </p:nvGrpSpPr>
        <p:grpSpPr bwMode="auto">
          <a:xfrm>
            <a:off x="7480300" y="5549102"/>
            <a:ext cx="1524000" cy="457200"/>
            <a:chOff x="3840" y="3504"/>
            <a:chExt cx="960" cy="288"/>
          </a:xfrm>
        </p:grpSpPr>
        <p:sp>
          <p:nvSpPr>
            <p:cNvPr id="1114255" name="Rectangle 143"/>
            <p:cNvSpPr>
              <a:spLocks noChangeArrowheads="1"/>
            </p:cNvSpPr>
            <p:nvPr/>
          </p:nvSpPr>
          <p:spPr bwMode="auto">
            <a:xfrm>
              <a:off x="384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14256" name="Rectangle 144"/>
            <p:cNvSpPr>
              <a:spLocks noChangeArrowheads="1"/>
            </p:cNvSpPr>
            <p:nvPr/>
          </p:nvSpPr>
          <p:spPr bwMode="auto">
            <a:xfrm>
              <a:off x="408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14257" name="Rectangle 145"/>
            <p:cNvSpPr>
              <a:spLocks noChangeArrowheads="1"/>
            </p:cNvSpPr>
            <p:nvPr/>
          </p:nvSpPr>
          <p:spPr bwMode="auto">
            <a:xfrm>
              <a:off x="432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14258" name="Rectangle 146"/>
            <p:cNvSpPr>
              <a:spLocks noChangeArrowheads="1"/>
            </p:cNvSpPr>
            <p:nvPr/>
          </p:nvSpPr>
          <p:spPr bwMode="auto">
            <a:xfrm>
              <a:off x="456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grpSp>
      <p:grpSp>
        <p:nvGrpSpPr>
          <p:cNvPr id="1114259" name="Group 147"/>
          <p:cNvGrpSpPr>
            <a:grpSpLocks/>
          </p:cNvGrpSpPr>
          <p:nvPr/>
        </p:nvGrpSpPr>
        <p:grpSpPr bwMode="auto">
          <a:xfrm>
            <a:off x="1993900" y="5777703"/>
            <a:ext cx="8305800" cy="701675"/>
            <a:chOff x="384" y="3648"/>
            <a:chExt cx="5232" cy="442"/>
          </a:xfrm>
        </p:grpSpPr>
        <p:sp>
          <p:nvSpPr>
            <p:cNvPr id="1114260" name="Line 148"/>
            <p:cNvSpPr>
              <a:spLocks noChangeShapeType="1"/>
            </p:cNvSpPr>
            <p:nvPr/>
          </p:nvSpPr>
          <p:spPr bwMode="auto">
            <a:xfrm>
              <a:off x="480" y="3792"/>
              <a:ext cx="4896" cy="0"/>
            </a:xfrm>
            <a:prstGeom prst="line">
              <a:avLst/>
            </a:prstGeom>
            <a:noFill/>
            <a:ln w="28575">
              <a:solidFill>
                <a:schemeClr val="tx1"/>
              </a:solidFill>
              <a:miter lim="800000"/>
              <a:headEnd/>
              <a:tailEnd type="stealth" w="sm" len="lg"/>
            </a:ln>
            <a:effectLst/>
          </p:spPr>
          <p:txBody>
            <a:bodyPr wrap="none"/>
            <a:lstStyle/>
            <a:p>
              <a:endParaRPr lang="zh-CN" altLang="en-US"/>
            </a:p>
          </p:txBody>
        </p:sp>
        <p:sp>
          <p:nvSpPr>
            <p:cNvPr id="1114261" name="Text Box 149"/>
            <p:cNvSpPr txBox="1">
              <a:spLocks noChangeArrowheads="1"/>
            </p:cNvSpPr>
            <p:nvPr/>
          </p:nvSpPr>
          <p:spPr bwMode="auto">
            <a:xfrm>
              <a:off x="3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0</a:t>
              </a:r>
            </a:p>
          </p:txBody>
        </p:sp>
        <p:sp>
          <p:nvSpPr>
            <p:cNvPr id="1114262" name="Text Box 150"/>
            <p:cNvSpPr txBox="1">
              <a:spLocks noChangeArrowheads="1"/>
            </p:cNvSpPr>
            <p:nvPr/>
          </p:nvSpPr>
          <p:spPr bwMode="auto">
            <a:xfrm>
              <a:off x="15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5</a:t>
              </a:r>
            </a:p>
          </p:txBody>
        </p:sp>
        <p:sp>
          <p:nvSpPr>
            <p:cNvPr id="1114263" name="Text Box 151"/>
            <p:cNvSpPr txBox="1">
              <a:spLocks noChangeArrowheads="1"/>
            </p:cNvSpPr>
            <p:nvPr/>
          </p:nvSpPr>
          <p:spPr bwMode="auto">
            <a:xfrm>
              <a:off x="27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10</a:t>
              </a:r>
            </a:p>
          </p:txBody>
        </p:sp>
        <p:sp>
          <p:nvSpPr>
            <p:cNvPr id="1114264" name="Text Box 152"/>
            <p:cNvSpPr txBox="1">
              <a:spLocks noChangeArrowheads="1"/>
            </p:cNvSpPr>
            <p:nvPr/>
          </p:nvSpPr>
          <p:spPr bwMode="auto">
            <a:xfrm>
              <a:off x="39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15</a:t>
              </a:r>
            </a:p>
          </p:txBody>
        </p:sp>
        <p:sp>
          <p:nvSpPr>
            <p:cNvPr id="1114265" name="Text Box 153"/>
            <p:cNvSpPr txBox="1">
              <a:spLocks noChangeArrowheads="1"/>
            </p:cNvSpPr>
            <p:nvPr/>
          </p:nvSpPr>
          <p:spPr bwMode="auto">
            <a:xfrm>
              <a:off x="465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18</a:t>
              </a:r>
            </a:p>
          </p:txBody>
        </p:sp>
        <p:sp>
          <p:nvSpPr>
            <p:cNvPr id="1114266" name="Text Box 154"/>
            <p:cNvSpPr txBox="1">
              <a:spLocks noChangeArrowheads="1"/>
            </p:cNvSpPr>
            <p:nvPr/>
          </p:nvSpPr>
          <p:spPr bwMode="auto">
            <a:xfrm>
              <a:off x="5424" y="3648"/>
              <a:ext cx="192" cy="288"/>
            </a:xfrm>
            <a:prstGeom prst="rect">
              <a:avLst/>
            </a:prstGeom>
            <a:noFill/>
            <a:ln w="9525">
              <a:noFill/>
              <a:miter lim="800000"/>
              <a:headEnd/>
              <a:tailEnd/>
            </a:ln>
            <a:effectLst/>
          </p:spPr>
          <p:txBody>
            <a:bodyPr>
              <a:spAutoFit/>
            </a:bodyPr>
            <a:lstStyle/>
            <a:p>
              <a:pPr>
                <a:spcBef>
                  <a:spcPct val="50000"/>
                </a:spcBef>
              </a:pPr>
              <a:r>
                <a:rPr kumimoji="1" lang="en-US" altLang="zh-CN" sz="2400" b="1">
                  <a:latin typeface="Times New Roman" pitchFamily="18" charset="0"/>
                </a:rPr>
                <a:t>t</a:t>
              </a:r>
            </a:p>
          </p:txBody>
        </p:sp>
      </p:grpSp>
      <p:sp>
        <p:nvSpPr>
          <p:cNvPr id="1114268" name="Rectangle 2"/>
          <p:cNvSpPr>
            <a:spLocks noChangeArrowheads="1"/>
          </p:cNvSpPr>
          <p:nvPr/>
        </p:nvSpPr>
        <p:spPr bwMode="gray">
          <a:xfrm>
            <a:off x="615950" y="758827"/>
            <a:ext cx="8534400" cy="381000"/>
          </a:xfrm>
          <a:prstGeom prst="rect">
            <a:avLst/>
          </a:prstGeom>
          <a:noFill/>
          <a:ln w="9525">
            <a:noFill/>
            <a:miter lim="800000"/>
            <a:headEnd/>
            <a:tailEnd/>
          </a:ln>
        </p:spPr>
        <p:txBody>
          <a:bodyPr lIns="0" tIns="0" rIns="0" bIns="0"/>
          <a:lstStyle/>
          <a:p>
            <a:pPr>
              <a:lnSpc>
                <a:spcPct val="85000"/>
              </a:lnSpc>
            </a:pPr>
            <a:r>
              <a:rPr lang="zh-CN" altLang="en-US" sz="2800" b="1" dirty="0">
                <a:solidFill>
                  <a:schemeClr val="tx2"/>
                </a:solidFill>
                <a:latin typeface="Times New Roman" pitchFamily="18" charset="0"/>
              </a:rPr>
              <a:t>先来先服务（</a:t>
            </a:r>
            <a:r>
              <a:rPr lang="en-US" altLang="zh-CN" sz="2800" b="1" dirty="0">
                <a:solidFill>
                  <a:schemeClr val="tx2"/>
                </a:solidFill>
                <a:latin typeface="Times New Roman" pitchFamily="18" charset="0"/>
              </a:rPr>
              <a:t>FCFS</a:t>
            </a:r>
            <a:r>
              <a:rPr lang="zh-CN" altLang="en-US" sz="2800" b="1" dirty="0">
                <a:solidFill>
                  <a:schemeClr val="tx2"/>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14191"/>
                                        </p:tgtEl>
                                        <p:attrNameLst>
                                          <p:attrName>style.visibility</p:attrName>
                                        </p:attrNameLst>
                                      </p:cBhvr>
                                      <p:to>
                                        <p:strVal val="visible"/>
                                      </p:to>
                                    </p:set>
                                    <p:animEffect transition="in" filter="wipe(up)">
                                      <p:cBhvr>
                                        <p:cTn id="7" dur="500"/>
                                        <p:tgtEl>
                                          <p:spTgt spid="111419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14195"/>
                                        </p:tgtEl>
                                        <p:attrNameLst>
                                          <p:attrName>style.visibility</p:attrName>
                                        </p:attrNameLst>
                                      </p:cBhvr>
                                      <p:to>
                                        <p:strVal val="visible"/>
                                      </p:to>
                                    </p:set>
                                    <p:animEffect transition="in" filter="wipe(up)">
                                      <p:cBhvr>
                                        <p:cTn id="11" dur="500"/>
                                        <p:tgtEl>
                                          <p:spTgt spid="1114195"/>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114199"/>
                                        </p:tgtEl>
                                        <p:attrNameLst>
                                          <p:attrName>style.visibility</p:attrName>
                                        </p:attrNameLst>
                                      </p:cBhvr>
                                      <p:to>
                                        <p:strVal val="visible"/>
                                      </p:to>
                                    </p:set>
                                    <p:animEffect transition="in" filter="wipe(up)">
                                      <p:cBhvr>
                                        <p:cTn id="15" dur="500"/>
                                        <p:tgtEl>
                                          <p:spTgt spid="111419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114203"/>
                                        </p:tgtEl>
                                        <p:attrNameLst>
                                          <p:attrName>style.visibility</p:attrName>
                                        </p:attrNameLst>
                                      </p:cBhvr>
                                      <p:to>
                                        <p:strVal val="visible"/>
                                      </p:to>
                                    </p:set>
                                    <p:animEffect transition="in" filter="wipe(up)">
                                      <p:cBhvr>
                                        <p:cTn id="19" dur="500"/>
                                        <p:tgtEl>
                                          <p:spTgt spid="1114203"/>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114207"/>
                                        </p:tgtEl>
                                        <p:attrNameLst>
                                          <p:attrName>style.visibility</p:attrName>
                                        </p:attrNameLst>
                                      </p:cBhvr>
                                      <p:to>
                                        <p:strVal val="visible"/>
                                      </p:to>
                                    </p:set>
                                    <p:animEffect transition="in" filter="wipe(up)">
                                      <p:cBhvr>
                                        <p:cTn id="23" dur="500"/>
                                        <p:tgtEl>
                                          <p:spTgt spid="111420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14259"/>
                                        </p:tgtEl>
                                        <p:attrNameLst>
                                          <p:attrName>style.visibility</p:attrName>
                                        </p:attrNameLst>
                                      </p:cBhvr>
                                      <p:to>
                                        <p:strVal val="visible"/>
                                      </p:to>
                                    </p:set>
                                    <p:animEffect transition="in" filter="wipe(left)">
                                      <p:cBhvr>
                                        <p:cTn id="28" dur="500"/>
                                        <p:tgtEl>
                                          <p:spTgt spid="111425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14211"/>
                                        </p:tgtEl>
                                        <p:attrNameLst>
                                          <p:attrName>style.visibility</p:attrName>
                                        </p:attrNameLst>
                                      </p:cBhvr>
                                      <p:to>
                                        <p:strVal val="visible"/>
                                      </p:to>
                                    </p:set>
                                    <p:anim calcmode="lin" valueType="num">
                                      <p:cBhvr additive="base">
                                        <p:cTn id="33" dur="500" fill="hold"/>
                                        <p:tgtEl>
                                          <p:spTgt spid="1114211"/>
                                        </p:tgtEl>
                                        <p:attrNameLst>
                                          <p:attrName>ppt_x</p:attrName>
                                        </p:attrNameLst>
                                      </p:cBhvr>
                                      <p:tavLst>
                                        <p:tav tm="0">
                                          <p:val>
                                            <p:strVal val="#ppt_x"/>
                                          </p:val>
                                        </p:tav>
                                        <p:tav tm="100000">
                                          <p:val>
                                            <p:strVal val="#ppt_x"/>
                                          </p:val>
                                        </p:tav>
                                      </p:tavLst>
                                    </p:anim>
                                    <p:anim calcmode="lin" valueType="num">
                                      <p:cBhvr additive="base">
                                        <p:cTn id="34" dur="500" fill="hold"/>
                                        <p:tgtEl>
                                          <p:spTgt spid="11142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14236"/>
                                        </p:tgtEl>
                                        <p:attrNameLst>
                                          <p:attrName>style.visibility</p:attrName>
                                        </p:attrNameLst>
                                      </p:cBhvr>
                                      <p:to>
                                        <p:strVal val="visible"/>
                                      </p:to>
                                    </p:set>
                                    <p:animEffect transition="in" filter="wipe(left)">
                                      <p:cBhvr>
                                        <p:cTn id="39" dur="500"/>
                                        <p:tgtEl>
                                          <p:spTgt spid="1114236"/>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14212"/>
                                        </p:tgtEl>
                                        <p:attrNameLst>
                                          <p:attrName>style.visibility</p:attrName>
                                        </p:attrNameLst>
                                      </p:cBhvr>
                                      <p:to>
                                        <p:strVal val="visible"/>
                                      </p:to>
                                    </p:set>
                                    <p:anim calcmode="lin" valueType="num">
                                      <p:cBhvr additive="base">
                                        <p:cTn id="44" dur="500" fill="hold"/>
                                        <p:tgtEl>
                                          <p:spTgt spid="1114212"/>
                                        </p:tgtEl>
                                        <p:attrNameLst>
                                          <p:attrName>ppt_x</p:attrName>
                                        </p:attrNameLst>
                                      </p:cBhvr>
                                      <p:tavLst>
                                        <p:tav tm="0">
                                          <p:val>
                                            <p:strVal val="#ppt_x"/>
                                          </p:val>
                                        </p:tav>
                                        <p:tav tm="100000">
                                          <p:val>
                                            <p:strVal val="#ppt_x"/>
                                          </p:val>
                                        </p:tav>
                                      </p:tavLst>
                                    </p:anim>
                                    <p:anim calcmode="lin" valueType="num">
                                      <p:cBhvr additive="base">
                                        <p:cTn id="45" dur="500" fill="hold"/>
                                        <p:tgtEl>
                                          <p:spTgt spid="1114212"/>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114214"/>
                                        </p:tgtEl>
                                        <p:attrNameLst>
                                          <p:attrName>style.visibility</p:attrName>
                                        </p:attrNameLst>
                                      </p:cBhvr>
                                      <p:to>
                                        <p:strVal val="visible"/>
                                      </p:to>
                                    </p:set>
                                    <p:anim calcmode="lin" valueType="num">
                                      <p:cBhvr additive="base">
                                        <p:cTn id="50" dur="500" fill="hold"/>
                                        <p:tgtEl>
                                          <p:spTgt spid="1114214"/>
                                        </p:tgtEl>
                                        <p:attrNameLst>
                                          <p:attrName>ppt_x</p:attrName>
                                        </p:attrNameLst>
                                      </p:cBhvr>
                                      <p:tavLst>
                                        <p:tav tm="0">
                                          <p:val>
                                            <p:strVal val="#ppt_x"/>
                                          </p:val>
                                        </p:tav>
                                        <p:tav tm="100000">
                                          <p:val>
                                            <p:strVal val="#ppt_x"/>
                                          </p:val>
                                        </p:tav>
                                      </p:tavLst>
                                    </p:anim>
                                    <p:anim calcmode="lin" valueType="num">
                                      <p:cBhvr additive="base">
                                        <p:cTn id="51" dur="500" fill="hold"/>
                                        <p:tgtEl>
                                          <p:spTgt spid="1114214"/>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114241"/>
                                        </p:tgtEl>
                                        <p:attrNameLst>
                                          <p:attrName>style.visibility</p:attrName>
                                        </p:attrNameLst>
                                      </p:cBhvr>
                                      <p:to>
                                        <p:strVal val="visible"/>
                                      </p:to>
                                    </p:set>
                                    <p:animEffect transition="in" filter="wipe(left)">
                                      <p:cBhvr>
                                        <p:cTn id="56" dur="500"/>
                                        <p:tgtEl>
                                          <p:spTgt spid="1114241"/>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14215"/>
                                        </p:tgtEl>
                                        <p:attrNameLst>
                                          <p:attrName>style.visibility</p:attrName>
                                        </p:attrNameLst>
                                      </p:cBhvr>
                                      <p:to>
                                        <p:strVal val="visible"/>
                                      </p:to>
                                    </p:set>
                                    <p:anim calcmode="lin" valueType="num">
                                      <p:cBhvr additive="base">
                                        <p:cTn id="61" dur="500" fill="hold"/>
                                        <p:tgtEl>
                                          <p:spTgt spid="1114215"/>
                                        </p:tgtEl>
                                        <p:attrNameLst>
                                          <p:attrName>ppt_x</p:attrName>
                                        </p:attrNameLst>
                                      </p:cBhvr>
                                      <p:tavLst>
                                        <p:tav tm="0">
                                          <p:val>
                                            <p:strVal val="#ppt_x"/>
                                          </p:val>
                                        </p:tav>
                                        <p:tav tm="100000">
                                          <p:val>
                                            <p:strVal val="#ppt_x"/>
                                          </p:val>
                                        </p:tav>
                                      </p:tavLst>
                                    </p:anim>
                                    <p:anim calcmode="lin" valueType="num">
                                      <p:cBhvr additive="base">
                                        <p:cTn id="62" dur="500" fill="hold"/>
                                        <p:tgtEl>
                                          <p:spTgt spid="111421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114218"/>
                                        </p:tgtEl>
                                        <p:attrNameLst>
                                          <p:attrName>style.visibility</p:attrName>
                                        </p:attrNameLst>
                                      </p:cBhvr>
                                      <p:to>
                                        <p:strVal val="visible"/>
                                      </p:to>
                                    </p:set>
                                    <p:anim calcmode="lin" valueType="num">
                                      <p:cBhvr additive="base">
                                        <p:cTn id="67" dur="500" fill="hold"/>
                                        <p:tgtEl>
                                          <p:spTgt spid="1114218"/>
                                        </p:tgtEl>
                                        <p:attrNameLst>
                                          <p:attrName>ppt_x</p:attrName>
                                        </p:attrNameLst>
                                      </p:cBhvr>
                                      <p:tavLst>
                                        <p:tav tm="0">
                                          <p:val>
                                            <p:strVal val="#ppt_x"/>
                                          </p:val>
                                        </p:tav>
                                        <p:tav tm="100000">
                                          <p:val>
                                            <p:strVal val="#ppt_x"/>
                                          </p:val>
                                        </p:tav>
                                      </p:tavLst>
                                    </p:anim>
                                    <p:anim calcmode="lin" valueType="num">
                                      <p:cBhvr additive="base">
                                        <p:cTn id="68" dur="500" fill="hold"/>
                                        <p:tgtEl>
                                          <p:spTgt spid="111421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114245"/>
                                        </p:tgtEl>
                                        <p:attrNameLst>
                                          <p:attrName>style.visibility</p:attrName>
                                        </p:attrNameLst>
                                      </p:cBhvr>
                                      <p:to>
                                        <p:strVal val="visible"/>
                                      </p:to>
                                    </p:set>
                                    <p:animEffect transition="in" filter="wipe(left)">
                                      <p:cBhvr>
                                        <p:cTn id="73" dur="500"/>
                                        <p:tgtEl>
                                          <p:spTgt spid="1114245"/>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1114219"/>
                                        </p:tgtEl>
                                        <p:attrNameLst>
                                          <p:attrName>style.visibility</p:attrName>
                                        </p:attrNameLst>
                                      </p:cBhvr>
                                      <p:to>
                                        <p:strVal val="visible"/>
                                      </p:to>
                                    </p:set>
                                    <p:anim calcmode="lin" valueType="num">
                                      <p:cBhvr additive="base">
                                        <p:cTn id="78" dur="500" fill="hold"/>
                                        <p:tgtEl>
                                          <p:spTgt spid="1114219"/>
                                        </p:tgtEl>
                                        <p:attrNameLst>
                                          <p:attrName>ppt_x</p:attrName>
                                        </p:attrNameLst>
                                      </p:cBhvr>
                                      <p:tavLst>
                                        <p:tav tm="0">
                                          <p:val>
                                            <p:strVal val="#ppt_x"/>
                                          </p:val>
                                        </p:tav>
                                        <p:tav tm="100000">
                                          <p:val>
                                            <p:strVal val="#ppt_x"/>
                                          </p:val>
                                        </p:tav>
                                      </p:tavLst>
                                    </p:anim>
                                    <p:anim calcmode="lin" valueType="num">
                                      <p:cBhvr additive="base">
                                        <p:cTn id="79" dur="500" fill="hold"/>
                                        <p:tgtEl>
                                          <p:spTgt spid="1114219"/>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1114221"/>
                                        </p:tgtEl>
                                        <p:attrNameLst>
                                          <p:attrName>style.visibility</p:attrName>
                                        </p:attrNameLst>
                                      </p:cBhvr>
                                      <p:to>
                                        <p:strVal val="visible"/>
                                      </p:to>
                                    </p:set>
                                    <p:anim calcmode="lin" valueType="num">
                                      <p:cBhvr additive="base">
                                        <p:cTn id="84" dur="500" fill="hold"/>
                                        <p:tgtEl>
                                          <p:spTgt spid="1114221"/>
                                        </p:tgtEl>
                                        <p:attrNameLst>
                                          <p:attrName>ppt_x</p:attrName>
                                        </p:attrNameLst>
                                      </p:cBhvr>
                                      <p:tavLst>
                                        <p:tav tm="0">
                                          <p:val>
                                            <p:strVal val="#ppt_x"/>
                                          </p:val>
                                        </p:tav>
                                        <p:tav tm="100000">
                                          <p:val>
                                            <p:strVal val="#ppt_x"/>
                                          </p:val>
                                        </p:tav>
                                      </p:tavLst>
                                    </p:anim>
                                    <p:anim calcmode="lin" valueType="num">
                                      <p:cBhvr additive="base">
                                        <p:cTn id="85" dur="500" fill="hold"/>
                                        <p:tgtEl>
                                          <p:spTgt spid="1114221"/>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14251"/>
                                        </p:tgtEl>
                                        <p:attrNameLst>
                                          <p:attrName>style.visibility</p:attrName>
                                        </p:attrNameLst>
                                      </p:cBhvr>
                                      <p:to>
                                        <p:strVal val="visible"/>
                                      </p:to>
                                    </p:set>
                                    <p:animEffect transition="in" filter="wipe(left)">
                                      <p:cBhvr>
                                        <p:cTn id="90" dur="500"/>
                                        <p:tgtEl>
                                          <p:spTgt spid="1114251"/>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1114222"/>
                                        </p:tgtEl>
                                        <p:attrNameLst>
                                          <p:attrName>style.visibility</p:attrName>
                                        </p:attrNameLst>
                                      </p:cBhvr>
                                      <p:to>
                                        <p:strVal val="visible"/>
                                      </p:to>
                                    </p:set>
                                    <p:anim calcmode="lin" valueType="num">
                                      <p:cBhvr additive="base">
                                        <p:cTn id="95" dur="500" fill="hold"/>
                                        <p:tgtEl>
                                          <p:spTgt spid="1114222"/>
                                        </p:tgtEl>
                                        <p:attrNameLst>
                                          <p:attrName>ppt_x</p:attrName>
                                        </p:attrNameLst>
                                      </p:cBhvr>
                                      <p:tavLst>
                                        <p:tav tm="0">
                                          <p:val>
                                            <p:strVal val="#ppt_x"/>
                                          </p:val>
                                        </p:tav>
                                        <p:tav tm="100000">
                                          <p:val>
                                            <p:strVal val="#ppt_x"/>
                                          </p:val>
                                        </p:tav>
                                      </p:tavLst>
                                    </p:anim>
                                    <p:anim calcmode="lin" valueType="num">
                                      <p:cBhvr additive="base">
                                        <p:cTn id="96" dur="500" fill="hold"/>
                                        <p:tgtEl>
                                          <p:spTgt spid="1114222"/>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1114224"/>
                                        </p:tgtEl>
                                        <p:attrNameLst>
                                          <p:attrName>style.visibility</p:attrName>
                                        </p:attrNameLst>
                                      </p:cBhvr>
                                      <p:to>
                                        <p:strVal val="visible"/>
                                      </p:to>
                                    </p:set>
                                    <p:anim calcmode="lin" valueType="num">
                                      <p:cBhvr additive="base">
                                        <p:cTn id="101" dur="500" fill="hold"/>
                                        <p:tgtEl>
                                          <p:spTgt spid="1114224"/>
                                        </p:tgtEl>
                                        <p:attrNameLst>
                                          <p:attrName>ppt_x</p:attrName>
                                        </p:attrNameLst>
                                      </p:cBhvr>
                                      <p:tavLst>
                                        <p:tav tm="0">
                                          <p:val>
                                            <p:strVal val="#ppt_x"/>
                                          </p:val>
                                        </p:tav>
                                        <p:tav tm="100000">
                                          <p:val>
                                            <p:strVal val="#ppt_x"/>
                                          </p:val>
                                        </p:tav>
                                      </p:tavLst>
                                    </p:anim>
                                    <p:anim calcmode="lin" valueType="num">
                                      <p:cBhvr additive="base">
                                        <p:cTn id="102" dur="500" fill="hold"/>
                                        <p:tgtEl>
                                          <p:spTgt spid="1114224"/>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114254"/>
                                        </p:tgtEl>
                                        <p:attrNameLst>
                                          <p:attrName>style.visibility</p:attrName>
                                        </p:attrNameLst>
                                      </p:cBhvr>
                                      <p:to>
                                        <p:strVal val="visible"/>
                                      </p:to>
                                    </p:set>
                                    <p:animEffect transition="in" filter="wipe(left)">
                                      <p:cBhvr>
                                        <p:cTn id="107" dur="500"/>
                                        <p:tgtEl>
                                          <p:spTgt spid="1114254"/>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114225"/>
                                        </p:tgtEl>
                                        <p:attrNameLst>
                                          <p:attrName>style.visibility</p:attrName>
                                        </p:attrNameLst>
                                      </p:cBhvr>
                                      <p:to>
                                        <p:strVal val="visible"/>
                                      </p:to>
                                    </p:set>
                                    <p:anim calcmode="lin" valueType="num">
                                      <p:cBhvr additive="base">
                                        <p:cTn id="112" dur="500" fill="hold"/>
                                        <p:tgtEl>
                                          <p:spTgt spid="1114225"/>
                                        </p:tgtEl>
                                        <p:attrNameLst>
                                          <p:attrName>ppt_x</p:attrName>
                                        </p:attrNameLst>
                                      </p:cBhvr>
                                      <p:tavLst>
                                        <p:tav tm="0">
                                          <p:val>
                                            <p:strVal val="#ppt_x"/>
                                          </p:val>
                                        </p:tav>
                                        <p:tav tm="100000">
                                          <p:val>
                                            <p:strVal val="#ppt_x"/>
                                          </p:val>
                                        </p:tav>
                                      </p:tavLst>
                                    </p:anim>
                                    <p:anim calcmode="lin" valueType="num">
                                      <p:cBhvr additive="base">
                                        <p:cTn id="113" dur="500" fill="hold"/>
                                        <p:tgtEl>
                                          <p:spTgt spid="1114225"/>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1114213"/>
                                        </p:tgtEl>
                                        <p:attrNameLst>
                                          <p:attrName>style.visibility</p:attrName>
                                        </p:attrNameLst>
                                      </p:cBhvr>
                                      <p:to>
                                        <p:strVal val="visible"/>
                                      </p:to>
                                    </p:set>
                                    <p:anim calcmode="lin" valueType="num">
                                      <p:cBhvr additive="base">
                                        <p:cTn id="118" dur="500" fill="hold"/>
                                        <p:tgtEl>
                                          <p:spTgt spid="1114213"/>
                                        </p:tgtEl>
                                        <p:attrNameLst>
                                          <p:attrName>ppt_x</p:attrName>
                                        </p:attrNameLst>
                                      </p:cBhvr>
                                      <p:tavLst>
                                        <p:tav tm="0">
                                          <p:val>
                                            <p:strVal val="#ppt_x"/>
                                          </p:val>
                                        </p:tav>
                                        <p:tav tm="100000">
                                          <p:val>
                                            <p:strVal val="#ppt_x"/>
                                          </p:val>
                                        </p:tav>
                                      </p:tavLst>
                                    </p:anim>
                                    <p:anim calcmode="lin" valueType="num">
                                      <p:cBhvr additive="base">
                                        <p:cTn id="119" dur="500" fill="hold"/>
                                        <p:tgtEl>
                                          <p:spTgt spid="1114213"/>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114216"/>
                                        </p:tgtEl>
                                        <p:attrNameLst>
                                          <p:attrName>style.visibility</p:attrName>
                                        </p:attrNameLst>
                                      </p:cBhvr>
                                      <p:to>
                                        <p:strVal val="visible"/>
                                      </p:to>
                                    </p:set>
                                    <p:anim calcmode="lin" valueType="num">
                                      <p:cBhvr additive="base">
                                        <p:cTn id="124" dur="500" fill="hold"/>
                                        <p:tgtEl>
                                          <p:spTgt spid="1114216"/>
                                        </p:tgtEl>
                                        <p:attrNameLst>
                                          <p:attrName>ppt_x</p:attrName>
                                        </p:attrNameLst>
                                      </p:cBhvr>
                                      <p:tavLst>
                                        <p:tav tm="0">
                                          <p:val>
                                            <p:strVal val="#ppt_x"/>
                                          </p:val>
                                        </p:tav>
                                        <p:tav tm="100000">
                                          <p:val>
                                            <p:strVal val="#ppt_x"/>
                                          </p:val>
                                        </p:tav>
                                      </p:tavLst>
                                    </p:anim>
                                    <p:anim calcmode="lin" valueType="num">
                                      <p:cBhvr additive="base">
                                        <p:cTn id="125" dur="500" fill="hold"/>
                                        <p:tgtEl>
                                          <p:spTgt spid="1114216"/>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1114220"/>
                                        </p:tgtEl>
                                        <p:attrNameLst>
                                          <p:attrName>style.visibility</p:attrName>
                                        </p:attrNameLst>
                                      </p:cBhvr>
                                      <p:to>
                                        <p:strVal val="visible"/>
                                      </p:to>
                                    </p:set>
                                    <p:anim calcmode="lin" valueType="num">
                                      <p:cBhvr additive="base">
                                        <p:cTn id="130" dur="500" fill="hold"/>
                                        <p:tgtEl>
                                          <p:spTgt spid="1114220"/>
                                        </p:tgtEl>
                                        <p:attrNameLst>
                                          <p:attrName>ppt_x</p:attrName>
                                        </p:attrNameLst>
                                      </p:cBhvr>
                                      <p:tavLst>
                                        <p:tav tm="0">
                                          <p:val>
                                            <p:strVal val="#ppt_x"/>
                                          </p:val>
                                        </p:tav>
                                        <p:tav tm="100000">
                                          <p:val>
                                            <p:strVal val="#ppt_x"/>
                                          </p:val>
                                        </p:tav>
                                      </p:tavLst>
                                    </p:anim>
                                    <p:anim calcmode="lin" valueType="num">
                                      <p:cBhvr additive="base">
                                        <p:cTn id="131" dur="500" fill="hold"/>
                                        <p:tgtEl>
                                          <p:spTgt spid="1114220"/>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114223"/>
                                        </p:tgtEl>
                                        <p:attrNameLst>
                                          <p:attrName>style.visibility</p:attrName>
                                        </p:attrNameLst>
                                      </p:cBhvr>
                                      <p:to>
                                        <p:strVal val="visible"/>
                                      </p:to>
                                    </p:set>
                                    <p:anim calcmode="lin" valueType="num">
                                      <p:cBhvr additive="base">
                                        <p:cTn id="136" dur="500" fill="hold"/>
                                        <p:tgtEl>
                                          <p:spTgt spid="1114223"/>
                                        </p:tgtEl>
                                        <p:attrNameLst>
                                          <p:attrName>ppt_x</p:attrName>
                                        </p:attrNameLst>
                                      </p:cBhvr>
                                      <p:tavLst>
                                        <p:tav tm="0">
                                          <p:val>
                                            <p:strVal val="#ppt_x"/>
                                          </p:val>
                                        </p:tav>
                                        <p:tav tm="100000">
                                          <p:val>
                                            <p:strVal val="#ppt_x"/>
                                          </p:val>
                                        </p:tav>
                                      </p:tavLst>
                                    </p:anim>
                                    <p:anim calcmode="lin" valueType="num">
                                      <p:cBhvr additive="base">
                                        <p:cTn id="137" dur="500" fill="hold"/>
                                        <p:tgtEl>
                                          <p:spTgt spid="1114223"/>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1114226"/>
                                        </p:tgtEl>
                                        <p:attrNameLst>
                                          <p:attrName>style.visibility</p:attrName>
                                        </p:attrNameLst>
                                      </p:cBhvr>
                                      <p:to>
                                        <p:strVal val="visible"/>
                                      </p:to>
                                    </p:set>
                                    <p:anim calcmode="lin" valueType="num">
                                      <p:cBhvr additive="base">
                                        <p:cTn id="142" dur="500" fill="hold"/>
                                        <p:tgtEl>
                                          <p:spTgt spid="1114226"/>
                                        </p:tgtEl>
                                        <p:attrNameLst>
                                          <p:attrName>ppt_x</p:attrName>
                                        </p:attrNameLst>
                                      </p:cBhvr>
                                      <p:tavLst>
                                        <p:tav tm="0">
                                          <p:val>
                                            <p:strVal val="#ppt_x"/>
                                          </p:val>
                                        </p:tav>
                                        <p:tav tm="100000">
                                          <p:val>
                                            <p:strVal val="#ppt_x"/>
                                          </p:val>
                                        </p:tav>
                                      </p:tavLst>
                                    </p:anim>
                                    <p:anim calcmode="lin" valueType="num">
                                      <p:cBhvr additive="base">
                                        <p:cTn id="143" dur="500" fill="hold"/>
                                        <p:tgtEl>
                                          <p:spTgt spid="1114226"/>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2" presetClass="entr" presetSubtype="1" fill="hold" nodeType="clickEffect">
                                  <p:stCondLst>
                                    <p:cond delay="0"/>
                                  </p:stCondLst>
                                  <p:childTnLst>
                                    <p:set>
                                      <p:cBhvr>
                                        <p:cTn id="147" dur="1" fill="hold">
                                          <p:stCondLst>
                                            <p:cond delay="0"/>
                                          </p:stCondLst>
                                        </p:cTn>
                                        <p:tgtEl>
                                          <p:spTgt spid="1114227"/>
                                        </p:tgtEl>
                                        <p:attrNameLst>
                                          <p:attrName>style.visibility</p:attrName>
                                        </p:attrNameLst>
                                      </p:cBhvr>
                                      <p:to>
                                        <p:strVal val="visible"/>
                                      </p:to>
                                    </p:set>
                                    <p:animEffect transition="in" filter="wipe(up)">
                                      <p:cBhvr>
                                        <p:cTn id="148" dur="500"/>
                                        <p:tgtEl>
                                          <p:spTgt spid="1114227"/>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1114233"/>
                                        </p:tgtEl>
                                        <p:attrNameLst>
                                          <p:attrName>style.visibility</p:attrName>
                                        </p:attrNameLst>
                                      </p:cBhvr>
                                      <p:to>
                                        <p:strVal val="visible"/>
                                      </p:to>
                                    </p:set>
                                    <p:animEffect transition="in" filter="wipe(left)">
                                      <p:cBhvr>
                                        <p:cTn id="153" dur="500"/>
                                        <p:tgtEl>
                                          <p:spTgt spid="1114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211" grpId="0" autoUpdateAnimBg="0"/>
      <p:bldP spid="1114212" grpId="0" autoUpdateAnimBg="0"/>
      <p:bldP spid="1114213" grpId="0" autoUpdateAnimBg="0"/>
      <p:bldP spid="1114214" grpId="0" autoUpdateAnimBg="0"/>
      <p:bldP spid="1114215" grpId="0" autoUpdateAnimBg="0"/>
      <p:bldP spid="1114216" grpId="0" autoUpdateAnimBg="0"/>
      <p:bldP spid="1114218" grpId="0" autoUpdateAnimBg="0"/>
      <p:bldP spid="1114219" grpId="0" autoUpdateAnimBg="0"/>
      <p:bldP spid="1114220" grpId="0" autoUpdateAnimBg="0"/>
      <p:bldP spid="1114221" grpId="0" autoUpdateAnimBg="0"/>
      <p:bldP spid="1114222" grpId="0" autoUpdateAnimBg="0"/>
      <p:bldP spid="1114223" grpId="0" autoUpdateAnimBg="0"/>
      <p:bldP spid="1114224" grpId="0" autoUpdateAnimBg="0"/>
      <p:bldP spid="1114225" grpId="0" autoUpdateAnimBg="0"/>
      <p:bldP spid="111422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63" name="Text Box 3"/>
          <p:cNvSpPr txBox="1">
            <a:spLocks noChangeArrowheads="1"/>
          </p:cNvSpPr>
          <p:nvPr/>
        </p:nvSpPr>
        <p:spPr bwMode="auto">
          <a:xfrm>
            <a:off x="1447800" y="1618457"/>
            <a:ext cx="6858000" cy="579437"/>
          </a:xfrm>
          <a:prstGeom prst="rect">
            <a:avLst/>
          </a:prstGeom>
          <a:noFill/>
          <a:ln w="9525">
            <a:noFill/>
            <a:miter lim="800000"/>
            <a:headEnd/>
            <a:tailEnd/>
          </a:ln>
          <a:effectLst/>
        </p:spPr>
        <p:txBody>
          <a:bodyPr>
            <a:spAutoFit/>
          </a:bodyPr>
          <a:lstStyle/>
          <a:p>
            <a:pPr>
              <a:spcBef>
                <a:spcPct val="50000"/>
              </a:spcBef>
              <a:buClr>
                <a:srgbClr val="990000"/>
              </a:buClr>
              <a:buFont typeface="Wingdings" pitchFamily="2" charset="2"/>
              <a:buChar char="q"/>
            </a:pPr>
            <a:r>
              <a:rPr kumimoji="1" lang="zh-CN" altLang="en-US" sz="3200" b="1">
                <a:latin typeface="Times New Roman" pitchFamily="18" charset="0"/>
                <a:ea typeface="楷体_GB2312" pitchFamily="49" charset="-122"/>
              </a:rPr>
              <a:t> 先来先服务</a:t>
            </a:r>
            <a:r>
              <a:rPr kumimoji="1" lang="zh-CN" altLang="en-US" sz="2800" b="1">
                <a:latin typeface="Times New Roman" pitchFamily="18" charset="0"/>
                <a:ea typeface="楷体_GB2312" pitchFamily="49" charset="-122"/>
              </a:rPr>
              <a:t>（先进先出）</a:t>
            </a:r>
            <a:r>
              <a:rPr kumimoji="1" lang="zh-CN" altLang="en-US" sz="3200" b="1">
                <a:latin typeface="Times New Roman" pitchFamily="18" charset="0"/>
                <a:ea typeface="楷体_GB2312" pitchFamily="49" charset="-122"/>
              </a:rPr>
              <a:t>优缺点</a:t>
            </a:r>
          </a:p>
        </p:txBody>
      </p:sp>
      <p:sp>
        <p:nvSpPr>
          <p:cNvPr id="1116164" name="Text Box 4"/>
          <p:cNvSpPr txBox="1">
            <a:spLocks noChangeArrowheads="1"/>
          </p:cNvSpPr>
          <p:nvPr/>
        </p:nvSpPr>
        <p:spPr bwMode="auto">
          <a:xfrm>
            <a:off x="1752600" y="2667000"/>
            <a:ext cx="8610600" cy="2332037"/>
          </a:xfrm>
          <a:prstGeom prst="rect">
            <a:avLst/>
          </a:prstGeom>
          <a:noFill/>
          <a:ln w="9525">
            <a:noFill/>
            <a:miter lim="800000"/>
            <a:headEnd/>
            <a:tailEnd/>
          </a:ln>
          <a:effectLst/>
        </p:spPr>
        <p:txBody>
          <a:bodyPr>
            <a:spAutoFit/>
          </a:bodyPr>
          <a:lstStyle/>
          <a:p>
            <a:pPr lvl="1">
              <a:lnSpc>
                <a:spcPct val="90000"/>
              </a:lnSpc>
              <a:spcBef>
                <a:spcPct val="20000"/>
              </a:spcBef>
              <a:buClr>
                <a:srgbClr val="DB4325"/>
              </a:buClr>
              <a:buSzPct val="80000"/>
              <a:buFont typeface="Wingdings" pitchFamily="2" charset="2"/>
              <a:buChar char="v"/>
            </a:pPr>
            <a:r>
              <a:rPr kumimoji="1" lang="zh-CN" altLang="en-US" sz="3000" b="1" dirty="0">
                <a:latin typeface="Times New Roman" pitchFamily="18" charset="0"/>
                <a:ea typeface="楷体_GB2312" pitchFamily="49" charset="-122"/>
              </a:rPr>
              <a:t> 比较有利于</a:t>
            </a:r>
            <a:r>
              <a:rPr kumimoji="1" lang="zh-CN" altLang="en-US" sz="3000" b="1" dirty="0">
                <a:solidFill>
                  <a:srgbClr val="990000"/>
                </a:solidFill>
                <a:latin typeface="Times New Roman" pitchFamily="18" charset="0"/>
                <a:ea typeface="楷体_GB2312" pitchFamily="49" charset="-122"/>
              </a:rPr>
              <a:t>长作业（进程）</a:t>
            </a:r>
            <a:r>
              <a:rPr kumimoji="1" lang="zh-CN" altLang="en-US" sz="3000" b="1" dirty="0">
                <a:latin typeface="Times New Roman" pitchFamily="18" charset="0"/>
                <a:ea typeface="楷体_GB2312" pitchFamily="49" charset="-122"/>
              </a:rPr>
              <a:t>，而不利于</a:t>
            </a:r>
            <a:r>
              <a:rPr kumimoji="1" lang="zh-CN" altLang="en-US" sz="3000" b="1" dirty="0">
                <a:solidFill>
                  <a:srgbClr val="990000"/>
                </a:solidFill>
                <a:latin typeface="Times New Roman" pitchFamily="18" charset="0"/>
                <a:ea typeface="楷体_GB2312" pitchFamily="49" charset="-122"/>
              </a:rPr>
              <a:t>短作业（进程）</a:t>
            </a:r>
          </a:p>
          <a:p>
            <a:pPr lvl="1">
              <a:lnSpc>
                <a:spcPct val="90000"/>
              </a:lnSpc>
              <a:spcBef>
                <a:spcPct val="20000"/>
              </a:spcBef>
              <a:buClr>
                <a:srgbClr val="DB4325"/>
              </a:buClr>
              <a:buSzPct val="80000"/>
              <a:buFont typeface="Wingdings" pitchFamily="2" charset="2"/>
              <a:buChar char="v"/>
            </a:pPr>
            <a:r>
              <a:rPr kumimoji="1" lang="zh-CN" altLang="en-US" sz="3000" b="1" dirty="0">
                <a:latin typeface="Times New Roman" pitchFamily="18" charset="0"/>
                <a:ea typeface="楷体_GB2312" pitchFamily="49" charset="-122"/>
              </a:rPr>
              <a:t> 有利于</a:t>
            </a:r>
            <a:r>
              <a:rPr kumimoji="1" lang="en-US" altLang="zh-CN" sz="3000" b="1" dirty="0">
                <a:latin typeface="Times New Roman" pitchFamily="18" charset="0"/>
                <a:ea typeface="楷体_GB2312" pitchFamily="49" charset="-122"/>
              </a:rPr>
              <a:t>CPU</a:t>
            </a:r>
            <a:r>
              <a:rPr kumimoji="1" lang="zh-CN" altLang="en-US" sz="3000" b="1" dirty="0">
                <a:latin typeface="Times New Roman" pitchFamily="18" charset="0"/>
                <a:ea typeface="楷体_GB2312" pitchFamily="49" charset="-122"/>
              </a:rPr>
              <a:t>繁忙型作业（进程） ，而不利于</a:t>
            </a:r>
            <a:r>
              <a:rPr kumimoji="1" lang="en-US" altLang="zh-CN" sz="3000" b="1" dirty="0">
                <a:latin typeface="Times New Roman" pitchFamily="18" charset="0"/>
                <a:ea typeface="楷体_GB2312" pitchFamily="49" charset="-122"/>
              </a:rPr>
              <a:t>I/O</a:t>
            </a:r>
            <a:r>
              <a:rPr kumimoji="1" lang="zh-CN" altLang="en-US" sz="3000" b="1" dirty="0">
                <a:latin typeface="Times New Roman" pitchFamily="18" charset="0"/>
                <a:ea typeface="楷体_GB2312" pitchFamily="49" charset="-122"/>
              </a:rPr>
              <a:t>繁忙型作业（进程）</a:t>
            </a:r>
          </a:p>
          <a:p>
            <a:pPr lvl="1">
              <a:lnSpc>
                <a:spcPct val="90000"/>
              </a:lnSpc>
              <a:spcBef>
                <a:spcPct val="20000"/>
              </a:spcBef>
              <a:buClr>
                <a:srgbClr val="DB4325"/>
              </a:buClr>
              <a:buSzPct val="80000"/>
              <a:buFont typeface="Wingdings" pitchFamily="2" charset="2"/>
              <a:buChar char="v"/>
            </a:pPr>
            <a:r>
              <a:rPr kumimoji="1" lang="zh-CN" altLang="en-US" sz="3000" b="1" dirty="0">
                <a:latin typeface="Times New Roman" pitchFamily="18" charset="0"/>
                <a:ea typeface="楷体_GB2312" pitchFamily="49" charset="-122"/>
              </a:rPr>
              <a:t> 用于批处理系统，不适于分时系统</a:t>
            </a:r>
            <a:endParaRPr kumimoji="1" lang="zh-CN" altLang="en-US" sz="3000" b="1" dirty="0">
              <a:latin typeface="Tahoma" pitchFamily="34" charset="0"/>
            </a:endParaRPr>
          </a:p>
        </p:txBody>
      </p:sp>
      <p:sp>
        <p:nvSpPr>
          <p:cNvPr id="1116166" name="Rectangle 2"/>
          <p:cNvSpPr>
            <a:spLocks noChangeArrowheads="1"/>
          </p:cNvSpPr>
          <p:nvPr/>
        </p:nvSpPr>
        <p:spPr bwMode="gray">
          <a:xfrm>
            <a:off x="609600" y="768351"/>
            <a:ext cx="8534400" cy="381000"/>
          </a:xfrm>
          <a:prstGeom prst="rect">
            <a:avLst/>
          </a:prstGeom>
          <a:noFill/>
          <a:ln w="9525">
            <a:noFill/>
            <a:miter lim="800000"/>
            <a:headEnd/>
            <a:tailEnd/>
          </a:ln>
        </p:spPr>
        <p:txBody>
          <a:bodyPr lIns="0" tIns="0" rIns="0" bIns="0"/>
          <a:lstStyle/>
          <a:p>
            <a:pPr>
              <a:lnSpc>
                <a:spcPct val="85000"/>
              </a:lnSpc>
            </a:pPr>
            <a:r>
              <a:rPr lang="zh-CN" altLang="en-US" sz="2800" b="1" dirty="0">
                <a:solidFill>
                  <a:schemeClr val="tx2"/>
                </a:solidFill>
                <a:latin typeface="Times New Roman" pitchFamily="18" charset="0"/>
              </a:rPr>
              <a:t>先来先服务（</a:t>
            </a:r>
            <a:r>
              <a:rPr lang="en-US" altLang="zh-CN" sz="2800" b="1" dirty="0">
                <a:solidFill>
                  <a:schemeClr val="tx2"/>
                </a:solidFill>
                <a:latin typeface="Times New Roman" pitchFamily="18" charset="0"/>
              </a:rPr>
              <a:t>FCFS</a:t>
            </a:r>
            <a:r>
              <a:rPr lang="zh-CN" altLang="en-US" sz="2800" b="1" dirty="0">
                <a:solidFill>
                  <a:schemeClr val="tx2"/>
                </a:solidFill>
                <a:latin typeface="Times New Roman"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7187" name="Rectangle 3"/>
          <p:cNvSpPr>
            <a:spLocks noGrp="1" noChangeArrowheads="1"/>
          </p:cNvSpPr>
          <p:nvPr>
            <p:ph type="body" idx="1"/>
          </p:nvPr>
        </p:nvSpPr>
        <p:spPr>
          <a:xfrm>
            <a:off x="1676400" y="1524000"/>
            <a:ext cx="8193088" cy="5334000"/>
          </a:xfrm>
        </p:spPr>
        <p:txBody>
          <a:bodyPr/>
          <a:lstStyle/>
          <a:p>
            <a:pPr>
              <a:lnSpc>
                <a:spcPct val="90000"/>
              </a:lnSpc>
            </a:pPr>
            <a:r>
              <a:rPr lang="zh-CN" altLang="en-US" sz="2600" b="1" dirty="0">
                <a:latin typeface="楷体_GB2312" pitchFamily="49" charset="-122"/>
                <a:ea typeface="楷体_GB2312" pitchFamily="49" charset="-122"/>
              </a:rPr>
              <a:t>短作业</a:t>
            </a:r>
            <a:r>
              <a:rPr lang="en-US" altLang="zh-CN" sz="2600" b="1" dirty="0">
                <a:latin typeface="楷体_GB2312" pitchFamily="49" charset="-122"/>
                <a:ea typeface="楷体_GB2312" pitchFamily="49" charset="-122"/>
              </a:rPr>
              <a:t>(</a:t>
            </a:r>
            <a:r>
              <a:rPr lang="zh-CN" altLang="en-US" sz="2600" b="1" dirty="0">
                <a:latin typeface="楷体_GB2312" pitchFamily="49" charset="-122"/>
                <a:ea typeface="楷体_GB2312" pitchFamily="49" charset="-122"/>
              </a:rPr>
              <a:t>进程</a:t>
            </a:r>
            <a:r>
              <a:rPr lang="en-US" altLang="zh-CN" dirty="0">
                <a:ea typeface="宋体" pitchFamily="2" charset="-122"/>
              </a:rPr>
              <a:t>)</a:t>
            </a:r>
            <a:r>
              <a:rPr lang="zh-CN" altLang="en-US" sz="2600" b="1" dirty="0">
                <a:latin typeface="楷体_GB2312" pitchFamily="49" charset="-122"/>
                <a:ea typeface="楷体_GB2312" pitchFamily="49" charset="-122"/>
              </a:rPr>
              <a:t>优先调度算法</a:t>
            </a:r>
            <a:r>
              <a:rPr lang="en-US" altLang="zh-CN" sz="2600" b="1" dirty="0">
                <a:latin typeface="楷体_GB2312" pitchFamily="49" charset="-122"/>
                <a:ea typeface="楷体_GB2312" pitchFamily="49" charset="-122"/>
              </a:rPr>
              <a:t>SJ(P)F</a:t>
            </a:r>
          </a:p>
          <a:p>
            <a:pPr lvl="1">
              <a:lnSpc>
                <a:spcPct val="90000"/>
              </a:lnSpc>
            </a:pPr>
            <a:r>
              <a:rPr lang="zh-CN" altLang="en-US" sz="2600" b="1" dirty="0">
                <a:latin typeface="楷体_GB2312" pitchFamily="49" charset="-122"/>
                <a:ea typeface="楷体_GB2312" pitchFamily="49" charset="-122"/>
              </a:rPr>
              <a:t>短作业</a:t>
            </a:r>
            <a:r>
              <a:rPr lang="en-US" altLang="zh-CN" sz="2600" b="1" dirty="0">
                <a:latin typeface="楷体_GB2312" pitchFamily="49" charset="-122"/>
                <a:ea typeface="楷体_GB2312" pitchFamily="49" charset="-122"/>
              </a:rPr>
              <a:t>(</a:t>
            </a:r>
            <a:r>
              <a:rPr lang="zh-CN" altLang="en-US" sz="2600" b="1" dirty="0">
                <a:latin typeface="楷体_GB2312" pitchFamily="49" charset="-122"/>
                <a:ea typeface="楷体_GB2312" pitchFamily="49" charset="-122"/>
              </a:rPr>
              <a:t>进程</a:t>
            </a:r>
            <a:r>
              <a:rPr lang="en-US" altLang="zh-CN" sz="2600" b="1" dirty="0">
                <a:latin typeface="楷体_GB2312" pitchFamily="49" charset="-122"/>
                <a:ea typeface="楷体_GB2312" pitchFamily="49" charset="-122"/>
              </a:rPr>
              <a:t>)</a:t>
            </a:r>
            <a:r>
              <a:rPr lang="zh-CN" altLang="en-US" sz="2600" b="1" dirty="0">
                <a:latin typeface="楷体_GB2312" pitchFamily="49" charset="-122"/>
                <a:ea typeface="楷体_GB2312" pitchFamily="49" charset="-122"/>
              </a:rPr>
              <a:t>优先调度算法</a:t>
            </a:r>
            <a:r>
              <a:rPr lang="en-US" altLang="zh-CN" sz="2600" b="1" dirty="0">
                <a:latin typeface="楷体_GB2312" pitchFamily="49" charset="-122"/>
                <a:ea typeface="楷体_GB2312" pitchFamily="49" charset="-122"/>
              </a:rPr>
              <a:t>SJ(P)F</a:t>
            </a:r>
            <a:r>
              <a:rPr lang="zh-CN" altLang="en-US" sz="2600" b="1" dirty="0">
                <a:latin typeface="楷体_GB2312" pitchFamily="49" charset="-122"/>
                <a:ea typeface="楷体_GB2312" pitchFamily="49" charset="-122"/>
              </a:rPr>
              <a:t>，以要求</a:t>
            </a:r>
            <a:r>
              <a:rPr lang="zh-CN" altLang="en-US" sz="2600" b="1" dirty="0">
                <a:solidFill>
                  <a:srgbClr val="990000"/>
                </a:solidFill>
                <a:latin typeface="楷体_GB2312" pitchFamily="49" charset="-122"/>
                <a:ea typeface="楷体_GB2312" pitchFamily="49" charset="-122"/>
              </a:rPr>
              <a:t>运行时间长短</a:t>
            </a:r>
            <a:r>
              <a:rPr lang="zh-CN" altLang="en-US" sz="2600" b="1" dirty="0">
                <a:latin typeface="楷体_GB2312" pitchFamily="49" charset="-122"/>
                <a:ea typeface="楷体_GB2312" pitchFamily="49" charset="-122"/>
              </a:rPr>
              <a:t>进行调度，即启动要求运行时间最短的作业</a:t>
            </a:r>
          </a:p>
          <a:p>
            <a:pPr lvl="1">
              <a:lnSpc>
                <a:spcPct val="90000"/>
              </a:lnSpc>
            </a:pPr>
            <a:r>
              <a:rPr lang="zh-CN" altLang="en-US" sz="2600" b="1" dirty="0">
                <a:latin typeface="楷体_GB2312" pitchFamily="49" charset="-122"/>
                <a:ea typeface="楷体_GB2312" pitchFamily="49" charset="-122"/>
              </a:rPr>
              <a:t>可以分别用于</a:t>
            </a:r>
            <a:r>
              <a:rPr lang="zh-CN" altLang="en-US" sz="2600" b="1" dirty="0">
                <a:solidFill>
                  <a:srgbClr val="990000"/>
                </a:solidFill>
                <a:latin typeface="楷体_GB2312" pitchFamily="49" charset="-122"/>
                <a:ea typeface="楷体_GB2312" pitchFamily="49" charset="-122"/>
              </a:rPr>
              <a:t>作业调度</a:t>
            </a:r>
            <a:r>
              <a:rPr lang="zh-CN" altLang="en-US" sz="2600" b="1" dirty="0">
                <a:latin typeface="楷体_GB2312" pitchFamily="49" charset="-122"/>
                <a:ea typeface="楷体_GB2312" pitchFamily="49" charset="-122"/>
              </a:rPr>
              <a:t>和</a:t>
            </a:r>
            <a:r>
              <a:rPr lang="zh-CN" altLang="en-US" sz="2600" b="1" dirty="0">
                <a:solidFill>
                  <a:srgbClr val="990000"/>
                </a:solidFill>
                <a:latin typeface="楷体_GB2312" pitchFamily="49" charset="-122"/>
                <a:ea typeface="楷体_GB2312" pitchFamily="49" charset="-122"/>
              </a:rPr>
              <a:t>进程调度</a:t>
            </a:r>
          </a:p>
          <a:p>
            <a:pPr lvl="1">
              <a:lnSpc>
                <a:spcPct val="90000"/>
              </a:lnSpc>
            </a:pPr>
            <a:r>
              <a:rPr lang="zh-CN" altLang="en-US" sz="2600" b="1" dirty="0">
                <a:latin typeface="楷体_GB2312" pitchFamily="49" charset="-122"/>
                <a:ea typeface="楷体_GB2312" pitchFamily="49" charset="-122"/>
              </a:rPr>
              <a:t>短作业优先调度算法</a:t>
            </a:r>
            <a:r>
              <a:rPr lang="en-US" altLang="zh-CN" sz="2600" b="1" dirty="0">
                <a:latin typeface="楷体_GB2312" pitchFamily="49" charset="-122"/>
                <a:ea typeface="楷体_GB2312" pitchFamily="49" charset="-122"/>
              </a:rPr>
              <a:t>SJF</a:t>
            </a:r>
            <a:r>
              <a:rPr lang="zh-CN" altLang="en-US" sz="2600" b="1" dirty="0">
                <a:latin typeface="楷体_GB2312" pitchFamily="49" charset="-122"/>
                <a:ea typeface="楷体_GB2312" pitchFamily="49" charset="-122"/>
              </a:rPr>
              <a:t> ，是从后备队列中选择一个或若干个</a:t>
            </a:r>
            <a:r>
              <a:rPr lang="zh-CN" altLang="en-US" sz="2600" b="1" dirty="0">
                <a:solidFill>
                  <a:srgbClr val="D20000"/>
                </a:solidFill>
                <a:latin typeface="楷体_GB2312" pitchFamily="49" charset="-122"/>
                <a:ea typeface="楷体_GB2312" pitchFamily="49" charset="-122"/>
              </a:rPr>
              <a:t>估计运行时间</a:t>
            </a:r>
            <a:r>
              <a:rPr lang="zh-CN" altLang="en-US" sz="2600" b="1" dirty="0">
                <a:latin typeface="楷体_GB2312" pitchFamily="49" charset="-122"/>
                <a:ea typeface="楷体_GB2312" pitchFamily="49" charset="-122"/>
              </a:rPr>
              <a:t>最短的作业，将它们调入内存运行；而短进程优先调度算法</a:t>
            </a:r>
            <a:r>
              <a:rPr lang="en-US" altLang="zh-CN" sz="2600" b="1" dirty="0">
                <a:latin typeface="楷体_GB2312" pitchFamily="49" charset="-122"/>
                <a:ea typeface="楷体_GB2312" pitchFamily="49" charset="-122"/>
              </a:rPr>
              <a:t>SPF</a:t>
            </a:r>
            <a:r>
              <a:rPr lang="zh-CN" altLang="en-US" sz="2600" b="1" dirty="0">
                <a:latin typeface="楷体_GB2312" pitchFamily="49" charset="-122"/>
                <a:ea typeface="楷体_GB2312" pitchFamily="49" charset="-122"/>
              </a:rPr>
              <a:t> ，则是从就绪队列中选出一</a:t>
            </a:r>
            <a:r>
              <a:rPr lang="zh-CN" altLang="en-US" sz="2600" b="1" dirty="0">
                <a:solidFill>
                  <a:srgbClr val="990000"/>
                </a:solidFill>
                <a:latin typeface="楷体_GB2312" pitchFamily="49" charset="-122"/>
                <a:ea typeface="楷体_GB2312" pitchFamily="49" charset="-122"/>
              </a:rPr>
              <a:t>估计运行时间</a:t>
            </a:r>
            <a:r>
              <a:rPr lang="zh-CN" altLang="en-US" sz="2600" b="1" dirty="0">
                <a:latin typeface="楷体_GB2312" pitchFamily="49" charset="-122"/>
                <a:ea typeface="楷体_GB2312" pitchFamily="49" charset="-122"/>
              </a:rPr>
              <a:t>最短的进程，将处理机分配给它，使它立即</a:t>
            </a:r>
            <a:r>
              <a:rPr lang="zh-CN" altLang="en-US" sz="2600" b="1" dirty="0">
                <a:solidFill>
                  <a:srgbClr val="D20000"/>
                </a:solidFill>
                <a:latin typeface="楷体_GB2312" pitchFamily="49" charset="-122"/>
                <a:ea typeface="楷体_GB2312" pitchFamily="49" charset="-122"/>
              </a:rPr>
              <a:t>执行并一直执行到完成</a:t>
            </a:r>
            <a:endParaRPr lang="zh-CN" altLang="en-US" sz="2600" b="1" dirty="0">
              <a:latin typeface="楷体_GB2312" pitchFamily="49" charset="-122"/>
              <a:ea typeface="楷体_GB2312" pitchFamily="49" charset="-122"/>
            </a:endParaRPr>
          </a:p>
        </p:txBody>
      </p:sp>
      <p:sp>
        <p:nvSpPr>
          <p:cNvPr id="1117188" name="Rectangle 4"/>
          <p:cNvSpPr>
            <a:spLocks noChangeArrowheads="1"/>
          </p:cNvSpPr>
          <p:nvPr/>
        </p:nvSpPr>
        <p:spPr bwMode="auto">
          <a:xfrm>
            <a:off x="4876800" y="739775"/>
            <a:ext cx="490538" cy="457200"/>
          </a:xfrm>
          <a:prstGeom prst="rect">
            <a:avLst/>
          </a:prstGeom>
          <a:noFill/>
          <a:ln w="9525">
            <a:noFill/>
            <a:miter lim="800000"/>
            <a:headEnd/>
            <a:tailEnd/>
          </a:ln>
          <a:effectLst/>
        </p:spPr>
        <p:txBody>
          <a:bodyPr wrap="none">
            <a:spAutoFit/>
          </a:bodyPr>
          <a:lstStyle/>
          <a:p>
            <a:r>
              <a:rPr kumimoji="1" lang="zh-CN" altLang="en-US" sz="2400" b="1" dirty="0">
                <a:solidFill>
                  <a:srgbClr val="FF0066"/>
                </a:solidFill>
                <a:latin typeface="Times New Roman" pitchFamily="18" charset="0"/>
              </a:rPr>
              <a:t>②</a:t>
            </a:r>
          </a:p>
        </p:txBody>
      </p:sp>
      <p:sp>
        <p:nvSpPr>
          <p:cNvPr id="1117191" name="Rectangle 2"/>
          <p:cNvSpPr>
            <a:spLocks noChangeArrowheads="1"/>
          </p:cNvSpPr>
          <p:nvPr/>
        </p:nvSpPr>
        <p:spPr bwMode="gray">
          <a:xfrm>
            <a:off x="533400" y="815975"/>
            <a:ext cx="8534400" cy="381000"/>
          </a:xfrm>
          <a:prstGeom prst="rect">
            <a:avLst/>
          </a:prstGeom>
          <a:noFill/>
          <a:ln w="9525">
            <a:noFill/>
            <a:miter lim="800000"/>
            <a:headEnd/>
            <a:tailEnd/>
          </a:ln>
        </p:spPr>
        <p:txBody>
          <a:bodyPr lIns="0" tIns="0" rIns="0" bIns="0"/>
          <a:lstStyle/>
          <a:p>
            <a:pPr>
              <a:lnSpc>
                <a:spcPct val="85000"/>
              </a:lnSpc>
            </a:pPr>
            <a:r>
              <a:rPr lang="zh-CN" altLang="en-US" sz="2800" b="1" dirty="0">
                <a:solidFill>
                  <a:schemeClr val="tx2"/>
                </a:solidFill>
                <a:latin typeface="Times New Roman" pitchFamily="18" charset="0"/>
              </a:rPr>
              <a:t>短作业</a:t>
            </a:r>
            <a:r>
              <a:rPr lang="en-US" altLang="zh-CN" sz="2800" b="1" dirty="0">
                <a:solidFill>
                  <a:schemeClr val="tx2"/>
                </a:solidFill>
                <a:latin typeface="Times New Roman" pitchFamily="18" charset="0"/>
              </a:rPr>
              <a:t>(</a:t>
            </a:r>
            <a:r>
              <a:rPr lang="zh-CN" altLang="en-US" sz="2800" b="1" dirty="0">
                <a:solidFill>
                  <a:schemeClr val="tx2"/>
                </a:solidFill>
                <a:latin typeface="Times New Roman" pitchFamily="18" charset="0"/>
              </a:rPr>
              <a:t>进程</a:t>
            </a:r>
            <a:r>
              <a:rPr lang="en-US" altLang="zh-CN" sz="2800" b="1" dirty="0">
                <a:solidFill>
                  <a:schemeClr val="tx2"/>
                </a:solidFill>
                <a:latin typeface="Times New Roman" pitchFamily="18" charset="0"/>
              </a:rPr>
              <a:t>)</a:t>
            </a:r>
            <a:r>
              <a:rPr lang="zh-CN" altLang="en-US" sz="2800" b="1" dirty="0">
                <a:solidFill>
                  <a:schemeClr val="tx2"/>
                </a:solidFill>
                <a:latin typeface="Times New Roman" pitchFamily="18" charset="0"/>
              </a:rPr>
              <a:t>优先（</a:t>
            </a:r>
            <a:r>
              <a:rPr lang="en-US" altLang="zh-CN" sz="2800" b="1" dirty="0">
                <a:solidFill>
                  <a:schemeClr val="tx2"/>
                </a:solidFill>
                <a:latin typeface="Times New Roman" pitchFamily="18" charset="0"/>
              </a:rPr>
              <a:t>SJ(P)F</a:t>
            </a:r>
            <a:r>
              <a:rPr lang="zh-CN" altLang="en-US" sz="2800" b="1" dirty="0">
                <a:solidFill>
                  <a:schemeClr val="tx2"/>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17187">
                                            <p:txEl>
                                              <p:pRg st="0" end="0"/>
                                            </p:txEl>
                                          </p:spTgt>
                                        </p:tgtEl>
                                        <p:attrNameLst>
                                          <p:attrName>style.visibility</p:attrName>
                                        </p:attrNameLst>
                                      </p:cBhvr>
                                      <p:to>
                                        <p:strVal val="visible"/>
                                      </p:to>
                                    </p:set>
                                    <p:animEffect transition="in" filter="wipe(up)">
                                      <p:cBhvr>
                                        <p:cTn id="7" dur="500"/>
                                        <p:tgtEl>
                                          <p:spTgt spid="1117187">
                                            <p:txEl>
                                              <p:pRg st="0" end="0"/>
                                            </p:txEl>
                                          </p:spTgt>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1117188"/>
                                        </p:tgtEl>
                                        <p:attrNameLst>
                                          <p:attrName>style.visibility</p:attrName>
                                        </p:attrNameLst>
                                      </p:cBhvr>
                                      <p:to>
                                        <p:strVal val="visible"/>
                                      </p:to>
                                    </p:set>
                                    <p:anim calcmode="lin" valueType="num">
                                      <p:cBhvr>
                                        <p:cTn id="11" dur="1000" fill="hold"/>
                                        <p:tgtEl>
                                          <p:spTgt spid="1117188"/>
                                        </p:tgtEl>
                                        <p:attrNameLst>
                                          <p:attrName>ppt_w</p:attrName>
                                        </p:attrNameLst>
                                      </p:cBhvr>
                                      <p:tavLst>
                                        <p:tav tm="0">
                                          <p:val>
                                            <p:fltVal val="0"/>
                                          </p:val>
                                        </p:tav>
                                        <p:tav tm="100000">
                                          <p:val>
                                            <p:strVal val="#ppt_w"/>
                                          </p:val>
                                        </p:tav>
                                      </p:tavLst>
                                    </p:anim>
                                    <p:anim calcmode="lin" valueType="num">
                                      <p:cBhvr>
                                        <p:cTn id="12" dur="1000" fill="hold"/>
                                        <p:tgtEl>
                                          <p:spTgt spid="1117188"/>
                                        </p:tgtEl>
                                        <p:attrNameLst>
                                          <p:attrName>ppt_h</p:attrName>
                                        </p:attrNameLst>
                                      </p:cBhvr>
                                      <p:tavLst>
                                        <p:tav tm="0">
                                          <p:val>
                                            <p:fltVal val="0"/>
                                          </p:val>
                                        </p:tav>
                                        <p:tav tm="100000">
                                          <p:val>
                                            <p:strVal val="#ppt_h"/>
                                          </p:val>
                                        </p:tav>
                                      </p:tavLst>
                                    </p:anim>
                                    <p:anim calcmode="lin" valueType="num">
                                      <p:cBhvr>
                                        <p:cTn id="13" dur="1000" fill="hold"/>
                                        <p:tgtEl>
                                          <p:spTgt spid="1117188"/>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111718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17187">
                                            <p:txEl>
                                              <p:pRg st="1" end="1"/>
                                            </p:txEl>
                                          </p:spTgt>
                                        </p:tgtEl>
                                        <p:attrNameLst>
                                          <p:attrName>style.visibility</p:attrName>
                                        </p:attrNameLst>
                                      </p:cBhvr>
                                      <p:to>
                                        <p:strVal val="visible"/>
                                      </p:to>
                                    </p:set>
                                    <p:animEffect transition="in" filter="wipe(up)">
                                      <p:cBhvr>
                                        <p:cTn id="19" dur="500"/>
                                        <p:tgtEl>
                                          <p:spTgt spid="1117187">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117187">
                                            <p:txEl>
                                              <p:pRg st="2" end="2"/>
                                            </p:txEl>
                                          </p:spTgt>
                                        </p:tgtEl>
                                        <p:attrNameLst>
                                          <p:attrName>style.visibility</p:attrName>
                                        </p:attrNameLst>
                                      </p:cBhvr>
                                      <p:to>
                                        <p:strVal val="visible"/>
                                      </p:to>
                                    </p:set>
                                    <p:animEffect transition="in" filter="wipe(up)">
                                      <p:cBhvr>
                                        <p:cTn id="24" dur="500"/>
                                        <p:tgtEl>
                                          <p:spTgt spid="111718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117187">
                                            <p:txEl>
                                              <p:pRg st="3" end="3"/>
                                            </p:txEl>
                                          </p:spTgt>
                                        </p:tgtEl>
                                        <p:attrNameLst>
                                          <p:attrName>style.visibility</p:attrName>
                                        </p:attrNameLst>
                                      </p:cBhvr>
                                      <p:to>
                                        <p:strVal val="visible"/>
                                      </p:to>
                                    </p:set>
                                    <p:animEffect transition="in" filter="wipe(up)">
                                      <p:cBhvr>
                                        <p:cTn id="29" dur="500"/>
                                        <p:tgtEl>
                                          <p:spTgt spid="11171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187" grpId="0" build="p" bldLvl="5" autoUpdateAnimBg="0"/>
      <p:bldP spid="111718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9388" name="Group 156"/>
          <p:cNvGraphicFramePr>
            <a:graphicFrameLocks noGrp="1"/>
          </p:cNvGraphicFramePr>
          <p:nvPr>
            <p:extLst>
              <p:ext uri="{D42A27DB-BD31-4B8C-83A1-F6EECF244321}">
                <p14:modId xmlns:p14="http://schemas.microsoft.com/office/powerpoint/2010/main" val="2745151485"/>
              </p:ext>
            </p:extLst>
          </p:nvPr>
        </p:nvGraphicFramePr>
        <p:xfrm>
          <a:off x="1828800" y="1524000"/>
          <a:ext cx="8534400" cy="3614739"/>
        </p:xfrm>
        <a:graphic>
          <a:graphicData uri="http://schemas.openxmlformats.org/drawingml/2006/table">
            <a:tbl>
              <a:tblPr/>
              <a:tblGrid>
                <a:gridCol w="1220788">
                  <a:extLst>
                    <a:ext uri="{9D8B030D-6E8A-4147-A177-3AD203B41FA5}">
                      <a16:colId xmlns:a16="http://schemas.microsoft.com/office/drawing/2014/main" val="20000"/>
                    </a:ext>
                  </a:extLst>
                </a:gridCol>
                <a:gridCol w="1217612">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7613">
                  <a:extLst>
                    <a:ext uri="{9D8B030D-6E8A-4147-A177-3AD203B41FA5}">
                      <a16:colId xmlns:a16="http://schemas.microsoft.com/office/drawing/2014/main" val="20005"/>
                    </a:ext>
                  </a:extLst>
                </a:gridCol>
                <a:gridCol w="1220787">
                  <a:extLst>
                    <a:ext uri="{9D8B030D-6E8A-4147-A177-3AD203B41FA5}">
                      <a16:colId xmlns:a16="http://schemas.microsoft.com/office/drawing/2014/main" val="20006"/>
                    </a:ext>
                  </a:extLst>
                </a:gridCol>
              </a:tblGrid>
              <a:tr h="747713">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进程名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服务时间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119311" name="Group 79"/>
          <p:cNvGrpSpPr>
            <a:grpSpLocks/>
          </p:cNvGrpSpPr>
          <p:nvPr/>
        </p:nvGrpSpPr>
        <p:grpSpPr bwMode="auto">
          <a:xfrm>
            <a:off x="2209800" y="2285999"/>
            <a:ext cx="2895600" cy="519112"/>
            <a:chOff x="384" y="1632"/>
            <a:chExt cx="1824" cy="327"/>
          </a:xfrm>
        </p:grpSpPr>
        <p:sp>
          <p:nvSpPr>
            <p:cNvPr id="1119312" name="Text Box 80"/>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0</a:t>
              </a:r>
            </a:p>
          </p:txBody>
        </p:sp>
        <p:sp>
          <p:nvSpPr>
            <p:cNvPr id="1119313" name="Text Box 81"/>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4</a:t>
              </a:r>
            </a:p>
          </p:txBody>
        </p:sp>
        <p:sp>
          <p:nvSpPr>
            <p:cNvPr id="1119314" name="Text Box 82"/>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A</a:t>
              </a:r>
            </a:p>
          </p:txBody>
        </p:sp>
      </p:grpSp>
      <p:grpSp>
        <p:nvGrpSpPr>
          <p:cNvPr id="1119315" name="Group 83"/>
          <p:cNvGrpSpPr>
            <a:grpSpLocks/>
          </p:cNvGrpSpPr>
          <p:nvPr/>
        </p:nvGrpSpPr>
        <p:grpSpPr bwMode="auto">
          <a:xfrm>
            <a:off x="2209800" y="2743199"/>
            <a:ext cx="2895600" cy="519112"/>
            <a:chOff x="384" y="1632"/>
            <a:chExt cx="1824" cy="327"/>
          </a:xfrm>
        </p:grpSpPr>
        <p:sp>
          <p:nvSpPr>
            <p:cNvPr id="1119316" name="Text Box 84"/>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1</a:t>
              </a:r>
            </a:p>
          </p:txBody>
        </p:sp>
        <p:sp>
          <p:nvSpPr>
            <p:cNvPr id="1119317" name="Text Box 85"/>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3</a:t>
              </a:r>
            </a:p>
          </p:txBody>
        </p:sp>
        <p:sp>
          <p:nvSpPr>
            <p:cNvPr id="1119318" name="Text Box 86"/>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B</a:t>
              </a:r>
            </a:p>
          </p:txBody>
        </p:sp>
      </p:grpSp>
      <p:grpSp>
        <p:nvGrpSpPr>
          <p:cNvPr id="1119319" name="Group 87"/>
          <p:cNvGrpSpPr>
            <a:grpSpLocks/>
          </p:cNvGrpSpPr>
          <p:nvPr/>
        </p:nvGrpSpPr>
        <p:grpSpPr bwMode="auto">
          <a:xfrm>
            <a:off x="2209800" y="3200399"/>
            <a:ext cx="2895600" cy="519112"/>
            <a:chOff x="384" y="1632"/>
            <a:chExt cx="1824" cy="327"/>
          </a:xfrm>
        </p:grpSpPr>
        <p:sp>
          <p:nvSpPr>
            <p:cNvPr id="1119320" name="Text Box 88"/>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19321" name="Text Box 89"/>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5</a:t>
              </a:r>
            </a:p>
          </p:txBody>
        </p:sp>
        <p:sp>
          <p:nvSpPr>
            <p:cNvPr id="1119322" name="Text Box 90"/>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C</a:t>
              </a:r>
            </a:p>
          </p:txBody>
        </p:sp>
      </p:grpSp>
      <p:grpSp>
        <p:nvGrpSpPr>
          <p:cNvPr id="1119323" name="Group 91"/>
          <p:cNvGrpSpPr>
            <a:grpSpLocks/>
          </p:cNvGrpSpPr>
          <p:nvPr/>
        </p:nvGrpSpPr>
        <p:grpSpPr bwMode="auto">
          <a:xfrm>
            <a:off x="2209800" y="3657599"/>
            <a:ext cx="2895600" cy="519112"/>
            <a:chOff x="384" y="1632"/>
            <a:chExt cx="1824" cy="327"/>
          </a:xfrm>
        </p:grpSpPr>
        <p:sp>
          <p:nvSpPr>
            <p:cNvPr id="1119324" name="Text Box 92"/>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19325" name="Text Box 93"/>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2</a:t>
              </a:r>
            </a:p>
          </p:txBody>
        </p:sp>
        <p:sp>
          <p:nvSpPr>
            <p:cNvPr id="1119326" name="Text Box 94"/>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D</a:t>
              </a:r>
            </a:p>
          </p:txBody>
        </p:sp>
      </p:grpSp>
      <p:grpSp>
        <p:nvGrpSpPr>
          <p:cNvPr id="1119327" name="Group 95"/>
          <p:cNvGrpSpPr>
            <a:grpSpLocks/>
          </p:cNvGrpSpPr>
          <p:nvPr/>
        </p:nvGrpSpPr>
        <p:grpSpPr bwMode="auto">
          <a:xfrm>
            <a:off x="2209800" y="4114799"/>
            <a:ext cx="2895600" cy="519112"/>
            <a:chOff x="384" y="1632"/>
            <a:chExt cx="1824" cy="327"/>
          </a:xfrm>
        </p:grpSpPr>
        <p:sp>
          <p:nvSpPr>
            <p:cNvPr id="1119328" name="Text Box 96"/>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19329" name="Text Box 97"/>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4</a:t>
              </a:r>
            </a:p>
          </p:txBody>
        </p:sp>
        <p:sp>
          <p:nvSpPr>
            <p:cNvPr id="1119330" name="Text Box 98"/>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E</a:t>
              </a:r>
            </a:p>
          </p:txBody>
        </p:sp>
      </p:grpSp>
      <p:sp>
        <p:nvSpPr>
          <p:cNvPr id="1119331" name="Text Box 99"/>
          <p:cNvSpPr txBox="1">
            <a:spLocks noChangeArrowheads="1"/>
          </p:cNvSpPr>
          <p:nvPr/>
        </p:nvSpPr>
        <p:spPr bwMode="auto">
          <a:xfrm>
            <a:off x="5867400" y="2285999"/>
            <a:ext cx="457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19332" name="Text Box 100"/>
          <p:cNvSpPr txBox="1">
            <a:spLocks noChangeArrowheads="1"/>
          </p:cNvSpPr>
          <p:nvPr/>
        </p:nvSpPr>
        <p:spPr bwMode="auto">
          <a:xfrm>
            <a:off x="7086600" y="2285999"/>
            <a:ext cx="457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19333" name="Text Box 101"/>
          <p:cNvSpPr txBox="1">
            <a:spLocks noChangeArrowheads="1"/>
          </p:cNvSpPr>
          <p:nvPr/>
        </p:nvSpPr>
        <p:spPr bwMode="auto">
          <a:xfrm>
            <a:off x="8305800" y="2285999"/>
            <a:ext cx="457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19334" name="Text Box 102"/>
          <p:cNvSpPr txBox="1">
            <a:spLocks noChangeArrowheads="1"/>
          </p:cNvSpPr>
          <p:nvPr/>
        </p:nvSpPr>
        <p:spPr bwMode="auto">
          <a:xfrm>
            <a:off x="9448800" y="2285999"/>
            <a:ext cx="5334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a:t>
            </a:r>
          </a:p>
        </p:txBody>
      </p:sp>
      <p:sp>
        <p:nvSpPr>
          <p:cNvPr id="1119336" name="Text Box 104"/>
          <p:cNvSpPr txBox="1">
            <a:spLocks noChangeArrowheads="1"/>
          </p:cNvSpPr>
          <p:nvPr/>
        </p:nvSpPr>
        <p:spPr bwMode="auto">
          <a:xfrm>
            <a:off x="5867400" y="3657599"/>
            <a:ext cx="5334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19337" name="Text Box 105"/>
          <p:cNvSpPr txBox="1">
            <a:spLocks noChangeArrowheads="1"/>
          </p:cNvSpPr>
          <p:nvPr/>
        </p:nvSpPr>
        <p:spPr bwMode="auto">
          <a:xfrm>
            <a:off x="7010400" y="3657599"/>
            <a:ext cx="5334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6</a:t>
            </a:r>
          </a:p>
        </p:txBody>
      </p:sp>
      <p:sp>
        <p:nvSpPr>
          <p:cNvPr id="1119338" name="Text Box 106"/>
          <p:cNvSpPr txBox="1">
            <a:spLocks noChangeArrowheads="1"/>
          </p:cNvSpPr>
          <p:nvPr/>
        </p:nvSpPr>
        <p:spPr bwMode="auto">
          <a:xfrm>
            <a:off x="8153400" y="36575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3</a:t>
            </a:r>
          </a:p>
        </p:txBody>
      </p:sp>
      <p:sp>
        <p:nvSpPr>
          <p:cNvPr id="1119339" name="Text Box 107"/>
          <p:cNvSpPr txBox="1">
            <a:spLocks noChangeArrowheads="1"/>
          </p:cNvSpPr>
          <p:nvPr/>
        </p:nvSpPr>
        <p:spPr bwMode="auto">
          <a:xfrm>
            <a:off x="9372600" y="36575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3/2</a:t>
            </a:r>
          </a:p>
        </p:txBody>
      </p:sp>
      <p:sp>
        <p:nvSpPr>
          <p:cNvPr id="1119340" name="Text Box 108"/>
          <p:cNvSpPr txBox="1">
            <a:spLocks noChangeArrowheads="1"/>
          </p:cNvSpPr>
          <p:nvPr/>
        </p:nvSpPr>
        <p:spPr bwMode="auto">
          <a:xfrm>
            <a:off x="5791200" y="27431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6</a:t>
            </a:r>
          </a:p>
        </p:txBody>
      </p:sp>
      <p:sp>
        <p:nvSpPr>
          <p:cNvPr id="1119341" name="Text Box 109"/>
          <p:cNvSpPr txBox="1">
            <a:spLocks noChangeArrowheads="1"/>
          </p:cNvSpPr>
          <p:nvPr/>
        </p:nvSpPr>
        <p:spPr bwMode="auto">
          <a:xfrm>
            <a:off x="6934200" y="27431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a:t>
            </a:r>
          </a:p>
        </p:txBody>
      </p:sp>
      <p:sp>
        <p:nvSpPr>
          <p:cNvPr id="1119342" name="Text Box 110"/>
          <p:cNvSpPr txBox="1">
            <a:spLocks noChangeArrowheads="1"/>
          </p:cNvSpPr>
          <p:nvPr/>
        </p:nvSpPr>
        <p:spPr bwMode="auto">
          <a:xfrm>
            <a:off x="8153400" y="27431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8</a:t>
            </a:r>
          </a:p>
        </p:txBody>
      </p:sp>
      <p:sp>
        <p:nvSpPr>
          <p:cNvPr id="1119343" name="Text Box 111"/>
          <p:cNvSpPr txBox="1">
            <a:spLocks noChangeArrowheads="1"/>
          </p:cNvSpPr>
          <p:nvPr/>
        </p:nvSpPr>
        <p:spPr bwMode="auto">
          <a:xfrm>
            <a:off x="9372600" y="27431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8/3</a:t>
            </a:r>
          </a:p>
        </p:txBody>
      </p:sp>
      <p:sp>
        <p:nvSpPr>
          <p:cNvPr id="1119344" name="Text Box 112"/>
          <p:cNvSpPr txBox="1">
            <a:spLocks noChangeArrowheads="1"/>
          </p:cNvSpPr>
          <p:nvPr/>
        </p:nvSpPr>
        <p:spPr bwMode="auto">
          <a:xfrm>
            <a:off x="5791200" y="41147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a:t>
            </a:r>
          </a:p>
        </p:txBody>
      </p:sp>
      <p:sp>
        <p:nvSpPr>
          <p:cNvPr id="1119345" name="Text Box 113"/>
          <p:cNvSpPr txBox="1">
            <a:spLocks noChangeArrowheads="1"/>
          </p:cNvSpPr>
          <p:nvPr/>
        </p:nvSpPr>
        <p:spPr bwMode="auto">
          <a:xfrm>
            <a:off x="6934200" y="4114799"/>
            <a:ext cx="6858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13</a:t>
            </a:r>
          </a:p>
        </p:txBody>
      </p:sp>
      <p:sp>
        <p:nvSpPr>
          <p:cNvPr id="1119346" name="Text Box 114"/>
          <p:cNvSpPr txBox="1">
            <a:spLocks noChangeArrowheads="1"/>
          </p:cNvSpPr>
          <p:nvPr/>
        </p:nvSpPr>
        <p:spPr bwMode="auto">
          <a:xfrm>
            <a:off x="8077200" y="41147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a:t>
            </a:r>
          </a:p>
        </p:txBody>
      </p:sp>
      <p:sp>
        <p:nvSpPr>
          <p:cNvPr id="1119347" name="Text Box 115"/>
          <p:cNvSpPr txBox="1">
            <a:spLocks noChangeArrowheads="1"/>
          </p:cNvSpPr>
          <p:nvPr/>
        </p:nvSpPr>
        <p:spPr bwMode="auto">
          <a:xfrm>
            <a:off x="9296400" y="41147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9/4</a:t>
            </a:r>
          </a:p>
        </p:txBody>
      </p:sp>
      <p:sp>
        <p:nvSpPr>
          <p:cNvPr id="1119348" name="Text Box 116"/>
          <p:cNvSpPr txBox="1">
            <a:spLocks noChangeArrowheads="1"/>
          </p:cNvSpPr>
          <p:nvPr/>
        </p:nvSpPr>
        <p:spPr bwMode="auto">
          <a:xfrm>
            <a:off x="5715000" y="32003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13</a:t>
            </a:r>
          </a:p>
        </p:txBody>
      </p:sp>
      <p:sp>
        <p:nvSpPr>
          <p:cNvPr id="1119349" name="Text Box 117"/>
          <p:cNvSpPr txBox="1">
            <a:spLocks noChangeArrowheads="1"/>
          </p:cNvSpPr>
          <p:nvPr/>
        </p:nvSpPr>
        <p:spPr bwMode="auto">
          <a:xfrm>
            <a:off x="6858000" y="32003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18</a:t>
            </a:r>
          </a:p>
        </p:txBody>
      </p:sp>
      <p:sp>
        <p:nvSpPr>
          <p:cNvPr id="1119350" name="Text Box 118"/>
          <p:cNvSpPr txBox="1">
            <a:spLocks noChangeArrowheads="1"/>
          </p:cNvSpPr>
          <p:nvPr/>
        </p:nvSpPr>
        <p:spPr bwMode="auto">
          <a:xfrm>
            <a:off x="8077200" y="32003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16</a:t>
            </a:r>
          </a:p>
        </p:txBody>
      </p:sp>
      <p:sp>
        <p:nvSpPr>
          <p:cNvPr id="1119351" name="Text Box 119"/>
          <p:cNvSpPr txBox="1">
            <a:spLocks noChangeArrowheads="1"/>
          </p:cNvSpPr>
          <p:nvPr/>
        </p:nvSpPr>
        <p:spPr bwMode="auto">
          <a:xfrm>
            <a:off x="9296400" y="32003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16/5</a:t>
            </a:r>
          </a:p>
        </p:txBody>
      </p:sp>
      <p:sp>
        <p:nvSpPr>
          <p:cNvPr id="1119352" name="Text Box 120"/>
          <p:cNvSpPr txBox="1">
            <a:spLocks noChangeArrowheads="1"/>
          </p:cNvSpPr>
          <p:nvPr/>
        </p:nvSpPr>
        <p:spPr bwMode="auto">
          <a:xfrm>
            <a:off x="8077200" y="46481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40/5</a:t>
            </a:r>
          </a:p>
        </p:txBody>
      </p:sp>
      <p:sp>
        <p:nvSpPr>
          <p:cNvPr id="1119353" name="Text Box 121"/>
          <p:cNvSpPr txBox="1">
            <a:spLocks noChangeArrowheads="1"/>
          </p:cNvSpPr>
          <p:nvPr/>
        </p:nvSpPr>
        <p:spPr bwMode="auto">
          <a:xfrm>
            <a:off x="9296400" y="4648199"/>
            <a:ext cx="838200" cy="519112"/>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2.1</a:t>
            </a:r>
          </a:p>
        </p:txBody>
      </p:sp>
      <p:grpSp>
        <p:nvGrpSpPr>
          <p:cNvPr id="1119354" name="Group 122"/>
          <p:cNvGrpSpPr>
            <a:grpSpLocks/>
          </p:cNvGrpSpPr>
          <p:nvPr/>
        </p:nvGrpSpPr>
        <p:grpSpPr bwMode="auto">
          <a:xfrm>
            <a:off x="2057400" y="5443538"/>
            <a:ext cx="1524000" cy="457200"/>
            <a:chOff x="480" y="3504"/>
            <a:chExt cx="960" cy="288"/>
          </a:xfrm>
        </p:grpSpPr>
        <p:sp>
          <p:nvSpPr>
            <p:cNvPr id="1119355" name="Rectangle 123"/>
            <p:cNvSpPr>
              <a:spLocks noChangeArrowheads="1"/>
            </p:cNvSpPr>
            <p:nvPr/>
          </p:nvSpPr>
          <p:spPr bwMode="auto">
            <a:xfrm>
              <a:off x="48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19356" name="Rectangle 124"/>
            <p:cNvSpPr>
              <a:spLocks noChangeArrowheads="1"/>
            </p:cNvSpPr>
            <p:nvPr/>
          </p:nvSpPr>
          <p:spPr bwMode="auto">
            <a:xfrm>
              <a:off x="72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19357" name="Rectangle 125"/>
            <p:cNvSpPr>
              <a:spLocks noChangeArrowheads="1"/>
            </p:cNvSpPr>
            <p:nvPr/>
          </p:nvSpPr>
          <p:spPr bwMode="auto">
            <a:xfrm>
              <a:off x="96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19358" name="Rectangle 126"/>
            <p:cNvSpPr>
              <a:spLocks noChangeArrowheads="1"/>
            </p:cNvSpPr>
            <p:nvPr/>
          </p:nvSpPr>
          <p:spPr bwMode="auto">
            <a:xfrm>
              <a:off x="1200" y="3504"/>
              <a:ext cx="240" cy="2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grpSp>
      <p:grpSp>
        <p:nvGrpSpPr>
          <p:cNvPr id="1119359" name="Group 127"/>
          <p:cNvGrpSpPr>
            <a:grpSpLocks/>
          </p:cNvGrpSpPr>
          <p:nvPr/>
        </p:nvGrpSpPr>
        <p:grpSpPr bwMode="auto">
          <a:xfrm>
            <a:off x="4343400" y="5443538"/>
            <a:ext cx="1143000" cy="457200"/>
            <a:chOff x="1440" y="3504"/>
            <a:chExt cx="720" cy="288"/>
          </a:xfrm>
        </p:grpSpPr>
        <p:sp>
          <p:nvSpPr>
            <p:cNvPr id="1119360" name="Rectangle 128"/>
            <p:cNvSpPr>
              <a:spLocks noChangeArrowheads="1"/>
            </p:cNvSpPr>
            <p:nvPr/>
          </p:nvSpPr>
          <p:spPr bwMode="auto">
            <a:xfrm>
              <a:off x="1440" y="3504"/>
              <a:ext cx="240" cy="288"/>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19361" name="Rectangle 129"/>
            <p:cNvSpPr>
              <a:spLocks noChangeArrowheads="1"/>
            </p:cNvSpPr>
            <p:nvPr/>
          </p:nvSpPr>
          <p:spPr bwMode="auto">
            <a:xfrm>
              <a:off x="1680" y="3504"/>
              <a:ext cx="240" cy="288"/>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19362" name="Rectangle 130"/>
            <p:cNvSpPr>
              <a:spLocks noChangeArrowheads="1"/>
            </p:cNvSpPr>
            <p:nvPr/>
          </p:nvSpPr>
          <p:spPr bwMode="auto">
            <a:xfrm>
              <a:off x="1920" y="3504"/>
              <a:ext cx="240" cy="288"/>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grpSp>
      <p:grpSp>
        <p:nvGrpSpPr>
          <p:cNvPr id="1119363" name="Group 131"/>
          <p:cNvGrpSpPr>
            <a:grpSpLocks/>
          </p:cNvGrpSpPr>
          <p:nvPr/>
        </p:nvGrpSpPr>
        <p:grpSpPr bwMode="auto">
          <a:xfrm>
            <a:off x="7010400" y="5443538"/>
            <a:ext cx="1905000" cy="457200"/>
            <a:chOff x="2160" y="3504"/>
            <a:chExt cx="1200" cy="288"/>
          </a:xfrm>
        </p:grpSpPr>
        <p:sp>
          <p:nvSpPr>
            <p:cNvPr id="1119364" name="Rectangle 132"/>
            <p:cNvSpPr>
              <a:spLocks noChangeArrowheads="1"/>
            </p:cNvSpPr>
            <p:nvPr/>
          </p:nvSpPr>
          <p:spPr bwMode="auto">
            <a:xfrm>
              <a:off x="216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9365" name="Rectangle 133"/>
            <p:cNvSpPr>
              <a:spLocks noChangeArrowheads="1"/>
            </p:cNvSpPr>
            <p:nvPr/>
          </p:nvSpPr>
          <p:spPr bwMode="auto">
            <a:xfrm>
              <a:off x="240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9366" name="Rectangle 134"/>
            <p:cNvSpPr>
              <a:spLocks noChangeArrowheads="1"/>
            </p:cNvSpPr>
            <p:nvPr/>
          </p:nvSpPr>
          <p:spPr bwMode="auto">
            <a:xfrm>
              <a:off x="264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9367" name="Rectangle 135"/>
            <p:cNvSpPr>
              <a:spLocks noChangeArrowheads="1"/>
            </p:cNvSpPr>
            <p:nvPr/>
          </p:nvSpPr>
          <p:spPr bwMode="auto">
            <a:xfrm>
              <a:off x="288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19368" name="Rectangle 136"/>
            <p:cNvSpPr>
              <a:spLocks noChangeArrowheads="1"/>
            </p:cNvSpPr>
            <p:nvPr/>
          </p:nvSpPr>
          <p:spPr bwMode="auto">
            <a:xfrm>
              <a:off x="3120" y="3504"/>
              <a:ext cx="240" cy="288"/>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grpSp>
      <p:grpSp>
        <p:nvGrpSpPr>
          <p:cNvPr id="1119369" name="Group 137"/>
          <p:cNvGrpSpPr>
            <a:grpSpLocks/>
          </p:cNvGrpSpPr>
          <p:nvPr/>
        </p:nvGrpSpPr>
        <p:grpSpPr bwMode="auto">
          <a:xfrm>
            <a:off x="3581400" y="5443538"/>
            <a:ext cx="762000" cy="457200"/>
            <a:chOff x="3360" y="3504"/>
            <a:chExt cx="480" cy="288"/>
          </a:xfrm>
        </p:grpSpPr>
        <p:sp>
          <p:nvSpPr>
            <p:cNvPr id="1119370" name="Rectangle 138"/>
            <p:cNvSpPr>
              <a:spLocks noChangeArrowheads="1"/>
            </p:cNvSpPr>
            <p:nvPr/>
          </p:nvSpPr>
          <p:spPr bwMode="auto">
            <a:xfrm>
              <a:off x="3360" y="3504"/>
              <a:ext cx="240" cy="288"/>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D</a:t>
              </a:r>
            </a:p>
          </p:txBody>
        </p:sp>
        <p:sp>
          <p:nvSpPr>
            <p:cNvPr id="1119371" name="Rectangle 139"/>
            <p:cNvSpPr>
              <a:spLocks noChangeArrowheads="1"/>
            </p:cNvSpPr>
            <p:nvPr/>
          </p:nvSpPr>
          <p:spPr bwMode="auto">
            <a:xfrm>
              <a:off x="3600" y="3504"/>
              <a:ext cx="240" cy="288"/>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D</a:t>
              </a:r>
            </a:p>
          </p:txBody>
        </p:sp>
      </p:grpSp>
      <p:grpSp>
        <p:nvGrpSpPr>
          <p:cNvPr id="1119372" name="Group 140"/>
          <p:cNvGrpSpPr>
            <a:grpSpLocks/>
          </p:cNvGrpSpPr>
          <p:nvPr/>
        </p:nvGrpSpPr>
        <p:grpSpPr bwMode="auto">
          <a:xfrm>
            <a:off x="5486400" y="5443538"/>
            <a:ext cx="1524000" cy="457200"/>
            <a:chOff x="3840" y="3504"/>
            <a:chExt cx="960" cy="288"/>
          </a:xfrm>
        </p:grpSpPr>
        <p:sp>
          <p:nvSpPr>
            <p:cNvPr id="1119373" name="Rectangle 141"/>
            <p:cNvSpPr>
              <a:spLocks noChangeArrowheads="1"/>
            </p:cNvSpPr>
            <p:nvPr/>
          </p:nvSpPr>
          <p:spPr bwMode="auto">
            <a:xfrm>
              <a:off x="384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19374" name="Rectangle 142"/>
            <p:cNvSpPr>
              <a:spLocks noChangeArrowheads="1"/>
            </p:cNvSpPr>
            <p:nvPr/>
          </p:nvSpPr>
          <p:spPr bwMode="auto">
            <a:xfrm>
              <a:off x="408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19375" name="Rectangle 143"/>
            <p:cNvSpPr>
              <a:spLocks noChangeArrowheads="1"/>
            </p:cNvSpPr>
            <p:nvPr/>
          </p:nvSpPr>
          <p:spPr bwMode="auto">
            <a:xfrm>
              <a:off x="432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19376" name="Rectangle 144"/>
            <p:cNvSpPr>
              <a:spLocks noChangeArrowheads="1"/>
            </p:cNvSpPr>
            <p:nvPr/>
          </p:nvSpPr>
          <p:spPr bwMode="auto">
            <a:xfrm>
              <a:off x="4560" y="3504"/>
              <a:ext cx="240" cy="288"/>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grpSp>
      <p:grpSp>
        <p:nvGrpSpPr>
          <p:cNvPr id="1119377" name="Group 145"/>
          <p:cNvGrpSpPr>
            <a:grpSpLocks/>
          </p:cNvGrpSpPr>
          <p:nvPr/>
        </p:nvGrpSpPr>
        <p:grpSpPr bwMode="auto">
          <a:xfrm>
            <a:off x="1905000" y="5672139"/>
            <a:ext cx="8305800" cy="701675"/>
            <a:chOff x="384" y="3648"/>
            <a:chExt cx="5232" cy="442"/>
          </a:xfrm>
        </p:grpSpPr>
        <p:sp>
          <p:nvSpPr>
            <p:cNvPr id="1119378" name="Line 146"/>
            <p:cNvSpPr>
              <a:spLocks noChangeShapeType="1"/>
            </p:cNvSpPr>
            <p:nvPr/>
          </p:nvSpPr>
          <p:spPr bwMode="auto">
            <a:xfrm>
              <a:off x="480" y="3792"/>
              <a:ext cx="4896" cy="0"/>
            </a:xfrm>
            <a:prstGeom prst="line">
              <a:avLst/>
            </a:prstGeom>
            <a:noFill/>
            <a:ln w="28575">
              <a:solidFill>
                <a:schemeClr val="tx1"/>
              </a:solidFill>
              <a:miter lim="800000"/>
              <a:headEnd/>
              <a:tailEnd type="stealth" w="sm" len="lg"/>
            </a:ln>
            <a:effectLst/>
          </p:spPr>
          <p:txBody>
            <a:bodyPr wrap="none"/>
            <a:lstStyle/>
            <a:p>
              <a:endParaRPr lang="zh-CN" altLang="en-US"/>
            </a:p>
          </p:txBody>
        </p:sp>
        <p:sp>
          <p:nvSpPr>
            <p:cNvPr id="1119379" name="Text Box 147"/>
            <p:cNvSpPr txBox="1">
              <a:spLocks noChangeArrowheads="1"/>
            </p:cNvSpPr>
            <p:nvPr/>
          </p:nvSpPr>
          <p:spPr bwMode="auto">
            <a:xfrm>
              <a:off x="3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0</a:t>
              </a:r>
            </a:p>
          </p:txBody>
        </p:sp>
        <p:sp>
          <p:nvSpPr>
            <p:cNvPr id="1119380" name="Text Box 148"/>
            <p:cNvSpPr txBox="1">
              <a:spLocks noChangeArrowheads="1"/>
            </p:cNvSpPr>
            <p:nvPr/>
          </p:nvSpPr>
          <p:spPr bwMode="auto">
            <a:xfrm>
              <a:off x="15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dirty="0">
                  <a:latin typeface="Times New Roman" pitchFamily="18" charset="0"/>
                </a:rPr>
                <a:t>5</a:t>
              </a:r>
            </a:p>
          </p:txBody>
        </p:sp>
        <p:sp>
          <p:nvSpPr>
            <p:cNvPr id="1119381" name="Text Box 149"/>
            <p:cNvSpPr txBox="1">
              <a:spLocks noChangeArrowheads="1"/>
            </p:cNvSpPr>
            <p:nvPr/>
          </p:nvSpPr>
          <p:spPr bwMode="auto">
            <a:xfrm>
              <a:off x="27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10</a:t>
              </a:r>
            </a:p>
          </p:txBody>
        </p:sp>
        <p:sp>
          <p:nvSpPr>
            <p:cNvPr id="1119382" name="Text Box 150"/>
            <p:cNvSpPr txBox="1">
              <a:spLocks noChangeArrowheads="1"/>
            </p:cNvSpPr>
            <p:nvPr/>
          </p:nvSpPr>
          <p:spPr bwMode="auto">
            <a:xfrm>
              <a:off x="39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15</a:t>
              </a:r>
            </a:p>
          </p:txBody>
        </p:sp>
        <p:sp>
          <p:nvSpPr>
            <p:cNvPr id="1119383" name="Text Box 151"/>
            <p:cNvSpPr txBox="1">
              <a:spLocks noChangeArrowheads="1"/>
            </p:cNvSpPr>
            <p:nvPr/>
          </p:nvSpPr>
          <p:spPr bwMode="auto">
            <a:xfrm>
              <a:off x="465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18</a:t>
              </a:r>
            </a:p>
          </p:txBody>
        </p:sp>
        <p:sp>
          <p:nvSpPr>
            <p:cNvPr id="1119384" name="Text Box 152"/>
            <p:cNvSpPr txBox="1">
              <a:spLocks noChangeArrowheads="1"/>
            </p:cNvSpPr>
            <p:nvPr/>
          </p:nvSpPr>
          <p:spPr bwMode="auto">
            <a:xfrm>
              <a:off x="5424" y="3648"/>
              <a:ext cx="192" cy="288"/>
            </a:xfrm>
            <a:prstGeom prst="rect">
              <a:avLst/>
            </a:prstGeom>
            <a:noFill/>
            <a:ln w="9525">
              <a:noFill/>
              <a:miter lim="800000"/>
              <a:headEnd/>
              <a:tailEnd/>
            </a:ln>
            <a:effectLst/>
          </p:spPr>
          <p:txBody>
            <a:bodyPr>
              <a:spAutoFit/>
            </a:bodyPr>
            <a:lstStyle/>
            <a:p>
              <a:pPr>
                <a:spcBef>
                  <a:spcPct val="50000"/>
                </a:spcBef>
              </a:pPr>
              <a:r>
                <a:rPr kumimoji="1" lang="en-US" altLang="zh-CN" sz="2400" b="1">
                  <a:latin typeface="Times New Roman" pitchFamily="18" charset="0"/>
                </a:rPr>
                <a:t>t</a:t>
              </a:r>
            </a:p>
          </p:txBody>
        </p:sp>
      </p:grpSp>
      <p:sp>
        <p:nvSpPr>
          <p:cNvPr id="1119387" name="Rectangle 2"/>
          <p:cNvSpPr>
            <a:spLocks noChangeArrowheads="1"/>
          </p:cNvSpPr>
          <p:nvPr/>
        </p:nvSpPr>
        <p:spPr bwMode="gray">
          <a:xfrm>
            <a:off x="419100" y="860428"/>
            <a:ext cx="8534400" cy="381000"/>
          </a:xfrm>
          <a:prstGeom prst="rect">
            <a:avLst/>
          </a:prstGeom>
          <a:noFill/>
          <a:ln w="9525">
            <a:noFill/>
            <a:miter lim="800000"/>
            <a:headEnd/>
            <a:tailEnd/>
          </a:ln>
        </p:spPr>
        <p:txBody>
          <a:bodyPr lIns="0" tIns="0" rIns="0" bIns="0"/>
          <a:lstStyle/>
          <a:p>
            <a:pPr>
              <a:lnSpc>
                <a:spcPct val="85000"/>
              </a:lnSpc>
            </a:pPr>
            <a:r>
              <a:rPr lang="zh-CN" altLang="en-US" sz="2800" b="1" dirty="0">
                <a:solidFill>
                  <a:schemeClr val="tx2"/>
                </a:solidFill>
                <a:latin typeface="Times New Roman" pitchFamily="18" charset="0"/>
              </a:rPr>
              <a:t>短作业</a:t>
            </a:r>
            <a:r>
              <a:rPr lang="en-US" altLang="zh-CN" sz="2800" b="1" dirty="0">
                <a:solidFill>
                  <a:schemeClr val="tx2"/>
                </a:solidFill>
                <a:latin typeface="Times New Roman" pitchFamily="18" charset="0"/>
              </a:rPr>
              <a:t>(</a:t>
            </a:r>
            <a:r>
              <a:rPr lang="zh-CN" altLang="en-US" sz="2800" b="1" dirty="0">
                <a:solidFill>
                  <a:schemeClr val="tx2"/>
                </a:solidFill>
                <a:latin typeface="Times New Roman" pitchFamily="18" charset="0"/>
              </a:rPr>
              <a:t>进程</a:t>
            </a:r>
            <a:r>
              <a:rPr lang="en-US" altLang="zh-CN" sz="2800" b="1" dirty="0">
                <a:solidFill>
                  <a:schemeClr val="tx2"/>
                </a:solidFill>
                <a:latin typeface="Times New Roman" pitchFamily="18" charset="0"/>
              </a:rPr>
              <a:t>)</a:t>
            </a:r>
            <a:r>
              <a:rPr lang="zh-CN" altLang="en-US" sz="2800" b="1" dirty="0">
                <a:solidFill>
                  <a:schemeClr val="tx2"/>
                </a:solidFill>
                <a:latin typeface="Times New Roman" pitchFamily="18" charset="0"/>
              </a:rPr>
              <a:t>优先（</a:t>
            </a:r>
            <a:r>
              <a:rPr lang="en-US" altLang="zh-CN" sz="2800" b="1" dirty="0">
                <a:solidFill>
                  <a:schemeClr val="tx2"/>
                </a:solidFill>
                <a:latin typeface="Times New Roman" pitchFamily="18" charset="0"/>
              </a:rPr>
              <a:t>SJ(P)F</a:t>
            </a:r>
            <a:r>
              <a:rPr lang="zh-CN" altLang="en-US" sz="2800" b="1" dirty="0">
                <a:solidFill>
                  <a:schemeClr val="tx2"/>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19311"/>
                                        </p:tgtEl>
                                        <p:attrNameLst>
                                          <p:attrName>style.visibility</p:attrName>
                                        </p:attrNameLst>
                                      </p:cBhvr>
                                      <p:to>
                                        <p:strVal val="visible"/>
                                      </p:to>
                                    </p:set>
                                    <p:animEffect transition="in" filter="wipe(left)">
                                      <p:cBhvr>
                                        <p:cTn id="7" dur="500"/>
                                        <p:tgtEl>
                                          <p:spTgt spid="11193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19315"/>
                                        </p:tgtEl>
                                        <p:attrNameLst>
                                          <p:attrName>style.visibility</p:attrName>
                                        </p:attrNameLst>
                                      </p:cBhvr>
                                      <p:to>
                                        <p:strVal val="visible"/>
                                      </p:to>
                                    </p:set>
                                    <p:animEffect transition="in" filter="wipe(left)">
                                      <p:cBhvr>
                                        <p:cTn id="11" dur="500"/>
                                        <p:tgtEl>
                                          <p:spTgt spid="111931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19319"/>
                                        </p:tgtEl>
                                        <p:attrNameLst>
                                          <p:attrName>style.visibility</p:attrName>
                                        </p:attrNameLst>
                                      </p:cBhvr>
                                      <p:to>
                                        <p:strVal val="visible"/>
                                      </p:to>
                                    </p:set>
                                    <p:animEffect transition="in" filter="wipe(left)">
                                      <p:cBhvr>
                                        <p:cTn id="15" dur="500"/>
                                        <p:tgtEl>
                                          <p:spTgt spid="111931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19323"/>
                                        </p:tgtEl>
                                        <p:attrNameLst>
                                          <p:attrName>style.visibility</p:attrName>
                                        </p:attrNameLst>
                                      </p:cBhvr>
                                      <p:to>
                                        <p:strVal val="visible"/>
                                      </p:to>
                                    </p:set>
                                    <p:animEffect transition="in" filter="wipe(left)">
                                      <p:cBhvr>
                                        <p:cTn id="19" dur="500"/>
                                        <p:tgtEl>
                                          <p:spTgt spid="111932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19327"/>
                                        </p:tgtEl>
                                        <p:attrNameLst>
                                          <p:attrName>style.visibility</p:attrName>
                                        </p:attrNameLst>
                                      </p:cBhvr>
                                      <p:to>
                                        <p:strVal val="visible"/>
                                      </p:to>
                                    </p:set>
                                    <p:animEffect transition="in" filter="wipe(left)">
                                      <p:cBhvr>
                                        <p:cTn id="23" dur="500"/>
                                        <p:tgtEl>
                                          <p:spTgt spid="11193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19377"/>
                                        </p:tgtEl>
                                        <p:attrNameLst>
                                          <p:attrName>style.visibility</p:attrName>
                                        </p:attrNameLst>
                                      </p:cBhvr>
                                      <p:to>
                                        <p:strVal val="visible"/>
                                      </p:to>
                                    </p:set>
                                    <p:animEffect transition="in" filter="wipe(left)">
                                      <p:cBhvr>
                                        <p:cTn id="28" dur="500"/>
                                        <p:tgtEl>
                                          <p:spTgt spid="111937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19331"/>
                                        </p:tgtEl>
                                        <p:attrNameLst>
                                          <p:attrName>style.visibility</p:attrName>
                                        </p:attrNameLst>
                                      </p:cBhvr>
                                      <p:to>
                                        <p:strVal val="visible"/>
                                      </p:to>
                                    </p:set>
                                    <p:anim calcmode="lin" valueType="num">
                                      <p:cBhvr additive="base">
                                        <p:cTn id="33" dur="500" fill="hold"/>
                                        <p:tgtEl>
                                          <p:spTgt spid="1119331"/>
                                        </p:tgtEl>
                                        <p:attrNameLst>
                                          <p:attrName>ppt_x</p:attrName>
                                        </p:attrNameLst>
                                      </p:cBhvr>
                                      <p:tavLst>
                                        <p:tav tm="0">
                                          <p:val>
                                            <p:strVal val="#ppt_x"/>
                                          </p:val>
                                        </p:tav>
                                        <p:tav tm="100000">
                                          <p:val>
                                            <p:strVal val="#ppt_x"/>
                                          </p:val>
                                        </p:tav>
                                      </p:tavLst>
                                    </p:anim>
                                    <p:anim calcmode="lin" valueType="num">
                                      <p:cBhvr additive="base">
                                        <p:cTn id="34" dur="500" fill="hold"/>
                                        <p:tgtEl>
                                          <p:spTgt spid="111933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19354"/>
                                        </p:tgtEl>
                                        <p:attrNameLst>
                                          <p:attrName>style.visibility</p:attrName>
                                        </p:attrNameLst>
                                      </p:cBhvr>
                                      <p:to>
                                        <p:strVal val="visible"/>
                                      </p:to>
                                    </p:set>
                                    <p:animEffect transition="in" filter="wipe(left)">
                                      <p:cBhvr>
                                        <p:cTn id="39" dur="500"/>
                                        <p:tgtEl>
                                          <p:spTgt spid="111935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19332"/>
                                        </p:tgtEl>
                                        <p:attrNameLst>
                                          <p:attrName>style.visibility</p:attrName>
                                        </p:attrNameLst>
                                      </p:cBhvr>
                                      <p:to>
                                        <p:strVal val="visible"/>
                                      </p:to>
                                    </p:set>
                                    <p:anim calcmode="lin" valueType="num">
                                      <p:cBhvr additive="base">
                                        <p:cTn id="44" dur="500" fill="hold"/>
                                        <p:tgtEl>
                                          <p:spTgt spid="1119332"/>
                                        </p:tgtEl>
                                        <p:attrNameLst>
                                          <p:attrName>ppt_x</p:attrName>
                                        </p:attrNameLst>
                                      </p:cBhvr>
                                      <p:tavLst>
                                        <p:tav tm="0">
                                          <p:val>
                                            <p:strVal val="#ppt_x"/>
                                          </p:val>
                                        </p:tav>
                                        <p:tav tm="100000">
                                          <p:val>
                                            <p:strVal val="#ppt_x"/>
                                          </p:val>
                                        </p:tav>
                                      </p:tavLst>
                                    </p:anim>
                                    <p:anim calcmode="lin" valueType="num">
                                      <p:cBhvr additive="base">
                                        <p:cTn id="45" dur="500" fill="hold"/>
                                        <p:tgtEl>
                                          <p:spTgt spid="1119332"/>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119336"/>
                                        </p:tgtEl>
                                        <p:attrNameLst>
                                          <p:attrName>style.visibility</p:attrName>
                                        </p:attrNameLst>
                                      </p:cBhvr>
                                      <p:to>
                                        <p:strVal val="visible"/>
                                      </p:to>
                                    </p:set>
                                    <p:anim calcmode="lin" valueType="num">
                                      <p:cBhvr additive="base">
                                        <p:cTn id="50" dur="500" fill="hold"/>
                                        <p:tgtEl>
                                          <p:spTgt spid="1119336"/>
                                        </p:tgtEl>
                                        <p:attrNameLst>
                                          <p:attrName>ppt_x</p:attrName>
                                        </p:attrNameLst>
                                      </p:cBhvr>
                                      <p:tavLst>
                                        <p:tav tm="0">
                                          <p:val>
                                            <p:strVal val="#ppt_x"/>
                                          </p:val>
                                        </p:tav>
                                        <p:tav tm="100000">
                                          <p:val>
                                            <p:strVal val="#ppt_x"/>
                                          </p:val>
                                        </p:tav>
                                      </p:tavLst>
                                    </p:anim>
                                    <p:anim calcmode="lin" valueType="num">
                                      <p:cBhvr additive="base">
                                        <p:cTn id="51" dur="500" fill="hold"/>
                                        <p:tgtEl>
                                          <p:spTgt spid="1119336"/>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119369"/>
                                        </p:tgtEl>
                                        <p:attrNameLst>
                                          <p:attrName>style.visibility</p:attrName>
                                        </p:attrNameLst>
                                      </p:cBhvr>
                                      <p:to>
                                        <p:strVal val="visible"/>
                                      </p:to>
                                    </p:set>
                                    <p:animEffect transition="in" filter="wipe(left)">
                                      <p:cBhvr>
                                        <p:cTn id="56" dur="500"/>
                                        <p:tgtEl>
                                          <p:spTgt spid="111936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19337"/>
                                        </p:tgtEl>
                                        <p:attrNameLst>
                                          <p:attrName>style.visibility</p:attrName>
                                        </p:attrNameLst>
                                      </p:cBhvr>
                                      <p:to>
                                        <p:strVal val="visible"/>
                                      </p:to>
                                    </p:set>
                                    <p:anim calcmode="lin" valueType="num">
                                      <p:cBhvr additive="base">
                                        <p:cTn id="61" dur="500" fill="hold"/>
                                        <p:tgtEl>
                                          <p:spTgt spid="1119337"/>
                                        </p:tgtEl>
                                        <p:attrNameLst>
                                          <p:attrName>ppt_x</p:attrName>
                                        </p:attrNameLst>
                                      </p:cBhvr>
                                      <p:tavLst>
                                        <p:tav tm="0">
                                          <p:val>
                                            <p:strVal val="#ppt_x"/>
                                          </p:val>
                                        </p:tav>
                                        <p:tav tm="100000">
                                          <p:val>
                                            <p:strVal val="#ppt_x"/>
                                          </p:val>
                                        </p:tav>
                                      </p:tavLst>
                                    </p:anim>
                                    <p:anim calcmode="lin" valueType="num">
                                      <p:cBhvr additive="base">
                                        <p:cTn id="62" dur="500" fill="hold"/>
                                        <p:tgtEl>
                                          <p:spTgt spid="111933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119340"/>
                                        </p:tgtEl>
                                        <p:attrNameLst>
                                          <p:attrName>style.visibility</p:attrName>
                                        </p:attrNameLst>
                                      </p:cBhvr>
                                      <p:to>
                                        <p:strVal val="visible"/>
                                      </p:to>
                                    </p:set>
                                    <p:anim calcmode="lin" valueType="num">
                                      <p:cBhvr additive="base">
                                        <p:cTn id="67" dur="500" fill="hold"/>
                                        <p:tgtEl>
                                          <p:spTgt spid="1119340"/>
                                        </p:tgtEl>
                                        <p:attrNameLst>
                                          <p:attrName>ppt_x</p:attrName>
                                        </p:attrNameLst>
                                      </p:cBhvr>
                                      <p:tavLst>
                                        <p:tav tm="0">
                                          <p:val>
                                            <p:strVal val="#ppt_x"/>
                                          </p:val>
                                        </p:tav>
                                        <p:tav tm="100000">
                                          <p:val>
                                            <p:strVal val="#ppt_x"/>
                                          </p:val>
                                        </p:tav>
                                      </p:tavLst>
                                    </p:anim>
                                    <p:anim calcmode="lin" valueType="num">
                                      <p:cBhvr additive="base">
                                        <p:cTn id="68" dur="500" fill="hold"/>
                                        <p:tgtEl>
                                          <p:spTgt spid="111934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119359"/>
                                        </p:tgtEl>
                                        <p:attrNameLst>
                                          <p:attrName>style.visibility</p:attrName>
                                        </p:attrNameLst>
                                      </p:cBhvr>
                                      <p:to>
                                        <p:strVal val="visible"/>
                                      </p:to>
                                    </p:set>
                                    <p:animEffect transition="in" filter="wipe(left)">
                                      <p:cBhvr>
                                        <p:cTn id="73" dur="500"/>
                                        <p:tgtEl>
                                          <p:spTgt spid="1119359"/>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1119341"/>
                                        </p:tgtEl>
                                        <p:attrNameLst>
                                          <p:attrName>style.visibility</p:attrName>
                                        </p:attrNameLst>
                                      </p:cBhvr>
                                      <p:to>
                                        <p:strVal val="visible"/>
                                      </p:to>
                                    </p:set>
                                    <p:anim calcmode="lin" valueType="num">
                                      <p:cBhvr additive="base">
                                        <p:cTn id="78" dur="500" fill="hold"/>
                                        <p:tgtEl>
                                          <p:spTgt spid="1119341"/>
                                        </p:tgtEl>
                                        <p:attrNameLst>
                                          <p:attrName>ppt_x</p:attrName>
                                        </p:attrNameLst>
                                      </p:cBhvr>
                                      <p:tavLst>
                                        <p:tav tm="0">
                                          <p:val>
                                            <p:strVal val="#ppt_x"/>
                                          </p:val>
                                        </p:tav>
                                        <p:tav tm="100000">
                                          <p:val>
                                            <p:strVal val="#ppt_x"/>
                                          </p:val>
                                        </p:tav>
                                      </p:tavLst>
                                    </p:anim>
                                    <p:anim calcmode="lin" valueType="num">
                                      <p:cBhvr additive="base">
                                        <p:cTn id="79" dur="500" fill="hold"/>
                                        <p:tgtEl>
                                          <p:spTgt spid="1119341"/>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1119344"/>
                                        </p:tgtEl>
                                        <p:attrNameLst>
                                          <p:attrName>style.visibility</p:attrName>
                                        </p:attrNameLst>
                                      </p:cBhvr>
                                      <p:to>
                                        <p:strVal val="visible"/>
                                      </p:to>
                                    </p:set>
                                    <p:anim calcmode="lin" valueType="num">
                                      <p:cBhvr additive="base">
                                        <p:cTn id="84" dur="500" fill="hold"/>
                                        <p:tgtEl>
                                          <p:spTgt spid="1119344"/>
                                        </p:tgtEl>
                                        <p:attrNameLst>
                                          <p:attrName>ppt_x</p:attrName>
                                        </p:attrNameLst>
                                      </p:cBhvr>
                                      <p:tavLst>
                                        <p:tav tm="0">
                                          <p:val>
                                            <p:strVal val="#ppt_x"/>
                                          </p:val>
                                        </p:tav>
                                        <p:tav tm="100000">
                                          <p:val>
                                            <p:strVal val="#ppt_x"/>
                                          </p:val>
                                        </p:tav>
                                      </p:tavLst>
                                    </p:anim>
                                    <p:anim calcmode="lin" valueType="num">
                                      <p:cBhvr additive="base">
                                        <p:cTn id="85" dur="500" fill="hold"/>
                                        <p:tgtEl>
                                          <p:spTgt spid="1119344"/>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19372"/>
                                        </p:tgtEl>
                                        <p:attrNameLst>
                                          <p:attrName>style.visibility</p:attrName>
                                        </p:attrNameLst>
                                      </p:cBhvr>
                                      <p:to>
                                        <p:strVal val="visible"/>
                                      </p:to>
                                    </p:set>
                                    <p:animEffect transition="in" filter="wipe(left)">
                                      <p:cBhvr>
                                        <p:cTn id="90" dur="500"/>
                                        <p:tgtEl>
                                          <p:spTgt spid="1119372"/>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1119345"/>
                                        </p:tgtEl>
                                        <p:attrNameLst>
                                          <p:attrName>style.visibility</p:attrName>
                                        </p:attrNameLst>
                                      </p:cBhvr>
                                      <p:to>
                                        <p:strVal val="visible"/>
                                      </p:to>
                                    </p:set>
                                    <p:anim calcmode="lin" valueType="num">
                                      <p:cBhvr additive="base">
                                        <p:cTn id="95" dur="500" fill="hold"/>
                                        <p:tgtEl>
                                          <p:spTgt spid="1119345"/>
                                        </p:tgtEl>
                                        <p:attrNameLst>
                                          <p:attrName>ppt_x</p:attrName>
                                        </p:attrNameLst>
                                      </p:cBhvr>
                                      <p:tavLst>
                                        <p:tav tm="0">
                                          <p:val>
                                            <p:strVal val="#ppt_x"/>
                                          </p:val>
                                        </p:tav>
                                        <p:tav tm="100000">
                                          <p:val>
                                            <p:strVal val="#ppt_x"/>
                                          </p:val>
                                        </p:tav>
                                      </p:tavLst>
                                    </p:anim>
                                    <p:anim calcmode="lin" valueType="num">
                                      <p:cBhvr additive="base">
                                        <p:cTn id="96" dur="500" fill="hold"/>
                                        <p:tgtEl>
                                          <p:spTgt spid="1119345"/>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1119348"/>
                                        </p:tgtEl>
                                        <p:attrNameLst>
                                          <p:attrName>style.visibility</p:attrName>
                                        </p:attrNameLst>
                                      </p:cBhvr>
                                      <p:to>
                                        <p:strVal val="visible"/>
                                      </p:to>
                                    </p:set>
                                    <p:anim calcmode="lin" valueType="num">
                                      <p:cBhvr additive="base">
                                        <p:cTn id="101" dur="500" fill="hold"/>
                                        <p:tgtEl>
                                          <p:spTgt spid="1119348"/>
                                        </p:tgtEl>
                                        <p:attrNameLst>
                                          <p:attrName>ppt_x</p:attrName>
                                        </p:attrNameLst>
                                      </p:cBhvr>
                                      <p:tavLst>
                                        <p:tav tm="0">
                                          <p:val>
                                            <p:strVal val="#ppt_x"/>
                                          </p:val>
                                        </p:tav>
                                        <p:tav tm="100000">
                                          <p:val>
                                            <p:strVal val="#ppt_x"/>
                                          </p:val>
                                        </p:tav>
                                      </p:tavLst>
                                    </p:anim>
                                    <p:anim calcmode="lin" valueType="num">
                                      <p:cBhvr additive="base">
                                        <p:cTn id="102" dur="500" fill="hold"/>
                                        <p:tgtEl>
                                          <p:spTgt spid="1119348"/>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119363"/>
                                        </p:tgtEl>
                                        <p:attrNameLst>
                                          <p:attrName>style.visibility</p:attrName>
                                        </p:attrNameLst>
                                      </p:cBhvr>
                                      <p:to>
                                        <p:strVal val="visible"/>
                                      </p:to>
                                    </p:set>
                                    <p:animEffect transition="in" filter="wipe(left)">
                                      <p:cBhvr>
                                        <p:cTn id="107" dur="500"/>
                                        <p:tgtEl>
                                          <p:spTgt spid="1119363"/>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119349"/>
                                        </p:tgtEl>
                                        <p:attrNameLst>
                                          <p:attrName>style.visibility</p:attrName>
                                        </p:attrNameLst>
                                      </p:cBhvr>
                                      <p:to>
                                        <p:strVal val="visible"/>
                                      </p:to>
                                    </p:set>
                                    <p:anim calcmode="lin" valueType="num">
                                      <p:cBhvr additive="base">
                                        <p:cTn id="112" dur="500" fill="hold"/>
                                        <p:tgtEl>
                                          <p:spTgt spid="1119349"/>
                                        </p:tgtEl>
                                        <p:attrNameLst>
                                          <p:attrName>ppt_x</p:attrName>
                                        </p:attrNameLst>
                                      </p:cBhvr>
                                      <p:tavLst>
                                        <p:tav tm="0">
                                          <p:val>
                                            <p:strVal val="#ppt_x"/>
                                          </p:val>
                                        </p:tav>
                                        <p:tav tm="100000">
                                          <p:val>
                                            <p:strVal val="#ppt_x"/>
                                          </p:val>
                                        </p:tav>
                                      </p:tavLst>
                                    </p:anim>
                                    <p:anim calcmode="lin" valueType="num">
                                      <p:cBhvr additive="base">
                                        <p:cTn id="113" dur="500" fill="hold"/>
                                        <p:tgtEl>
                                          <p:spTgt spid="1119349"/>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1119333"/>
                                        </p:tgtEl>
                                        <p:attrNameLst>
                                          <p:attrName>style.visibility</p:attrName>
                                        </p:attrNameLst>
                                      </p:cBhvr>
                                      <p:to>
                                        <p:strVal val="visible"/>
                                      </p:to>
                                    </p:set>
                                    <p:anim calcmode="lin" valueType="num">
                                      <p:cBhvr additive="base">
                                        <p:cTn id="118" dur="500" fill="hold"/>
                                        <p:tgtEl>
                                          <p:spTgt spid="1119333"/>
                                        </p:tgtEl>
                                        <p:attrNameLst>
                                          <p:attrName>ppt_x</p:attrName>
                                        </p:attrNameLst>
                                      </p:cBhvr>
                                      <p:tavLst>
                                        <p:tav tm="0">
                                          <p:val>
                                            <p:strVal val="#ppt_x"/>
                                          </p:val>
                                        </p:tav>
                                        <p:tav tm="100000">
                                          <p:val>
                                            <p:strVal val="#ppt_x"/>
                                          </p:val>
                                        </p:tav>
                                      </p:tavLst>
                                    </p:anim>
                                    <p:anim calcmode="lin" valueType="num">
                                      <p:cBhvr additive="base">
                                        <p:cTn id="119" dur="500" fill="hold"/>
                                        <p:tgtEl>
                                          <p:spTgt spid="1119333"/>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119342"/>
                                        </p:tgtEl>
                                        <p:attrNameLst>
                                          <p:attrName>style.visibility</p:attrName>
                                        </p:attrNameLst>
                                      </p:cBhvr>
                                      <p:to>
                                        <p:strVal val="visible"/>
                                      </p:to>
                                    </p:set>
                                    <p:anim calcmode="lin" valueType="num">
                                      <p:cBhvr additive="base">
                                        <p:cTn id="124" dur="500" fill="hold"/>
                                        <p:tgtEl>
                                          <p:spTgt spid="1119342"/>
                                        </p:tgtEl>
                                        <p:attrNameLst>
                                          <p:attrName>ppt_x</p:attrName>
                                        </p:attrNameLst>
                                      </p:cBhvr>
                                      <p:tavLst>
                                        <p:tav tm="0">
                                          <p:val>
                                            <p:strVal val="#ppt_x"/>
                                          </p:val>
                                        </p:tav>
                                        <p:tav tm="100000">
                                          <p:val>
                                            <p:strVal val="#ppt_x"/>
                                          </p:val>
                                        </p:tav>
                                      </p:tavLst>
                                    </p:anim>
                                    <p:anim calcmode="lin" valueType="num">
                                      <p:cBhvr additive="base">
                                        <p:cTn id="125" dur="500" fill="hold"/>
                                        <p:tgtEl>
                                          <p:spTgt spid="1119342"/>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1119350"/>
                                        </p:tgtEl>
                                        <p:attrNameLst>
                                          <p:attrName>style.visibility</p:attrName>
                                        </p:attrNameLst>
                                      </p:cBhvr>
                                      <p:to>
                                        <p:strVal val="visible"/>
                                      </p:to>
                                    </p:set>
                                    <p:anim calcmode="lin" valueType="num">
                                      <p:cBhvr additive="base">
                                        <p:cTn id="130" dur="500" fill="hold"/>
                                        <p:tgtEl>
                                          <p:spTgt spid="1119350"/>
                                        </p:tgtEl>
                                        <p:attrNameLst>
                                          <p:attrName>ppt_x</p:attrName>
                                        </p:attrNameLst>
                                      </p:cBhvr>
                                      <p:tavLst>
                                        <p:tav tm="0">
                                          <p:val>
                                            <p:strVal val="#ppt_x"/>
                                          </p:val>
                                        </p:tav>
                                        <p:tav tm="100000">
                                          <p:val>
                                            <p:strVal val="#ppt_x"/>
                                          </p:val>
                                        </p:tav>
                                      </p:tavLst>
                                    </p:anim>
                                    <p:anim calcmode="lin" valueType="num">
                                      <p:cBhvr additive="base">
                                        <p:cTn id="131" dur="500" fill="hold"/>
                                        <p:tgtEl>
                                          <p:spTgt spid="1119350"/>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119338"/>
                                        </p:tgtEl>
                                        <p:attrNameLst>
                                          <p:attrName>style.visibility</p:attrName>
                                        </p:attrNameLst>
                                      </p:cBhvr>
                                      <p:to>
                                        <p:strVal val="visible"/>
                                      </p:to>
                                    </p:set>
                                    <p:anim calcmode="lin" valueType="num">
                                      <p:cBhvr additive="base">
                                        <p:cTn id="136" dur="500" fill="hold"/>
                                        <p:tgtEl>
                                          <p:spTgt spid="1119338"/>
                                        </p:tgtEl>
                                        <p:attrNameLst>
                                          <p:attrName>ppt_x</p:attrName>
                                        </p:attrNameLst>
                                      </p:cBhvr>
                                      <p:tavLst>
                                        <p:tav tm="0">
                                          <p:val>
                                            <p:strVal val="#ppt_x"/>
                                          </p:val>
                                        </p:tav>
                                        <p:tav tm="100000">
                                          <p:val>
                                            <p:strVal val="#ppt_x"/>
                                          </p:val>
                                        </p:tav>
                                      </p:tavLst>
                                    </p:anim>
                                    <p:anim calcmode="lin" valueType="num">
                                      <p:cBhvr additive="base">
                                        <p:cTn id="137" dur="500" fill="hold"/>
                                        <p:tgtEl>
                                          <p:spTgt spid="1119338"/>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1119346"/>
                                        </p:tgtEl>
                                        <p:attrNameLst>
                                          <p:attrName>style.visibility</p:attrName>
                                        </p:attrNameLst>
                                      </p:cBhvr>
                                      <p:to>
                                        <p:strVal val="visible"/>
                                      </p:to>
                                    </p:set>
                                    <p:anim calcmode="lin" valueType="num">
                                      <p:cBhvr additive="base">
                                        <p:cTn id="142" dur="500" fill="hold"/>
                                        <p:tgtEl>
                                          <p:spTgt spid="1119346"/>
                                        </p:tgtEl>
                                        <p:attrNameLst>
                                          <p:attrName>ppt_x</p:attrName>
                                        </p:attrNameLst>
                                      </p:cBhvr>
                                      <p:tavLst>
                                        <p:tav tm="0">
                                          <p:val>
                                            <p:strVal val="#ppt_x"/>
                                          </p:val>
                                        </p:tav>
                                        <p:tav tm="100000">
                                          <p:val>
                                            <p:strVal val="#ppt_x"/>
                                          </p:val>
                                        </p:tav>
                                      </p:tavLst>
                                    </p:anim>
                                    <p:anim calcmode="lin" valueType="num">
                                      <p:cBhvr additive="base">
                                        <p:cTn id="143" dur="500" fill="hold"/>
                                        <p:tgtEl>
                                          <p:spTgt spid="1119346"/>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grpId="0" nodeType="clickEffect">
                                  <p:stCondLst>
                                    <p:cond delay="0"/>
                                  </p:stCondLst>
                                  <p:childTnLst>
                                    <p:set>
                                      <p:cBhvr>
                                        <p:cTn id="147" dur="1" fill="hold">
                                          <p:stCondLst>
                                            <p:cond delay="0"/>
                                          </p:stCondLst>
                                        </p:cTn>
                                        <p:tgtEl>
                                          <p:spTgt spid="1119334"/>
                                        </p:tgtEl>
                                        <p:attrNameLst>
                                          <p:attrName>style.visibility</p:attrName>
                                        </p:attrNameLst>
                                      </p:cBhvr>
                                      <p:to>
                                        <p:strVal val="visible"/>
                                      </p:to>
                                    </p:set>
                                    <p:anim calcmode="lin" valueType="num">
                                      <p:cBhvr additive="base">
                                        <p:cTn id="148" dur="500" fill="hold"/>
                                        <p:tgtEl>
                                          <p:spTgt spid="1119334"/>
                                        </p:tgtEl>
                                        <p:attrNameLst>
                                          <p:attrName>ppt_x</p:attrName>
                                        </p:attrNameLst>
                                      </p:cBhvr>
                                      <p:tavLst>
                                        <p:tav tm="0">
                                          <p:val>
                                            <p:strVal val="#ppt_x"/>
                                          </p:val>
                                        </p:tav>
                                        <p:tav tm="100000">
                                          <p:val>
                                            <p:strVal val="#ppt_x"/>
                                          </p:val>
                                        </p:tav>
                                      </p:tavLst>
                                    </p:anim>
                                    <p:anim calcmode="lin" valueType="num">
                                      <p:cBhvr additive="base">
                                        <p:cTn id="149" dur="500" fill="hold"/>
                                        <p:tgtEl>
                                          <p:spTgt spid="1119334"/>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4" fill="hold" grpId="0" nodeType="clickEffect">
                                  <p:stCondLst>
                                    <p:cond delay="0"/>
                                  </p:stCondLst>
                                  <p:childTnLst>
                                    <p:set>
                                      <p:cBhvr>
                                        <p:cTn id="153" dur="1" fill="hold">
                                          <p:stCondLst>
                                            <p:cond delay="0"/>
                                          </p:stCondLst>
                                        </p:cTn>
                                        <p:tgtEl>
                                          <p:spTgt spid="1119343"/>
                                        </p:tgtEl>
                                        <p:attrNameLst>
                                          <p:attrName>style.visibility</p:attrName>
                                        </p:attrNameLst>
                                      </p:cBhvr>
                                      <p:to>
                                        <p:strVal val="visible"/>
                                      </p:to>
                                    </p:set>
                                    <p:anim calcmode="lin" valueType="num">
                                      <p:cBhvr additive="base">
                                        <p:cTn id="154" dur="500" fill="hold"/>
                                        <p:tgtEl>
                                          <p:spTgt spid="1119343"/>
                                        </p:tgtEl>
                                        <p:attrNameLst>
                                          <p:attrName>ppt_x</p:attrName>
                                        </p:attrNameLst>
                                      </p:cBhvr>
                                      <p:tavLst>
                                        <p:tav tm="0">
                                          <p:val>
                                            <p:strVal val="#ppt_x"/>
                                          </p:val>
                                        </p:tav>
                                        <p:tav tm="100000">
                                          <p:val>
                                            <p:strVal val="#ppt_x"/>
                                          </p:val>
                                        </p:tav>
                                      </p:tavLst>
                                    </p:anim>
                                    <p:anim calcmode="lin" valueType="num">
                                      <p:cBhvr additive="base">
                                        <p:cTn id="155" dur="500" fill="hold"/>
                                        <p:tgtEl>
                                          <p:spTgt spid="1119343"/>
                                        </p:tgtEl>
                                        <p:attrNameLst>
                                          <p:attrName>ppt_y</p:attrName>
                                        </p:attrNameLst>
                                      </p:cBhvr>
                                      <p:tavLst>
                                        <p:tav tm="0">
                                          <p:val>
                                            <p:strVal val="1+#ppt_h/2"/>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2" presetClass="entr" presetSubtype="4" fill="hold" grpId="0" nodeType="clickEffect">
                                  <p:stCondLst>
                                    <p:cond delay="0"/>
                                  </p:stCondLst>
                                  <p:childTnLst>
                                    <p:set>
                                      <p:cBhvr>
                                        <p:cTn id="159" dur="1" fill="hold">
                                          <p:stCondLst>
                                            <p:cond delay="0"/>
                                          </p:stCondLst>
                                        </p:cTn>
                                        <p:tgtEl>
                                          <p:spTgt spid="1119351"/>
                                        </p:tgtEl>
                                        <p:attrNameLst>
                                          <p:attrName>style.visibility</p:attrName>
                                        </p:attrNameLst>
                                      </p:cBhvr>
                                      <p:to>
                                        <p:strVal val="visible"/>
                                      </p:to>
                                    </p:set>
                                    <p:anim calcmode="lin" valueType="num">
                                      <p:cBhvr additive="base">
                                        <p:cTn id="160" dur="500" fill="hold"/>
                                        <p:tgtEl>
                                          <p:spTgt spid="1119351"/>
                                        </p:tgtEl>
                                        <p:attrNameLst>
                                          <p:attrName>ppt_x</p:attrName>
                                        </p:attrNameLst>
                                      </p:cBhvr>
                                      <p:tavLst>
                                        <p:tav tm="0">
                                          <p:val>
                                            <p:strVal val="#ppt_x"/>
                                          </p:val>
                                        </p:tav>
                                        <p:tav tm="100000">
                                          <p:val>
                                            <p:strVal val="#ppt_x"/>
                                          </p:val>
                                        </p:tav>
                                      </p:tavLst>
                                    </p:anim>
                                    <p:anim calcmode="lin" valueType="num">
                                      <p:cBhvr additive="base">
                                        <p:cTn id="161" dur="500" fill="hold"/>
                                        <p:tgtEl>
                                          <p:spTgt spid="1119351"/>
                                        </p:tgtEl>
                                        <p:attrNameLst>
                                          <p:attrName>ppt_y</p:attrName>
                                        </p:attrNameLst>
                                      </p:cBhvr>
                                      <p:tavLst>
                                        <p:tav tm="0">
                                          <p:val>
                                            <p:strVal val="1+#ppt_h/2"/>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2" presetClass="entr" presetSubtype="4" fill="hold" grpId="0" nodeType="clickEffect">
                                  <p:stCondLst>
                                    <p:cond delay="0"/>
                                  </p:stCondLst>
                                  <p:childTnLst>
                                    <p:set>
                                      <p:cBhvr>
                                        <p:cTn id="165" dur="1" fill="hold">
                                          <p:stCondLst>
                                            <p:cond delay="0"/>
                                          </p:stCondLst>
                                        </p:cTn>
                                        <p:tgtEl>
                                          <p:spTgt spid="1119339"/>
                                        </p:tgtEl>
                                        <p:attrNameLst>
                                          <p:attrName>style.visibility</p:attrName>
                                        </p:attrNameLst>
                                      </p:cBhvr>
                                      <p:to>
                                        <p:strVal val="visible"/>
                                      </p:to>
                                    </p:set>
                                    <p:anim calcmode="lin" valueType="num">
                                      <p:cBhvr additive="base">
                                        <p:cTn id="166" dur="500" fill="hold"/>
                                        <p:tgtEl>
                                          <p:spTgt spid="1119339"/>
                                        </p:tgtEl>
                                        <p:attrNameLst>
                                          <p:attrName>ppt_x</p:attrName>
                                        </p:attrNameLst>
                                      </p:cBhvr>
                                      <p:tavLst>
                                        <p:tav tm="0">
                                          <p:val>
                                            <p:strVal val="#ppt_x"/>
                                          </p:val>
                                        </p:tav>
                                        <p:tav tm="100000">
                                          <p:val>
                                            <p:strVal val="#ppt_x"/>
                                          </p:val>
                                        </p:tav>
                                      </p:tavLst>
                                    </p:anim>
                                    <p:anim calcmode="lin" valueType="num">
                                      <p:cBhvr additive="base">
                                        <p:cTn id="167" dur="500" fill="hold"/>
                                        <p:tgtEl>
                                          <p:spTgt spid="1119339"/>
                                        </p:tgtEl>
                                        <p:attrNameLst>
                                          <p:attrName>ppt_y</p:attrName>
                                        </p:attrNameLst>
                                      </p:cBhvr>
                                      <p:tavLst>
                                        <p:tav tm="0">
                                          <p:val>
                                            <p:strVal val="1+#ppt_h/2"/>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nodeType="clickEffect">
                                  <p:stCondLst>
                                    <p:cond delay="0"/>
                                  </p:stCondLst>
                                  <p:childTnLst>
                                    <p:set>
                                      <p:cBhvr>
                                        <p:cTn id="171" dur="1" fill="hold">
                                          <p:stCondLst>
                                            <p:cond delay="0"/>
                                          </p:stCondLst>
                                        </p:cTn>
                                        <p:tgtEl>
                                          <p:spTgt spid="1119347"/>
                                        </p:tgtEl>
                                        <p:attrNameLst>
                                          <p:attrName>style.visibility</p:attrName>
                                        </p:attrNameLst>
                                      </p:cBhvr>
                                      <p:to>
                                        <p:strVal val="visible"/>
                                      </p:to>
                                    </p:set>
                                    <p:anim calcmode="lin" valueType="num">
                                      <p:cBhvr additive="base">
                                        <p:cTn id="172" dur="500" fill="hold"/>
                                        <p:tgtEl>
                                          <p:spTgt spid="1119347"/>
                                        </p:tgtEl>
                                        <p:attrNameLst>
                                          <p:attrName>ppt_x</p:attrName>
                                        </p:attrNameLst>
                                      </p:cBhvr>
                                      <p:tavLst>
                                        <p:tav tm="0">
                                          <p:val>
                                            <p:strVal val="#ppt_x"/>
                                          </p:val>
                                        </p:tav>
                                        <p:tav tm="100000">
                                          <p:val>
                                            <p:strVal val="#ppt_x"/>
                                          </p:val>
                                        </p:tav>
                                      </p:tavLst>
                                    </p:anim>
                                    <p:anim calcmode="lin" valueType="num">
                                      <p:cBhvr additive="base">
                                        <p:cTn id="173" dur="500" fill="hold"/>
                                        <p:tgtEl>
                                          <p:spTgt spid="1119347"/>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 presetClass="entr" presetSubtype="4" fill="hold" grpId="0" nodeType="clickEffect">
                                  <p:stCondLst>
                                    <p:cond delay="0"/>
                                  </p:stCondLst>
                                  <p:childTnLst>
                                    <p:set>
                                      <p:cBhvr>
                                        <p:cTn id="177" dur="1" fill="hold">
                                          <p:stCondLst>
                                            <p:cond delay="0"/>
                                          </p:stCondLst>
                                        </p:cTn>
                                        <p:tgtEl>
                                          <p:spTgt spid="1119352"/>
                                        </p:tgtEl>
                                        <p:attrNameLst>
                                          <p:attrName>style.visibility</p:attrName>
                                        </p:attrNameLst>
                                      </p:cBhvr>
                                      <p:to>
                                        <p:strVal val="visible"/>
                                      </p:to>
                                    </p:set>
                                    <p:anim calcmode="lin" valueType="num">
                                      <p:cBhvr additive="base">
                                        <p:cTn id="178" dur="500" fill="hold"/>
                                        <p:tgtEl>
                                          <p:spTgt spid="1119352"/>
                                        </p:tgtEl>
                                        <p:attrNameLst>
                                          <p:attrName>ppt_x</p:attrName>
                                        </p:attrNameLst>
                                      </p:cBhvr>
                                      <p:tavLst>
                                        <p:tav tm="0">
                                          <p:val>
                                            <p:strVal val="#ppt_x"/>
                                          </p:val>
                                        </p:tav>
                                        <p:tav tm="100000">
                                          <p:val>
                                            <p:strVal val="#ppt_x"/>
                                          </p:val>
                                        </p:tav>
                                      </p:tavLst>
                                    </p:anim>
                                    <p:anim calcmode="lin" valueType="num">
                                      <p:cBhvr additive="base">
                                        <p:cTn id="179" dur="500" fill="hold"/>
                                        <p:tgtEl>
                                          <p:spTgt spid="1119352"/>
                                        </p:tgtEl>
                                        <p:attrNameLst>
                                          <p:attrName>ppt_y</p:attrName>
                                        </p:attrNameLst>
                                      </p:cBhvr>
                                      <p:tavLst>
                                        <p:tav tm="0">
                                          <p:val>
                                            <p:strVal val="1+#ppt_h/2"/>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2" presetClass="entr" presetSubtype="4" fill="hold" grpId="0" nodeType="clickEffect">
                                  <p:stCondLst>
                                    <p:cond delay="0"/>
                                  </p:stCondLst>
                                  <p:childTnLst>
                                    <p:set>
                                      <p:cBhvr>
                                        <p:cTn id="183" dur="1" fill="hold">
                                          <p:stCondLst>
                                            <p:cond delay="0"/>
                                          </p:stCondLst>
                                        </p:cTn>
                                        <p:tgtEl>
                                          <p:spTgt spid="1119353"/>
                                        </p:tgtEl>
                                        <p:attrNameLst>
                                          <p:attrName>style.visibility</p:attrName>
                                        </p:attrNameLst>
                                      </p:cBhvr>
                                      <p:to>
                                        <p:strVal val="visible"/>
                                      </p:to>
                                    </p:set>
                                    <p:anim calcmode="lin" valueType="num">
                                      <p:cBhvr additive="base">
                                        <p:cTn id="184" dur="500" fill="hold"/>
                                        <p:tgtEl>
                                          <p:spTgt spid="1119353"/>
                                        </p:tgtEl>
                                        <p:attrNameLst>
                                          <p:attrName>ppt_x</p:attrName>
                                        </p:attrNameLst>
                                      </p:cBhvr>
                                      <p:tavLst>
                                        <p:tav tm="0">
                                          <p:val>
                                            <p:strVal val="#ppt_x"/>
                                          </p:val>
                                        </p:tav>
                                        <p:tav tm="100000">
                                          <p:val>
                                            <p:strVal val="#ppt_x"/>
                                          </p:val>
                                        </p:tav>
                                      </p:tavLst>
                                    </p:anim>
                                    <p:anim calcmode="lin" valueType="num">
                                      <p:cBhvr additive="base">
                                        <p:cTn id="185" dur="500" fill="hold"/>
                                        <p:tgtEl>
                                          <p:spTgt spid="11193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9331" grpId="0" autoUpdateAnimBg="0"/>
      <p:bldP spid="1119332" grpId="0" autoUpdateAnimBg="0"/>
      <p:bldP spid="1119333" grpId="0" autoUpdateAnimBg="0"/>
      <p:bldP spid="1119334" grpId="0" autoUpdateAnimBg="0"/>
      <p:bldP spid="1119336" grpId="0" autoUpdateAnimBg="0"/>
      <p:bldP spid="1119337" grpId="0" autoUpdateAnimBg="0"/>
      <p:bldP spid="1119338" grpId="0" autoUpdateAnimBg="0"/>
      <p:bldP spid="1119339" grpId="0" autoUpdateAnimBg="0"/>
      <p:bldP spid="1119340" grpId="0" autoUpdateAnimBg="0"/>
      <p:bldP spid="1119341" grpId="0" autoUpdateAnimBg="0"/>
      <p:bldP spid="1119342" grpId="0" autoUpdateAnimBg="0"/>
      <p:bldP spid="1119343" grpId="0" autoUpdateAnimBg="0"/>
      <p:bldP spid="1119344" grpId="0" autoUpdateAnimBg="0"/>
      <p:bldP spid="1119345" grpId="0" autoUpdateAnimBg="0"/>
      <p:bldP spid="1119346" grpId="0" autoUpdateAnimBg="0"/>
      <p:bldP spid="1119348" grpId="0" autoUpdateAnimBg="0"/>
      <p:bldP spid="1119349" grpId="0" autoUpdateAnimBg="0"/>
      <p:bldP spid="1119350" grpId="0" autoUpdateAnimBg="0"/>
      <p:bldP spid="1119351" grpId="0" autoUpdateAnimBg="0"/>
      <p:bldP spid="1119352" grpId="0" autoUpdateAnimBg="0"/>
      <p:bldP spid="111935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8" name="Rectangle 2"/>
          <p:cNvSpPr>
            <a:spLocks noGrp="1" noChangeArrowheads="1"/>
          </p:cNvSpPr>
          <p:nvPr>
            <p:ph type="body" idx="1"/>
          </p:nvPr>
        </p:nvSpPr>
        <p:spPr>
          <a:xfrm>
            <a:off x="1981200" y="1295400"/>
            <a:ext cx="8193088" cy="4419600"/>
          </a:xfrm>
        </p:spPr>
        <p:txBody>
          <a:bodyPr/>
          <a:lstStyle/>
          <a:p>
            <a:r>
              <a:rPr lang="en-US" altLang="zh-CN" sz="2600" b="1">
                <a:ea typeface="楷体_GB2312" pitchFamily="49" charset="-122"/>
              </a:rPr>
              <a:t>FCFS/SJF</a:t>
            </a:r>
            <a:r>
              <a:rPr lang="zh-CN" altLang="en-US" sz="2600" b="1">
                <a:ea typeface="楷体_GB2312" pitchFamily="49" charset="-122"/>
              </a:rPr>
              <a:t>调度算法的性能</a:t>
            </a:r>
          </a:p>
        </p:txBody>
      </p:sp>
      <p:sp>
        <p:nvSpPr>
          <p:cNvPr id="1120259" name="Rectangle 3"/>
          <p:cNvSpPr>
            <a:spLocks noGrp="1" noChangeArrowheads="1"/>
          </p:cNvSpPr>
          <p:nvPr>
            <p:ph type="title"/>
          </p:nvPr>
        </p:nvSpPr>
        <p:spPr/>
        <p:txBody>
          <a:bodyPr/>
          <a:lstStyle/>
          <a:p>
            <a:r>
              <a:rPr lang="zh-CN" altLang="en-US" sz="3200" b="0" dirty="0"/>
              <a:t>先来先服务和短作业优先算法</a:t>
            </a:r>
          </a:p>
        </p:txBody>
      </p:sp>
      <p:sp>
        <p:nvSpPr>
          <p:cNvPr id="1120260" name="Text Box 4"/>
          <p:cNvSpPr txBox="1">
            <a:spLocks noChangeArrowheads="1"/>
          </p:cNvSpPr>
          <p:nvPr/>
        </p:nvSpPr>
        <p:spPr bwMode="auto">
          <a:xfrm>
            <a:off x="1752600" y="6003922"/>
            <a:ext cx="8458200" cy="488950"/>
          </a:xfrm>
          <a:prstGeom prst="rect">
            <a:avLst/>
          </a:prstGeom>
          <a:noFill/>
          <a:ln w="9525">
            <a:noFill/>
            <a:miter lim="800000"/>
            <a:headEnd/>
            <a:tailEnd/>
          </a:ln>
          <a:effectLst/>
        </p:spPr>
        <p:txBody>
          <a:bodyPr>
            <a:spAutoFit/>
          </a:bodyPr>
          <a:lstStyle/>
          <a:p>
            <a:pPr>
              <a:spcBef>
                <a:spcPct val="50000"/>
              </a:spcBef>
            </a:pPr>
            <a:r>
              <a:rPr kumimoji="1" lang="en-US" altLang="zh-CN" sz="2600" b="1" dirty="0">
                <a:solidFill>
                  <a:srgbClr val="D20000"/>
                </a:solidFill>
                <a:latin typeface="楷体_GB2312" pitchFamily="49" charset="-122"/>
                <a:ea typeface="楷体_GB2312" pitchFamily="49" charset="-122"/>
              </a:rPr>
              <a:t>SJF</a:t>
            </a:r>
            <a:r>
              <a:rPr kumimoji="1" lang="zh-CN" altLang="en-US" sz="2600" b="1" dirty="0">
                <a:solidFill>
                  <a:srgbClr val="D20000"/>
                </a:solidFill>
                <a:latin typeface="楷体_GB2312" pitchFamily="49" charset="-122"/>
                <a:ea typeface="楷体_GB2312" pitchFamily="49" charset="-122"/>
              </a:rPr>
              <a:t>能有效地降低作业的平均等待时间，提高系统吞吐量</a:t>
            </a:r>
          </a:p>
        </p:txBody>
      </p:sp>
      <p:graphicFrame>
        <p:nvGraphicFramePr>
          <p:cNvPr id="1120261" name="Group 5"/>
          <p:cNvGraphicFramePr>
            <a:graphicFrameLocks noGrp="1"/>
          </p:cNvGraphicFramePr>
          <p:nvPr>
            <p:extLst>
              <p:ext uri="{D42A27DB-BD31-4B8C-83A1-F6EECF244321}">
                <p14:modId xmlns:p14="http://schemas.microsoft.com/office/powerpoint/2010/main" val="2697369979"/>
              </p:ext>
            </p:extLst>
          </p:nvPr>
        </p:nvGraphicFramePr>
        <p:xfrm>
          <a:off x="2057400" y="1828797"/>
          <a:ext cx="7848600" cy="4038603"/>
        </p:xfrm>
        <a:graphic>
          <a:graphicData uri="http://schemas.openxmlformats.org/drawingml/2006/table">
            <a:tbl>
              <a:tblPr/>
              <a:tblGrid>
                <a:gridCol w="1600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452438">
                <a:tc rowSpan="3">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        作业</a:t>
                      </a:r>
                    </a:p>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调度      情况</a:t>
                      </a:r>
                    </a:p>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       算法</a:t>
                      </a:r>
                    </a:p>
                  </a:txBody>
                  <a:tcP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进程名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A</a:t>
                      </a:r>
                    </a:p>
                  </a:txBody>
                  <a:tcPr horzOverflow="overflow">
                    <a:lnL w="12700" cap="flat" cmpd="sng" algn="ctr">
                      <a:solidFill>
                        <a:schemeClr val="tx1"/>
                      </a:solidFill>
                      <a:prstDash val="solid"/>
                      <a:miter lim="800000"/>
                      <a:headEnd type="none" w="med" len="med"/>
                      <a:tailEnd type="none" w="med" len="med"/>
                    </a:lnL>
                    <a:lnR>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B</a:t>
                      </a:r>
                    </a:p>
                  </a:txBody>
                  <a:tcPr horzOverflow="overflow">
                    <a:lnL>
                      <a:noFill/>
                    </a:lnL>
                    <a:lnR>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C</a:t>
                      </a:r>
                    </a:p>
                  </a:txBody>
                  <a:tcPr horzOverflow="overflow">
                    <a:lnL>
                      <a:noFill/>
                    </a:lnL>
                    <a:lnR>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D</a:t>
                      </a:r>
                    </a:p>
                  </a:txBody>
                  <a:tcPr horzOverflow="overflow">
                    <a:lnL>
                      <a:noFill/>
                    </a:lnL>
                    <a:lnR>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E</a:t>
                      </a:r>
                    </a:p>
                  </a:txBody>
                  <a:tcPr horzOverflow="overflow">
                    <a:lnL>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平均</a:t>
                      </a:r>
                    </a:p>
                  </a:txBody>
                  <a:tcP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40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0</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3</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88">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服务时间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3</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5</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452438">
                <a:tc rowSpan="3">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FCFS</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7</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12</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14</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18</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40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6</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10</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11</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14</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9</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438">
                <a:tc vMerge="1">
                  <a:txBody>
                    <a:bodyPr/>
                    <a:lstStyle/>
                    <a:p>
                      <a:endParaRPr lang="zh-CN" altLang="en-US"/>
                    </a:p>
                  </a:txBody>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带权周转时间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5.5</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3.5</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2.8</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2438">
                <a:tc rowSpan="3">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SJF</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9</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18</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6</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13</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40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4</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8</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16</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3</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9</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8</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3388">
                <a:tc vMerge="1">
                  <a:txBody>
                    <a:bodyPr/>
                    <a:lstStyle/>
                    <a:p>
                      <a:endParaRPr lang="zh-CN" altLang="en-US"/>
                    </a:p>
                  </a:txBody>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带权周转时间</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2.67</a:t>
                      </a:r>
                    </a:p>
                  </a:txBody>
                  <a:tcPr horzOverflow="overflow">
                    <a:lnL>
                      <a:noFill/>
                    </a:lnL>
                    <a:lnR>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3.1</a:t>
                      </a:r>
                    </a:p>
                  </a:txBody>
                  <a:tcPr horzOverflow="overflow">
                    <a:lnL>
                      <a:noFill/>
                    </a:lnL>
                    <a:lnR>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1.5</a:t>
                      </a:r>
                    </a:p>
                  </a:txBody>
                  <a:tcPr horzOverflow="overflow">
                    <a:lnL>
                      <a:noFill/>
                    </a:lnL>
                    <a:lnR>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_GB2312" pitchFamily="49" charset="-122"/>
                        </a:rPr>
                        <a:t>2.25</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rPr>
                        <a:t>2.1</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120352" name="AutoShape 96"/>
          <p:cNvSpPr>
            <a:spLocks noChangeArrowheads="1"/>
          </p:cNvSpPr>
          <p:nvPr/>
        </p:nvSpPr>
        <p:spPr bwMode="auto">
          <a:xfrm>
            <a:off x="3505200" y="685800"/>
            <a:ext cx="3200400" cy="1905000"/>
          </a:xfrm>
          <a:prstGeom prst="cloudCallout">
            <a:avLst>
              <a:gd name="adj1" fmla="val 83481"/>
              <a:gd name="adj2" fmla="val 103500"/>
            </a:avLst>
          </a:prstGeom>
          <a:solidFill>
            <a:srgbClr val="FFFFCC"/>
          </a:solidFill>
          <a:ln w="9525">
            <a:solidFill>
              <a:schemeClr val="tx1"/>
            </a:solidFill>
            <a:miter lim="800000"/>
            <a:headEnd/>
            <a:tailEnd/>
          </a:ln>
          <a:effectLst/>
        </p:spPr>
        <p:txBody>
          <a:bodyPr/>
          <a:lstStyle/>
          <a:p>
            <a:pPr algn="ctr"/>
            <a:r>
              <a:rPr kumimoji="1" lang="en-US" altLang="zh-CN" sz="2400" b="1" dirty="0">
                <a:latin typeface="楷体_GB2312" pitchFamily="49" charset="-122"/>
                <a:ea typeface="楷体_GB2312" pitchFamily="49" charset="-122"/>
              </a:rPr>
              <a:t>SJF</a:t>
            </a:r>
            <a:r>
              <a:rPr kumimoji="1" lang="zh-CN" altLang="en-US" sz="2400" b="1" dirty="0">
                <a:latin typeface="楷体_GB2312" pitchFamily="49" charset="-122"/>
                <a:ea typeface="楷体_GB2312" pitchFamily="49" charset="-122"/>
              </a:rPr>
              <a:t>平均周转时间和平均带权周转时间明显改善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0352"/>
                                        </p:tgtEl>
                                        <p:attrNameLst>
                                          <p:attrName>style.visibility</p:attrName>
                                        </p:attrNameLst>
                                      </p:cBhvr>
                                      <p:to>
                                        <p:strVal val="visible"/>
                                      </p:to>
                                    </p:set>
                                    <p:animEffect transition="in" filter="wipe(up)">
                                      <p:cBhvr>
                                        <p:cTn id="7" dur="500"/>
                                        <p:tgtEl>
                                          <p:spTgt spid="11203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0260"/>
                                        </p:tgtEl>
                                        <p:attrNameLst>
                                          <p:attrName>style.visibility</p:attrName>
                                        </p:attrNameLst>
                                      </p:cBhvr>
                                      <p:to>
                                        <p:strVal val="visible"/>
                                      </p:to>
                                    </p:set>
                                    <p:animEffect transition="in" filter="wipe(left)">
                                      <p:cBhvr>
                                        <p:cTn id="12" dur="500"/>
                                        <p:tgtEl>
                                          <p:spTgt spid="1120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0260" grpId="0" autoUpdateAnimBg="0"/>
      <p:bldP spid="1120352"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1282" name="Rectangle 2"/>
          <p:cNvSpPr>
            <a:spLocks noGrp="1" noChangeArrowheads="1"/>
          </p:cNvSpPr>
          <p:nvPr>
            <p:ph type="title"/>
          </p:nvPr>
        </p:nvSpPr>
        <p:spPr/>
        <p:txBody>
          <a:bodyPr/>
          <a:lstStyle/>
          <a:p>
            <a:r>
              <a:rPr lang="zh-CN" altLang="en-US" sz="3200" b="0" dirty="0"/>
              <a:t>先来先服务和短作业优先算法</a:t>
            </a:r>
          </a:p>
        </p:txBody>
      </p:sp>
      <p:sp>
        <p:nvSpPr>
          <p:cNvPr id="1121283" name="Rectangle 3"/>
          <p:cNvSpPr>
            <a:spLocks noGrp="1" noChangeArrowheads="1"/>
          </p:cNvSpPr>
          <p:nvPr>
            <p:ph type="body" idx="1"/>
          </p:nvPr>
        </p:nvSpPr>
        <p:spPr>
          <a:xfrm>
            <a:off x="1981200" y="1371600"/>
            <a:ext cx="8534400" cy="5410200"/>
          </a:xfrm>
        </p:spPr>
        <p:txBody>
          <a:bodyPr/>
          <a:lstStyle/>
          <a:p>
            <a:r>
              <a:rPr lang="en-US" altLang="zh-CN" sz="2600" b="1" dirty="0">
                <a:ea typeface="楷体_GB2312" pitchFamily="49" charset="-122"/>
              </a:rPr>
              <a:t>SJ(P)F</a:t>
            </a:r>
            <a:r>
              <a:rPr lang="zh-CN" altLang="en-US" sz="2600" b="1" dirty="0">
                <a:ea typeface="楷体_GB2312" pitchFamily="49" charset="-122"/>
              </a:rPr>
              <a:t>调度算法也存在不容忽视的缺点</a:t>
            </a:r>
          </a:p>
          <a:p>
            <a:pPr lvl="1">
              <a:lnSpc>
                <a:spcPct val="105000"/>
              </a:lnSpc>
            </a:pPr>
            <a:r>
              <a:rPr lang="zh-CN" altLang="en-US" sz="2600" b="1" dirty="0">
                <a:ea typeface="楷体_GB2312" pitchFamily="49" charset="-122"/>
              </a:rPr>
              <a:t>对</a:t>
            </a:r>
            <a:r>
              <a:rPr lang="zh-CN" altLang="en-US" sz="2600" b="1" dirty="0">
                <a:solidFill>
                  <a:srgbClr val="990000"/>
                </a:solidFill>
                <a:ea typeface="楷体_GB2312" pitchFamily="49" charset="-122"/>
              </a:rPr>
              <a:t>长作业不利</a:t>
            </a:r>
            <a:r>
              <a:rPr lang="zh-CN" altLang="en-US" sz="2600" b="1" dirty="0">
                <a:ea typeface="楷体_GB2312" pitchFamily="49" charset="-122"/>
              </a:rPr>
              <a:t>。严重的是，若一长作业</a:t>
            </a:r>
            <a:r>
              <a:rPr lang="en-US" altLang="zh-CN" sz="2600" b="1" dirty="0">
                <a:ea typeface="楷体_GB2312" pitchFamily="49" charset="-122"/>
              </a:rPr>
              <a:t>(</a:t>
            </a:r>
            <a:r>
              <a:rPr lang="zh-CN" altLang="en-US" sz="2600" b="1" dirty="0">
                <a:ea typeface="楷体_GB2312" pitchFamily="49" charset="-122"/>
              </a:rPr>
              <a:t>进程</a:t>
            </a:r>
            <a:r>
              <a:rPr lang="en-US" altLang="zh-CN" sz="2600" b="1" dirty="0">
                <a:ea typeface="楷体_GB2312" pitchFamily="49" charset="-122"/>
              </a:rPr>
              <a:t>)</a:t>
            </a:r>
            <a:r>
              <a:rPr lang="zh-CN" altLang="en-US" sz="2600" b="1" dirty="0">
                <a:ea typeface="楷体_GB2312" pitchFamily="49" charset="-122"/>
              </a:rPr>
              <a:t>进入系统的后备队列</a:t>
            </a:r>
            <a:r>
              <a:rPr lang="en-US" altLang="zh-CN" sz="2600" b="1" dirty="0">
                <a:ea typeface="楷体_GB2312" pitchFamily="49" charset="-122"/>
              </a:rPr>
              <a:t>(</a:t>
            </a:r>
            <a:r>
              <a:rPr lang="zh-CN" altLang="en-US" sz="2600" b="1" dirty="0">
                <a:ea typeface="楷体_GB2312" pitchFamily="49" charset="-122"/>
              </a:rPr>
              <a:t>就绪队列</a:t>
            </a:r>
            <a:r>
              <a:rPr lang="en-US" altLang="zh-CN" sz="2600" b="1" dirty="0">
                <a:ea typeface="楷体_GB2312" pitchFamily="49" charset="-122"/>
              </a:rPr>
              <a:t>)</a:t>
            </a:r>
            <a:r>
              <a:rPr lang="zh-CN" altLang="en-US" sz="2600" b="1" dirty="0">
                <a:ea typeface="楷体_GB2312" pitchFamily="49" charset="-122"/>
              </a:rPr>
              <a:t>，由于调度程序总是优先调度那些</a:t>
            </a:r>
            <a:r>
              <a:rPr lang="en-US" altLang="zh-CN" sz="2600" b="1" dirty="0">
                <a:ea typeface="楷体_GB2312" pitchFamily="49" charset="-122"/>
              </a:rPr>
              <a:t>(</a:t>
            </a:r>
            <a:r>
              <a:rPr lang="zh-CN" altLang="en-US" sz="2600" b="1" dirty="0">
                <a:ea typeface="楷体_GB2312" pitchFamily="49" charset="-122"/>
              </a:rPr>
              <a:t>即使是后进来的</a:t>
            </a:r>
            <a:r>
              <a:rPr lang="en-US" altLang="zh-CN" sz="2600" b="1" dirty="0">
                <a:ea typeface="楷体_GB2312" pitchFamily="49" charset="-122"/>
              </a:rPr>
              <a:t>)</a:t>
            </a:r>
            <a:r>
              <a:rPr lang="zh-CN" altLang="en-US" sz="2600" b="1" dirty="0">
                <a:ea typeface="楷体_GB2312" pitchFamily="49" charset="-122"/>
              </a:rPr>
              <a:t>短作业</a:t>
            </a:r>
            <a:r>
              <a:rPr lang="en-US" altLang="zh-CN" sz="2600" b="1" dirty="0">
                <a:ea typeface="楷体_GB2312" pitchFamily="49" charset="-122"/>
              </a:rPr>
              <a:t>(</a:t>
            </a:r>
            <a:r>
              <a:rPr lang="zh-CN" altLang="en-US" sz="2600" b="1" dirty="0">
                <a:ea typeface="楷体_GB2312" pitchFamily="49" charset="-122"/>
              </a:rPr>
              <a:t>进程</a:t>
            </a:r>
            <a:r>
              <a:rPr lang="en-US" altLang="zh-CN" sz="2600" b="1" dirty="0">
                <a:ea typeface="楷体_GB2312" pitchFamily="49" charset="-122"/>
              </a:rPr>
              <a:t>)</a:t>
            </a:r>
            <a:r>
              <a:rPr lang="zh-CN" altLang="en-US" sz="2600" b="1" dirty="0">
                <a:ea typeface="楷体_GB2312" pitchFamily="49" charset="-122"/>
              </a:rPr>
              <a:t>，将导致长作业</a:t>
            </a:r>
            <a:r>
              <a:rPr lang="en-US" altLang="zh-CN" sz="2600" b="1" dirty="0">
                <a:ea typeface="楷体_GB2312" pitchFamily="49" charset="-122"/>
              </a:rPr>
              <a:t>(</a:t>
            </a:r>
            <a:r>
              <a:rPr lang="zh-CN" altLang="en-US" sz="2600" b="1" dirty="0">
                <a:ea typeface="楷体_GB2312" pitchFamily="49" charset="-122"/>
              </a:rPr>
              <a:t>进程</a:t>
            </a:r>
            <a:r>
              <a:rPr lang="en-US" altLang="zh-CN" sz="2600" b="1" dirty="0">
                <a:ea typeface="楷体_GB2312" pitchFamily="49" charset="-122"/>
              </a:rPr>
              <a:t>)</a:t>
            </a:r>
            <a:r>
              <a:rPr lang="zh-CN" altLang="en-US" sz="2600" b="1" dirty="0">
                <a:ea typeface="楷体_GB2312" pitchFamily="49" charset="-122"/>
              </a:rPr>
              <a:t>长期不被调度</a:t>
            </a:r>
            <a:r>
              <a:rPr lang="en-US" altLang="zh-CN" sz="2600" b="1" dirty="0">
                <a:ea typeface="楷体_GB2312" pitchFamily="49" charset="-122"/>
              </a:rPr>
              <a:t>——</a:t>
            </a:r>
            <a:r>
              <a:rPr lang="zh-CN" altLang="en-US" sz="2600" b="1" dirty="0">
                <a:solidFill>
                  <a:schemeClr val="hlink"/>
                </a:solidFill>
                <a:ea typeface="楷体_GB2312" pitchFamily="49" charset="-122"/>
              </a:rPr>
              <a:t>饥饿</a:t>
            </a:r>
          </a:p>
          <a:p>
            <a:pPr lvl="1">
              <a:lnSpc>
                <a:spcPct val="105000"/>
              </a:lnSpc>
            </a:pPr>
            <a:r>
              <a:rPr lang="zh-CN" altLang="en-US" sz="2600" b="1" dirty="0">
                <a:ea typeface="楷体_GB2312" pitchFamily="49" charset="-122"/>
              </a:rPr>
              <a:t>完全未考虑作业</a:t>
            </a:r>
            <a:r>
              <a:rPr lang="en-US" altLang="zh-CN" sz="2600" b="1" dirty="0">
                <a:ea typeface="楷体_GB2312" pitchFamily="49" charset="-122"/>
              </a:rPr>
              <a:t>(</a:t>
            </a:r>
            <a:r>
              <a:rPr lang="zh-CN" altLang="en-US" sz="2600" b="1" dirty="0">
                <a:ea typeface="楷体_GB2312" pitchFamily="49" charset="-122"/>
              </a:rPr>
              <a:t>进程</a:t>
            </a:r>
            <a:r>
              <a:rPr lang="en-US" altLang="zh-CN" sz="2600" b="1" dirty="0">
                <a:ea typeface="楷体_GB2312" pitchFamily="49" charset="-122"/>
              </a:rPr>
              <a:t>)</a:t>
            </a:r>
            <a:r>
              <a:rPr lang="zh-CN" altLang="en-US" sz="2600" b="1" dirty="0">
                <a:ea typeface="楷体_GB2312" pitchFamily="49" charset="-122"/>
              </a:rPr>
              <a:t>的</a:t>
            </a:r>
            <a:r>
              <a:rPr lang="zh-CN" altLang="en-US" sz="2600" b="1" dirty="0">
                <a:solidFill>
                  <a:srgbClr val="990000"/>
                </a:solidFill>
                <a:ea typeface="楷体_GB2312" pitchFamily="49" charset="-122"/>
              </a:rPr>
              <a:t>紧迫程度</a:t>
            </a:r>
            <a:r>
              <a:rPr lang="zh-CN" altLang="en-US" sz="2600" b="1" dirty="0">
                <a:ea typeface="楷体_GB2312" pitchFamily="49" charset="-122"/>
              </a:rPr>
              <a:t>，因而不能保证</a:t>
            </a:r>
            <a:r>
              <a:rPr lang="zh-CN" altLang="en-US" sz="2600" b="1" dirty="0">
                <a:solidFill>
                  <a:srgbClr val="990000"/>
                </a:solidFill>
                <a:ea typeface="楷体_GB2312" pitchFamily="49" charset="-122"/>
              </a:rPr>
              <a:t>紧迫性</a:t>
            </a:r>
            <a:r>
              <a:rPr lang="zh-CN" altLang="en-US" sz="2600" b="1" dirty="0">
                <a:ea typeface="楷体_GB2312" pitchFamily="49" charset="-122"/>
              </a:rPr>
              <a:t>作业</a:t>
            </a:r>
            <a:r>
              <a:rPr lang="en-US" altLang="zh-CN" sz="2600" b="1" dirty="0">
                <a:ea typeface="楷体_GB2312" pitchFamily="49" charset="-122"/>
              </a:rPr>
              <a:t>(</a:t>
            </a:r>
            <a:r>
              <a:rPr lang="zh-CN" altLang="en-US" sz="2600" b="1" dirty="0">
                <a:ea typeface="楷体_GB2312" pitchFamily="49" charset="-122"/>
              </a:rPr>
              <a:t>进程</a:t>
            </a:r>
            <a:r>
              <a:rPr lang="en-US" altLang="zh-CN" sz="2600" b="1" dirty="0">
                <a:ea typeface="楷体_GB2312" pitchFamily="49" charset="-122"/>
              </a:rPr>
              <a:t>)</a:t>
            </a:r>
            <a:r>
              <a:rPr lang="zh-CN" altLang="en-US" sz="2600" b="1" dirty="0">
                <a:ea typeface="楷体_GB2312" pitchFamily="49" charset="-122"/>
              </a:rPr>
              <a:t>会被</a:t>
            </a:r>
            <a:r>
              <a:rPr lang="zh-CN" altLang="en-US" sz="2600" b="1" dirty="0">
                <a:solidFill>
                  <a:srgbClr val="990000"/>
                </a:solidFill>
                <a:ea typeface="楷体_GB2312" pitchFamily="49" charset="-122"/>
              </a:rPr>
              <a:t>及时处理</a:t>
            </a:r>
          </a:p>
          <a:p>
            <a:pPr lvl="1">
              <a:lnSpc>
                <a:spcPct val="105000"/>
              </a:lnSpc>
            </a:pPr>
            <a:r>
              <a:rPr lang="zh-CN" altLang="en-US" sz="2600" b="1" dirty="0">
                <a:ea typeface="楷体_GB2312" pitchFamily="49" charset="-122"/>
              </a:rPr>
              <a:t>由于作业</a:t>
            </a:r>
            <a:r>
              <a:rPr lang="en-US" altLang="zh-CN" sz="2600" b="1" dirty="0">
                <a:ea typeface="楷体_GB2312" pitchFamily="49" charset="-122"/>
              </a:rPr>
              <a:t>(</a:t>
            </a:r>
            <a:r>
              <a:rPr lang="zh-CN" altLang="en-US" sz="2600" b="1" dirty="0">
                <a:ea typeface="楷体_GB2312" pitchFamily="49" charset="-122"/>
              </a:rPr>
              <a:t>进程</a:t>
            </a:r>
            <a:r>
              <a:rPr lang="en-US" altLang="zh-CN" sz="2600" b="1" dirty="0">
                <a:ea typeface="楷体_GB2312" pitchFamily="49" charset="-122"/>
              </a:rPr>
              <a:t>)</a:t>
            </a:r>
            <a:r>
              <a:rPr lang="zh-CN" altLang="en-US" sz="2600" b="1" dirty="0">
                <a:ea typeface="楷体_GB2312" pitchFamily="49" charset="-122"/>
              </a:rPr>
              <a:t>的长短只是根据</a:t>
            </a:r>
            <a:r>
              <a:rPr lang="zh-CN" altLang="en-US" sz="2600" b="1" dirty="0">
                <a:solidFill>
                  <a:srgbClr val="990000"/>
                </a:solidFill>
                <a:ea typeface="楷体_GB2312" pitchFamily="49" charset="-122"/>
              </a:rPr>
              <a:t>用户</a:t>
            </a:r>
            <a:r>
              <a:rPr lang="zh-CN" altLang="en-US" sz="2600" b="1" dirty="0">
                <a:ea typeface="楷体_GB2312" pitchFamily="49" charset="-122"/>
              </a:rPr>
              <a:t>所提供的</a:t>
            </a:r>
            <a:r>
              <a:rPr lang="zh-CN" altLang="en-US" sz="2600" b="1" dirty="0">
                <a:solidFill>
                  <a:srgbClr val="990000"/>
                </a:solidFill>
                <a:ea typeface="楷体_GB2312" pitchFamily="49" charset="-122"/>
              </a:rPr>
              <a:t>估计执行时间</a:t>
            </a:r>
            <a:r>
              <a:rPr lang="zh-CN" altLang="en-US" sz="2600" b="1" dirty="0">
                <a:ea typeface="楷体_GB2312" pitchFamily="49" charset="-122"/>
              </a:rPr>
              <a:t>而定的，而用户又可能会</a:t>
            </a:r>
            <a:r>
              <a:rPr lang="zh-CN" altLang="en-US" sz="2600" b="1" dirty="0">
                <a:solidFill>
                  <a:srgbClr val="990000"/>
                </a:solidFill>
                <a:ea typeface="楷体_GB2312" pitchFamily="49" charset="-122"/>
              </a:rPr>
              <a:t>有意或无意</a:t>
            </a:r>
            <a:r>
              <a:rPr lang="zh-CN" altLang="en-US" sz="2600" b="1" dirty="0">
                <a:ea typeface="楷体_GB2312" pitchFamily="49" charset="-122"/>
              </a:rPr>
              <a:t>地</a:t>
            </a:r>
            <a:r>
              <a:rPr lang="zh-CN" altLang="en-US" sz="2600" b="1" dirty="0">
                <a:solidFill>
                  <a:srgbClr val="990000"/>
                </a:solidFill>
                <a:ea typeface="楷体_GB2312" pitchFamily="49" charset="-122"/>
              </a:rPr>
              <a:t>缩短</a:t>
            </a:r>
            <a:r>
              <a:rPr lang="zh-CN" altLang="en-US" sz="2600" b="1" dirty="0">
                <a:ea typeface="楷体_GB2312" pitchFamily="49" charset="-122"/>
              </a:rPr>
              <a:t>其作业的估计</a:t>
            </a:r>
            <a:r>
              <a:rPr lang="zh-CN" altLang="en-US" sz="2600" b="1" dirty="0">
                <a:solidFill>
                  <a:srgbClr val="990000"/>
                </a:solidFill>
                <a:ea typeface="楷体_GB2312" pitchFamily="49" charset="-122"/>
              </a:rPr>
              <a:t>运行时间</a:t>
            </a:r>
            <a:r>
              <a:rPr lang="zh-CN" altLang="en-US" sz="2600" b="1" dirty="0">
                <a:ea typeface="楷体_GB2312" pitchFamily="49" charset="-122"/>
              </a:rPr>
              <a:t>，致使该算法不一定能真正做到短作业优先调度。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1283">
                                            <p:txEl>
                                              <p:pRg st="0" end="0"/>
                                            </p:txEl>
                                          </p:spTgt>
                                        </p:tgtEl>
                                        <p:attrNameLst>
                                          <p:attrName>style.visibility</p:attrName>
                                        </p:attrNameLst>
                                      </p:cBhvr>
                                      <p:to>
                                        <p:strVal val="visible"/>
                                      </p:to>
                                    </p:set>
                                    <p:animEffect transition="in" filter="wipe(up)">
                                      <p:cBhvr>
                                        <p:cTn id="7" dur="500"/>
                                        <p:tgtEl>
                                          <p:spTgt spid="1121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1283">
                                            <p:txEl>
                                              <p:pRg st="1" end="1"/>
                                            </p:txEl>
                                          </p:spTgt>
                                        </p:tgtEl>
                                        <p:attrNameLst>
                                          <p:attrName>style.visibility</p:attrName>
                                        </p:attrNameLst>
                                      </p:cBhvr>
                                      <p:to>
                                        <p:strVal val="visible"/>
                                      </p:to>
                                    </p:set>
                                    <p:animEffect transition="in" filter="wipe(up)">
                                      <p:cBhvr>
                                        <p:cTn id="12" dur="500"/>
                                        <p:tgtEl>
                                          <p:spTgt spid="11212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21283">
                                            <p:txEl>
                                              <p:pRg st="2" end="2"/>
                                            </p:txEl>
                                          </p:spTgt>
                                        </p:tgtEl>
                                        <p:attrNameLst>
                                          <p:attrName>style.visibility</p:attrName>
                                        </p:attrNameLst>
                                      </p:cBhvr>
                                      <p:to>
                                        <p:strVal val="visible"/>
                                      </p:to>
                                    </p:set>
                                    <p:animEffect transition="in" filter="wipe(up)">
                                      <p:cBhvr>
                                        <p:cTn id="17" dur="500"/>
                                        <p:tgtEl>
                                          <p:spTgt spid="11212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21283">
                                            <p:txEl>
                                              <p:pRg st="3" end="3"/>
                                            </p:txEl>
                                          </p:spTgt>
                                        </p:tgtEl>
                                        <p:attrNameLst>
                                          <p:attrName>style.visibility</p:attrName>
                                        </p:attrNameLst>
                                      </p:cBhvr>
                                      <p:to>
                                        <p:strVal val="visible"/>
                                      </p:to>
                                    </p:set>
                                    <p:animEffect transition="in" filter="wipe(up)">
                                      <p:cBhvr>
                                        <p:cTn id="22" dur="500"/>
                                        <p:tgtEl>
                                          <p:spTgt spid="11212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1283" grpId="0" build="p" bldLvl="5"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546" name="Rectangle 2"/>
          <p:cNvSpPr>
            <a:spLocks noGrp="1" noChangeArrowheads="1"/>
          </p:cNvSpPr>
          <p:nvPr>
            <p:ph type="title"/>
          </p:nvPr>
        </p:nvSpPr>
        <p:spPr/>
        <p:txBody>
          <a:bodyPr/>
          <a:lstStyle/>
          <a:p>
            <a:r>
              <a:rPr lang="zh-CN" altLang="en-US" sz="3200" b="0" dirty="0"/>
              <a:t>高响应比优先调度算法</a:t>
            </a:r>
          </a:p>
        </p:txBody>
      </p:sp>
      <p:sp>
        <p:nvSpPr>
          <p:cNvPr id="1132547" name="Rectangle 3"/>
          <p:cNvSpPr>
            <a:spLocks noGrp="1" noChangeArrowheads="1"/>
          </p:cNvSpPr>
          <p:nvPr>
            <p:ph type="body" idx="1"/>
          </p:nvPr>
        </p:nvSpPr>
        <p:spPr>
          <a:xfrm>
            <a:off x="2057400" y="1379538"/>
            <a:ext cx="8193088" cy="4343400"/>
          </a:xfrm>
        </p:spPr>
        <p:txBody>
          <a:bodyPr/>
          <a:lstStyle/>
          <a:p>
            <a:pPr>
              <a:lnSpc>
                <a:spcPct val="90000"/>
              </a:lnSpc>
            </a:pPr>
            <a:r>
              <a:rPr lang="zh-CN" altLang="en-US" sz="2600" b="1" dirty="0">
                <a:ea typeface="楷体_GB2312" pitchFamily="49" charset="-122"/>
              </a:rPr>
              <a:t>高响应比优先调度算法（</a:t>
            </a:r>
            <a:r>
              <a:rPr lang="en-US" altLang="zh-CN" sz="2600" b="1" dirty="0">
                <a:ea typeface="楷体_GB2312" pitchFamily="49" charset="-122"/>
              </a:rPr>
              <a:t>HRF</a:t>
            </a:r>
            <a:r>
              <a:rPr lang="zh-CN" altLang="en-US" sz="2600" b="1" dirty="0">
                <a:ea typeface="楷体_GB2312" pitchFamily="49" charset="-122"/>
              </a:rPr>
              <a:t>）</a:t>
            </a:r>
          </a:p>
          <a:p>
            <a:pPr lvl="1">
              <a:lnSpc>
                <a:spcPct val="90000"/>
              </a:lnSpc>
            </a:pPr>
            <a:r>
              <a:rPr lang="zh-CN" altLang="en-US" sz="2800" b="1" dirty="0">
                <a:ea typeface="楷体_GB2312" pitchFamily="49" charset="-122"/>
              </a:rPr>
              <a:t>是</a:t>
            </a:r>
            <a:r>
              <a:rPr lang="en-US" altLang="zh-CN" sz="2800" b="1" dirty="0">
                <a:solidFill>
                  <a:srgbClr val="990000"/>
                </a:solidFill>
                <a:ea typeface="楷体_GB2312" pitchFamily="49" charset="-122"/>
              </a:rPr>
              <a:t>FCFS</a:t>
            </a:r>
            <a:r>
              <a:rPr lang="zh-CN" altLang="en-US" sz="2800" b="1" dirty="0">
                <a:ea typeface="楷体_GB2312" pitchFamily="49" charset="-122"/>
              </a:rPr>
              <a:t>和</a:t>
            </a:r>
            <a:r>
              <a:rPr lang="en-US" altLang="zh-CN" sz="2800" b="1" dirty="0">
                <a:solidFill>
                  <a:srgbClr val="990000"/>
                </a:solidFill>
                <a:ea typeface="楷体_GB2312" pitchFamily="49" charset="-122"/>
              </a:rPr>
              <a:t>SJF</a:t>
            </a:r>
            <a:r>
              <a:rPr lang="zh-CN" altLang="en-US" sz="2800" b="1" dirty="0">
                <a:ea typeface="楷体_GB2312" pitchFamily="49" charset="-122"/>
              </a:rPr>
              <a:t>的结合，克服了两种算法的缺点</a:t>
            </a:r>
          </a:p>
          <a:p>
            <a:pPr lvl="1">
              <a:lnSpc>
                <a:spcPct val="90000"/>
              </a:lnSpc>
            </a:pPr>
            <a:r>
              <a:rPr lang="zh-CN" altLang="en-US" sz="2800" b="1" dirty="0">
                <a:ea typeface="楷体_GB2312" pitchFamily="49" charset="-122"/>
              </a:rPr>
              <a:t>调度策略</a:t>
            </a:r>
            <a:r>
              <a:rPr lang="zh-CN" altLang="en-US" sz="2800" b="1" dirty="0">
                <a:solidFill>
                  <a:srgbClr val="990000"/>
                </a:solidFill>
                <a:ea typeface="楷体_GB2312" pitchFamily="49" charset="-122"/>
              </a:rPr>
              <a:t>：响应比</a:t>
            </a:r>
            <a:r>
              <a:rPr lang="zh-CN" altLang="en-US" sz="2800" b="1" dirty="0">
                <a:ea typeface="楷体_GB2312" pitchFamily="49" charset="-122"/>
              </a:rPr>
              <a:t>最高的作业优先启动</a:t>
            </a:r>
          </a:p>
          <a:p>
            <a:pPr>
              <a:lnSpc>
                <a:spcPct val="90000"/>
              </a:lnSpc>
              <a:buFont typeface="Wingdings" pitchFamily="2" charset="2"/>
              <a:buNone/>
            </a:pPr>
            <a:endParaRPr lang="zh-CN" altLang="en-US" sz="2400" b="1" dirty="0">
              <a:ea typeface="楷体_GB2312" pitchFamily="49" charset="-122"/>
            </a:endParaRPr>
          </a:p>
          <a:p>
            <a:pPr>
              <a:lnSpc>
                <a:spcPct val="90000"/>
              </a:lnSpc>
            </a:pPr>
            <a:endParaRPr lang="zh-CN" altLang="en-US" b="1" dirty="0">
              <a:ea typeface="楷体_GB2312" pitchFamily="49" charset="-122"/>
            </a:endParaRPr>
          </a:p>
          <a:p>
            <a:pPr lvl="1">
              <a:lnSpc>
                <a:spcPct val="90000"/>
              </a:lnSpc>
            </a:pPr>
            <a:r>
              <a:rPr lang="zh-CN" altLang="en-US" sz="2800" b="1" dirty="0">
                <a:ea typeface="楷体_GB2312" pitchFamily="49" charset="-122"/>
              </a:rPr>
              <a:t>因</a:t>
            </a:r>
            <a:r>
              <a:rPr lang="zh-CN" altLang="en-US" sz="2800" b="1" dirty="0">
                <a:solidFill>
                  <a:srgbClr val="990000"/>
                </a:solidFill>
                <a:ea typeface="楷体_GB2312" pitchFamily="49" charset="-122"/>
              </a:rPr>
              <a:t>等待时间</a:t>
            </a:r>
            <a:r>
              <a:rPr lang="en-US" altLang="zh-CN" sz="2800" b="1" dirty="0">
                <a:ea typeface="楷体_GB2312" pitchFamily="49" charset="-122"/>
              </a:rPr>
              <a:t>+</a:t>
            </a:r>
            <a:r>
              <a:rPr lang="zh-CN" altLang="en-US" sz="2800" b="1" dirty="0">
                <a:solidFill>
                  <a:srgbClr val="990000"/>
                </a:solidFill>
                <a:ea typeface="楷体_GB2312" pitchFamily="49" charset="-122"/>
              </a:rPr>
              <a:t>服务时间</a:t>
            </a:r>
            <a:r>
              <a:rPr lang="en-US" altLang="zh-CN" sz="2800" b="1" dirty="0">
                <a:ea typeface="楷体_GB2312" pitchFamily="49" charset="-122"/>
              </a:rPr>
              <a:t>=</a:t>
            </a:r>
            <a:r>
              <a:rPr lang="zh-CN" altLang="en-US" sz="2800" b="1" dirty="0">
                <a:ea typeface="楷体_GB2312" pitchFamily="49" charset="-122"/>
              </a:rPr>
              <a:t>该作业的</a:t>
            </a:r>
            <a:r>
              <a:rPr lang="zh-CN" altLang="en-US" sz="2800" b="1" dirty="0">
                <a:solidFill>
                  <a:srgbClr val="990000"/>
                </a:solidFill>
                <a:ea typeface="楷体_GB2312" pitchFamily="49" charset="-122"/>
              </a:rPr>
              <a:t>响应时间</a:t>
            </a:r>
            <a:r>
              <a:rPr lang="zh-CN" altLang="en-US" sz="2800" b="1" dirty="0">
                <a:ea typeface="楷体_GB2312" pitchFamily="49" charset="-122"/>
              </a:rPr>
              <a:t>，故该优先权又相当于</a:t>
            </a:r>
            <a:r>
              <a:rPr lang="zh-CN" altLang="en-US" sz="2800" b="1" dirty="0">
                <a:solidFill>
                  <a:srgbClr val="990000"/>
                </a:solidFill>
                <a:ea typeface="楷体_GB2312" pitchFamily="49" charset="-122"/>
              </a:rPr>
              <a:t>响应比</a:t>
            </a:r>
            <a:r>
              <a:rPr lang="en-US" altLang="zh-CN" sz="2800" b="1" i="1" dirty="0">
                <a:solidFill>
                  <a:srgbClr val="990000"/>
                </a:solidFill>
                <a:ea typeface="楷体_GB2312" pitchFamily="49" charset="-122"/>
              </a:rPr>
              <a:t>R</a:t>
            </a:r>
            <a:r>
              <a:rPr lang="en-US" altLang="zh-CN" sz="2800" b="1" baseline="-25000" dirty="0">
                <a:solidFill>
                  <a:srgbClr val="990000"/>
                </a:solidFill>
                <a:ea typeface="楷体_GB2312" pitchFamily="49" charset="-122"/>
              </a:rPr>
              <a:t>P</a:t>
            </a:r>
            <a:r>
              <a:rPr lang="zh-CN" altLang="en-US" sz="2800" b="1" dirty="0">
                <a:ea typeface="楷体_GB2312" pitchFamily="49" charset="-122"/>
              </a:rPr>
              <a:t>。据此，又可表示为</a:t>
            </a:r>
            <a:endParaRPr lang="zh-CN" altLang="en-US" sz="2400" b="1" dirty="0">
              <a:ea typeface="楷体_GB2312" pitchFamily="49" charset="-122"/>
            </a:endParaRPr>
          </a:p>
        </p:txBody>
      </p:sp>
      <p:graphicFrame>
        <p:nvGraphicFramePr>
          <p:cNvPr id="1132548" name="Object 4"/>
          <p:cNvGraphicFramePr>
            <a:graphicFrameLocks noChangeAspect="1"/>
          </p:cNvGraphicFramePr>
          <p:nvPr/>
        </p:nvGraphicFramePr>
        <p:xfrm>
          <a:off x="3581400" y="2895601"/>
          <a:ext cx="5056188" cy="906463"/>
        </p:xfrm>
        <a:graphic>
          <a:graphicData uri="http://schemas.openxmlformats.org/presentationml/2006/ole">
            <mc:AlternateContent xmlns:mc="http://schemas.openxmlformats.org/markup-compatibility/2006">
              <mc:Choice xmlns:v="urn:schemas-microsoft-com:vml" Requires="v">
                <p:oleObj name="Equation" r:id="rId2" imgW="2336760" imgH="419040" progId="">
                  <p:embed/>
                </p:oleObj>
              </mc:Choice>
              <mc:Fallback>
                <p:oleObj name="Equation" r:id="rId2" imgW="2336760" imgH="419040"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895601"/>
                        <a:ext cx="5056188" cy="906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2549" name="Object 5"/>
          <p:cNvGraphicFramePr>
            <a:graphicFrameLocks noChangeAspect="1"/>
          </p:cNvGraphicFramePr>
          <p:nvPr/>
        </p:nvGraphicFramePr>
        <p:xfrm>
          <a:off x="2743200" y="5181601"/>
          <a:ext cx="7366000" cy="906463"/>
        </p:xfrm>
        <a:graphic>
          <a:graphicData uri="http://schemas.openxmlformats.org/presentationml/2006/ole">
            <mc:AlternateContent xmlns:mc="http://schemas.openxmlformats.org/markup-compatibility/2006">
              <mc:Choice xmlns:v="urn:schemas-microsoft-com:vml" Requires="v">
                <p:oleObj name="Equation" r:id="rId4" imgW="3403440" imgH="419040" progId="">
                  <p:embed/>
                </p:oleObj>
              </mc:Choice>
              <mc:Fallback>
                <p:oleObj name="Equation" r:id="rId4" imgW="3403440" imgH="419040" progId="">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5181601"/>
                        <a:ext cx="7366000" cy="906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2550" name="Rectangle 6"/>
          <p:cNvSpPr>
            <a:spLocks noChangeArrowheads="1"/>
          </p:cNvSpPr>
          <p:nvPr/>
        </p:nvSpPr>
        <p:spPr bwMode="auto">
          <a:xfrm>
            <a:off x="4495800" y="660112"/>
            <a:ext cx="550151" cy="584775"/>
          </a:xfrm>
          <a:prstGeom prst="rect">
            <a:avLst/>
          </a:prstGeom>
          <a:noFill/>
          <a:ln w="9525">
            <a:noFill/>
            <a:miter lim="800000"/>
            <a:headEnd/>
            <a:tailEnd/>
          </a:ln>
          <a:effectLst/>
        </p:spPr>
        <p:txBody>
          <a:bodyPr wrap="none">
            <a:spAutoFit/>
          </a:bodyPr>
          <a:lstStyle/>
          <a:p>
            <a:r>
              <a:rPr kumimoji="1" lang="zh-CN" altLang="en-US" sz="3200" b="1" dirty="0">
                <a:solidFill>
                  <a:srgbClr val="FF0066"/>
                </a:solidFill>
                <a:latin typeface="Times New Roman" pitchFamily="18" charset="0"/>
                <a:sym typeface="Wingdings" panose="05000000000000000000" pitchFamily="2" charset="2"/>
              </a:rPr>
              <a:t></a:t>
            </a:r>
            <a:endParaRPr kumimoji="1" lang="zh-CN" altLang="en-US" sz="3200" b="1" dirty="0">
              <a:solidFill>
                <a:srgbClr val="FF0066"/>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32550"/>
                                        </p:tgtEl>
                                        <p:attrNameLst>
                                          <p:attrName>style.visibility</p:attrName>
                                        </p:attrNameLst>
                                      </p:cBhvr>
                                      <p:to>
                                        <p:strVal val="visible"/>
                                      </p:to>
                                    </p:set>
                                    <p:anim calcmode="lin" valueType="num">
                                      <p:cBhvr>
                                        <p:cTn id="7" dur="1000" fill="hold"/>
                                        <p:tgtEl>
                                          <p:spTgt spid="1132550"/>
                                        </p:tgtEl>
                                        <p:attrNameLst>
                                          <p:attrName>ppt_w</p:attrName>
                                        </p:attrNameLst>
                                      </p:cBhvr>
                                      <p:tavLst>
                                        <p:tav tm="0">
                                          <p:val>
                                            <p:fltVal val="0"/>
                                          </p:val>
                                        </p:tav>
                                        <p:tav tm="100000">
                                          <p:val>
                                            <p:strVal val="#ppt_w"/>
                                          </p:val>
                                        </p:tav>
                                      </p:tavLst>
                                    </p:anim>
                                    <p:anim calcmode="lin" valueType="num">
                                      <p:cBhvr>
                                        <p:cTn id="8" dur="1000" fill="hold"/>
                                        <p:tgtEl>
                                          <p:spTgt spid="1132550"/>
                                        </p:tgtEl>
                                        <p:attrNameLst>
                                          <p:attrName>ppt_h</p:attrName>
                                        </p:attrNameLst>
                                      </p:cBhvr>
                                      <p:tavLst>
                                        <p:tav tm="0">
                                          <p:val>
                                            <p:fltVal val="0"/>
                                          </p:val>
                                        </p:tav>
                                        <p:tav tm="100000">
                                          <p:val>
                                            <p:strVal val="#ppt_h"/>
                                          </p:val>
                                        </p:tav>
                                      </p:tavLst>
                                    </p:anim>
                                    <p:anim calcmode="lin" valueType="num">
                                      <p:cBhvr>
                                        <p:cTn id="9" dur="1000" fill="hold"/>
                                        <p:tgtEl>
                                          <p:spTgt spid="113255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325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32547">
                                            <p:txEl>
                                              <p:pRg st="1" end="1"/>
                                            </p:txEl>
                                          </p:spTgt>
                                        </p:tgtEl>
                                        <p:attrNameLst>
                                          <p:attrName>style.visibility</p:attrName>
                                        </p:attrNameLst>
                                      </p:cBhvr>
                                      <p:to>
                                        <p:strVal val="visible"/>
                                      </p:to>
                                    </p:set>
                                    <p:animEffect transition="in" filter="blinds(horizontal)">
                                      <p:cBhvr>
                                        <p:cTn id="15" dur="500"/>
                                        <p:tgtEl>
                                          <p:spTgt spid="113254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32547">
                                            <p:txEl>
                                              <p:pRg st="2" end="2"/>
                                            </p:txEl>
                                          </p:spTgt>
                                        </p:tgtEl>
                                        <p:attrNameLst>
                                          <p:attrName>style.visibility</p:attrName>
                                        </p:attrNameLst>
                                      </p:cBhvr>
                                      <p:to>
                                        <p:strVal val="visible"/>
                                      </p:to>
                                    </p:set>
                                    <p:animEffect transition="in" filter="blinds(horizontal)">
                                      <p:cBhvr>
                                        <p:cTn id="20" dur="500"/>
                                        <p:tgtEl>
                                          <p:spTgt spid="113254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32548"/>
                                        </p:tgtEl>
                                        <p:attrNameLst>
                                          <p:attrName>style.visibility</p:attrName>
                                        </p:attrNameLst>
                                      </p:cBhvr>
                                      <p:to>
                                        <p:strVal val="visible"/>
                                      </p:to>
                                    </p:set>
                                    <p:animEffect transition="in" filter="blinds(horizontal)">
                                      <p:cBhvr>
                                        <p:cTn id="25" dur="500"/>
                                        <p:tgtEl>
                                          <p:spTgt spid="113254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132547">
                                            <p:txEl>
                                              <p:pRg st="5" end="5"/>
                                            </p:txEl>
                                          </p:spTgt>
                                        </p:tgtEl>
                                        <p:attrNameLst>
                                          <p:attrName>style.visibility</p:attrName>
                                        </p:attrNameLst>
                                      </p:cBhvr>
                                      <p:to>
                                        <p:strVal val="visible"/>
                                      </p:to>
                                    </p:set>
                                    <p:animEffect transition="in" filter="blinds(horizontal)">
                                      <p:cBhvr>
                                        <p:cTn id="30" dur="500"/>
                                        <p:tgtEl>
                                          <p:spTgt spid="1132547">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132549"/>
                                        </p:tgtEl>
                                        <p:attrNameLst>
                                          <p:attrName>style.visibility</p:attrName>
                                        </p:attrNameLst>
                                      </p:cBhvr>
                                      <p:to>
                                        <p:strVal val="visible"/>
                                      </p:to>
                                    </p:set>
                                    <p:animEffect transition="in" filter="blinds(horizontal)">
                                      <p:cBhvr>
                                        <p:cTn id="35" dur="500"/>
                                        <p:tgtEl>
                                          <p:spTgt spid="1132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50"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3570" name="Rectangle 2"/>
          <p:cNvSpPr>
            <a:spLocks noGrp="1" noChangeArrowheads="1"/>
          </p:cNvSpPr>
          <p:nvPr>
            <p:ph type="title"/>
          </p:nvPr>
        </p:nvSpPr>
        <p:spPr/>
        <p:txBody>
          <a:bodyPr/>
          <a:lstStyle/>
          <a:p>
            <a:r>
              <a:rPr lang="zh-CN" altLang="en-US" sz="3200" b="0"/>
              <a:t>高响应比优先调度算法</a:t>
            </a:r>
          </a:p>
        </p:txBody>
      </p:sp>
      <p:sp>
        <p:nvSpPr>
          <p:cNvPr id="1133571" name="Rectangle 3"/>
          <p:cNvSpPr>
            <a:spLocks noGrp="1" noChangeArrowheads="1"/>
          </p:cNvSpPr>
          <p:nvPr>
            <p:ph type="body" sz="half" idx="1"/>
          </p:nvPr>
        </p:nvSpPr>
        <p:spPr>
          <a:xfrm>
            <a:off x="1828800" y="1295400"/>
            <a:ext cx="8320088" cy="5029200"/>
          </a:xfrm>
        </p:spPr>
        <p:txBody>
          <a:bodyPr/>
          <a:lstStyle/>
          <a:p>
            <a:pPr marL="533400" indent="-533400"/>
            <a:r>
              <a:rPr lang="zh-CN" altLang="en-US" sz="2400" b="1" dirty="0">
                <a:ea typeface="楷体_GB2312" pitchFamily="49" charset="-122"/>
              </a:rPr>
              <a:t>对</a:t>
            </a:r>
            <a:r>
              <a:rPr lang="en-US" altLang="zh-CN" sz="2400" b="1" dirty="0">
                <a:ea typeface="楷体_GB2312" pitchFamily="49" charset="-122"/>
              </a:rPr>
              <a:t>HRF</a:t>
            </a:r>
            <a:r>
              <a:rPr lang="zh-CN" altLang="en-US" sz="2400" b="1" dirty="0">
                <a:ea typeface="楷体_GB2312" pitchFamily="49" charset="-122"/>
              </a:rPr>
              <a:t>的小结</a:t>
            </a:r>
          </a:p>
          <a:p>
            <a:pPr marL="914400" lvl="1" indent="-457200"/>
            <a:r>
              <a:rPr lang="zh-CN" altLang="en-US" sz="2800" b="1" dirty="0">
                <a:solidFill>
                  <a:srgbClr val="990000"/>
                </a:solidFill>
                <a:ea typeface="楷体_GB2312" pitchFamily="49" charset="-122"/>
              </a:rPr>
              <a:t>等待时间相同</a:t>
            </a:r>
            <a:r>
              <a:rPr lang="zh-CN" altLang="en-US" sz="2800" b="1" dirty="0">
                <a:ea typeface="楷体_GB2312" pitchFamily="49" charset="-122"/>
              </a:rPr>
              <a:t>的作业，则</a:t>
            </a:r>
            <a:r>
              <a:rPr lang="zh-CN" altLang="en-US" sz="2800" b="1" dirty="0">
                <a:solidFill>
                  <a:srgbClr val="990000"/>
                </a:solidFill>
                <a:ea typeface="楷体_GB2312" pitchFamily="49" charset="-122"/>
              </a:rPr>
              <a:t>要求服务的时间愈短</a:t>
            </a:r>
            <a:r>
              <a:rPr lang="zh-CN" altLang="en-US" sz="2800" b="1" dirty="0">
                <a:ea typeface="楷体_GB2312" pitchFamily="49" charset="-122"/>
              </a:rPr>
              <a:t>，其</a:t>
            </a:r>
            <a:r>
              <a:rPr lang="zh-CN" altLang="en-US" sz="2800" b="1" dirty="0">
                <a:solidFill>
                  <a:srgbClr val="990000"/>
                </a:solidFill>
                <a:ea typeface="楷体_GB2312" pitchFamily="49" charset="-122"/>
              </a:rPr>
              <a:t>优先权愈高</a:t>
            </a:r>
            <a:r>
              <a:rPr lang="zh-CN" altLang="en-US" sz="2800" b="1" dirty="0">
                <a:ea typeface="楷体_GB2312" pitchFamily="49" charset="-122"/>
              </a:rPr>
              <a:t>，</a:t>
            </a:r>
          </a:p>
          <a:p>
            <a:pPr marL="914400" lvl="1" indent="-457200"/>
            <a:r>
              <a:rPr lang="zh-CN" altLang="en-US" sz="2800" b="1" dirty="0">
                <a:solidFill>
                  <a:srgbClr val="990000"/>
                </a:solidFill>
                <a:ea typeface="楷体_GB2312" pitchFamily="49" charset="-122"/>
              </a:rPr>
              <a:t>要求服务的时间相同</a:t>
            </a:r>
            <a:r>
              <a:rPr lang="zh-CN" altLang="en-US" sz="2800" b="1" dirty="0">
                <a:ea typeface="楷体_GB2312" pitchFamily="49" charset="-122"/>
              </a:rPr>
              <a:t>的作业，则</a:t>
            </a:r>
            <a:r>
              <a:rPr lang="zh-CN" altLang="en-US" sz="2800" b="1" dirty="0">
                <a:solidFill>
                  <a:srgbClr val="990000"/>
                </a:solidFill>
                <a:ea typeface="楷体_GB2312" pitchFamily="49" charset="-122"/>
              </a:rPr>
              <a:t>等待时间愈长</a:t>
            </a:r>
            <a:r>
              <a:rPr lang="zh-CN" altLang="en-US" sz="2800" b="1" dirty="0">
                <a:ea typeface="楷体_GB2312" pitchFamily="49" charset="-122"/>
              </a:rPr>
              <a:t>，其</a:t>
            </a:r>
            <a:r>
              <a:rPr lang="zh-CN" altLang="en-US" sz="2800" b="1" dirty="0">
                <a:solidFill>
                  <a:srgbClr val="990000"/>
                </a:solidFill>
                <a:ea typeface="楷体_GB2312" pitchFamily="49" charset="-122"/>
              </a:rPr>
              <a:t>优先权愈高</a:t>
            </a:r>
            <a:r>
              <a:rPr lang="zh-CN" altLang="en-US" sz="2800" b="1" dirty="0">
                <a:ea typeface="楷体_GB2312" pitchFamily="49" charset="-122"/>
              </a:rPr>
              <a:t>，</a:t>
            </a:r>
          </a:p>
          <a:p>
            <a:pPr marL="914400" lvl="1" indent="-457200"/>
            <a:r>
              <a:rPr lang="zh-CN" altLang="en-US" sz="2800" b="1" dirty="0">
                <a:ea typeface="楷体_GB2312" pitchFamily="49" charset="-122"/>
              </a:rPr>
              <a:t>长作业，优先权</a:t>
            </a:r>
            <a:r>
              <a:rPr lang="zh-CN" altLang="en-US" sz="2800" b="1" dirty="0">
                <a:solidFill>
                  <a:srgbClr val="990000"/>
                </a:solidFill>
                <a:ea typeface="楷体_GB2312" pitchFamily="49" charset="-122"/>
              </a:rPr>
              <a:t>随等待时间的增加</a:t>
            </a:r>
            <a:r>
              <a:rPr lang="zh-CN" altLang="en-US" sz="2800" b="1" dirty="0">
                <a:ea typeface="楷体_GB2312" pitchFamily="49" charset="-122"/>
              </a:rPr>
              <a:t>而提高，其等待时间足够长时，其优先权便可升到很高， 从而也可获得处理机</a:t>
            </a:r>
          </a:p>
          <a:p>
            <a:pPr marL="914400" lvl="1" indent="-457200"/>
            <a:r>
              <a:rPr lang="zh-CN" altLang="en-US" sz="2800" b="1" dirty="0">
                <a:ea typeface="楷体_GB2312" pitchFamily="49" charset="-122"/>
              </a:rPr>
              <a:t>是一种折衷，既照顾了短作业，又考虑了作业到达的先后次序，又不会使长作业长期得不到服务。</a:t>
            </a:r>
          </a:p>
        </p:txBody>
      </p:sp>
      <p:sp>
        <p:nvSpPr>
          <p:cNvPr id="1133572" name="Text Box 4"/>
          <p:cNvSpPr txBox="1">
            <a:spLocks noChangeArrowheads="1"/>
          </p:cNvSpPr>
          <p:nvPr/>
        </p:nvSpPr>
        <p:spPr bwMode="auto">
          <a:xfrm>
            <a:off x="2438400" y="6105525"/>
            <a:ext cx="7467600" cy="485775"/>
          </a:xfrm>
          <a:prstGeom prst="rect">
            <a:avLst/>
          </a:prstGeom>
          <a:solidFill>
            <a:srgbClr val="FFCC00"/>
          </a:solidFill>
          <a:ln w="9525">
            <a:solidFill>
              <a:schemeClr val="tx1"/>
            </a:solidFill>
            <a:miter lim="800000"/>
            <a:headEnd/>
            <a:tailEnd/>
          </a:ln>
          <a:effectLst>
            <a:outerShdw dist="107763" dir="2700000" algn="ctr" rotWithShape="0">
              <a:schemeClr val="bg2"/>
            </a:outerShdw>
          </a:effectLst>
        </p:spPr>
        <p:txBody>
          <a:bodyPr>
            <a:spAutoFit/>
          </a:bodyPr>
          <a:lstStyle/>
          <a:p>
            <a:pPr marL="190500" lvl="1">
              <a:lnSpc>
                <a:spcPct val="90000"/>
              </a:lnSpc>
              <a:spcBef>
                <a:spcPct val="20000"/>
              </a:spcBef>
              <a:buClr>
                <a:srgbClr val="DB4325"/>
              </a:buClr>
              <a:buSzPct val="80000"/>
            </a:pPr>
            <a:r>
              <a:rPr kumimoji="1" lang="zh-CN" altLang="en-US" sz="2800" b="1" dirty="0">
                <a:latin typeface="Times New Roman" pitchFamily="18" charset="0"/>
                <a:ea typeface="楷体_GB2312" pitchFamily="49" charset="-122"/>
              </a:rPr>
              <a:t>缺点：要进行响应比计算，增加了系统开销</a:t>
            </a:r>
            <a:endParaRPr kumimoji="1" lang="zh-CN" altLang="en-US" sz="2400" dirty="0">
              <a:latin typeface="Tahoma" pitchFamily="34" charset="0"/>
            </a:endParaRPr>
          </a:p>
        </p:txBody>
      </p:sp>
      <p:graphicFrame>
        <p:nvGraphicFramePr>
          <p:cNvPr id="1133573" name="Object 5"/>
          <p:cNvGraphicFramePr>
            <a:graphicFrameLocks noGrp="1" noChangeAspect="1"/>
          </p:cNvGraphicFramePr>
          <p:nvPr>
            <p:ph sz="half" idx="2"/>
          </p:nvPr>
        </p:nvGraphicFramePr>
        <p:xfrm>
          <a:off x="2063750" y="188913"/>
          <a:ext cx="8135938" cy="1001712"/>
        </p:xfrm>
        <a:graphic>
          <a:graphicData uri="http://schemas.openxmlformats.org/presentationml/2006/ole">
            <mc:AlternateContent xmlns:mc="http://schemas.openxmlformats.org/markup-compatibility/2006">
              <mc:Choice xmlns:v="urn:schemas-microsoft-com:vml" Requires="v">
                <p:oleObj name="Equation" r:id="rId2" imgW="3403440" imgH="419040" progId="">
                  <p:embed/>
                </p:oleObj>
              </mc:Choice>
              <mc:Fallback>
                <p:oleObj name="Equation" r:id="rId2" imgW="3403440" imgH="419040" progId="">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188913"/>
                        <a:ext cx="8135938" cy="1001712"/>
                      </a:xfrm>
                      <a:prstGeom prst="rect">
                        <a:avLst/>
                      </a:prstGeom>
                      <a:solidFill>
                        <a:schemeClr val="accent1"/>
                      </a:solidFill>
                    </p:spPr>
                  </p:pic>
                </p:oleObj>
              </mc:Fallback>
            </mc:AlternateContent>
          </a:graphicData>
        </a:graphic>
      </p:graphicFrame>
      <p:sp>
        <p:nvSpPr>
          <p:cNvPr id="1133574" name="Rectangle 6"/>
          <p:cNvSpPr>
            <a:spLocks noChangeArrowheads="1"/>
          </p:cNvSpPr>
          <p:nvPr/>
        </p:nvSpPr>
        <p:spPr bwMode="auto">
          <a:xfrm>
            <a:off x="6337300" y="2288888"/>
            <a:ext cx="2641600" cy="466725"/>
          </a:xfrm>
          <a:prstGeom prst="rect">
            <a:avLst/>
          </a:prstGeom>
          <a:noFill/>
          <a:ln w="9525">
            <a:solidFill>
              <a:schemeClr val="tx1"/>
            </a:solidFill>
            <a:miter lim="800000"/>
            <a:headEnd/>
            <a:tailEnd/>
          </a:ln>
          <a:effectLst/>
        </p:spPr>
        <p:txBody>
          <a:bodyPr wrap="none">
            <a:spAutoFit/>
          </a:bodyPr>
          <a:lstStyle/>
          <a:p>
            <a:r>
              <a:rPr kumimoji="1" lang="en-US" altLang="zh-CN" sz="2400" b="1">
                <a:latin typeface="Times New Roman"/>
              </a:rPr>
              <a:t>——</a:t>
            </a:r>
            <a:r>
              <a:rPr kumimoji="1" lang="zh-CN" altLang="en-US" sz="2400" b="1">
                <a:latin typeface="Tahoma" pitchFamily="34" charset="0"/>
              </a:rPr>
              <a:t>对短作业有利</a:t>
            </a:r>
          </a:p>
        </p:txBody>
      </p:sp>
      <p:sp>
        <p:nvSpPr>
          <p:cNvPr id="1133575" name="Rectangle 7"/>
          <p:cNvSpPr>
            <a:spLocks noChangeArrowheads="1"/>
          </p:cNvSpPr>
          <p:nvPr/>
        </p:nvSpPr>
        <p:spPr bwMode="auto">
          <a:xfrm>
            <a:off x="6343650" y="3343275"/>
            <a:ext cx="2641600" cy="466725"/>
          </a:xfrm>
          <a:prstGeom prst="rect">
            <a:avLst/>
          </a:prstGeom>
          <a:noFill/>
          <a:ln w="9525">
            <a:solidFill>
              <a:schemeClr val="tx1"/>
            </a:solidFill>
            <a:miter lim="800000"/>
            <a:headEnd/>
            <a:tailEnd/>
          </a:ln>
          <a:effectLst/>
        </p:spPr>
        <p:txBody>
          <a:bodyPr wrap="none">
            <a:spAutoFit/>
          </a:bodyPr>
          <a:lstStyle/>
          <a:p>
            <a:r>
              <a:rPr kumimoji="1" lang="en-US" altLang="zh-CN" sz="2400" b="1" dirty="0">
                <a:latin typeface="Times New Roman"/>
              </a:rPr>
              <a:t>——</a:t>
            </a:r>
            <a:r>
              <a:rPr kumimoji="1" lang="zh-CN" altLang="en-US" sz="2400" b="1" dirty="0">
                <a:latin typeface="Tahoma" pitchFamily="34" charset="0"/>
              </a:rPr>
              <a:t>是先来先服务</a:t>
            </a:r>
          </a:p>
        </p:txBody>
      </p:sp>
      <p:sp>
        <p:nvSpPr>
          <p:cNvPr id="1133576" name="Rectangle 8"/>
          <p:cNvSpPr>
            <a:spLocks noChangeArrowheads="1"/>
          </p:cNvSpPr>
          <p:nvPr/>
        </p:nvSpPr>
        <p:spPr bwMode="auto">
          <a:xfrm>
            <a:off x="6343650" y="4724400"/>
            <a:ext cx="2641600" cy="466725"/>
          </a:xfrm>
          <a:prstGeom prst="rect">
            <a:avLst/>
          </a:prstGeom>
          <a:noFill/>
          <a:ln w="9525">
            <a:solidFill>
              <a:schemeClr val="tx1"/>
            </a:solidFill>
            <a:miter lim="800000"/>
            <a:headEnd/>
            <a:tailEnd/>
          </a:ln>
          <a:effectLst/>
        </p:spPr>
        <p:txBody>
          <a:bodyPr wrap="none">
            <a:spAutoFit/>
          </a:bodyPr>
          <a:lstStyle/>
          <a:p>
            <a:r>
              <a:rPr kumimoji="1" lang="en-US" altLang="zh-CN" sz="2400" b="1" dirty="0">
                <a:latin typeface="Times New Roman"/>
              </a:rPr>
              <a:t>——</a:t>
            </a:r>
            <a:r>
              <a:rPr kumimoji="1" lang="zh-CN" altLang="en-US" sz="2400" b="1" dirty="0">
                <a:latin typeface="Tahoma" pitchFamily="34" charset="0"/>
              </a:rPr>
              <a:t>对长作业有利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33571">
                                            <p:txEl>
                                              <p:pRg st="0" end="0"/>
                                            </p:txEl>
                                          </p:spTgt>
                                        </p:tgtEl>
                                        <p:attrNameLst>
                                          <p:attrName>style.visibility</p:attrName>
                                        </p:attrNameLst>
                                      </p:cBhvr>
                                      <p:to>
                                        <p:strVal val="visible"/>
                                      </p:to>
                                    </p:set>
                                    <p:animEffect transition="in" filter="wipe(up)">
                                      <p:cBhvr>
                                        <p:cTn id="7" dur="500"/>
                                        <p:tgtEl>
                                          <p:spTgt spid="1133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33573"/>
                                        </p:tgtEl>
                                        <p:attrNameLst>
                                          <p:attrName>style.visibility</p:attrName>
                                        </p:attrNameLst>
                                      </p:cBhvr>
                                      <p:to>
                                        <p:strVal val="visible"/>
                                      </p:to>
                                    </p:set>
                                    <p:animEffect transition="in" filter="blinds(horizontal)">
                                      <p:cBhvr>
                                        <p:cTn id="12" dur="500"/>
                                        <p:tgtEl>
                                          <p:spTgt spid="11335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33571">
                                            <p:txEl>
                                              <p:pRg st="1" end="1"/>
                                            </p:txEl>
                                          </p:spTgt>
                                        </p:tgtEl>
                                        <p:attrNameLst>
                                          <p:attrName>style.visibility</p:attrName>
                                        </p:attrNameLst>
                                      </p:cBhvr>
                                      <p:to>
                                        <p:strVal val="visible"/>
                                      </p:to>
                                    </p:set>
                                    <p:animEffect transition="in" filter="wipe(up)">
                                      <p:cBhvr>
                                        <p:cTn id="17" dur="500"/>
                                        <p:tgtEl>
                                          <p:spTgt spid="11335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1133574"/>
                                        </p:tgtEl>
                                        <p:attrNameLst>
                                          <p:attrName>style.visibility</p:attrName>
                                        </p:attrNameLst>
                                      </p:cBhvr>
                                      <p:to>
                                        <p:strVal val="visible"/>
                                      </p:to>
                                    </p:set>
                                    <p:anim calcmode="lin" valueType="num">
                                      <p:cBhvr additive="base">
                                        <p:cTn id="22" dur="500" fill="hold"/>
                                        <p:tgtEl>
                                          <p:spTgt spid="1133574"/>
                                        </p:tgtEl>
                                        <p:attrNameLst>
                                          <p:attrName>ppt_x</p:attrName>
                                        </p:attrNameLst>
                                      </p:cBhvr>
                                      <p:tavLst>
                                        <p:tav tm="0">
                                          <p:val>
                                            <p:strVal val="1+#ppt_w/2"/>
                                          </p:val>
                                        </p:tav>
                                        <p:tav tm="100000">
                                          <p:val>
                                            <p:strVal val="#ppt_x"/>
                                          </p:val>
                                        </p:tav>
                                      </p:tavLst>
                                    </p:anim>
                                    <p:anim calcmode="lin" valueType="num">
                                      <p:cBhvr additive="base">
                                        <p:cTn id="23" dur="500" fill="hold"/>
                                        <p:tgtEl>
                                          <p:spTgt spid="113357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133571">
                                            <p:txEl>
                                              <p:pRg st="2" end="2"/>
                                            </p:txEl>
                                          </p:spTgt>
                                        </p:tgtEl>
                                        <p:attrNameLst>
                                          <p:attrName>style.visibility</p:attrName>
                                        </p:attrNameLst>
                                      </p:cBhvr>
                                      <p:to>
                                        <p:strVal val="visible"/>
                                      </p:to>
                                    </p:set>
                                    <p:animEffect transition="in" filter="wipe(up)">
                                      <p:cBhvr>
                                        <p:cTn id="28" dur="500"/>
                                        <p:tgtEl>
                                          <p:spTgt spid="113357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133575"/>
                                        </p:tgtEl>
                                        <p:attrNameLst>
                                          <p:attrName>style.visibility</p:attrName>
                                        </p:attrNameLst>
                                      </p:cBhvr>
                                      <p:to>
                                        <p:strVal val="visible"/>
                                      </p:to>
                                    </p:set>
                                    <p:anim calcmode="lin" valueType="num">
                                      <p:cBhvr additive="base">
                                        <p:cTn id="33" dur="500" fill="hold"/>
                                        <p:tgtEl>
                                          <p:spTgt spid="1133575"/>
                                        </p:tgtEl>
                                        <p:attrNameLst>
                                          <p:attrName>ppt_x</p:attrName>
                                        </p:attrNameLst>
                                      </p:cBhvr>
                                      <p:tavLst>
                                        <p:tav tm="0">
                                          <p:val>
                                            <p:strVal val="1+#ppt_w/2"/>
                                          </p:val>
                                        </p:tav>
                                        <p:tav tm="100000">
                                          <p:val>
                                            <p:strVal val="#ppt_x"/>
                                          </p:val>
                                        </p:tav>
                                      </p:tavLst>
                                    </p:anim>
                                    <p:anim calcmode="lin" valueType="num">
                                      <p:cBhvr additive="base">
                                        <p:cTn id="34" dur="500" fill="hold"/>
                                        <p:tgtEl>
                                          <p:spTgt spid="113357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133571">
                                            <p:txEl>
                                              <p:pRg st="3" end="3"/>
                                            </p:txEl>
                                          </p:spTgt>
                                        </p:tgtEl>
                                        <p:attrNameLst>
                                          <p:attrName>style.visibility</p:attrName>
                                        </p:attrNameLst>
                                      </p:cBhvr>
                                      <p:to>
                                        <p:strVal val="visible"/>
                                      </p:to>
                                    </p:set>
                                    <p:animEffect transition="in" filter="wipe(up)">
                                      <p:cBhvr>
                                        <p:cTn id="39" dur="500"/>
                                        <p:tgtEl>
                                          <p:spTgt spid="1133571">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133576"/>
                                        </p:tgtEl>
                                        <p:attrNameLst>
                                          <p:attrName>style.visibility</p:attrName>
                                        </p:attrNameLst>
                                      </p:cBhvr>
                                      <p:to>
                                        <p:strVal val="visible"/>
                                      </p:to>
                                    </p:set>
                                    <p:anim calcmode="lin" valueType="num">
                                      <p:cBhvr additive="base">
                                        <p:cTn id="44" dur="500" fill="hold"/>
                                        <p:tgtEl>
                                          <p:spTgt spid="1133576"/>
                                        </p:tgtEl>
                                        <p:attrNameLst>
                                          <p:attrName>ppt_x</p:attrName>
                                        </p:attrNameLst>
                                      </p:cBhvr>
                                      <p:tavLst>
                                        <p:tav tm="0">
                                          <p:val>
                                            <p:strVal val="1+#ppt_w/2"/>
                                          </p:val>
                                        </p:tav>
                                        <p:tav tm="100000">
                                          <p:val>
                                            <p:strVal val="#ppt_x"/>
                                          </p:val>
                                        </p:tav>
                                      </p:tavLst>
                                    </p:anim>
                                    <p:anim calcmode="lin" valueType="num">
                                      <p:cBhvr additive="base">
                                        <p:cTn id="45" dur="500" fill="hold"/>
                                        <p:tgtEl>
                                          <p:spTgt spid="1133576"/>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133571">
                                            <p:txEl>
                                              <p:pRg st="4" end="4"/>
                                            </p:txEl>
                                          </p:spTgt>
                                        </p:tgtEl>
                                        <p:attrNameLst>
                                          <p:attrName>style.visibility</p:attrName>
                                        </p:attrNameLst>
                                      </p:cBhvr>
                                      <p:to>
                                        <p:strVal val="visible"/>
                                      </p:to>
                                    </p:set>
                                    <p:animEffect transition="in" filter="wipe(up)">
                                      <p:cBhvr>
                                        <p:cTn id="50" dur="500"/>
                                        <p:tgtEl>
                                          <p:spTgt spid="1133571">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5" fill="hold" grpId="0" nodeType="clickEffect">
                                  <p:stCondLst>
                                    <p:cond delay="0"/>
                                  </p:stCondLst>
                                  <p:childTnLst>
                                    <p:set>
                                      <p:cBhvr>
                                        <p:cTn id="54" dur="1" fill="hold">
                                          <p:stCondLst>
                                            <p:cond delay="0"/>
                                          </p:stCondLst>
                                        </p:cTn>
                                        <p:tgtEl>
                                          <p:spTgt spid="1133572"/>
                                        </p:tgtEl>
                                        <p:attrNameLst>
                                          <p:attrName>style.visibility</p:attrName>
                                        </p:attrNameLst>
                                      </p:cBhvr>
                                      <p:to>
                                        <p:strVal val="visible"/>
                                      </p:to>
                                    </p:set>
                                    <p:animEffect transition="in" filter="blinds(vertical)">
                                      <p:cBhvr>
                                        <p:cTn id="55" dur="500"/>
                                        <p:tgtEl>
                                          <p:spTgt spid="1133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3571" grpId="0" build="p" bldLvl="5" autoUpdateAnimBg="0"/>
      <p:bldP spid="1133572" grpId="0" animBg="1" autoUpdateAnimBg="0"/>
      <p:bldP spid="1133574" grpId="0" animBg="1"/>
      <p:bldP spid="1133575" grpId="0" animBg="1"/>
      <p:bldP spid="113357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3330" name="Rectangle 2"/>
          <p:cNvSpPr>
            <a:spLocks noGrp="1" noChangeArrowheads="1"/>
          </p:cNvSpPr>
          <p:nvPr>
            <p:ph type="title"/>
          </p:nvPr>
        </p:nvSpPr>
        <p:spPr>
          <a:xfrm>
            <a:off x="609600" y="653259"/>
            <a:ext cx="8610600" cy="525462"/>
          </a:xfrm>
        </p:spPr>
        <p:txBody>
          <a:bodyPr/>
          <a:lstStyle/>
          <a:p>
            <a:r>
              <a:rPr lang="zh-CN" altLang="en-US" b="0" dirty="0"/>
              <a:t>高优先权优先</a:t>
            </a:r>
            <a:r>
              <a:rPr lang="zh-CN" altLang="en-US" b="0" dirty="0">
                <a:solidFill>
                  <a:srgbClr val="990000"/>
                </a:solidFill>
              </a:rPr>
              <a:t>（</a:t>
            </a:r>
            <a:r>
              <a:rPr lang="en-US" altLang="zh-CN" b="0" dirty="0">
                <a:solidFill>
                  <a:srgbClr val="990000"/>
                </a:solidFill>
              </a:rPr>
              <a:t>HPF</a:t>
            </a:r>
            <a:r>
              <a:rPr lang="zh-CN" altLang="en-US" b="0" dirty="0">
                <a:solidFill>
                  <a:srgbClr val="990000"/>
                </a:solidFill>
              </a:rPr>
              <a:t>，</a:t>
            </a:r>
            <a:r>
              <a:rPr lang="en-US" altLang="zh-CN" b="0" dirty="0">
                <a:solidFill>
                  <a:srgbClr val="990000"/>
                </a:solidFill>
              </a:rPr>
              <a:t>Highest Priority First</a:t>
            </a:r>
            <a:r>
              <a:rPr lang="zh-CN" altLang="en-US" b="0" dirty="0">
                <a:solidFill>
                  <a:srgbClr val="990000"/>
                </a:solidFill>
              </a:rPr>
              <a:t>）</a:t>
            </a:r>
            <a:r>
              <a:rPr lang="zh-CN" altLang="en-US" b="0" dirty="0"/>
              <a:t>调度算法</a:t>
            </a:r>
          </a:p>
        </p:txBody>
      </p:sp>
      <p:sp>
        <p:nvSpPr>
          <p:cNvPr id="1123331" name="Rectangle 3"/>
          <p:cNvSpPr>
            <a:spLocks noGrp="1" noChangeArrowheads="1"/>
          </p:cNvSpPr>
          <p:nvPr>
            <p:ph type="body" idx="1"/>
          </p:nvPr>
        </p:nvSpPr>
        <p:spPr>
          <a:xfrm>
            <a:off x="2514600" y="4038600"/>
            <a:ext cx="5791200" cy="1371600"/>
          </a:xfrm>
        </p:spPr>
        <p:txBody>
          <a:bodyPr/>
          <a:lstStyle/>
          <a:p>
            <a:pPr lvl="1"/>
            <a:r>
              <a:rPr lang="zh-CN" altLang="en-US" sz="2800" b="1" dirty="0">
                <a:solidFill>
                  <a:srgbClr val="990000"/>
                </a:solidFill>
                <a:latin typeface="楷体_GB2312" pitchFamily="49" charset="-122"/>
                <a:ea typeface="楷体_GB2312" pitchFamily="49" charset="-122"/>
              </a:rPr>
              <a:t>非抢占式</a:t>
            </a:r>
            <a:r>
              <a:rPr lang="zh-CN" altLang="en-US" sz="2800" b="1" dirty="0">
                <a:latin typeface="楷体_GB2312" pitchFamily="49" charset="-122"/>
                <a:ea typeface="楷体_GB2312" pitchFamily="49" charset="-122"/>
              </a:rPr>
              <a:t>优先权调度算法</a:t>
            </a:r>
          </a:p>
          <a:p>
            <a:pPr lvl="1"/>
            <a:r>
              <a:rPr lang="zh-CN" altLang="en-US" sz="2800" b="1" dirty="0">
                <a:solidFill>
                  <a:srgbClr val="990000"/>
                </a:solidFill>
                <a:latin typeface="楷体_GB2312" pitchFamily="49" charset="-122"/>
                <a:ea typeface="楷体_GB2312" pitchFamily="49" charset="-122"/>
              </a:rPr>
              <a:t>抢占式</a:t>
            </a:r>
            <a:r>
              <a:rPr lang="zh-CN" altLang="en-US" sz="2800" b="1" dirty="0">
                <a:latin typeface="楷体_GB2312" pitchFamily="49" charset="-122"/>
                <a:ea typeface="楷体_GB2312" pitchFamily="49" charset="-122"/>
              </a:rPr>
              <a:t>优先权调度算法</a:t>
            </a:r>
          </a:p>
        </p:txBody>
      </p:sp>
      <p:sp>
        <p:nvSpPr>
          <p:cNvPr id="1123332" name="Rectangle 4"/>
          <p:cNvSpPr>
            <a:spLocks noChangeArrowheads="1"/>
          </p:cNvSpPr>
          <p:nvPr/>
        </p:nvSpPr>
        <p:spPr bwMode="auto">
          <a:xfrm>
            <a:off x="8945124" y="512298"/>
            <a:ext cx="550151" cy="584775"/>
          </a:xfrm>
          <a:prstGeom prst="rect">
            <a:avLst/>
          </a:prstGeom>
          <a:noFill/>
          <a:ln w="9525">
            <a:noFill/>
            <a:miter lim="800000"/>
            <a:headEnd/>
            <a:tailEnd/>
          </a:ln>
          <a:effectLst/>
        </p:spPr>
        <p:txBody>
          <a:bodyPr wrap="none">
            <a:spAutoFit/>
          </a:bodyPr>
          <a:lstStyle/>
          <a:p>
            <a:r>
              <a:rPr kumimoji="1" lang="zh-CN" altLang="en-US" sz="3200" b="1" dirty="0">
                <a:solidFill>
                  <a:srgbClr val="FF0066"/>
                </a:solidFill>
                <a:latin typeface="Times New Roman" pitchFamily="18" charset="0"/>
                <a:sym typeface="Wingdings" panose="05000000000000000000" pitchFamily="2" charset="2"/>
              </a:rPr>
              <a:t></a:t>
            </a:r>
            <a:endParaRPr kumimoji="1" lang="zh-CN" altLang="en-US" sz="2400" b="1" dirty="0">
              <a:solidFill>
                <a:srgbClr val="FF0066"/>
              </a:solidFill>
              <a:latin typeface="Times New Roman" pitchFamily="18" charset="0"/>
            </a:endParaRPr>
          </a:p>
        </p:txBody>
      </p:sp>
      <p:sp>
        <p:nvSpPr>
          <p:cNvPr id="4" name="Rectangle 3">
            <a:extLst>
              <a:ext uri="{FF2B5EF4-FFF2-40B4-BE49-F238E27FC236}">
                <a16:creationId xmlns:a16="http://schemas.microsoft.com/office/drawing/2014/main" id="{1D921ED5-04A2-D94F-F599-14E63F76C596}"/>
              </a:ext>
            </a:extLst>
          </p:cNvPr>
          <p:cNvSpPr txBox="1">
            <a:spLocks noChangeArrowheads="1"/>
          </p:cNvSpPr>
          <p:nvPr/>
        </p:nvSpPr>
        <p:spPr bwMode="gray">
          <a:xfrm>
            <a:off x="1676400" y="1600200"/>
            <a:ext cx="8193088" cy="227585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65113" indent="-265113" algn="l" rtl="0" eaLnBrk="0" fontAlgn="base" hangingPunct="0">
              <a:spcBef>
                <a:spcPct val="35000"/>
              </a:spcBef>
              <a:spcAft>
                <a:spcPct val="0"/>
              </a:spcAft>
              <a:buClr>
                <a:schemeClr val="hlink"/>
              </a:buClr>
              <a:buSzPct val="85000"/>
              <a:buFont typeface="Wingdings" pitchFamily="2" charset="2"/>
              <a:buChar char="Ü"/>
              <a:defRPr sz="2200">
                <a:solidFill>
                  <a:schemeClr val="tx1"/>
                </a:solidFill>
                <a:latin typeface="+mn-lt"/>
                <a:ea typeface="+mn-ea"/>
                <a:cs typeface="+mn-cs"/>
              </a:defRPr>
            </a:lvl1pPr>
            <a:lvl2pPr marL="625475" indent="-176213" algn="l" rtl="0" eaLnBrk="0" fontAlgn="base" hangingPunct="0">
              <a:spcBef>
                <a:spcPct val="35000"/>
              </a:spcBef>
              <a:spcAft>
                <a:spcPct val="0"/>
              </a:spcAft>
              <a:buClr>
                <a:schemeClr val="hlink"/>
              </a:buClr>
              <a:buChar char="–"/>
              <a:defRPr sz="2200">
                <a:solidFill>
                  <a:schemeClr val="tx1"/>
                </a:solidFill>
                <a:latin typeface="+mn-lt"/>
                <a:ea typeface="+mn-ea"/>
              </a:defRPr>
            </a:lvl2pPr>
            <a:lvl3pPr marL="981075" indent="-176213" algn="l" rtl="0" eaLnBrk="0" fontAlgn="base" hangingPunct="0">
              <a:spcBef>
                <a:spcPct val="35000"/>
              </a:spcBef>
              <a:spcAft>
                <a:spcPct val="0"/>
              </a:spcAft>
              <a:buClr>
                <a:schemeClr val="hlink"/>
              </a:buClr>
              <a:buSzPct val="95000"/>
              <a:buFont typeface="Arial" pitchFamily="34" charset="0"/>
              <a:buChar char="→"/>
              <a:defRPr sz="2200">
                <a:solidFill>
                  <a:schemeClr val="tx1"/>
                </a:solidFill>
                <a:latin typeface="+mn-lt"/>
                <a:ea typeface="+mn-ea"/>
              </a:defRPr>
            </a:lvl3pPr>
            <a:lvl4pPr marL="1657350" indent="-171450" algn="l" rtl="0" eaLnBrk="0" fontAlgn="base" hangingPunct="0">
              <a:lnSpc>
                <a:spcPct val="85000"/>
              </a:lnSpc>
              <a:spcBef>
                <a:spcPct val="25000"/>
              </a:spcBef>
              <a:spcAft>
                <a:spcPct val="0"/>
              </a:spcAft>
              <a:buClr>
                <a:schemeClr val="hlink"/>
              </a:buClr>
              <a:buChar char="–"/>
              <a:defRPr sz="1400">
                <a:solidFill>
                  <a:schemeClr val="tx1"/>
                </a:solidFill>
                <a:latin typeface="Arial" charset="0"/>
                <a:ea typeface="+mn-ea"/>
              </a:defRPr>
            </a:lvl4pPr>
            <a:lvl5pPr marL="2057400" indent="-228600" algn="l" rtl="0" eaLnBrk="0" fontAlgn="base" hangingPunct="0">
              <a:lnSpc>
                <a:spcPct val="85000"/>
              </a:lnSpc>
              <a:spcBef>
                <a:spcPct val="25000"/>
              </a:spcBef>
              <a:spcAft>
                <a:spcPct val="0"/>
              </a:spcAft>
              <a:buClr>
                <a:schemeClr val="hlink"/>
              </a:buClr>
              <a:buChar char="–"/>
              <a:defRPr sz="1400">
                <a:solidFill>
                  <a:schemeClr val="tx1"/>
                </a:solidFill>
                <a:latin typeface="Arial" charset="0"/>
                <a:ea typeface="+mn-ea"/>
              </a:defRPr>
            </a:lvl5pPr>
            <a:lvl6pPr marL="25146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6pPr>
            <a:lvl7pPr marL="29718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7pPr>
            <a:lvl8pPr marL="34290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8pPr>
            <a:lvl9pPr marL="3886200" indent="-228600" algn="l" rtl="0" fontAlgn="base">
              <a:lnSpc>
                <a:spcPct val="85000"/>
              </a:lnSpc>
              <a:spcBef>
                <a:spcPct val="25000"/>
              </a:spcBef>
              <a:spcAft>
                <a:spcPct val="0"/>
              </a:spcAft>
              <a:buClr>
                <a:schemeClr val="hlink"/>
              </a:buClr>
              <a:buChar char="–"/>
              <a:defRPr sz="1400">
                <a:solidFill>
                  <a:schemeClr val="tx1"/>
                </a:solidFill>
                <a:latin typeface="Arial" charset="0"/>
                <a:ea typeface="+mn-ea"/>
              </a:defRPr>
            </a:lvl9pPr>
          </a:lstStyle>
          <a:p>
            <a:pPr>
              <a:lnSpc>
                <a:spcPct val="90000"/>
              </a:lnSpc>
            </a:pPr>
            <a:r>
              <a:rPr lang="zh-CN" altLang="en-US" sz="2600" b="1" kern="0" dirty="0">
                <a:ea typeface="楷体_GB2312" pitchFamily="49" charset="-122"/>
              </a:rPr>
              <a:t>高优先权优先调度算法</a:t>
            </a:r>
          </a:p>
          <a:p>
            <a:pPr lvl="1">
              <a:lnSpc>
                <a:spcPct val="90000"/>
              </a:lnSpc>
            </a:pPr>
            <a:r>
              <a:rPr lang="zh-CN" altLang="en-US" sz="2800" b="1" kern="0" dirty="0">
                <a:ea typeface="楷体_GB2312" pitchFamily="49" charset="-122"/>
              </a:rPr>
              <a:t>既可用于作业调度，又可用于进程调度。优先级用于描述作业的紧迫程度。</a:t>
            </a:r>
            <a:endParaRPr lang="en-US" altLang="zh-CN" sz="2800" b="1" kern="0" dirty="0">
              <a:ea typeface="楷体_GB2312" pitchFamily="49" charset="-122"/>
            </a:endParaRPr>
          </a:p>
          <a:p>
            <a:pPr lvl="1">
              <a:lnSpc>
                <a:spcPct val="90000"/>
              </a:lnSpc>
            </a:pPr>
            <a:r>
              <a:rPr lang="zh-CN" altLang="en-US" sz="2800" b="1" kern="0" dirty="0">
                <a:ea typeface="楷体_GB2312" pitchFamily="49" charset="-122"/>
              </a:rPr>
              <a:t>根据新的更高优先级进程能否抢占正在执行的进程，可将优先权调度算法分为：</a:t>
            </a:r>
            <a:endParaRPr lang="zh-CN" altLang="en-US" sz="2400" b="1" kern="0"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23332"/>
                                        </p:tgtEl>
                                        <p:attrNameLst>
                                          <p:attrName>style.visibility</p:attrName>
                                        </p:attrNameLst>
                                      </p:cBhvr>
                                      <p:to>
                                        <p:strVal val="visible"/>
                                      </p:to>
                                    </p:set>
                                    <p:anim calcmode="lin" valueType="num">
                                      <p:cBhvr>
                                        <p:cTn id="7" dur="1000" fill="hold"/>
                                        <p:tgtEl>
                                          <p:spTgt spid="1123332"/>
                                        </p:tgtEl>
                                        <p:attrNameLst>
                                          <p:attrName>ppt_w</p:attrName>
                                        </p:attrNameLst>
                                      </p:cBhvr>
                                      <p:tavLst>
                                        <p:tav tm="0">
                                          <p:val>
                                            <p:fltVal val="0"/>
                                          </p:val>
                                        </p:tav>
                                        <p:tav tm="100000">
                                          <p:val>
                                            <p:strVal val="#ppt_w"/>
                                          </p:val>
                                        </p:tav>
                                      </p:tavLst>
                                    </p:anim>
                                    <p:anim calcmode="lin" valueType="num">
                                      <p:cBhvr>
                                        <p:cTn id="8" dur="1000" fill="hold"/>
                                        <p:tgtEl>
                                          <p:spTgt spid="1123332"/>
                                        </p:tgtEl>
                                        <p:attrNameLst>
                                          <p:attrName>ppt_h</p:attrName>
                                        </p:attrNameLst>
                                      </p:cBhvr>
                                      <p:tavLst>
                                        <p:tav tm="0">
                                          <p:val>
                                            <p:fltVal val="0"/>
                                          </p:val>
                                        </p:tav>
                                        <p:tav tm="100000">
                                          <p:val>
                                            <p:strVal val="#ppt_h"/>
                                          </p:val>
                                        </p:tav>
                                      </p:tavLst>
                                    </p:anim>
                                    <p:anim calcmode="lin" valueType="num">
                                      <p:cBhvr>
                                        <p:cTn id="9" dur="1000" fill="hold"/>
                                        <p:tgtEl>
                                          <p:spTgt spid="112333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233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blinds(horizontal)">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blinds(horizontal)">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123331">
                                            <p:txEl>
                                              <p:pRg st="0" end="0"/>
                                            </p:txEl>
                                          </p:spTgt>
                                        </p:tgtEl>
                                        <p:attrNameLst>
                                          <p:attrName>style.visibility</p:attrName>
                                        </p:attrNameLst>
                                      </p:cBhvr>
                                      <p:to>
                                        <p:strVal val="visible"/>
                                      </p:to>
                                    </p:set>
                                    <p:animEffect transition="in" filter="wipe(up)">
                                      <p:cBhvr>
                                        <p:cTn id="25" dur="500"/>
                                        <p:tgtEl>
                                          <p:spTgt spid="1123331">
                                            <p:txEl>
                                              <p:pRg st="0" end="0"/>
                                            </p:txEl>
                                          </p:spTgt>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1123331">
                                            <p:txEl>
                                              <p:pRg st="1" end="1"/>
                                            </p:txEl>
                                          </p:spTgt>
                                        </p:tgtEl>
                                        <p:attrNameLst>
                                          <p:attrName>style.visibility</p:attrName>
                                        </p:attrNameLst>
                                      </p:cBhvr>
                                      <p:to>
                                        <p:strVal val="visible"/>
                                      </p:to>
                                    </p:set>
                                    <p:animEffect transition="in" filter="wipe(up)">
                                      <p:cBhvr>
                                        <p:cTn id="29" dur="500"/>
                                        <p:tgtEl>
                                          <p:spTgt spid="1123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3331" grpId="0" build="p" bldLvl="5" autoUpdateAnimBg="0"/>
      <p:bldP spid="112333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4355" name="Rectangle 3"/>
          <p:cNvSpPr>
            <a:spLocks noGrp="1" noChangeArrowheads="1"/>
          </p:cNvSpPr>
          <p:nvPr>
            <p:ph type="body" idx="1"/>
          </p:nvPr>
        </p:nvSpPr>
        <p:spPr>
          <a:xfrm>
            <a:off x="1828800" y="1447800"/>
            <a:ext cx="8255000" cy="5029200"/>
          </a:xfrm>
        </p:spPr>
        <p:txBody>
          <a:bodyPr/>
          <a:lstStyle/>
          <a:p>
            <a:r>
              <a:rPr lang="zh-CN" altLang="en-US" sz="2600" b="1" dirty="0">
                <a:latin typeface="楷体_GB2312" pitchFamily="49" charset="-122"/>
                <a:ea typeface="楷体_GB2312" pitchFamily="49" charset="-122"/>
              </a:rPr>
              <a:t>优先权调度算法的类型</a:t>
            </a:r>
          </a:p>
          <a:p>
            <a:pPr lvl="1"/>
            <a:r>
              <a:rPr lang="zh-CN" altLang="en-US" sz="2800" b="1" dirty="0">
                <a:solidFill>
                  <a:srgbClr val="990000"/>
                </a:solidFill>
                <a:latin typeface="楷体_GB2312" pitchFamily="49" charset="-122"/>
                <a:ea typeface="楷体_GB2312" pitchFamily="49" charset="-122"/>
              </a:rPr>
              <a:t>非抢占式</a:t>
            </a:r>
            <a:r>
              <a:rPr lang="zh-CN" altLang="en-US" sz="2800" b="1" dirty="0">
                <a:latin typeface="楷体_GB2312" pitchFamily="49" charset="-122"/>
                <a:ea typeface="楷体_GB2312" pitchFamily="49" charset="-122"/>
              </a:rPr>
              <a:t>优先权调度算法</a:t>
            </a:r>
          </a:p>
          <a:p>
            <a:pPr lvl="2"/>
            <a:r>
              <a:rPr lang="zh-CN" altLang="en-US" sz="2600" b="1" dirty="0">
                <a:latin typeface="楷体_GB2312" pitchFamily="49" charset="-122"/>
                <a:ea typeface="楷体_GB2312" pitchFamily="49" charset="-122"/>
              </a:rPr>
              <a:t>特点：系统一旦把处理机分配给就绪队列中</a:t>
            </a:r>
            <a:r>
              <a:rPr lang="zh-CN" altLang="en-US" sz="2600" b="1" dirty="0">
                <a:solidFill>
                  <a:srgbClr val="990000"/>
                </a:solidFill>
                <a:latin typeface="楷体_GB2312" pitchFamily="49" charset="-122"/>
                <a:ea typeface="楷体_GB2312" pitchFamily="49" charset="-122"/>
              </a:rPr>
              <a:t>优先权最高</a:t>
            </a:r>
            <a:r>
              <a:rPr lang="zh-CN" altLang="en-US" sz="2600" b="1" dirty="0">
                <a:latin typeface="楷体_GB2312" pitchFamily="49" charset="-122"/>
                <a:ea typeface="楷体_GB2312" pitchFamily="49" charset="-122"/>
              </a:rPr>
              <a:t>的进程后，该进程便</a:t>
            </a:r>
            <a:r>
              <a:rPr lang="zh-CN" altLang="en-US" sz="2600" b="1" dirty="0">
                <a:solidFill>
                  <a:schemeClr val="folHlink"/>
                </a:solidFill>
                <a:latin typeface="楷体_GB2312" pitchFamily="49" charset="-122"/>
                <a:ea typeface="楷体_GB2312" pitchFamily="49" charset="-122"/>
              </a:rPr>
              <a:t>一直执行</a:t>
            </a:r>
            <a:r>
              <a:rPr lang="zh-CN" altLang="en-US" sz="2600" b="1" dirty="0">
                <a:latin typeface="楷体_GB2312" pitchFamily="49" charset="-122"/>
                <a:ea typeface="楷体_GB2312" pitchFamily="49" charset="-122"/>
              </a:rPr>
              <a:t>下去，直至完成，或因发生某事件使该进程放弃处理机时，系统才将处理机重新分配给另一优先权最高的进程</a:t>
            </a:r>
          </a:p>
          <a:p>
            <a:pPr lvl="2"/>
            <a:r>
              <a:rPr lang="zh-CN" altLang="en-US" sz="2600" b="1" dirty="0">
                <a:latin typeface="楷体_GB2312" pitchFamily="49" charset="-122"/>
                <a:ea typeface="楷体_GB2312" pitchFamily="49" charset="-122"/>
              </a:rPr>
              <a:t>主要用于批处理系统中，也可用于某些对实时性要求不严的实时系统中</a:t>
            </a:r>
          </a:p>
        </p:txBody>
      </p:sp>
      <p:sp>
        <p:nvSpPr>
          <p:cNvPr id="1124357" name="Rectangle 5"/>
          <p:cNvSpPr>
            <a:spLocks noGrp="1" noChangeArrowheads="1"/>
          </p:cNvSpPr>
          <p:nvPr>
            <p:ph type="title"/>
          </p:nvPr>
        </p:nvSpPr>
        <p:spPr>
          <a:xfrm>
            <a:off x="685800" y="762000"/>
            <a:ext cx="8610600" cy="525462"/>
          </a:xfrm>
          <a:noFill/>
          <a:ln/>
        </p:spPr>
        <p:txBody>
          <a:bodyPr/>
          <a:lstStyle/>
          <a:p>
            <a:r>
              <a:rPr lang="zh-CN" altLang="en-US" b="0" dirty="0"/>
              <a:t>高优先权优先（</a:t>
            </a:r>
            <a:r>
              <a:rPr lang="en-US" altLang="zh-CN" b="0" dirty="0"/>
              <a:t>HPF</a:t>
            </a:r>
            <a:r>
              <a:rPr lang="zh-CN" altLang="en-US" b="0" dirty="0"/>
              <a:t>，</a:t>
            </a:r>
            <a:r>
              <a:rPr lang="en-US" altLang="zh-CN" b="0" dirty="0"/>
              <a:t>Highest Priority First</a:t>
            </a:r>
            <a:r>
              <a:rPr lang="zh-CN" altLang="en-US" b="0" dirty="0"/>
              <a:t>）调度算法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24355">
                                            <p:txEl>
                                              <p:pRg st="2" end="2"/>
                                            </p:txEl>
                                          </p:spTgt>
                                        </p:tgtEl>
                                        <p:attrNameLst>
                                          <p:attrName>style.visibility</p:attrName>
                                        </p:attrNameLst>
                                      </p:cBhvr>
                                      <p:to>
                                        <p:strVal val="visible"/>
                                      </p:to>
                                    </p:set>
                                    <p:animEffect transition="in" filter="wipe(up)">
                                      <p:cBhvr>
                                        <p:cTn id="7" dur="500"/>
                                        <p:tgtEl>
                                          <p:spTgt spid="112435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4355">
                                            <p:txEl>
                                              <p:pRg st="3" end="3"/>
                                            </p:txEl>
                                          </p:spTgt>
                                        </p:tgtEl>
                                        <p:attrNameLst>
                                          <p:attrName>style.visibility</p:attrName>
                                        </p:attrNameLst>
                                      </p:cBhvr>
                                      <p:to>
                                        <p:strVal val="visible"/>
                                      </p:to>
                                    </p:set>
                                    <p:animEffect transition="in" filter="wipe(up)">
                                      <p:cBhvr>
                                        <p:cTn id="12" dur="500"/>
                                        <p:tgtEl>
                                          <p:spTgt spid="11243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4355" grpId="0" build="p" bldLvl="5"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5379" name="Rectangle 3"/>
          <p:cNvSpPr>
            <a:spLocks noGrp="1" noChangeArrowheads="1"/>
          </p:cNvSpPr>
          <p:nvPr>
            <p:ph type="body" idx="1"/>
          </p:nvPr>
        </p:nvSpPr>
        <p:spPr>
          <a:xfrm>
            <a:off x="1847850" y="1447800"/>
            <a:ext cx="8515350" cy="5105400"/>
          </a:xfrm>
        </p:spPr>
        <p:txBody>
          <a:bodyPr/>
          <a:lstStyle/>
          <a:p>
            <a:pPr>
              <a:lnSpc>
                <a:spcPct val="95000"/>
              </a:lnSpc>
              <a:spcBef>
                <a:spcPct val="10000"/>
              </a:spcBef>
            </a:pPr>
            <a:r>
              <a:rPr lang="zh-CN" altLang="en-US" sz="2600" b="1" dirty="0">
                <a:latin typeface="楷体_GB2312" pitchFamily="49" charset="-122"/>
                <a:ea typeface="楷体_GB2312" pitchFamily="49" charset="-122"/>
              </a:rPr>
              <a:t>优先权调度算法的类型</a:t>
            </a:r>
          </a:p>
          <a:p>
            <a:pPr lvl="1">
              <a:lnSpc>
                <a:spcPct val="95000"/>
              </a:lnSpc>
              <a:spcBef>
                <a:spcPct val="10000"/>
              </a:spcBef>
            </a:pPr>
            <a:r>
              <a:rPr lang="zh-CN" altLang="en-US" sz="2600" b="1" dirty="0">
                <a:solidFill>
                  <a:srgbClr val="990000"/>
                </a:solidFill>
                <a:latin typeface="楷体_GB2312" pitchFamily="49" charset="-122"/>
                <a:ea typeface="楷体_GB2312" pitchFamily="49" charset="-122"/>
              </a:rPr>
              <a:t>抢占式</a:t>
            </a:r>
            <a:r>
              <a:rPr lang="zh-CN" altLang="en-US" sz="2600" b="1" dirty="0">
                <a:latin typeface="楷体_GB2312" pitchFamily="49" charset="-122"/>
                <a:ea typeface="楷体_GB2312" pitchFamily="49" charset="-122"/>
              </a:rPr>
              <a:t>优先权调度算法</a:t>
            </a:r>
          </a:p>
          <a:p>
            <a:pPr lvl="2">
              <a:lnSpc>
                <a:spcPct val="95000"/>
              </a:lnSpc>
              <a:spcBef>
                <a:spcPct val="10000"/>
              </a:spcBef>
            </a:pPr>
            <a:r>
              <a:rPr lang="zh-CN" altLang="en-US" sz="2600" b="1" dirty="0">
                <a:latin typeface="楷体_GB2312" pitchFamily="49" charset="-122"/>
                <a:ea typeface="楷体_GB2312" pitchFamily="49" charset="-122"/>
              </a:rPr>
              <a:t>把处理机分配给优先权最高的进程，但在执行期间，只要出现另一个优先权更高的进程，则进程调度程序就</a:t>
            </a:r>
            <a:r>
              <a:rPr lang="zh-CN" altLang="en-US" sz="2600" b="1" dirty="0">
                <a:solidFill>
                  <a:srgbClr val="990000"/>
                </a:solidFill>
                <a:latin typeface="楷体_GB2312" pitchFamily="49" charset="-122"/>
                <a:ea typeface="楷体_GB2312" pitchFamily="49" charset="-122"/>
              </a:rPr>
              <a:t>立即停止</a:t>
            </a:r>
            <a:r>
              <a:rPr lang="zh-CN" altLang="en-US" sz="2600" b="1" dirty="0">
                <a:latin typeface="楷体_GB2312" pitchFamily="49" charset="-122"/>
                <a:ea typeface="楷体_GB2312" pitchFamily="49" charset="-122"/>
              </a:rPr>
              <a:t>当前进程的执行，并将处理机分配给新到的优先权最高的进程</a:t>
            </a:r>
          </a:p>
          <a:p>
            <a:pPr lvl="2">
              <a:lnSpc>
                <a:spcPct val="95000"/>
              </a:lnSpc>
              <a:spcBef>
                <a:spcPct val="10000"/>
              </a:spcBef>
            </a:pPr>
            <a:r>
              <a:rPr lang="zh-CN" altLang="en-US" sz="2600" b="1" dirty="0">
                <a:solidFill>
                  <a:srgbClr val="D20000"/>
                </a:solidFill>
                <a:latin typeface="楷体_GB2312" pitchFamily="49" charset="-122"/>
                <a:ea typeface="楷体_GB2312" pitchFamily="49" charset="-122"/>
              </a:rPr>
              <a:t>注意</a:t>
            </a:r>
            <a:r>
              <a:rPr lang="zh-CN" altLang="en-US" sz="2600" b="1" dirty="0">
                <a:latin typeface="楷体_GB2312" pitchFamily="49" charset="-122"/>
                <a:ea typeface="楷体_GB2312" pitchFamily="49" charset="-122"/>
              </a:rPr>
              <a:t>：</a:t>
            </a:r>
            <a:r>
              <a:rPr lang="zh-CN" altLang="en-US" sz="2600" b="1" dirty="0">
                <a:solidFill>
                  <a:schemeClr val="folHlink"/>
                </a:solidFill>
                <a:latin typeface="楷体_GB2312" pitchFamily="49" charset="-122"/>
                <a:ea typeface="楷体_GB2312" pitchFamily="49" charset="-122"/>
              </a:rPr>
              <a:t>只要</a:t>
            </a:r>
            <a:r>
              <a:rPr lang="zh-CN" altLang="en-US" sz="2600" b="1" dirty="0">
                <a:latin typeface="楷体_GB2312" pitchFamily="49" charset="-122"/>
                <a:ea typeface="楷体_GB2312" pitchFamily="49" charset="-122"/>
              </a:rPr>
              <a:t>系统中</a:t>
            </a:r>
            <a:r>
              <a:rPr lang="zh-CN" altLang="en-US" sz="2600" b="1" dirty="0">
                <a:solidFill>
                  <a:schemeClr val="folHlink"/>
                </a:solidFill>
                <a:latin typeface="楷体_GB2312" pitchFamily="49" charset="-122"/>
                <a:ea typeface="楷体_GB2312" pitchFamily="49" charset="-122"/>
              </a:rPr>
              <a:t>出现</a:t>
            </a:r>
            <a:r>
              <a:rPr lang="zh-CN" altLang="en-US" sz="2600" b="1" dirty="0">
                <a:latin typeface="楷体_GB2312" pitchFamily="49" charset="-122"/>
                <a:ea typeface="楷体_GB2312" pitchFamily="49" charset="-122"/>
              </a:rPr>
              <a:t>一个新的就绪进程，</a:t>
            </a:r>
            <a:r>
              <a:rPr lang="zh-CN" altLang="en-US" sz="2600" b="1" dirty="0">
                <a:solidFill>
                  <a:schemeClr val="folHlink"/>
                </a:solidFill>
                <a:latin typeface="楷体_GB2312" pitchFamily="49" charset="-122"/>
                <a:ea typeface="楷体_GB2312" pitchFamily="49" charset="-122"/>
              </a:rPr>
              <a:t>就进行</a:t>
            </a:r>
            <a:r>
              <a:rPr lang="zh-CN" altLang="en-US" sz="2600" b="1" dirty="0">
                <a:latin typeface="楷体_GB2312" pitchFamily="49" charset="-122"/>
                <a:ea typeface="楷体_GB2312" pitchFamily="49" charset="-122"/>
              </a:rPr>
              <a:t>优先权</a:t>
            </a:r>
            <a:r>
              <a:rPr lang="zh-CN" altLang="en-US" sz="2600" b="1" dirty="0">
                <a:solidFill>
                  <a:schemeClr val="folHlink"/>
                </a:solidFill>
                <a:latin typeface="楷体_GB2312" pitchFamily="49" charset="-122"/>
                <a:ea typeface="楷体_GB2312" pitchFamily="49" charset="-122"/>
              </a:rPr>
              <a:t>比较</a:t>
            </a:r>
          </a:p>
          <a:p>
            <a:pPr lvl="2">
              <a:lnSpc>
                <a:spcPct val="95000"/>
              </a:lnSpc>
              <a:spcBef>
                <a:spcPct val="10000"/>
              </a:spcBef>
            </a:pPr>
            <a:r>
              <a:rPr lang="zh-CN" altLang="en-US" sz="2600" b="1" dirty="0">
                <a:latin typeface="楷体_GB2312" pitchFamily="49" charset="-122"/>
                <a:ea typeface="楷体_GB2312" pitchFamily="49" charset="-122"/>
              </a:rPr>
              <a:t>该调度算法，能更好地</a:t>
            </a:r>
            <a:r>
              <a:rPr lang="zh-CN" altLang="en-US" sz="2600" b="1" dirty="0">
                <a:solidFill>
                  <a:srgbClr val="990000"/>
                </a:solidFill>
                <a:latin typeface="楷体_GB2312" pitchFamily="49" charset="-122"/>
                <a:ea typeface="楷体_GB2312" pitchFamily="49" charset="-122"/>
              </a:rPr>
              <a:t>满足紧迫作业</a:t>
            </a:r>
            <a:r>
              <a:rPr lang="zh-CN" altLang="en-US" sz="2600" b="1" dirty="0">
                <a:latin typeface="楷体_GB2312" pitchFamily="49" charset="-122"/>
                <a:ea typeface="楷体_GB2312" pitchFamily="49" charset="-122"/>
              </a:rPr>
              <a:t>的要求，故而常用于要求比较严格的实时系统中，以及对性能要求较高的批处理和分时系统中</a:t>
            </a:r>
          </a:p>
        </p:txBody>
      </p:sp>
      <p:sp>
        <p:nvSpPr>
          <p:cNvPr id="1125381" name="Rectangle 5"/>
          <p:cNvSpPr>
            <a:spLocks noGrp="1" noChangeArrowheads="1"/>
          </p:cNvSpPr>
          <p:nvPr>
            <p:ph type="title"/>
          </p:nvPr>
        </p:nvSpPr>
        <p:spPr>
          <a:xfrm>
            <a:off x="609600" y="685800"/>
            <a:ext cx="8610600" cy="525462"/>
          </a:xfrm>
          <a:noFill/>
          <a:ln/>
        </p:spPr>
        <p:txBody>
          <a:bodyPr/>
          <a:lstStyle/>
          <a:p>
            <a:r>
              <a:rPr lang="zh-CN" altLang="en-US" b="0" dirty="0"/>
              <a:t>高优先权优先（</a:t>
            </a:r>
            <a:r>
              <a:rPr lang="en-US" altLang="zh-CN" b="0" dirty="0"/>
              <a:t>HPF</a:t>
            </a:r>
            <a:r>
              <a:rPr lang="zh-CN" altLang="en-US" b="0" dirty="0"/>
              <a:t>，</a:t>
            </a:r>
            <a:r>
              <a:rPr lang="en-US" altLang="zh-CN" b="0" dirty="0"/>
              <a:t>Highest Priority First</a:t>
            </a:r>
            <a:r>
              <a:rPr lang="zh-CN" altLang="en-US" b="0" dirty="0"/>
              <a:t>）调度算法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25379">
                                            <p:txEl>
                                              <p:pRg st="1" end="1"/>
                                            </p:txEl>
                                          </p:spTgt>
                                        </p:tgtEl>
                                        <p:attrNameLst>
                                          <p:attrName>style.visibility</p:attrName>
                                        </p:attrNameLst>
                                      </p:cBhvr>
                                      <p:to>
                                        <p:strVal val="visible"/>
                                      </p:to>
                                    </p:set>
                                    <p:animEffect transition="in" filter="wipe(up)">
                                      <p:cBhvr>
                                        <p:cTn id="7" dur="500"/>
                                        <p:tgtEl>
                                          <p:spTgt spid="11253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5379">
                                            <p:txEl>
                                              <p:pRg st="2" end="2"/>
                                            </p:txEl>
                                          </p:spTgt>
                                        </p:tgtEl>
                                        <p:attrNameLst>
                                          <p:attrName>style.visibility</p:attrName>
                                        </p:attrNameLst>
                                      </p:cBhvr>
                                      <p:to>
                                        <p:strVal val="visible"/>
                                      </p:to>
                                    </p:set>
                                    <p:animEffect transition="in" filter="wipe(up)">
                                      <p:cBhvr>
                                        <p:cTn id="12" dur="500"/>
                                        <p:tgtEl>
                                          <p:spTgt spid="11253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25379">
                                            <p:txEl>
                                              <p:pRg st="3" end="3"/>
                                            </p:txEl>
                                          </p:spTgt>
                                        </p:tgtEl>
                                        <p:attrNameLst>
                                          <p:attrName>style.visibility</p:attrName>
                                        </p:attrNameLst>
                                      </p:cBhvr>
                                      <p:to>
                                        <p:strVal val="visible"/>
                                      </p:to>
                                    </p:set>
                                    <p:animEffect transition="in" filter="wipe(up)">
                                      <p:cBhvr>
                                        <p:cTn id="17" dur="500"/>
                                        <p:tgtEl>
                                          <p:spTgt spid="11253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25379">
                                            <p:txEl>
                                              <p:pRg st="4" end="4"/>
                                            </p:txEl>
                                          </p:spTgt>
                                        </p:tgtEl>
                                        <p:attrNameLst>
                                          <p:attrName>style.visibility</p:attrName>
                                        </p:attrNameLst>
                                      </p:cBhvr>
                                      <p:to>
                                        <p:strVal val="visible"/>
                                      </p:to>
                                    </p:set>
                                    <p:animEffect transition="in" filter="wipe(up)">
                                      <p:cBhvr>
                                        <p:cTn id="22" dur="500"/>
                                        <p:tgtEl>
                                          <p:spTgt spid="11253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5379" grpId="0" build="p" bldLvl="5"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02" name="Rectangle 2"/>
          <p:cNvSpPr>
            <a:spLocks noGrp="1" noChangeArrowheads="1"/>
          </p:cNvSpPr>
          <p:nvPr>
            <p:ph type="title"/>
          </p:nvPr>
        </p:nvSpPr>
        <p:spPr>
          <a:xfrm>
            <a:off x="533400" y="685800"/>
            <a:ext cx="11379200" cy="381000"/>
          </a:xfrm>
        </p:spPr>
        <p:txBody>
          <a:bodyPr/>
          <a:lstStyle/>
          <a:p>
            <a:r>
              <a:rPr lang="zh-CN" altLang="en-US" sz="3200" b="0" dirty="0"/>
              <a:t>高优先权优先调度算法</a:t>
            </a:r>
          </a:p>
        </p:txBody>
      </p:sp>
      <p:sp>
        <p:nvSpPr>
          <p:cNvPr id="1126403" name="Rectangle 3"/>
          <p:cNvSpPr>
            <a:spLocks noGrp="1" noChangeArrowheads="1"/>
          </p:cNvSpPr>
          <p:nvPr>
            <p:ph type="body" idx="1"/>
          </p:nvPr>
        </p:nvSpPr>
        <p:spPr>
          <a:xfrm>
            <a:off x="1905000" y="1600200"/>
            <a:ext cx="8382000" cy="2590800"/>
          </a:xfrm>
        </p:spPr>
        <p:txBody>
          <a:bodyPr/>
          <a:lstStyle/>
          <a:p>
            <a:r>
              <a:rPr lang="zh-CN" altLang="en-US" sz="2600" b="1" dirty="0">
                <a:latin typeface="楷体_GB2312" pitchFamily="49" charset="-122"/>
                <a:ea typeface="楷体_GB2312" pitchFamily="49" charset="-122"/>
              </a:rPr>
              <a:t>优先权的类型</a:t>
            </a:r>
          </a:p>
          <a:p>
            <a:pPr lvl="1"/>
            <a:r>
              <a:rPr lang="zh-CN" altLang="en-US" sz="2600" b="1" dirty="0">
                <a:latin typeface="楷体_GB2312" pitchFamily="49" charset="-122"/>
                <a:ea typeface="楷体_GB2312" pitchFamily="49" charset="-122"/>
              </a:rPr>
              <a:t>静态优先权</a:t>
            </a:r>
          </a:p>
          <a:p>
            <a:pPr lvl="1"/>
            <a:r>
              <a:rPr lang="zh-CN" altLang="en-US" sz="2600" b="1" dirty="0">
                <a:latin typeface="楷体_GB2312" pitchFamily="49" charset="-122"/>
                <a:ea typeface="楷体_GB2312" pitchFamily="49" charset="-122"/>
              </a:rPr>
              <a:t>动态优先权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6403">
                                            <p:txEl>
                                              <p:pRg st="0" end="0"/>
                                            </p:txEl>
                                          </p:spTgt>
                                        </p:tgtEl>
                                        <p:attrNameLst>
                                          <p:attrName>style.visibility</p:attrName>
                                        </p:attrNameLst>
                                      </p:cBhvr>
                                      <p:to>
                                        <p:strVal val="visible"/>
                                      </p:to>
                                    </p:set>
                                    <p:animEffect transition="in" filter="wipe(up)">
                                      <p:cBhvr>
                                        <p:cTn id="7" dur="500"/>
                                        <p:tgtEl>
                                          <p:spTgt spid="1126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6403">
                                            <p:txEl>
                                              <p:pRg st="1" end="1"/>
                                            </p:txEl>
                                          </p:spTgt>
                                        </p:tgtEl>
                                        <p:attrNameLst>
                                          <p:attrName>style.visibility</p:attrName>
                                        </p:attrNameLst>
                                      </p:cBhvr>
                                      <p:to>
                                        <p:strVal val="visible"/>
                                      </p:to>
                                    </p:set>
                                    <p:animEffect transition="in" filter="wipe(up)">
                                      <p:cBhvr>
                                        <p:cTn id="12" dur="500"/>
                                        <p:tgtEl>
                                          <p:spTgt spid="1126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26403">
                                            <p:txEl>
                                              <p:pRg st="2" end="2"/>
                                            </p:txEl>
                                          </p:spTgt>
                                        </p:tgtEl>
                                        <p:attrNameLst>
                                          <p:attrName>style.visibility</p:attrName>
                                        </p:attrNameLst>
                                      </p:cBhvr>
                                      <p:to>
                                        <p:strVal val="visible"/>
                                      </p:to>
                                    </p:set>
                                    <p:animEffect transition="in" filter="wipe(up)">
                                      <p:cBhvr>
                                        <p:cTn id="17" dur="500"/>
                                        <p:tgtEl>
                                          <p:spTgt spid="11264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03" grpId="0" build="p" bldLvl="5"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9474" name="Rectangle 2"/>
          <p:cNvSpPr>
            <a:spLocks noGrp="1" noChangeArrowheads="1"/>
          </p:cNvSpPr>
          <p:nvPr>
            <p:ph type="title"/>
          </p:nvPr>
        </p:nvSpPr>
        <p:spPr/>
        <p:txBody>
          <a:bodyPr/>
          <a:lstStyle/>
          <a:p>
            <a:r>
              <a:rPr lang="zh-CN" altLang="en-US" sz="3200" b="0" dirty="0"/>
              <a:t>高优先权优先调度算法</a:t>
            </a:r>
          </a:p>
        </p:txBody>
      </p:sp>
      <p:sp>
        <p:nvSpPr>
          <p:cNvPr id="1129475" name="Rectangle 3"/>
          <p:cNvSpPr>
            <a:spLocks noGrp="1" noChangeArrowheads="1"/>
          </p:cNvSpPr>
          <p:nvPr>
            <p:ph type="body" idx="1"/>
          </p:nvPr>
        </p:nvSpPr>
        <p:spPr>
          <a:xfrm>
            <a:off x="1821656" y="1447800"/>
            <a:ext cx="9067800" cy="5791200"/>
          </a:xfrm>
        </p:spPr>
        <p:txBody>
          <a:bodyPr/>
          <a:lstStyle/>
          <a:p>
            <a:pPr>
              <a:lnSpc>
                <a:spcPct val="90000"/>
              </a:lnSpc>
            </a:pPr>
            <a:r>
              <a:rPr lang="zh-CN" altLang="en-US" sz="2600" b="1" dirty="0">
                <a:latin typeface="楷体_GB2312" pitchFamily="49" charset="-122"/>
                <a:ea typeface="楷体_GB2312" pitchFamily="49" charset="-122"/>
              </a:rPr>
              <a:t>优先权的类型</a:t>
            </a:r>
          </a:p>
          <a:p>
            <a:pPr lvl="1">
              <a:lnSpc>
                <a:spcPct val="90000"/>
              </a:lnSpc>
            </a:pPr>
            <a:r>
              <a:rPr lang="zh-CN" altLang="en-US" sz="2600" b="1" dirty="0">
                <a:latin typeface="楷体_GB2312" pitchFamily="49" charset="-122"/>
                <a:ea typeface="楷体_GB2312" pitchFamily="49" charset="-122"/>
              </a:rPr>
              <a:t>静态优先权</a:t>
            </a:r>
          </a:p>
          <a:p>
            <a:pPr lvl="2">
              <a:lnSpc>
                <a:spcPct val="90000"/>
              </a:lnSpc>
            </a:pPr>
            <a:r>
              <a:rPr lang="zh-CN" altLang="en-US" sz="2400" b="1" dirty="0">
                <a:latin typeface="楷体_GB2312" pitchFamily="49" charset="-122"/>
                <a:ea typeface="楷体_GB2312" pitchFamily="49" charset="-122"/>
              </a:rPr>
              <a:t>静态优先权在创建进程时确定，且在进程的整个运行期间保持不变。一般地，优先权是利用某一范围内的一个整数来表示的，例如，</a:t>
            </a:r>
            <a:r>
              <a:rPr lang="en-US" altLang="zh-CN" sz="2400" b="1" dirty="0">
                <a:latin typeface="楷体_GB2312" pitchFamily="49" charset="-122"/>
                <a:ea typeface="楷体_GB2312" pitchFamily="49" charset="-122"/>
              </a:rPr>
              <a:t>0</a:t>
            </a:r>
            <a:r>
              <a:rPr lang="en-US" altLang="zh-CN" sz="2400" b="1" dirty="0">
                <a:latin typeface="楷体_GB2312" pitchFamily="49" charset="-122"/>
                <a:ea typeface="楷体_GB2312" pitchFamily="49" charset="-122"/>
                <a:sym typeface="Symbol" pitchFamily="18" charset="2"/>
              </a:rPr>
              <a:t></a:t>
            </a:r>
            <a:r>
              <a:rPr lang="en-US" altLang="zh-CN" sz="2400" b="1" dirty="0">
                <a:latin typeface="楷体_GB2312" pitchFamily="49" charset="-122"/>
                <a:ea typeface="楷体_GB2312" pitchFamily="49" charset="-122"/>
              </a:rPr>
              <a:t>7</a:t>
            </a:r>
            <a:r>
              <a:rPr lang="zh-CN" altLang="en-US" sz="2400" b="1" dirty="0">
                <a:latin typeface="楷体_GB2312" pitchFamily="49" charset="-122"/>
                <a:ea typeface="楷体_GB2312" pitchFamily="49" charset="-122"/>
              </a:rPr>
              <a:t>或</a:t>
            </a:r>
            <a:r>
              <a:rPr lang="en-US" altLang="zh-CN" sz="2400" b="1" dirty="0">
                <a:latin typeface="楷体_GB2312" pitchFamily="49" charset="-122"/>
                <a:ea typeface="楷体_GB2312" pitchFamily="49" charset="-122"/>
              </a:rPr>
              <a:t>0</a:t>
            </a:r>
            <a:r>
              <a:rPr lang="en-US" altLang="zh-CN" sz="2400" b="1" dirty="0">
                <a:latin typeface="楷体_GB2312" pitchFamily="49" charset="-122"/>
                <a:ea typeface="楷体_GB2312" pitchFamily="49" charset="-122"/>
                <a:sym typeface="Symbol" pitchFamily="18" charset="2"/>
              </a:rPr>
              <a:t></a:t>
            </a:r>
            <a:r>
              <a:rPr lang="en-US" altLang="zh-CN" sz="2400" b="1" dirty="0">
                <a:latin typeface="楷体_GB2312" pitchFamily="49" charset="-122"/>
                <a:ea typeface="楷体_GB2312" pitchFamily="49" charset="-122"/>
              </a:rPr>
              <a:t>255</a:t>
            </a:r>
            <a:r>
              <a:rPr lang="zh-CN" altLang="en-US" sz="2400" b="1" dirty="0">
                <a:latin typeface="楷体_GB2312" pitchFamily="49" charset="-122"/>
                <a:ea typeface="楷体_GB2312" pitchFamily="49" charset="-122"/>
              </a:rPr>
              <a:t>， 又把该整数称为优先数</a:t>
            </a:r>
            <a:endParaRPr lang="en-US" altLang="zh-CN" sz="2400" b="1" dirty="0">
              <a:latin typeface="楷体_GB2312" pitchFamily="49" charset="-122"/>
              <a:ea typeface="楷体_GB2312" pitchFamily="49" charset="-122"/>
            </a:endParaRPr>
          </a:p>
          <a:p>
            <a:pPr lvl="2">
              <a:lnSpc>
                <a:spcPct val="90000"/>
              </a:lnSpc>
            </a:pPr>
            <a:r>
              <a:rPr lang="zh-CN" altLang="en-US" sz="2400" b="1" dirty="0">
                <a:latin typeface="楷体_GB2312" pitchFamily="49" charset="-122"/>
                <a:ea typeface="楷体_GB2312" pitchFamily="49" charset="-122"/>
              </a:rPr>
              <a:t>确定的主要依据：进程类型、进程对资源的要求、用户要求</a:t>
            </a:r>
          </a:p>
          <a:p>
            <a:pPr lvl="1">
              <a:lnSpc>
                <a:spcPct val="90000"/>
              </a:lnSpc>
            </a:pPr>
            <a:r>
              <a:rPr lang="zh-CN" altLang="en-US" sz="2600" b="1" dirty="0">
                <a:latin typeface="楷体_GB2312" pitchFamily="49" charset="-122"/>
                <a:ea typeface="楷体_GB2312" pitchFamily="49" charset="-122"/>
              </a:rPr>
              <a:t>静态优先权特点</a:t>
            </a:r>
          </a:p>
          <a:p>
            <a:pPr lvl="2">
              <a:lnSpc>
                <a:spcPct val="90000"/>
              </a:lnSpc>
            </a:pPr>
            <a:r>
              <a:rPr lang="zh-CN" altLang="en-US" sz="2400" b="1" dirty="0">
                <a:latin typeface="楷体_GB2312" pitchFamily="49" charset="-122"/>
                <a:ea typeface="楷体_GB2312" pitchFamily="49" charset="-122"/>
              </a:rPr>
              <a:t>系统开销小、不够精确、一般用在要求不高的系统中</a:t>
            </a:r>
          </a:p>
        </p:txBody>
      </p:sp>
      <p:sp>
        <p:nvSpPr>
          <p:cNvPr id="1129476" name="Text Box 4"/>
          <p:cNvSpPr txBox="1">
            <a:spLocks noChangeArrowheads="1"/>
          </p:cNvSpPr>
          <p:nvPr/>
        </p:nvSpPr>
        <p:spPr bwMode="auto">
          <a:xfrm>
            <a:off x="2209800" y="5029200"/>
            <a:ext cx="8443912" cy="1127125"/>
          </a:xfrm>
          <a:prstGeom prst="rect">
            <a:avLst/>
          </a:prstGeom>
          <a:solidFill>
            <a:srgbClr val="FFCC00"/>
          </a:solidFill>
          <a:ln w="9525">
            <a:solidFill>
              <a:srgbClr val="B2B2B2"/>
            </a:solidFill>
            <a:miter lim="800000"/>
            <a:headEnd/>
            <a:tailEnd/>
          </a:ln>
          <a:effectLst>
            <a:outerShdw dist="107763" dir="2700000" algn="ctr" rotWithShape="0">
              <a:schemeClr val="bg2"/>
            </a:outerShdw>
          </a:effectLst>
        </p:spPr>
        <p:txBody>
          <a:bodyPr>
            <a:spAutoFit/>
          </a:bodyPr>
          <a:lstStyle/>
          <a:p>
            <a:pPr>
              <a:spcBef>
                <a:spcPct val="40000"/>
              </a:spcBef>
            </a:pPr>
            <a:r>
              <a:rPr kumimoji="1" lang="zh-CN" altLang="en-US" sz="2800" b="1" dirty="0">
                <a:latin typeface="Tahoma" pitchFamily="34" charset="0"/>
                <a:ea typeface="楷体_GB2312" pitchFamily="49" charset="-122"/>
              </a:rPr>
              <a:t>问题：用户将优先权设的较高，对其他进程不利！！</a:t>
            </a:r>
          </a:p>
          <a:p>
            <a:pPr>
              <a:spcBef>
                <a:spcPct val="40000"/>
              </a:spcBef>
            </a:pPr>
            <a:r>
              <a:rPr kumimoji="1" lang="zh-CN" altLang="en-US" sz="2800" b="1" dirty="0">
                <a:latin typeface="Tahoma" pitchFamily="34" charset="0"/>
                <a:ea typeface="楷体_GB2312" pitchFamily="49" charset="-122"/>
              </a:rPr>
              <a:t>          短进程优先对长进程不利！！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9475">
                                            <p:txEl>
                                              <p:pRg st="4" end="4"/>
                                            </p:txEl>
                                          </p:spTgt>
                                        </p:tgtEl>
                                        <p:attrNameLst>
                                          <p:attrName>style.visibility</p:attrName>
                                        </p:attrNameLst>
                                      </p:cBhvr>
                                      <p:to>
                                        <p:strVal val="visible"/>
                                      </p:to>
                                    </p:set>
                                    <p:animEffect transition="in" filter="wipe(up)">
                                      <p:cBhvr>
                                        <p:cTn id="7" dur="500"/>
                                        <p:tgtEl>
                                          <p:spTgt spid="112947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9475">
                                            <p:txEl>
                                              <p:pRg st="5" end="5"/>
                                            </p:txEl>
                                          </p:spTgt>
                                        </p:tgtEl>
                                        <p:attrNameLst>
                                          <p:attrName>style.visibility</p:attrName>
                                        </p:attrNameLst>
                                      </p:cBhvr>
                                      <p:to>
                                        <p:strVal val="visible"/>
                                      </p:to>
                                    </p:set>
                                    <p:animEffect transition="in" filter="wipe(up)">
                                      <p:cBhvr>
                                        <p:cTn id="12" dur="500"/>
                                        <p:tgtEl>
                                          <p:spTgt spid="1129475">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9476"/>
                                        </p:tgtEl>
                                        <p:attrNameLst>
                                          <p:attrName>style.visibility</p:attrName>
                                        </p:attrNameLst>
                                      </p:cBhvr>
                                      <p:to>
                                        <p:strVal val="visible"/>
                                      </p:to>
                                    </p:set>
                                    <p:animEffect transition="in" filter="blinds(horizontal)">
                                      <p:cBhvr>
                                        <p:cTn id="17" dur="500"/>
                                        <p:tgtEl>
                                          <p:spTgt spid="1129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475" grpId="0" build="p" bldLvl="5" autoUpdateAnimBg="0"/>
      <p:bldP spid="1129476"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450" name="Text Box 2"/>
          <p:cNvSpPr txBox="1">
            <a:spLocks noChangeArrowheads="1"/>
          </p:cNvSpPr>
          <p:nvPr/>
        </p:nvSpPr>
        <p:spPr bwMode="auto">
          <a:xfrm>
            <a:off x="1676400" y="1447800"/>
            <a:ext cx="9448799" cy="4708981"/>
          </a:xfrm>
          <a:prstGeom prst="rect">
            <a:avLst/>
          </a:prstGeom>
          <a:noFill/>
          <a:ln w="9525">
            <a:noFill/>
            <a:miter lim="800000"/>
            <a:headEnd/>
            <a:tailEnd/>
          </a:ln>
          <a:effectLst/>
        </p:spPr>
        <p:txBody>
          <a:bodyPr wrap="square">
            <a:spAutoFit/>
          </a:bodyPr>
          <a:lstStyle/>
          <a:p>
            <a:pPr marL="457200" indent="-457200"/>
            <a:r>
              <a:rPr kumimoji="1" lang="zh-CN" altLang="en-US" sz="2400" b="1" dirty="0">
                <a:latin typeface="Times New Roman" pitchFamily="18" charset="0"/>
              </a:rPr>
              <a:t>确定进程优先权的依据有如下三个方面：</a:t>
            </a:r>
            <a:endParaRPr kumimoji="1" lang="zh-CN" altLang="en-US" sz="2400" b="1" dirty="0">
              <a:solidFill>
                <a:schemeClr val="accent2"/>
              </a:solidFill>
              <a:latin typeface="Times New Roman" pitchFamily="18" charset="0"/>
            </a:endParaRPr>
          </a:p>
          <a:p>
            <a:pPr marL="457200" indent="-457200">
              <a:buFontTx/>
              <a:buAutoNum type="arabicParenBoth"/>
            </a:pPr>
            <a:r>
              <a:rPr kumimoji="1" lang="zh-CN" altLang="en-US" sz="2400" b="1" dirty="0">
                <a:solidFill>
                  <a:schemeClr val="accent2"/>
                </a:solidFill>
                <a:latin typeface="Times New Roman" pitchFamily="18" charset="0"/>
              </a:rPr>
              <a:t>进程类型。</a:t>
            </a:r>
          </a:p>
          <a:p>
            <a:pPr marL="457200" indent="-457200"/>
            <a:r>
              <a:rPr kumimoji="1" lang="zh-CN" altLang="en-US" b="1" dirty="0">
                <a:latin typeface="Times New Roman" pitchFamily="18" charset="0"/>
              </a:rPr>
              <a:t>系统进程</a:t>
            </a:r>
            <a:r>
              <a:rPr kumimoji="1" lang="en-US" altLang="zh-CN" b="1" dirty="0">
                <a:latin typeface="Times New Roman" pitchFamily="18" charset="0"/>
              </a:rPr>
              <a:t>&gt;</a:t>
            </a:r>
            <a:r>
              <a:rPr kumimoji="1" lang="zh-CN" altLang="en-US" b="1" dirty="0">
                <a:latin typeface="Times New Roman" pitchFamily="18" charset="0"/>
              </a:rPr>
              <a:t>一般用户进程。系统进程作为系统的管理者，理应拥有更高的优先级。</a:t>
            </a:r>
            <a:r>
              <a:rPr kumimoji="1" lang="zh-CN" altLang="en-US" sz="2400" b="1" dirty="0">
                <a:latin typeface="Times New Roman" pitchFamily="18" charset="0"/>
              </a:rPr>
              <a:t> </a:t>
            </a:r>
          </a:p>
          <a:p>
            <a:pPr marL="457200" indent="-457200"/>
            <a:r>
              <a:rPr kumimoji="1" lang="en-US" altLang="zh-CN" sz="2400" b="1" dirty="0">
                <a:solidFill>
                  <a:schemeClr val="accent2"/>
                </a:solidFill>
                <a:latin typeface="Times New Roman" pitchFamily="18" charset="0"/>
              </a:rPr>
              <a:t>(2) </a:t>
            </a:r>
            <a:r>
              <a:rPr kumimoji="1" lang="zh-CN" altLang="en-US" sz="2400" b="1" dirty="0">
                <a:solidFill>
                  <a:schemeClr val="accent2"/>
                </a:solidFill>
                <a:latin typeface="Times New Roman" pitchFamily="18" charset="0"/>
              </a:rPr>
              <a:t>进程对资源的需求。</a:t>
            </a:r>
          </a:p>
          <a:p>
            <a:pPr marL="457200" indent="-457200"/>
            <a:r>
              <a:rPr kumimoji="1" lang="zh-CN" altLang="en-US" b="1" dirty="0">
                <a:latin typeface="Times New Roman" pitchFamily="18" charset="0"/>
              </a:rPr>
              <a:t>如进程的估计执行时间及内存需要量少的进程，应赋予较高的优先权。 </a:t>
            </a:r>
            <a:endParaRPr kumimoji="1" lang="en-US" altLang="zh-CN" b="1" dirty="0">
              <a:latin typeface="Times New Roman" pitchFamily="18" charset="0"/>
            </a:endParaRPr>
          </a:p>
          <a:p>
            <a:pPr marL="457200" indent="-457200"/>
            <a:r>
              <a:rPr kumimoji="1" lang="zh-CN" altLang="en-US" b="1" dirty="0">
                <a:latin typeface="Times New Roman" pitchFamily="18" charset="0"/>
              </a:rPr>
              <a:t>例：</a:t>
            </a:r>
            <a:r>
              <a:rPr kumimoji="1" lang="en-US" altLang="zh-CN" b="1" dirty="0">
                <a:latin typeface="Times New Roman" pitchFamily="18" charset="0"/>
              </a:rPr>
              <a:t>I/O</a:t>
            </a:r>
            <a:r>
              <a:rPr kumimoji="1" lang="zh-CN" altLang="en-US" b="1" dirty="0">
                <a:latin typeface="Times New Roman" pitchFamily="18" charset="0"/>
              </a:rPr>
              <a:t>型进程</a:t>
            </a:r>
            <a:r>
              <a:rPr kumimoji="1" lang="en-US" altLang="zh-CN" b="1" dirty="0">
                <a:latin typeface="Times New Roman" pitchFamily="18" charset="0"/>
              </a:rPr>
              <a:t>&gt;</a:t>
            </a:r>
            <a:r>
              <a:rPr kumimoji="1" lang="zh-CN" altLang="en-US" b="1" dirty="0">
                <a:latin typeface="Times New Roman" pitchFamily="18" charset="0"/>
              </a:rPr>
              <a:t>计算型进程。所谓</a:t>
            </a:r>
            <a:r>
              <a:rPr kumimoji="1" lang="en-US" altLang="zh-CN" b="1" dirty="0">
                <a:latin typeface="Times New Roman" pitchFamily="18" charset="0"/>
              </a:rPr>
              <a:t>I/O</a:t>
            </a:r>
            <a:r>
              <a:rPr kumimoji="1" lang="zh-CN" altLang="en-US" b="1" dirty="0">
                <a:latin typeface="Times New Roman" pitchFamily="18" charset="0"/>
              </a:rPr>
              <a:t>型进程，是指那些会频繁使用</a:t>
            </a:r>
            <a:r>
              <a:rPr kumimoji="1" lang="en-US" altLang="zh-CN" b="1" dirty="0">
                <a:latin typeface="Times New Roman" pitchFamily="18" charset="0"/>
              </a:rPr>
              <a:t>I/O</a:t>
            </a:r>
            <a:r>
              <a:rPr kumimoji="1" lang="zh-CN" altLang="en-US" b="1" dirty="0">
                <a:latin typeface="Times New Roman" pitchFamily="18" charset="0"/>
              </a:rPr>
              <a:t>设备的进程，而计算型进程是那些频繁使用</a:t>
            </a:r>
            <a:r>
              <a:rPr kumimoji="1" lang="en-US" altLang="zh-CN" b="1" dirty="0">
                <a:latin typeface="Times New Roman" pitchFamily="18" charset="0"/>
              </a:rPr>
              <a:t>CPU</a:t>
            </a:r>
            <a:r>
              <a:rPr kumimoji="1" lang="zh-CN" altLang="en-US" b="1" dirty="0">
                <a:latin typeface="Times New Roman" pitchFamily="18" charset="0"/>
              </a:rPr>
              <a:t>的进程（很少使用</a:t>
            </a:r>
            <a:r>
              <a:rPr kumimoji="1" lang="en-US" altLang="zh-CN" b="1" dirty="0">
                <a:latin typeface="Times New Roman" pitchFamily="18" charset="0"/>
              </a:rPr>
              <a:t>I/O</a:t>
            </a:r>
            <a:r>
              <a:rPr kumimoji="1" lang="zh-CN" altLang="en-US" b="1" dirty="0">
                <a:latin typeface="Times New Roman" pitchFamily="18" charset="0"/>
              </a:rPr>
              <a:t>设备）。</a:t>
            </a:r>
            <a:r>
              <a:rPr kumimoji="1" lang="en-US" altLang="zh-CN" b="1" dirty="0">
                <a:latin typeface="Times New Roman" pitchFamily="18" charset="0"/>
              </a:rPr>
              <a:t>I/O</a:t>
            </a:r>
            <a:r>
              <a:rPr kumimoji="1" lang="zh-CN" altLang="en-US" b="1" dirty="0">
                <a:latin typeface="Times New Roman" pitchFamily="18" charset="0"/>
              </a:rPr>
              <a:t>设备（如打印机）的处理速度要比</a:t>
            </a:r>
            <a:r>
              <a:rPr kumimoji="1" lang="en-US" altLang="zh-CN" b="1" dirty="0">
                <a:latin typeface="Times New Roman" pitchFamily="18" charset="0"/>
              </a:rPr>
              <a:t>CPU</a:t>
            </a:r>
            <a:r>
              <a:rPr kumimoji="1" lang="zh-CN" altLang="en-US" b="1" dirty="0">
                <a:latin typeface="Times New Roman" pitchFamily="18" charset="0"/>
              </a:rPr>
              <a:t>慢得多，因此若将</a:t>
            </a:r>
            <a:r>
              <a:rPr kumimoji="1" lang="en-US" altLang="zh-CN" b="1" dirty="0">
                <a:latin typeface="Times New Roman" pitchFamily="18" charset="0"/>
              </a:rPr>
              <a:t>I/O</a:t>
            </a:r>
            <a:r>
              <a:rPr kumimoji="1" lang="zh-CN" altLang="en-US" b="1" dirty="0">
                <a:latin typeface="Times New Roman" pitchFamily="18" charset="0"/>
              </a:rPr>
              <a:t>型进程的优先级设置的更高，就更有可能让</a:t>
            </a:r>
            <a:r>
              <a:rPr kumimoji="1" lang="en-US" altLang="zh-CN" b="1" dirty="0">
                <a:latin typeface="Times New Roman" pitchFamily="18" charset="0"/>
              </a:rPr>
              <a:t>I/O</a:t>
            </a:r>
            <a:r>
              <a:rPr kumimoji="1" lang="zh-CN" altLang="en-US" b="1" dirty="0">
                <a:latin typeface="Times New Roman" pitchFamily="18" charset="0"/>
              </a:rPr>
              <a:t>设备尽早开始工作，进而提升系统的整体效率。</a:t>
            </a:r>
          </a:p>
          <a:p>
            <a:pPr marL="457200" indent="-457200"/>
            <a:r>
              <a:rPr kumimoji="1" lang="en-US" altLang="zh-CN" sz="2400" b="1" dirty="0">
                <a:solidFill>
                  <a:schemeClr val="accent2"/>
                </a:solidFill>
                <a:latin typeface="Times New Roman" pitchFamily="18" charset="0"/>
              </a:rPr>
              <a:t>(3) </a:t>
            </a:r>
            <a:r>
              <a:rPr kumimoji="1" lang="zh-CN" altLang="en-US" sz="2400" b="1" dirty="0">
                <a:solidFill>
                  <a:schemeClr val="accent2"/>
                </a:solidFill>
                <a:latin typeface="Times New Roman" pitchFamily="18" charset="0"/>
              </a:rPr>
              <a:t>用户要求。</a:t>
            </a:r>
          </a:p>
          <a:p>
            <a:pPr marL="457200" indent="-457200"/>
            <a:r>
              <a:rPr kumimoji="1" lang="zh-CN" altLang="en-US" b="1" dirty="0">
                <a:latin typeface="Times New Roman" pitchFamily="18" charset="0"/>
              </a:rPr>
              <a:t>由用户进程的紧迫程度和用户所付费用的多少来确定优先权。</a:t>
            </a:r>
            <a:endParaRPr kumimoji="1" lang="en-US" altLang="zh-CN" b="1" dirty="0">
              <a:latin typeface="Times New Roman" pitchFamily="18" charset="0"/>
            </a:endParaRPr>
          </a:p>
          <a:p>
            <a:pPr marL="457200" indent="-457200"/>
            <a:r>
              <a:rPr kumimoji="1" lang="zh-CN" altLang="en-US" b="1" dirty="0">
                <a:latin typeface="Times New Roman" pitchFamily="18" charset="0"/>
              </a:rPr>
              <a:t>例：交互型进程</a:t>
            </a:r>
            <a:r>
              <a:rPr kumimoji="1" lang="en-US" altLang="zh-CN" b="1" dirty="0">
                <a:latin typeface="Times New Roman" pitchFamily="18" charset="0"/>
              </a:rPr>
              <a:t>&gt;</a:t>
            </a:r>
            <a:r>
              <a:rPr kumimoji="1" lang="zh-CN" altLang="en-US" b="1" dirty="0">
                <a:latin typeface="Times New Roman" pitchFamily="18" charset="0"/>
              </a:rPr>
              <a:t>非交互型进程（或前台进程</a:t>
            </a:r>
            <a:r>
              <a:rPr kumimoji="1" lang="en-US" altLang="zh-CN" b="1" dirty="0">
                <a:latin typeface="Times New Roman" pitchFamily="18" charset="0"/>
              </a:rPr>
              <a:t>&gt;</a:t>
            </a:r>
            <a:r>
              <a:rPr kumimoji="1" lang="zh-CN" altLang="en-US" b="1" dirty="0">
                <a:latin typeface="Times New Roman" pitchFamily="18" charset="0"/>
              </a:rPr>
              <a:t>后台进程）。大家平时在使用手机时，在前台运行的正在和你交互的进程应该更快速地响应你，因此自然需要被优先处理。</a:t>
            </a:r>
            <a:endParaRPr kumimoji="1" lang="zh-CN" altLang="en-US" sz="2400" b="1" dirty="0">
              <a:latin typeface="Times New Roman" pitchFamily="18" charset="0"/>
            </a:endParaRPr>
          </a:p>
        </p:txBody>
      </p:sp>
      <p:sp>
        <p:nvSpPr>
          <p:cNvPr id="2" name="Rectangle 2">
            <a:extLst>
              <a:ext uri="{FF2B5EF4-FFF2-40B4-BE49-F238E27FC236}">
                <a16:creationId xmlns:a16="http://schemas.microsoft.com/office/drawing/2014/main" id="{49B2CA01-76B8-52C6-3951-6DF43B2D3A55}"/>
              </a:ext>
            </a:extLst>
          </p:cNvPr>
          <p:cNvSpPr txBox="1">
            <a:spLocks noChangeArrowheads="1"/>
          </p:cNvSpPr>
          <p:nvPr/>
        </p:nvSpPr>
        <p:spPr>
          <a:xfrm>
            <a:off x="406400" y="743405"/>
            <a:ext cx="11379200" cy="381000"/>
          </a:xfrm>
          <a:prstGeom prst="rect">
            <a:avLst/>
          </a:prstGeom>
        </p:spPr>
        <p:txBody>
          <a:bodyPr/>
          <a:lstStyle>
            <a:lvl1pPr algn="l" rtl="0" eaLnBrk="0" fontAlgn="base" hangingPunct="0">
              <a:lnSpc>
                <a:spcPct val="85000"/>
              </a:lnSpc>
              <a:spcBef>
                <a:spcPct val="0"/>
              </a:spcBef>
              <a:spcAft>
                <a:spcPct val="0"/>
              </a:spcAft>
              <a:defRPr sz="2800" b="1">
                <a:solidFill>
                  <a:schemeClr val="tx2"/>
                </a:solidFill>
                <a:latin typeface="+mj-lt"/>
                <a:ea typeface="+mj-ea"/>
                <a:cs typeface="+mj-cs"/>
              </a:defRPr>
            </a:lvl1pPr>
            <a:lvl2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2pPr>
            <a:lvl3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3pPr>
            <a:lvl4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4pPr>
            <a:lvl5pPr algn="l" rtl="0" eaLnBrk="0" fontAlgn="base" hangingPunct="0">
              <a:lnSpc>
                <a:spcPct val="85000"/>
              </a:lnSpc>
              <a:spcBef>
                <a:spcPct val="0"/>
              </a:spcBef>
              <a:spcAft>
                <a:spcPct val="0"/>
              </a:spcAft>
              <a:defRPr sz="2800" b="1">
                <a:solidFill>
                  <a:schemeClr val="tx2"/>
                </a:solidFill>
                <a:latin typeface="Times New Roman" pitchFamily="18" charset="0"/>
                <a:ea typeface="仿宋_GB2312" pitchFamily="49" charset="-122"/>
              </a:defRPr>
            </a:lvl5pPr>
            <a:lvl6pPr marL="4572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6pPr>
            <a:lvl7pPr marL="9144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7pPr>
            <a:lvl8pPr marL="13716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8pPr>
            <a:lvl9pPr marL="1828800" algn="l" rtl="0" fontAlgn="base">
              <a:lnSpc>
                <a:spcPct val="85000"/>
              </a:lnSpc>
              <a:spcBef>
                <a:spcPct val="0"/>
              </a:spcBef>
              <a:spcAft>
                <a:spcPct val="0"/>
              </a:spcAft>
              <a:defRPr sz="2800" b="1">
                <a:solidFill>
                  <a:schemeClr val="tx2"/>
                </a:solidFill>
                <a:latin typeface="Times New Roman" pitchFamily="18" charset="0"/>
                <a:ea typeface="仿宋_GB2312" pitchFamily="49" charset="-122"/>
              </a:defRPr>
            </a:lvl9pPr>
          </a:lstStyle>
          <a:p>
            <a:r>
              <a:rPr lang="zh-CN" altLang="en-US" sz="3200" b="0" kern="0"/>
              <a:t>高优先权优先调度算法</a:t>
            </a:r>
            <a:endParaRPr lang="zh-CN" altLang="en-US" sz="3200" b="0"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28450">
                                            <p:txEl>
                                              <p:pRg st="1" end="1"/>
                                            </p:txEl>
                                          </p:spTgt>
                                        </p:tgtEl>
                                        <p:attrNameLst>
                                          <p:attrName>style.visibility</p:attrName>
                                        </p:attrNameLst>
                                      </p:cBhvr>
                                      <p:to>
                                        <p:strVal val="visible"/>
                                      </p:to>
                                    </p:set>
                                    <p:animEffect transition="in" filter="blinds(horizontal)">
                                      <p:cBhvr>
                                        <p:cTn id="7" dur="500"/>
                                        <p:tgtEl>
                                          <p:spTgt spid="1128450">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28450">
                                            <p:txEl>
                                              <p:pRg st="3" end="3"/>
                                            </p:txEl>
                                          </p:spTgt>
                                        </p:tgtEl>
                                        <p:attrNameLst>
                                          <p:attrName>style.visibility</p:attrName>
                                        </p:attrNameLst>
                                      </p:cBhvr>
                                      <p:to>
                                        <p:strVal val="visible"/>
                                      </p:to>
                                    </p:set>
                                    <p:animEffect transition="in" filter="blinds(horizontal)">
                                      <p:cBhvr>
                                        <p:cTn id="11" dur="500"/>
                                        <p:tgtEl>
                                          <p:spTgt spid="1128450">
                                            <p:txEl>
                                              <p:pRg st="3" end="3"/>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28450">
                                            <p:txEl>
                                              <p:pRg st="6" end="6"/>
                                            </p:txEl>
                                          </p:spTgt>
                                        </p:tgtEl>
                                        <p:attrNameLst>
                                          <p:attrName>style.visibility</p:attrName>
                                        </p:attrNameLst>
                                      </p:cBhvr>
                                      <p:to>
                                        <p:strVal val="visible"/>
                                      </p:to>
                                    </p:set>
                                    <p:animEffect transition="in" filter="blinds(horizontal)">
                                      <p:cBhvr>
                                        <p:cTn id="15" dur="500"/>
                                        <p:tgtEl>
                                          <p:spTgt spid="1128450">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28450">
                                            <p:txEl>
                                              <p:pRg st="2" end="2"/>
                                            </p:txEl>
                                          </p:spTgt>
                                        </p:tgtEl>
                                        <p:attrNameLst>
                                          <p:attrName>style.visibility</p:attrName>
                                        </p:attrNameLst>
                                      </p:cBhvr>
                                      <p:to>
                                        <p:strVal val="visible"/>
                                      </p:to>
                                    </p:set>
                                    <p:animEffect transition="in" filter="blinds(horizontal)">
                                      <p:cBhvr>
                                        <p:cTn id="20" dur="500"/>
                                        <p:tgtEl>
                                          <p:spTgt spid="1128450">
                                            <p:txEl>
                                              <p:pRg st="2" end="2"/>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28450">
                                            <p:txEl>
                                              <p:pRg st="4" end="4"/>
                                            </p:txEl>
                                          </p:spTgt>
                                        </p:tgtEl>
                                        <p:attrNameLst>
                                          <p:attrName>style.visibility</p:attrName>
                                        </p:attrNameLst>
                                      </p:cBhvr>
                                      <p:to>
                                        <p:strVal val="visible"/>
                                      </p:to>
                                    </p:set>
                                    <p:animEffect transition="in" filter="blinds(horizontal)">
                                      <p:cBhvr>
                                        <p:cTn id="24" dur="500"/>
                                        <p:tgtEl>
                                          <p:spTgt spid="1128450">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28450">
                                            <p:txEl>
                                              <p:pRg st="5" end="5"/>
                                            </p:txEl>
                                          </p:spTgt>
                                        </p:tgtEl>
                                        <p:attrNameLst>
                                          <p:attrName>style.visibility</p:attrName>
                                        </p:attrNameLst>
                                      </p:cBhvr>
                                      <p:to>
                                        <p:strVal val="visible"/>
                                      </p:to>
                                    </p:set>
                                    <p:animEffect transition="in" filter="blinds(horizontal)">
                                      <p:cBhvr>
                                        <p:cTn id="28" dur="500"/>
                                        <p:tgtEl>
                                          <p:spTgt spid="1128450">
                                            <p:txEl>
                                              <p:pRg st="5" end="5"/>
                                            </p:txEl>
                                          </p:spTgt>
                                        </p:tgtEl>
                                      </p:cBhvr>
                                    </p:animEffect>
                                  </p:childTnLst>
                                </p:cTn>
                              </p:par>
                            </p:childTnLst>
                          </p:cTn>
                        </p:par>
                        <p:par>
                          <p:cTn id="29" fill="hold">
                            <p:stCondLst>
                              <p:cond delay="1500"/>
                            </p:stCondLst>
                            <p:childTnLst>
                              <p:par>
                                <p:cTn id="30" presetID="3" presetClass="entr" presetSubtype="10" fill="hold" nodeType="afterEffect">
                                  <p:stCondLst>
                                    <p:cond delay="0"/>
                                  </p:stCondLst>
                                  <p:childTnLst>
                                    <p:set>
                                      <p:cBhvr>
                                        <p:cTn id="31" dur="1" fill="hold">
                                          <p:stCondLst>
                                            <p:cond delay="0"/>
                                          </p:stCondLst>
                                        </p:cTn>
                                        <p:tgtEl>
                                          <p:spTgt spid="1128450">
                                            <p:txEl>
                                              <p:pRg st="7" end="7"/>
                                            </p:txEl>
                                          </p:spTgt>
                                        </p:tgtEl>
                                        <p:attrNameLst>
                                          <p:attrName>style.visibility</p:attrName>
                                        </p:attrNameLst>
                                      </p:cBhvr>
                                      <p:to>
                                        <p:strVal val="visible"/>
                                      </p:to>
                                    </p:set>
                                    <p:animEffect transition="in" filter="blinds(horizontal)">
                                      <p:cBhvr>
                                        <p:cTn id="32" dur="500"/>
                                        <p:tgtEl>
                                          <p:spTgt spid="1128450">
                                            <p:txEl>
                                              <p:pRg st="7" end="7"/>
                                            </p:txEl>
                                          </p:spTgt>
                                        </p:tgtEl>
                                      </p:cBhvr>
                                    </p:animEffect>
                                  </p:childTnLst>
                                </p:cTn>
                              </p:par>
                            </p:childTnLst>
                          </p:cTn>
                        </p:par>
                        <p:par>
                          <p:cTn id="33" fill="hold">
                            <p:stCondLst>
                              <p:cond delay="2000"/>
                            </p:stCondLst>
                            <p:childTnLst>
                              <p:par>
                                <p:cTn id="34" presetID="3" presetClass="entr" presetSubtype="10" fill="hold" nodeType="afterEffect">
                                  <p:stCondLst>
                                    <p:cond delay="0"/>
                                  </p:stCondLst>
                                  <p:childTnLst>
                                    <p:set>
                                      <p:cBhvr>
                                        <p:cTn id="35" dur="1" fill="hold">
                                          <p:stCondLst>
                                            <p:cond delay="0"/>
                                          </p:stCondLst>
                                        </p:cTn>
                                        <p:tgtEl>
                                          <p:spTgt spid="1128450">
                                            <p:txEl>
                                              <p:pRg st="8" end="8"/>
                                            </p:txEl>
                                          </p:spTgt>
                                        </p:tgtEl>
                                        <p:attrNameLst>
                                          <p:attrName>style.visibility</p:attrName>
                                        </p:attrNameLst>
                                      </p:cBhvr>
                                      <p:to>
                                        <p:strVal val="visible"/>
                                      </p:to>
                                    </p:set>
                                    <p:animEffect transition="in" filter="blinds(horizontal)">
                                      <p:cBhvr>
                                        <p:cTn id="36" dur="500"/>
                                        <p:tgtEl>
                                          <p:spTgt spid="112845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0498" name="Rectangle 2"/>
          <p:cNvSpPr>
            <a:spLocks noGrp="1" noChangeArrowheads="1"/>
          </p:cNvSpPr>
          <p:nvPr>
            <p:ph type="title"/>
          </p:nvPr>
        </p:nvSpPr>
        <p:spPr/>
        <p:txBody>
          <a:bodyPr/>
          <a:lstStyle/>
          <a:p>
            <a:r>
              <a:rPr lang="zh-CN" altLang="en-US" sz="3200" b="0" dirty="0"/>
              <a:t>高优先权优先调度算法</a:t>
            </a:r>
          </a:p>
        </p:txBody>
      </p:sp>
      <p:sp>
        <p:nvSpPr>
          <p:cNvPr id="1130499" name="Rectangle 3"/>
          <p:cNvSpPr>
            <a:spLocks noGrp="1" noChangeArrowheads="1"/>
          </p:cNvSpPr>
          <p:nvPr>
            <p:ph type="body" idx="1"/>
          </p:nvPr>
        </p:nvSpPr>
        <p:spPr>
          <a:xfrm>
            <a:off x="1447800" y="1524000"/>
            <a:ext cx="8458200" cy="5867400"/>
          </a:xfrm>
        </p:spPr>
        <p:txBody>
          <a:bodyPr/>
          <a:lstStyle/>
          <a:p>
            <a:pPr lvl="1">
              <a:lnSpc>
                <a:spcPct val="95000"/>
              </a:lnSpc>
              <a:spcBef>
                <a:spcPct val="15000"/>
              </a:spcBef>
            </a:pPr>
            <a:r>
              <a:rPr lang="zh-CN" altLang="en-US" sz="2600" b="1" dirty="0">
                <a:ea typeface="楷体_GB2312" pitchFamily="49" charset="-122"/>
              </a:rPr>
              <a:t>动态优先权</a:t>
            </a:r>
          </a:p>
          <a:p>
            <a:pPr lvl="2">
              <a:lnSpc>
                <a:spcPct val="90000"/>
              </a:lnSpc>
              <a:spcBef>
                <a:spcPct val="15000"/>
              </a:spcBef>
            </a:pPr>
            <a:r>
              <a:rPr lang="zh-CN" altLang="en-US" sz="2800" b="1" dirty="0">
                <a:ea typeface="楷体_GB2312" pitchFamily="49" charset="-122"/>
              </a:rPr>
              <a:t>随</a:t>
            </a:r>
            <a:r>
              <a:rPr lang="zh-CN" altLang="en-US" sz="2800" b="1" dirty="0">
                <a:solidFill>
                  <a:srgbClr val="990000"/>
                </a:solidFill>
                <a:ea typeface="楷体_GB2312" pitchFamily="49" charset="-122"/>
              </a:rPr>
              <a:t>进程的推进</a:t>
            </a:r>
            <a:r>
              <a:rPr lang="zh-CN" altLang="en-US" sz="2800" b="1" dirty="0">
                <a:ea typeface="楷体_GB2312" pitchFamily="49" charset="-122"/>
              </a:rPr>
              <a:t>或随其</a:t>
            </a:r>
            <a:r>
              <a:rPr lang="zh-CN" altLang="en-US" sz="2800" b="1" dirty="0">
                <a:solidFill>
                  <a:srgbClr val="990000"/>
                </a:solidFill>
                <a:ea typeface="楷体_GB2312" pitchFamily="49" charset="-122"/>
              </a:rPr>
              <a:t>等待时间</a:t>
            </a:r>
            <a:r>
              <a:rPr lang="zh-CN" altLang="en-US" sz="2800" b="1" dirty="0">
                <a:ea typeface="楷体_GB2312" pitchFamily="49" charset="-122"/>
              </a:rPr>
              <a:t>的增加而改变，以获得更好的调度性能</a:t>
            </a:r>
          </a:p>
          <a:p>
            <a:pPr lvl="2">
              <a:lnSpc>
                <a:spcPct val="90000"/>
              </a:lnSpc>
              <a:spcBef>
                <a:spcPct val="15000"/>
              </a:spcBef>
            </a:pPr>
            <a:r>
              <a:rPr lang="zh-CN" altLang="en-US" sz="2800" b="1" dirty="0">
                <a:ea typeface="楷体_GB2312" pitchFamily="49" charset="-122"/>
              </a:rPr>
              <a:t>可规定，在</a:t>
            </a:r>
            <a:r>
              <a:rPr lang="zh-CN" altLang="en-US" sz="2800" b="1" dirty="0">
                <a:solidFill>
                  <a:srgbClr val="990000"/>
                </a:solidFill>
                <a:ea typeface="楷体_GB2312" pitchFamily="49" charset="-122"/>
              </a:rPr>
              <a:t>就绪队列中的进程</a:t>
            </a:r>
            <a:r>
              <a:rPr lang="zh-CN" altLang="en-US" sz="2800" b="1" dirty="0">
                <a:ea typeface="楷体_GB2312" pitchFamily="49" charset="-122"/>
              </a:rPr>
              <a:t>，随其</a:t>
            </a:r>
            <a:r>
              <a:rPr lang="zh-CN" altLang="en-US" sz="2800" b="1" dirty="0">
                <a:solidFill>
                  <a:srgbClr val="990000"/>
                </a:solidFill>
                <a:ea typeface="楷体_GB2312" pitchFamily="49" charset="-122"/>
              </a:rPr>
              <a:t>等待时间的增长</a:t>
            </a:r>
            <a:r>
              <a:rPr lang="zh-CN" altLang="en-US" sz="2800" b="1" dirty="0">
                <a:ea typeface="楷体_GB2312" pitchFamily="49" charset="-122"/>
              </a:rPr>
              <a:t>，其优先权</a:t>
            </a:r>
            <a:r>
              <a:rPr lang="zh-CN" altLang="en-US" sz="2800" b="1" dirty="0">
                <a:solidFill>
                  <a:srgbClr val="990000"/>
                </a:solidFill>
                <a:ea typeface="楷体_GB2312" pitchFamily="49" charset="-122"/>
              </a:rPr>
              <a:t>以速率</a:t>
            </a:r>
            <a:r>
              <a:rPr lang="en-US" altLang="zh-CN" sz="2800" b="1" dirty="0">
                <a:solidFill>
                  <a:srgbClr val="990000"/>
                </a:solidFill>
                <a:ea typeface="楷体_GB2312" pitchFamily="49" charset="-122"/>
              </a:rPr>
              <a:t>a</a:t>
            </a:r>
            <a:r>
              <a:rPr lang="zh-CN" altLang="en-US" sz="2800" b="1" dirty="0">
                <a:solidFill>
                  <a:srgbClr val="990000"/>
                </a:solidFill>
                <a:ea typeface="楷体_GB2312" pitchFamily="49" charset="-122"/>
              </a:rPr>
              <a:t>提高</a:t>
            </a:r>
          </a:p>
          <a:p>
            <a:pPr lvl="3">
              <a:lnSpc>
                <a:spcPct val="90000"/>
              </a:lnSpc>
              <a:spcBef>
                <a:spcPct val="15000"/>
              </a:spcBef>
            </a:pPr>
            <a:r>
              <a:rPr lang="zh-CN" altLang="en-US" sz="1900" b="1" dirty="0">
                <a:latin typeface="Times New Roman" pitchFamily="18" charset="0"/>
                <a:ea typeface="楷体_GB2312" pitchFamily="49" charset="-122"/>
              </a:rPr>
              <a:t>具有</a:t>
            </a:r>
            <a:r>
              <a:rPr lang="zh-CN" altLang="en-US" sz="1900" b="1" dirty="0">
                <a:solidFill>
                  <a:srgbClr val="990000"/>
                </a:solidFill>
                <a:latin typeface="Times New Roman" pitchFamily="18" charset="0"/>
                <a:ea typeface="楷体_GB2312" pitchFamily="49" charset="-122"/>
              </a:rPr>
              <a:t>相同</a:t>
            </a:r>
            <a:r>
              <a:rPr lang="zh-CN" altLang="en-US" sz="1900" b="1" dirty="0">
                <a:latin typeface="Times New Roman" pitchFamily="18" charset="0"/>
                <a:ea typeface="楷体_GB2312" pitchFamily="49" charset="-122"/>
              </a:rPr>
              <a:t>优先权</a:t>
            </a:r>
            <a:r>
              <a:rPr lang="zh-CN" altLang="en-US" sz="1900" b="1" dirty="0">
                <a:solidFill>
                  <a:srgbClr val="990000"/>
                </a:solidFill>
                <a:latin typeface="Times New Roman" pitchFamily="18" charset="0"/>
                <a:ea typeface="楷体_GB2312" pitchFamily="49" charset="-122"/>
              </a:rPr>
              <a:t>初值</a:t>
            </a:r>
            <a:r>
              <a:rPr lang="zh-CN" altLang="en-US" sz="1900" b="1" dirty="0">
                <a:latin typeface="Times New Roman" pitchFamily="18" charset="0"/>
                <a:ea typeface="楷体_GB2312" pitchFamily="49" charset="-122"/>
              </a:rPr>
              <a:t>的进程，则</a:t>
            </a:r>
            <a:r>
              <a:rPr lang="zh-CN" altLang="en-US" sz="1900" b="1" dirty="0">
                <a:solidFill>
                  <a:srgbClr val="990000"/>
                </a:solidFill>
                <a:latin typeface="Times New Roman" pitchFamily="18" charset="0"/>
                <a:ea typeface="楷体_GB2312" pitchFamily="49" charset="-122"/>
              </a:rPr>
              <a:t>最先进入</a:t>
            </a:r>
            <a:r>
              <a:rPr lang="zh-CN" altLang="en-US" sz="1900" b="1" dirty="0">
                <a:latin typeface="Times New Roman" pitchFamily="18" charset="0"/>
                <a:ea typeface="楷体_GB2312" pitchFamily="49" charset="-122"/>
              </a:rPr>
              <a:t>就绪队列的进程，将因其动态优先权变得最高而</a:t>
            </a:r>
            <a:r>
              <a:rPr lang="zh-CN" altLang="en-US" sz="1900" b="1" dirty="0">
                <a:solidFill>
                  <a:srgbClr val="990000"/>
                </a:solidFill>
                <a:latin typeface="Times New Roman" pitchFamily="18" charset="0"/>
                <a:ea typeface="楷体_GB2312" pitchFamily="49" charset="-122"/>
              </a:rPr>
              <a:t>优先获得</a:t>
            </a:r>
            <a:r>
              <a:rPr lang="zh-CN" altLang="en-US" sz="1900" b="1" dirty="0">
                <a:latin typeface="Times New Roman" pitchFamily="18" charset="0"/>
                <a:ea typeface="楷体_GB2312" pitchFamily="49" charset="-122"/>
              </a:rPr>
              <a:t>处理机，此即</a:t>
            </a:r>
            <a:r>
              <a:rPr lang="en-US" altLang="zh-CN" sz="1900" b="1" dirty="0">
                <a:latin typeface="Times New Roman" pitchFamily="18" charset="0"/>
                <a:ea typeface="楷体_GB2312" pitchFamily="49" charset="-122"/>
              </a:rPr>
              <a:t>FCFS</a:t>
            </a:r>
            <a:r>
              <a:rPr lang="zh-CN" altLang="en-US" sz="1900" b="1" dirty="0">
                <a:latin typeface="Times New Roman" pitchFamily="18" charset="0"/>
                <a:ea typeface="楷体_GB2312" pitchFamily="49" charset="-122"/>
              </a:rPr>
              <a:t>算法</a:t>
            </a:r>
          </a:p>
          <a:p>
            <a:pPr lvl="3">
              <a:lnSpc>
                <a:spcPct val="90000"/>
              </a:lnSpc>
              <a:spcBef>
                <a:spcPct val="15000"/>
              </a:spcBef>
            </a:pPr>
            <a:r>
              <a:rPr lang="zh-CN" altLang="en-US" sz="1900" b="1" dirty="0">
                <a:latin typeface="Times New Roman" pitchFamily="18" charset="0"/>
                <a:ea typeface="楷体_GB2312" pitchFamily="49" charset="-122"/>
              </a:rPr>
              <a:t>具有各不相同的优先权初值的就绪进程，则</a:t>
            </a:r>
            <a:r>
              <a:rPr lang="zh-CN" altLang="en-US" sz="1900" b="1" dirty="0">
                <a:solidFill>
                  <a:srgbClr val="990000"/>
                </a:solidFill>
                <a:latin typeface="Times New Roman" pitchFamily="18" charset="0"/>
                <a:ea typeface="楷体_GB2312" pitchFamily="49" charset="-122"/>
              </a:rPr>
              <a:t>优先权初值低</a:t>
            </a:r>
            <a:r>
              <a:rPr lang="zh-CN" altLang="en-US" sz="1900" b="1" dirty="0">
                <a:latin typeface="Times New Roman" pitchFamily="18" charset="0"/>
                <a:ea typeface="楷体_GB2312" pitchFamily="49" charset="-122"/>
              </a:rPr>
              <a:t>的进程，在</a:t>
            </a:r>
            <a:r>
              <a:rPr lang="zh-CN" altLang="en-US" sz="1900" b="1" dirty="0">
                <a:solidFill>
                  <a:srgbClr val="990000"/>
                </a:solidFill>
                <a:latin typeface="Times New Roman" pitchFamily="18" charset="0"/>
                <a:ea typeface="楷体_GB2312" pitchFamily="49" charset="-122"/>
              </a:rPr>
              <a:t>等待了足够的时间</a:t>
            </a:r>
            <a:r>
              <a:rPr lang="zh-CN" altLang="en-US" sz="1900" b="1" dirty="0">
                <a:latin typeface="Times New Roman" pitchFamily="18" charset="0"/>
                <a:ea typeface="楷体_GB2312" pitchFamily="49" charset="-122"/>
              </a:rPr>
              <a:t>后，其</a:t>
            </a:r>
            <a:r>
              <a:rPr lang="zh-CN" altLang="en-US" sz="1900" b="1" dirty="0">
                <a:solidFill>
                  <a:srgbClr val="990000"/>
                </a:solidFill>
                <a:latin typeface="Times New Roman" pitchFamily="18" charset="0"/>
                <a:ea typeface="楷体_GB2312" pitchFamily="49" charset="-122"/>
              </a:rPr>
              <a:t>优先权便可能升为最高</a:t>
            </a:r>
            <a:r>
              <a:rPr lang="zh-CN" altLang="en-US" sz="1900" b="1" dirty="0">
                <a:latin typeface="Times New Roman" pitchFamily="18" charset="0"/>
                <a:ea typeface="楷体_GB2312" pitchFamily="49" charset="-122"/>
              </a:rPr>
              <a:t>，从而可以获得处理机</a:t>
            </a:r>
          </a:p>
          <a:p>
            <a:pPr lvl="2">
              <a:lnSpc>
                <a:spcPct val="90000"/>
              </a:lnSpc>
              <a:spcBef>
                <a:spcPct val="15000"/>
              </a:spcBef>
            </a:pPr>
            <a:r>
              <a:rPr lang="zh-CN" altLang="en-US" sz="2800" b="1" dirty="0">
                <a:ea typeface="楷体_GB2312" pitchFamily="49" charset="-122"/>
              </a:rPr>
              <a:t>当采用抢占式优先权调度算法时，如果再</a:t>
            </a:r>
            <a:r>
              <a:rPr lang="zh-CN" altLang="en-US" sz="2800" b="1" dirty="0">
                <a:solidFill>
                  <a:srgbClr val="990000"/>
                </a:solidFill>
                <a:ea typeface="楷体_GB2312" pitchFamily="49" charset="-122"/>
              </a:rPr>
              <a:t>规定当前进程</a:t>
            </a:r>
            <a:r>
              <a:rPr lang="zh-CN" altLang="en-US" sz="2800" b="1" dirty="0">
                <a:ea typeface="楷体_GB2312" pitchFamily="49" charset="-122"/>
              </a:rPr>
              <a:t>的优先权</a:t>
            </a:r>
            <a:r>
              <a:rPr lang="zh-CN" altLang="en-US" sz="2800" b="1" dirty="0">
                <a:solidFill>
                  <a:srgbClr val="990000"/>
                </a:solidFill>
                <a:ea typeface="楷体_GB2312" pitchFamily="49" charset="-122"/>
              </a:rPr>
              <a:t>以速率</a:t>
            </a:r>
            <a:r>
              <a:rPr lang="en-US" altLang="zh-CN" sz="2800" b="1" dirty="0">
                <a:solidFill>
                  <a:srgbClr val="990000"/>
                </a:solidFill>
                <a:ea typeface="楷体_GB2312" pitchFamily="49" charset="-122"/>
              </a:rPr>
              <a:t>b</a:t>
            </a:r>
            <a:r>
              <a:rPr lang="zh-CN" altLang="en-US" sz="2800" b="1" dirty="0">
                <a:solidFill>
                  <a:srgbClr val="990000"/>
                </a:solidFill>
                <a:ea typeface="楷体_GB2312" pitchFamily="49" charset="-122"/>
              </a:rPr>
              <a:t>下降</a:t>
            </a:r>
            <a:r>
              <a:rPr lang="zh-CN" altLang="en-US" sz="2800" b="1" dirty="0">
                <a:ea typeface="楷体_GB2312" pitchFamily="49" charset="-122"/>
              </a:rPr>
              <a:t>，则可防止一个长作业长期地</a:t>
            </a:r>
            <a:r>
              <a:rPr lang="zh-CN" altLang="en-US" sz="2800" b="1" dirty="0">
                <a:solidFill>
                  <a:srgbClr val="990000"/>
                </a:solidFill>
                <a:ea typeface="楷体_GB2312" pitchFamily="49" charset="-122"/>
              </a:rPr>
              <a:t>垄断</a:t>
            </a:r>
            <a:r>
              <a:rPr lang="zh-CN" altLang="en-US" sz="2800" b="1" dirty="0">
                <a:ea typeface="楷体_GB2312" pitchFamily="49" charset="-122"/>
              </a:rPr>
              <a:t>处理机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30499">
                                            <p:txEl>
                                              <p:pRg st="0" end="0"/>
                                            </p:txEl>
                                          </p:spTgt>
                                        </p:tgtEl>
                                        <p:attrNameLst>
                                          <p:attrName>style.visibility</p:attrName>
                                        </p:attrNameLst>
                                      </p:cBhvr>
                                      <p:to>
                                        <p:strVal val="visible"/>
                                      </p:to>
                                    </p:set>
                                    <p:animEffect transition="in" filter="wipe(up)">
                                      <p:cBhvr>
                                        <p:cTn id="7" dur="500"/>
                                        <p:tgtEl>
                                          <p:spTgt spid="1130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30499">
                                            <p:txEl>
                                              <p:pRg st="1" end="1"/>
                                            </p:txEl>
                                          </p:spTgt>
                                        </p:tgtEl>
                                        <p:attrNameLst>
                                          <p:attrName>style.visibility</p:attrName>
                                        </p:attrNameLst>
                                      </p:cBhvr>
                                      <p:to>
                                        <p:strVal val="visible"/>
                                      </p:to>
                                    </p:set>
                                    <p:animEffect transition="in" filter="wipe(up)">
                                      <p:cBhvr>
                                        <p:cTn id="12" dur="500"/>
                                        <p:tgtEl>
                                          <p:spTgt spid="1130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30499">
                                            <p:txEl>
                                              <p:pRg st="2" end="2"/>
                                            </p:txEl>
                                          </p:spTgt>
                                        </p:tgtEl>
                                        <p:attrNameLst>
                                          <p:attrName>style.visibility</p:attrName>
                                        </p:attrNameLst>
                                      </p:cBhvr>
                                      <p:to>
                                        <p:strVal val="visible"/>
                                      </p:to>
                                    </p:set>
                                    <p:animEffect transition="in" filter="wipe(up)">
                                      <p:cBhvr>
                                        <p:cTn id="17" dur="500"/>
                                        <p:tgtEl>
                                          <p:spTgt spid="11304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30499">
                                            <p:txEl>
                                              <p:pRg st="3" end="3"/>
                                            </p:txEl>
                                          </p:spTgt>
                                        </p:tgtEl>
                                        <p:attrNameLst>
                                          <p:attrName>style.visibility</p:attrName>
                                        </p:attrNameLst>
                                      </p:cBhvr>
                                      <p:to>
                                        <p:strVal val="visible"/>
                                      </p:to>
                                    </p:set>
                                    <p:animEffect transition="in" filter="wipe(up)">
                                      <p:cBhvr>
                                        <p:cTn id="22" dur="500"/>
                                        <p:tgtEl>
                                          <p:spTgt spid="11304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30499">
                                            <p:txEl>
                                              <p:pRg st="4" end="4"/>
                                            </p:txEl>
                                          </p:spTgt>
                                        </p:tgtEl>
                                        <p:attrNameLst>
                                          <p:attrName>style.visibility</p:attrName>
                                        </p:attrNameLst>
                                      </p:cBhvr>
                                      <p:to>
                                        <p:strVal val="visible"/>
                                      </p:to>
                                    </p:set>
                                    <p:animEffect transition="in" filter="wipe(up)">
                                      <p:cBhvr>
                                        <p:cTn id="27" dur="500"/>
                                        <p:tgtEl>
                                          <p:spTgt spid="11304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30499">
                                            <p:txEl>
                                              <p:pRg st="5" end="5"/>
                                            </p:txEl>
                                          </p:spTgt>
                                        </p:tgtEl>
                                        <p:attrNameLst>
                                          <p:attrName>style.visibility</p:attrName>
                                        </p:attrNameLst>
                                      </p:cBhvr>
                                      <p:to>
                                        <p:strVal val="visible"/>
                                      </p:to>
                                    </p:set>
                                    <p:animEffect transition="in" filter="wipe(up)">
                                      <p:cBhvr>
                                        <p:cTn id="32" dur="500"/>
                                        <p:tgtEl>
                                          <p:spTgt spid="11304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499" grpId="0" build="p" bldLvl="5"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1522" name="Group 2"/>
          <p:cNvGraphicFramePr>
            <a:graphicFrameLocks noGrp="1"/>
          </p:cNvGraphicFramePr>
          <p:nvPr>
            <p:extLst>
              <p:ext uri="{D42A27DB-BD31-4B8C-83A1-F6EECF244321}">
                <p14:modId xmlns:p14="http://schemas.microsoft.com/office/powerpoint/2010/main" val="2650876932"/>
              </p:ext>
            </p:extLst>
          </p:nvPr>
        </p:nvGraphicFramePr>
        <p:xfrm>
          <a:off x="1676400" y="1524000"/>
          <a:ext cx="8763000" cy="4254502"/>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760413">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进程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服务</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静态优先权</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1606" name="Text Box 86"/>
          <p:cNvSpPr txBox="1">
            <a:spLocks noChangeArrowheads="1"/>
          </p:cNvSpPr>
          <p:nvPr/>
        </p:nvSpPr>
        <p:spPr bwMode="auto">
          <a:xfrm>
            <a:off x="577850" y="684212"/>
            <a:ext cx="6477000" cy="519113"/>
          </a:xfrm>
          <a:prstGeom prst="rect">
            <a:avLst/>
          </a:prstGeom>
          <a:noFill/>
          <a:ln w="9525">
            <a:noFill/>
            <a:miter lim="800000"/>
            <a:headEnd/>
            <a:tailEnd/>
          </a:ln>
          <a:effectLst/>
        </p:spPr>
        <p:txBody>
          <a:bodyPr>
            <a:spAutoFit/>
          </a:bodyPr>
          <a:lstStyle/>
          <a:p>
            <a:pPr>
              <a:spcBef>
                <a:spcPct val="50000"/>
              </a:spcBef>
            </a:pPr>
            <a:r>
              <a:rPr kumimoji="1" lang="zh-CN" altLang="en-US" sz="2800" b="1" dirty="0">
                <a:latin typeface="Times New Roman" pitchFamily="18" charset="0"/>
                <a:ea typeface="楷体_GB2312" pitchFamily="49" charset="-122"/>
              </a:rPr>
              <a:t>静态优先权，</a:t>
            </a:r>
            <a:r>
              <a:rPr kumimoji="1" lang="zh-CN" altLang="en-US" sz="2800" b="1" dirty="0">
                <a:solidFill>
                  <a:srgbClr val="990000"/>
                </a:solidFill>
                <a:latin typeface="Times New Roman" pitchFamily="18" charset="0"/>
                <a:ea typeface="楷体_GB2312" pitchFamily="49" charset="-122"/>
              </a:rPr>
              <a:t>非抢占式</a:t>
            </a:r>
            <a:r>
              <a:rPr kumimoji="1" lang="zh-CN" altLang="en-US" sz="2800" b="1" dirty="0">
                <a:latin typeface="Times New Roman" pitchFamily="18" charset="0"/>
                <a:ea typeface="楷体_GB2312" pitchFamily="49" charset="-122"/>
              </a:rPr>
              <a:t>（</a:t>
            </a:r>
            <a:r>
              <a:rPr kumimoji="1" lang="en-US" altLang="zh-CN" sz="2800" b="1" dirty="0">
                <a:latin typeface="Times New Roman" pitchFamily="18" charset="0"/>
                <a:ea typeface="楷体_GB2312" pitchFamily="49" charset="-122"/>
              </a:rPr>
              <a:t>1</a:t>
            </a:r>
            <a:r>
              <a:rPr kumimoji="1" lang="zh-CN" altLang="en-US" sz="2800" b="1" dirty="0">
                <a:latin typeface="Times New Roman" pitchFamily="18" charset="0"/>
                <a:ea typeface="楷体_GB2312" pitchFamily="49" charset="-122"/>
              </a:rPr>
              <a:t>为高优先权）</a:t>
            </a:r>
          </a:p>
        </p:txBody>
      </p:sp>
      <p:grpSp>
        <p:nvGrpSpPr>
          <p:cNvPr id="1131608" name="Group 88"/>
          <p:cNvGrpSpPr>
            <a:grpSpLocks/>
          </p:cNvGrpSpPr>
          <p:nvPr/>
        </p:nvGrpSpPr>
        <p:grpSpPr bwMode="auto">
          <a:xfrm>
            <a:off x="1981200" y="2362200"/>
            <a:ext cx="3657600" cy="520700"/>
            <a:chOff x="336" y="1688"/>
            <a:chExt cx="2304" cy="328"/>
          </a:xfrm>
        </p:grpSpPr>
        <p:sp>
          <p:nvSpPr>
            <p:cNvPr id="1131609" name="Text Box 89"/>
            <p:cNvSpPr txBox="1">
              <a:spLocks noChangeArrowheads="1"/>
            </p:cNvSpPr>
            <p:nvPr/>
          </p:nvSpPr>
          <p:spPr bwMode="auto">
            <a:xfrm>
              <a:off x="1008"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0</a:t>
              </a:r>
            </a:p>
          </p:txBody>
        </p:sp>
        <p:sp>
          <p:nvSpPr>
            <p:cNvPr id="1131610" name="Text Box 90"/>
            <p:cNvSpPr txBox="1">
              <a:spLocks noChangeArrowheads="1"/>
            </p:cNvSpPr>
            <p:nvPr/>
          </p:nvSpPr>
          <p:spPr bwMode="auto">
            <a:xfrm>
              <a:off x="1728"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1611" name="Text Box 91"/>
            <p:cNvSpPr txBox="1">
              <a:spLocks noChangeArrowheads="1"/>
            </p:cNvSpPr>
            <p:nvPr/>
          </p:nvSpPr>
          <p:spPr bwMode="auto">
            <a:xfrm>
              <a:off x="336"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A</a:t>
              </a:r>
            </a:p>
          </p:txBody>
        </p:sp>
        <p:sp>
          <p:nvSpPr>
            <p:cNvPr id="1131612" name="Text Box 92"/>
            <p:cNvSpPr txBox="1">
              <a:spLocks noChangeArrowheads="1"/>
            </p:cNvSpPr>
            <p:nvPr/>
          </p:nvSpPr>
          <p:spPr bwMode="auto">
            <a:xfrm>
              <a:off x="2400" y="1689"/>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4</a:t>
              </a:r>
            </a:p>
          </p:txBody>
        </p:sp>
      </p:grpSp>
      <p:grpSp>
        <p:nvGrpSpPr>
          <p:cNvPr id="1131613" name="Group 93"/>
          <p:cNvGrpSpPr>
            <a:grpSpLocks/>
          </p:cNvGrpSpPr>
          <p:nvPr/>
        </p:nvGrpSpPr>
        <p:grpSpPr bwMode="auto">
          <a:xfrm>
            <a:off x="1981200" y="2959101"/>
            <a:ext cx="3657600" cy="531813"/>
            <a:chOff x="336" y="2064"/>
            <a:chExt cx="2304" cy="335"/>
          </a:xfrm>
        </p:grpSpPr>
        <p:sp>
          <p:nvSpPr>
            <p:cNvPr id="1131614" name="Text Box 94"/>
            <p:cNvSpPr txBox="1">
              <a:spLocks noChangeArrowheads="1"/>
            </p:cNvSpPr>
            <p:nvPr/>
          </p:nvSpPr>
          <p:spPr bwMode="auto">
            <a:xfrm>
              <a:off x="1008"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1</a:t>
              </a:r>
            </a:p>
          </p:txBody>
        </p:sp>
        <p:sp>
          <p:nvSpPr>
            <p:cNvPr id="1131615" name="Text Box 95"/>
            <p:cNvSpPr txBox="1">
              <a:spLocks noChangeArrowheads="1"/>
            </p:cNvSpPr>
            <p:nvPr/>
          </p:nvSpPr>
          <p:spPr bwMode="auto">
            <a:xfrm>
              <a:off x="1728"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31616" name="Text Box 96"/>
            <p:cNvSpPr txBox="1">
              <a:spLocks noChangeArrowheads="1"/>
            </p:cNvSpPr>
            <p:nvPr/>
          </p:nvSpPr>
          <p:spPr bwMode="auto">
            <a:xfrm>
              <a:off x="336"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B</a:t>
              </a:r>
            </a:p>
          </p:txBody>
        </p:sp>
        <p:sp>
          <p:nvSpPr>
            <p:cNvPr id="1131617" name="Text Box 97"/>
            <p:cNvSpPr txBox="1">
              <a:spLocks noChangeArrowheads="1"/>
            </p:cNvSpPr>
            <p:nvPr/>
          </p:nvSpPr>
          <p:spPr bwMode="auto">
            <a:xfrm>
              <a:off x="2400" y="206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2</a:t>
              </a:r>
            </a:p>
          </p:txBody>
        </p:sp>
      </p:grpSp>
      <p:grpSp>
        <p:nvGrpSpPr>
          <p:cNvPr id="1131618" name="Group 98"/>
          <p:cNvGrpSpPr>
            <a:grpSpLocks/>
          </p:cNvGrpSpPr>
          <p:nvPr/>
        </p:nvGrpSpPr>
        <p:grpSpPr bwMode="auto">
          <a:xfrm>
            <a:off x="1981200" y="3568701"/>
            <a:ext cx="3657600" cy="531813"/>
            <a:chOff x="336" y="2448"/>
            <a:chExt cx="2304" cy="335"/>
          </a:xfrm>
        </p:grpSpPr>
        <p:sp>
          <p:nvSpPr>
            <p:cNvPr id="1131619" name="Text Box 99"/>
            <p:cNvSpPr txBox="1">
              <a:spLocks noChangeArrowheads="1"/>
            </p:cNvSpPr>
            <p:nvPr/>
          </p:nvSpPr>
          <p:spPr bwMode="auto">
            <a:xfrm>
              <a:off x="100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31620" name="Text Box 100"/>
            <p:cNvSpPr txBox="1">
              <a:spLocks noChangeArrowheads="1"/>
            </p:cNvSpPr>
            <p:nvPr/>
          </p:nvSpPr>
          <p:spPr bwMode="auto">
            <a:xfrm>
              <a:off x="172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131621" name="Text Box 101"/>
            <p:cNvSpPr txBox="1">
              <a:spLocks noChangeArrowheads="1"/>
            </p:cNvSpPr>
            <p:nvPr/>
          </p:nvSpPr>
          <p:spPr bwMode="auto">
            <a:xfrm>
              <a:off x="336"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C</a:t>
              </a:r>
            </a:p>
          </p:txBody>
        </p:sp>
        <p:sp>
          <p:nvSpPr>
            <p:cNvPr id="1131622" name="Text Box 102"/>
            <p:cNvSpPr txBox="1">
              <a:spLocks noChangeArrowheads="1"/>
            </p:cNvSpPr>
            <p:nvPr/>
          </p:nvSpPr>
          <p:spPr bwMode="auto">
            <a:xfrm>
              <a:off x="2400" y="244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3</a:t>
              </a:r>
            </a:p>
          </p:txBody>
        </p:sp>
      </p:grpSp>
      <p:grpSp>
        <p:nvGrpSpPr>
          <p:cNvPr id="1131623" name="Group 103"/>
          <p:cNvGrpSpPr>
            <a:grpSpLocks/>
          </p:cNvGrpSpPr>
          <p:nvPr/>
        </p:nvGrpSpPr>
        <p:grpSpPr bwMode="auto">
          <a:xfrm>
            <a:off x="1981200" y="4102101"/>
            <a:ext cx="3657600" cy="531813"/>
            <a:chOff x="336" y="2784"/>
            <a:chExt cx="2304" cy="335"/>
          </a:xfrm>
        </p:grpSpPr>
        <p:sp>
          <p:nvSpPr>
            <p:cNvPr id="1131624" name="Text Box 104"/>
            <p:cNvSpPr txBox="1">
              <a:spLocks noChangeArrowheads="1"/>
            </p:cNvSpPr>
            <p:nvPr/>
          </p:nvSpPr>
          <p:spPr bwMode="auto">
            <a:xfrm>
              <a:off x="1008"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31625" name="Text Box 105"/>
            <p:cNvSpPr txBox="1">
              <a:spLocks noChangeArrowheads="1"/>
            </p:cNvSpPr>
            <p:nvPr/>
          </p:nvSpPr>
          <p:spPr bwMode="auto">
            <a:xfrm>
              <a:off x="1728"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31626" name="Text Box 106"/>
            <p:cNvSpPr txBox="1">
              <a:spLocks noChangeArrowheads="1"/>
            </p:cNvSpPr>
            <p:nvPr/>
          </p:nvSpPr>
          <p:spPr bwMode="auto">
            <a:xfrm>
              <a:off x="336"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D</a:t>
              </a:r>
            </a:p>
          </p:txBody>
        </p:sp>
        <p:sp>
          <p:nvSpPr>
            <p:cNvPr id="1131627" name="Text Box 107"/>
            <p:cNvSpPr txBox="1">
              <a:spLocks noChangeArrowheads="1"/>
            </p:cNvSpPr>
            <p:nvPr/>
          </p:nvSpPr>
          <p:spPr bwMode="auto">
            <a:xfrm>
              <a:off x="2400" y="278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5</a:t>
              </a:r>
            </a:p>
          </p:txBody>
        </p:sp>
      </p:grpSp>
      <p:grpSp>
        <p:nvGrpSpPr>
          <p:cNvPr id="1131628" name="Group 108"/>
          <p:cNvGrpSpPr>
            <a:grpSpLocks/>
          </p:cNvGrpSpPr>
          <p:nvPr/>
        </p:nvGrpSpPr>
        <p:grpSpPr bwMode="auto">
          <a:xfrm>
            <a:off x="1981200" y="4711701"/>
            <a:ext cx="3657600" cy="531813"/>
            <a:chOff x="336" y="3168"/>
            <a:chExt cx="2304" cy="335"/>
          </a:xfrm>
        </p:grpSpPr>
        <p:sp>
          <p:nvSpPr>
            <p:cNvPr id="1131629" name="Text Box 109"/>
            <p:cNvSpPr txBox="1">
              <a:spLocks noChangeArrowheads="1"/>
            </p:cNvSpPr>
            <p:nvPr/>
          </p:nvSpPr>
          <p:spPr bwMode="auto">
            <a:xfrm>
              <a:off x="1008"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1630" name="Text Box 110"/>
            <p:cNvSpPr txBox="1">
              <a:spLocks noChangeArrowheads="1"/>
            </p:cNvSpPr>
            <p:nvPr/>
          </p:nvSpPr>
          <p:spPr bwMode="auto">
            <a:xfrm>
              <a:off x="1728"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1631" name="Text Box 111"/>
            <p:cNvSpPr txBox="1">
              <a:spLocks noChangeArrowheads="1"/>
            </p:cNvSpPr>
            <p:nvPr/>
          </p:nvSpPr>
          <p:spPr bwMode="auto">
            <a:xfrm>
              <a:off x="336"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E</a:t>
              </a:r>
            </a:p>
          </p:txBody>
        </p:sp>
        <p:sp>
          <p:nvSpPr>
            <p:cNvPr id="1131632" name="Text Box 112"/>
            <p:cNvSpPr txBox="1">
              <a:spLocks noChangeArrowheads="1"/>
            </p:cNvSpPr>
            <p:nvPr/>
          </p:nvSpPr>
          <p:spPr bwMode="auto">
            <a:xfrm>
              <a:off x="2400" y="316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1</a:t>
              </a:r>
            </a:p>
          </p:txBody>
        </p:sp>
      </p:grpSp>
      <p:sp>
        <p:nvSpPr>
          <p:cNvPr id="1131633" name="Text Box 113"/>
          <p:cNvSpPr txBox="1">
            <a:spLocks noChangeArrowheads="1"/>
          </p:cNvSpPr>
          <p:nvPr/>
        </p:nvSpPr>
        <p:spPr bwMode="auto">
          <a:xfrm>
            <a:off x="6324600" y="23495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31634" name="Text Box 114"/>
          <p:cNvSpPr txBox="1">
            <a:spLocks noChangeArrowheads="1"/>
          </p:cNvSpPr>
          <p:nvPr/>
        </p:nvSpPr>
        <p:spPr bwMode="auto">
          <a:xfrm>
            <a:off x="7391400" y="23495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a:t>
            </a:r>
          </a:p>
        </p:txBody>
      </p:sp>
      <p:sp>
        <p:nvSpPr>
          <p:cNvPr id="1131635" name="Text Box 115"/>
          <p:cNvSpPr txBox="1">
            <a:spLocks noChangeArrowheads="1"/>
          </p:cNvSpPr>
          <p:nvPr/>
        </p:nvSpPr>
        <p:spPr bwMode="auto">
          <a:xfrm>
            <a:off x="8458200" y="23495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31636" name="Text Box 116"/>
          <p:cNvSpPr txBox="1">
            <a:spLocks noChangeArrowheads="1"/>
          </p:cNvSpPr>
          <p:nvPr/>
        </p:nvSpPr>
        <p:spPr bwMode="auto">
          <a:xfrm>
            <a:off x="9525000" y="23495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a:t>
            </a:r>
          </a:p>
        </p:txBody>
      </p:sp>
      <p:sp>
        <p:nvSpPr>
          <p:cNvPr id="1131637" name="Text Box 117"/>
          <p:cNvSpPr txBox="1">
            <a:spLocks noChangeArrowheads="1"/>
          </p:cNvSpPr>
          <p:nvPr/>
        </p:nvSpPr>
        <p:spPr bwMode="auto">
          <a:xfrm>
            <a:off x="6248400" y="47117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31638" name="Text Box 118"/>
          <p:cNvSpPr txBox="1">
            <a:spLocks noChangeArrowheads="1"/>
          </p:cNvSpPr>
          <p:nvPr/>
        </p:nvSpPr>
        <p:spPr bwMode="auto">
          <a:xfrm>
            <a:off x="7315200" y="47117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8</a:t>
            </a:r>
          </a:p>
        </p:txBody>
      </p:sp>
      <p:sp>
        <p:nvSpPr>
          <p:cNvPr id="1131639" name="Text Box 119"/>
          <p:cNvSpPr txBox="1">
            <a:spLocks noChangeArrowheads="1"/>
          </p:cNvSpPr>
          <p:nvPr/>
        </p:nvSpPr>
        <p:spPr bwMode="auto">
          <a:xfrm>
            <a:off x="8458200" y="47117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31640" name="Text Box 120"/>
          <p:cNvSpPr txBox="1">
            <a:spLocks noChangeArrowheads="1"/>
          </p:cNvSpPr>
          <p:nvPr/>
        </p:nvSpPr>
        <p:spPr bwMode="auto">
          <a:xfrm>
            <a:off x="9601200" y="47117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a:t>
            </a:r>
          </a:p>
        </p:txBody>
      </p:sp>
      <p:sp>
        <p:nvSpPr>
          <p:cNvPr id="1131641" name="Text Box 121"/>
          <p:cNvSpPr txBox="1">
            <a:spLocks noChangeArrowheads="1"/>
          </p:cNvSpPr>
          <p:nvPr/>
        </p:nvSpPr>
        <p:spPr bwMode="auto">
          <a:xfrm>
            <a:off x="6324600" y="29591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8</a:t>
            </a:r>
          </a:p>
        </p:txBody>
      </p:sp>
      <p:sp>
        <p:nvSpPr>
          <p:cNvPr id="1131642" name="Text Box 122"/>
          <p:cNvSpPr txBox="1">
            <a:spLocks noChangeArrowheads="1"/>
          </p:cNvSpPr>
          <p:nvPr/>
        </p:nvSpPr>
        <p:spPr bwMode="auto">
          <a:xfrm>
            <a:off x="7315200" y="29591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11</a:t>
            </a:r>
          </a:p>
        </p:txBody>
      </p:sp>
      <p:sp>
        <p:nvSpPr>
          <p:cNvPr id="1131643" name="Text Box 123"/>
          <p:cNvSpPr txBox="1">
            <a:spLocks noChangeArrowheads="1"/>
          </p:cNvSpPr>
          <p:nvPr/>
        </p:nvSpPr>
        <p:spPr bwMode="auto">
          <a:xfrm>
            <a:off x="8382000" y="29591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10</a:t>
            </a:r>
          </a:p>
        </p:txBody>
      </p:sp>
      <p:sp>
        <p:nvSpPr>
          <p:cNvPr id="1131644" name="Text Box 124"/>
          <p:cNvSpPr txBox="1">
            <a:spLocks noChangeArrowheads="1"/>
          </p:cNvSpPr>
          <p:nvPr/>
        </p:nvSpPr>
        <p:spPr bwMode="auto">
          <a:xfrm>
            <a:off x="9372600" y="2959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10/3</a:t>
            </a:r>
          </a:p>
        </p:txBody>
      </p:sp>
      <p:sp>
        <p:nvSpPr>
          <p:cNvPr id="1131645" name="Text Box 125"/>
          <p:cNvSpPr txBox="1">
            <a:spLocks noChangeArrowheads="1"/>
          </p:cNvSpPr>
          <p:nvPr/>
        </p:nvSpPr>
        <p:spPr bwMode="auto">
          <a:xfrm>
            <a:off x="60960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11</a:t>
            </a:r>
          </a:p>
        </p:txBody>
      </p:sp>
      <p:sp>
        <p:nvSpPr>
          <p:cNvPr id="1131646" name="Text Box 126"/>
          <p:cNvSpPr txBox="1">
            <a:spLocks noChangeArrowheads="1"/>
          </p:cNvSpPr>
          <p:nvPr/>
        </p:nvSpPr>
        <p:spPr bwMode="auto">
          <a:xfrm>
            <a:off x="71628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16</a:t>
            </a:r>
          </a:p>
        </p:txBody>
      </p:sp>
      <p:sp>
        <p:nvSpPr>
          <p:cNvPr id="1131647" name="Text Box 127"/>
          <p:cNvSpPr txBox="1">
            <a:spLocks noChangeArrowheads="1"/>
          </p:cNvSpPr>
          <p:nvPr/>
        </p:nvSpPr>
        <p:spPr bwMode="auto">
          <a:xfrm>
            <a:off x="82296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14</a:t>
            </a:r>
          </a:p>
        </p:txBody>
      </p:sp>
      <p:sp>
        <p:nvSpPr>
          <p:cNvPr id="1131648" name="Text Box 128"/>
          <p:cNvSpPr txBox="1">
            <a:spLocks noChangeArrowheads="1"/>
          </p:cNvSpPr>
          <p:nvPr/>
        </p:nvSpPr>
        <p:spPr bwMode="auto">
          <a:xfrm>
            <a:off x="93726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14/5</a:t>
            </a:r>
          </a:p>
        </p:txBody>
      </p:sp>
      <p:sp>
        <p:nvSpPr>
          <p:cNvPr id="1131649" name="Text Box 129"/>
          <p:cNvSpPr txBox="1">
            <a:spLocks noChangeArrowheads="1"/>
          </p:cNvSpPr>
          <p:nvPr/>
        </p:nvSpPr>
        <p:spPr bwMode="auto">
          <a:xfrm>
            <a:off x="60960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16</a:t>
            </a:r>
          </a:p>
        </p:txBody>
      </p:sp>
      <p:sp>
        <p:nvSpPr>
          <p:cNvPr id="1131650" name="Text Box 130"/>
          <p:cNvSpPr txBox="1">
            <a:spLocks noChangeArrowheads="1"/>
          </p:cNvSpPr>
          <p:nvPr/>
        </p:nvSpPr>
        <p:spPr bwMode="auto">
          <a:xfrm>
            <a:off x="71628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18</a:t>
            </a:r>
          </a:p>
        </p:txBody>
      </p:sp>
      <p:sp>
        <p:nvSpPr>
          <p:cNvPr id="1131651" name="Text Box 131"/>
          <p:cNvSpPr txBox="1">
            <a:spLocks noChangeArrowheads="1"/>
          </p:cNvSpPr>
          <p:nvPr/>
        </p:nvSpPr>
        <p:spPr bwMode="auto">
          <a:xfrm>
            <a:off x="82296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15</a:t>
            </a:r>
          </a:p>
        </p:txBody>
      </p:sp>
      <p:sp>
        <p:nvSpPr>
          <p:cNvPr id="1131652" name="Text Box 132"/>
          <p:cNvSpPr txBox="1">
            <a:spLocks noChangeArrowheads="1"/>
          </p:cNvSpPr>
          <p:nvPr/>
        </p:nvSpPr>
        <p:spPr bwMode="auto">
          <a:xfrm>
            <a:off x="93726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15/2</a:t>
            </a:r>
          </a:p>
        </p:txBody>
      </p:sp>
      <p:sp>
        <p:nvSpPr>
          <p:cNvPr id="1131653" name="Text Box 133"/>
          <p:cNvSpPr txBox="1">
            <a:spLocks noChangeArrowheads="1"/>
          </p:cNvSpPr>
          <p:nvPr/>
        </p:nvSpPr>
        <p:spPr bwMode="auto">
          <a:xfrm>
            <a:off x="8305800" y="5245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9.4</a:t>
            </a:r>
          </a:p>
        </p:txBody>
      </p:sp>
      <p:sp>
        <p:nvSpPr>
          <p:cNvPr id="1131654" name="Text Box 134"/>
          <p:cNvSpPr txBox="1">
            <a:spLocks noChangeArrowheads="1"/>
          </p:cNvSpPr>
          <p:nvPr/>
        </p:nvSpPr>
        <p:spPr bwMode="auto">
          <a:xfrm>
            <a:off x="9372600" y="5245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2.93</a:t>
            </a:r>
          </a:p>
        </p:txBody>
      </p:sp>
      <p:sp>
        <p:nvSpPr>
          <p:cNvPr id="1131655" name="Text Box 135"/>
          <p:cNvSpPr txBox="1">
            <a:spLocks noChangeArrowheads="1"/>
          </p:cNvSpPr>
          <p:nvPr/>
        </p:nvSpPr>
        <p:spPr bwMode="auto">
          <a:xfrm>
            <a:off x="1752600" y="5930900"/>
            <a:ext cx="5486400" cy="457200"/>
          </a:xfrm>
          <a:prstGeom prst="rect">
            <a:avLst/>
          </a:prstGeom>
          <a:noFill/>
          <a:ln w="9525">
            <a:noFill/>
            <a:miter lim="800000"/>
            <a:headEnd/>
            <a:tailEnd/>
          </a:ln>
          <a:effectLst/>
        </p:spPr>
        <p:txBody>
          <a:bodyPr>
            <a:spAutoFit/>
          </a:bodyPr>
          <a:lstStyle/>
          <a:p>
            <a:pPr>
              <a:spcBef>
                <a:spcPct val="50000"/>
              </a:spcBef>
            </a:pPr>
            <a:r>
              <a:rPr kumimoji="1" lang="zh-CN" altLang="en-US" sz="2400" b="1" dirty="0">
                <a:latin typeface="Tahoma" pitchFamily="34" charset="0"/>
                <a:ea typeface="楷体_GB2312" pitchFamily="49" charset="-122"/>
              </a:rPr>
              <a:t>考虑一下</a:t>
            </a:r>
            <a:r>
              <a:rPr kumimoji="1" lang="zh-CN" altLang="en-US" sz="2400" b="1" dirty="0">
                <a:solidFill>
                  <a:srgbClr val="990000"/>
                </a:solidFill>
                <a:latin typeface="Tahoma" pitchFamily="34" charset="0"/>
                <a:ea typeface="楷体_GB2312" pitchFamily="49" charset="-122"/>
              </a:rPr>
              <a:t>抢占式</a:t>
            </a:r>
            <a:r>
              <a:rPr kumimoji="1" lang="zh-CN" altLang="en-US" sz="2400" b="1" dirty="0">
                <a:latin typeface="Tahoma" pitchFamily="34" charset="0"/>
                <a:ea typeface="楷体_GB2312" pitchFamily="49" charset="-122"/>
              </a:rPr>
              <a:t>，情况如何？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1608"/>
                                        </p:tgtEl>
                                        <p:attrNameLst>
                                          <p:attrName>style.visibility</p:attrName>
                                        </p:attrNameLst>
                                      </p:cBhvr>
                                      <p:to>
                                        <p:strVal val="visible"/>
                                      </p:to>
                                    </p:set>
                                    <p:animEffect transition="in" filter="wipe(left)">
                                      <p:cBhvr>
                                        <p:cTn id="7" dur="500"/>
                                        <p:tgtEl>
                                          <p:spTgt spid="113160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31613"/>
                                        </p:tgtEl>
                                        <p:attrNameLst>
                                          <p:attrName>style.visibility</p:attrName>
                                        </p:attrNameLst>
                                      </p:cBhvr>
                                      <p:to>
                                        <p:strVal val="visible"/>
                                      </p:to>
                                    </p:set>
                                    <p:animEffect transition="in" filter="wipe(left)">
                                      <p:cBhvr>
                                        <p:cTn id="11" dur="500"/>
                                        <p:tgtEl>
                                          <p:spTgt spid="113161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31618"/>
                                        </p:tgtEl>
                                        <p:attrNameLst>
                                          <p:attrName>style.visibility</p:attrName>
                                        </p:attrNameLst>
                                      </p:cBhvr>
                                      <p:to>
                                        <p:strVal val="visible"/>
                                      </p:to>
                                    </p:set>
                                    <p:animEffect transition="in" filter="wipe(left)">
                                      <p:cBhvr>
                                        <p:cTn id="15" dur="500"/>
                                        <p:tgtEl>
                                          <p:spTgt spid="113161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31623"/>
                                        </p:tgtEl>
                                        <p:attrNameLst>
                                          <p:attrName>style.visibility</p:attrName>
                                        </p:attrNameLst>
                                      </p:cBhvr>
                                      <p:to>
                                        <p:strVal val="visible"/>
                                      </p:to>
                                    </p:set>
                                    <p:animEffect transition="in" filter="wipe(left)">
                                      <p:cBhvr>
                                        <p:cTn id="19" dur="500"/>
                                        <p:tgtEl>
                                          <p:spTgt spid="113162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31628"/>
                                        </p:tgtEl>
                                        <p:attrNameLst>
                                          <p:attrName>style.visibility</p:attrName>
                                        </p:attrNameLst>
                                      </p:cBhvr>
                                      <p:to>
                                        <p:strVal val="visible"/>
                                      </p:to>
                                    </p:set>
                                    <p:animEffect transition="in" filter="wipe(left)">
                                      <p:cBhvr>
                                        <p:cTn id="23" dur="500"/>
                                        <p:tgtEl>
                                          <p:spTgt spid="113162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131633"/>
                                        </p:tgtEl>
                                        <p:attrNameLst>
                                          <p:attrName>style.visibility</p:attrName>
                                        </p:attrNameLst>
                                      </p:cBhvr>
                                      <p:to>
                                        <p:strVal val="visible"/>
                                      </p:to>
                                    </p:set>
                                    <p:anim calcmode="lin" valueType="num">
                                      <p:cBhvr additive="base">
                                        <p:cTn id="28" dur="500" fill="hold"/>
                                        <p:tgtEl>
                                          <p:spTgt spid="1131633"/>
                                        </p:tgtEl>
                                        <p:attrNameLst>
                                          <p:attrName>ppt_x</p:attrName>
                                        </p:attrNameLst>
                                      </p:cBhvr>
                                      <p:tavLst>
                                        <p:tav tm="0">
                                          <p:val>
                                            <p:strVal val="#ppt_x"/>
                                          </p:val>
                                        </p:tav>
                                        <p:tav tm="100000">
                                          <p:val>
                                            <p:strVal val="#ppt_x"/>
                                          </p:val>
                                        </p:tav>
                                      </p:tavLst>
                                    </p:anim>
                                    <p:anim calcmode="lin" valueType="num">
                                      <p:cBhvr additive="base">
                                        <p:cTn id="29" dur="500" fill="hold"/>
                                        <p:tgtEl>
                                          <p:spTgt spid="113163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31634"/>
                                        </p:tgtEl>
                                        <p:attrNameLst>
                                          <p:attrName>style.visibility</p:attrName>
                                        </p:attrNameLst>
                                      </p:cBhvr>
                                      <p:to>
                                        <p:strVal val="visible"/>
                                      </p:to>
                                    </p:set>
                                    <p:anim calcmode="lin" valueType="num">
                                      <p:cBhvr additive="base">
                                        <p:cTn id="34" dur="500" fill="hold"/>
                                        <p:tgtEl>
                                          <p:spTgt spid="1131634"/>
                                        </p:tgtEl>
                                        <p:attrNameLst>
                                          <p:attrName>ppt_x</p:attrName>
                                        </p:attrNameLst>
                                      </p:cBhvr>
                                      <p:tavLst>
                                        <p:tav tm="0">
                                          <p:val>
                                            <p:strVal val="#ppt_x"/>
                                          </p:val>
                                        </p:tav>
                                        <p:tav tm="100000">
                                          <p:val>
                                            <p:strVal val="#ppt_x"/>
                                          </p:val>
                                        </p:tav>
                                      </p:tavLst>
                                    </p:anim>
                                    <p:anim calcmode="lin" valueType="num">
                                      <p:cBhvr additive="base">
                                        <p:cTn id="35" dur="500" fill="hold"/>
                                        <p:tgtEl>
                                          <p:spTgt spid="113163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131637"/>
                                        </p:tgtEl>
                                        <p:attrNameLst>
                                          <p:attrName>style.visibility</p:attrName>
                                        </p:attrNameLst>
                                      </p:cBhvr>
                                      <p:to>
                                        <p:strVal val="visible"/>
                                      </p:to>
                                    </p:set>
                                    <p:anim calcmode="lin" valueType="num">
                                      <p:cBhvr additive="base">
                                        <p:cTn id="40" dur="500" fill="hold"/>
                                        <p:tgtEl>
                                          <p:spTgt spid="1131637"/>
                                        </p:tgtEl>
                                        <p:attrNameLst>
                                          <p:attrName>ppt_x</p:attrName>
                                        </p:attrNameLst>
                                      </p:cBhvr>
                                      <p:tavLst>
                                        <p:tav tm="0">
                                          <p:val>
                                            <p:strVal val="#ppt_x"/>
                                          </p:val>
                                        </p:tav>
                                        <p:tav tm="100000">
                                          <p:val>
                                            <p:strVal val="#ppt_x"/>
                                          </p:val>
                                        </p:tav>
                                      </p:tavLst>
                                    </p:anim>
                                    <p:anim calcmode="lin" valueType="num">
                                      <p:cBhvr additive="base">
                                        <p:cTn id="41" dur="500" fill="hold"/>
                                        <p:tgtEl>
                                          <p:spTgt spid="1131637"/>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131638"/>
                                        </p:tgtEl>
                                        <p:attrNameLst>
                                          <p:attrName>style.visibility</p:attrName>
                                        </p:attrNameLst>
                                      </p:cBhvr>
                                      <p:to>
                                        <p:strVal val="visible"/>
                                      </p:to>
                                    </p:set>
                                    <p:anim calcmode="lin" valueType="num">
                                      <p:cBhvr additive="base">
                                        <p:cTn id="46" dur="500" fill="hold"/>
                                        <p:tgtEl>
                                          <p:spTgt spid="1131638"/>
                                        </p:tgtEl>
                                        <p:attrNameLst>
                                          <p:attrName>ppt_x</p:attrName>
                                        </p:attrNameLst>
                                      </p:cBhvr>
                                      <p:tavLst>
                                        <p:tav tm="0">
                                          <p:val>
                                            <p:strVal val="#ppt_x"/>
                                          </p:val>
                                        </p:tav>
                                        <p:tav tm="100000">
                                          <p:val>
                                            <p:strVal val="#ppt_x"/>
                                          </p:val>
                                        </p:tav>
                                      </p:tavLst>
                                    </p:anim>
                                    <p:anim calcmode="lin" valueType="num">
                                      <p:cBhvr additive="base">
                                        <p:cTn id="47" dur="500" fill="hold"/>
                                        <p:tgtEl>
                                          <p:spTgt spid="113163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131641"/>
                                        </p:tgtEl>
                                        <p:attrNameLst>
                                          <p:attrName>style.visibility</p:attrName>
                                        </p:attrNameLst>
                                      </p:cBhvr>
                                      <p:to>
                                        <p:strVal val="visible"/>
                                      </p:to>
                                    </p:set>
                                    <p:anim calcmode="lin" valueType="num">
                                      <p:cBhvr additive="base">
                                        <p:cTn id="52" dur="500" fill="hold"/>
                                        <p:tgtEl>
                                          <p:spTgt spid="1131641"/>
                                        </p:tgtEl>
                                        <p:attrNameLst>
                                          <p:attrName>ppt_x</p:attrName>
                                        </p:attrNameLst>
                                      </p:cBhvr>
                                      <p:tavLst>
                                        <p:tav tm="0">
                                          <p:val>
                                            <p:strVal val="#ppt_x"/>
                                          </p:val>
                                        </p:tav>
                                        <p:tav tm="100000">
                                          <p:val>
                                            <p:strVal val="#ppt_x"/>
                                          </p:val>
                                        </p:tav>
                                      </p:tavLst>
                                    </p:anim>
                                    <p:anim calcmode="lin" valueType="num">
                                      <p:cBhvr additive="base">
                                        <p:cTn id="53" dur="500" fill="hold"/>
                                        <p:tgtEl>
                                          <p:spTgt spid="113164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131642"/>
                                        </p:tgtEl>
                                        <p:attrNameLst>
                                          <p:attrName>style.visibility</p:attrName>
                                        </p:attrNameLst>
                                      </p:cBhvr>
                                      <p:to>
                                        <p:strVal val="visible"/>
                                      </p:to>
                                    </p:set>
                                    <p:anim calcmode="lin" valueType="num">
                                      <p:cBhvr additive="base">
                                        <p:cTn id="58" dur="500" fill="hold"/>
                                        <p:tgtEl>
                                          <p:spTgt spid="1131642"/>
                                        </p:tgtEl>
                                        <p:attrNameLst>
                                          <p:attrName>ppt_x</p:attrName>
                                        </p:attrNameLst>
                                      </p:cBhvr>
                                      <p:tavLst>
                                        <p:tav tm="0">
                                          <p:val>
                                            <p:strVal val="#ppt_x"/>
                                          </p:val>
                                        </p:tav>
                                        <p:tav tm="100000">
                                          <p:val>
                                            <p:strVal val="#ppt_x"/>
                                          </p:val>
                                        </p:tav>
                                      </p:tavLst>
                                    </p:anim>
                                    <p:anim calcmode="lin" valueType="num">
                                      <p:cBhvr additive="base">
                                        <p:cTn id="59" dur="500" fill="hold"/>
                                        <p:tgtEl>
                                          <p:spTgt spid="113164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131645"/>
                                        </p:tgtEl>
                                        <p:attrNameLst>
                                          <p:attrName>style.visibility</p:attrName>
                                        </p:attrNameLst>
                                      </p:cBhvr>
                                      <p:to>
                                        <p:strVal val="visible"/>
                                      </p:to>
                                    </p:set>
                                    <p:anim calcmode="lin" valueType="num">
                                      <p:cBhvr additive="base">
                                        <p:cTn id="64" dur="500" fill="hold"/>
                                        <p:tgtEl>
                                          <p:spTgt spid="1131645"/>
                                        </p:tgtEl>
                                        <p:attrNameLst>
                                          <p:attrName>ppt_x</p:attrName>
                                        </p:attrNameLst>
                                      </p:cBhvr>
                                      <p:tavLst>
                                        <p:tav tm="0">
                                          <p:val>
                                            <p:strVal val="#ppt_x"/>
                                          </p:val>
                                        </p:tav>
                                        <p:tav tm="100000">
                                          <p:val>
                                            <p:strVal val="#ppt_x"/>
                                          </p:val>
                                        </p:tav>
                                      </p:tavLst>
                                    </p:anim>
                                    <p:anim calcmode="lin" valueType="num">
                                      <p:cBhvr additive="base">
                                        <p:cTn id="65" dur="500" fill="hold"/>
                                        <p:tgtEl>
                                          <p:spTgt spid="113164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131646"/>
                                        </p:tgtEl>
                                        <p:attrNameLst>
                                          <p:attrName>style.visibility</p:attrName>
                                        </p:attrNameLst>
                                      </p:cBhvr>
                                      <p:to>
                                        <p:strVal val="visible"/>
                                      </p:to>
                                    </p:set>
                                    <p:anim calcmode="lin" valueType="num">
                                      <p:cBhvr additive="base">
                                        <p:cTn id="70" dur="500" fill="hold"/>
                                        <p:tgtEl>
                                          <p:spTgt spid="1131646"/>
                                        </p:tgtEl>
                                        <p:attrNameLst>
                                          <p:attrName>ppt_x</p:attrName>
                                        </p:attrNameLst>
                                      </p:cBhvr>
                                      <p:tavLst>
                                        <p:tav tm="0">
                                          <p:val>
                                            <p:strVal val="#ppt_x"/>
                                          </p:val>
                                        </p:tav>
                                        <p:tav tm="100000">
                                          <p:val>
                                            <p:strVal val="#ppt_x"/>
                                          </p:val>
                                        </p:tav>
                                      </p:tavLst>
                                    </p:anim>
                                    <p:anim calcmode="lin" valueType="num">
                                      <p:cBhvr additive="base">
                                        <p:cTn id="71" dur="500" fill="hold"/>
                                        <p:tgtEl>
                                          <p:spTgt spid="1131646"/>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131649"/>
                                        </p:tgtEl>
                                        <p:attrNameLst>
                                          <p:attrName>style.visibility</p:attrName>
                                        </p:attrNameLst>
                                      </p:cBhvr>
                                      <p:to>
                                        <p:strVal val="visible"/>
                                      </p:to>
                                    </p:set>
                                    <p:anim calcmode="lin" valueType="num">
                                      <p:cBhvr additive="base">
                                        <p:cTn id="76" dur="500" fill="hold"/>
                                        <p:tgtEl>
                                          <p:spTgt spid="1131649"/>
                                        </p:tgtEl>
                                        <p:attrNameLst>
                                          <p:attrName>ppt_x</p:attrName>
                                        </p:attrNameLst>
                                      </p:cBhvr>
                                      <p:tavLst>
                                        <p:tav tm="0">
                                          <p:val>
                                            <p:strVal val="#ppt_x"/>
                                          </p:val>
                                        </p:tav>
                                        <p:tav tm="100000">
                                          <p:val>
                                            <p:strVal val="#ppt_x"/>
                                          </p:val>
                                        </p:tav>
                                      </p:tavLst>
                                    </p:anim>
                                    <p:anim calcmode="lin" valueType="num">
                                      <p:cBhvr additive="base">
                                        <p:cTn id="77" dur="500" fill="hold"/>
                                        <p:tgtEl>
                                          <p:spTgt spid="1131649"/>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131650"/>
                                        </p:tgtEl>
                                        <p:attrNameLst>
                                          <p:attrName>style.visibility</p:attrName>
                                        </p:attrNameLst>
                                      </p:cBhvr>
                                      <p:to>
                                        <p:strVal val="visible"/>
                                      </p:to>
                                    </p:set>
                                    <p:anim calcmode="lin" valueType="num">
                                      <p:cBhvr additive="base">
                                        <p:cTn id="82" dur="500" fill="hold"/>
                                        <p:tgtEl>
                                          <p:spTgt spid="1131650"/>
                                        </p:tgtEl>
                                        <p:attrNameLst>
                                          <p:attrName>ppt_x</p:attrName>
                                        </p:attrNameLst>
                                      </p:cBhvr>
                                      <p:tavLst>
                                        <p:tav tm="0">
                                          <p:val>
                                            <p:strVal val="#ppt_x"/>
                                          </p:val>
                                        </p:tav>
                                        <p:tav tm="100000">
                                          <p:val>
                                            <p:strVal val="#ppt_x"/>
                                          </p:val>
                                        </p:tav>
                                      </p:tavLst>
                                    </p:anim>
                                    <p:anim calcmode="lin" valueType="num">
                                      <p:cBhvr additive="base">
                                        <p:cTn id="83" dur="500" fill="hold"/>
                                        <p:tgtEl>
                                          <p:spTgt spid="1131650"/>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131635"/>
                                        </p:tgtEl>
                                        <p:attrNameLst>
                                          <p:attrName>style.visibility</p:attrName>
                                        </p:attrNameLst>
                                      </p:cBhvr>
                                      <p:to>
                                        <p:strVal val="visible"/>
                                      </p:to>
                                    </p:set>
                                    <p:anim calcmode="lin" valueType="num">
                                      <p:cBhvr additive="base">
                                        <p:cTn id="88" dur="500" fill="hold"/>
                                        <p:tgtEl>
                                          <p:spTgt spid="1131635"/>
                                        </p:tgtEl>
                                        <p:attrNameLst>
                                          <p:attrName>ppt_x</p:attrName>
                                        </p:attrNameLst>
                                      </p:cBhvr>
                                      <p:tavLst>
                                        <p:tav tm="0">
                                          <p:val>
                                            <p:strVal val="#ppt_x"/>
                                          </p:val>
                                        </p:tav>
                                        <p:tav tm="100000">
                                          <p:val>
                                            <p:strVal val="#ppt_x"/>
                                          </p:val>
                                        </p:tav>
                                      </p:tavLst>
                                    </p:anim>
                                    <p:anim calcmode="lin" valueType="num">
                                      <p:cBhvr additive="base">
                                        <p:cTn id="89" dur="500" fill="hold"/>
                                        <p:tgtEl>
                                          <p:spTgt spid="1131635"/>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1131643"/>
                                        </p:tgtEl>
                                        <p:attrNameLst>
                                          <p:attrName>style.visibility</p:attrName>
                                        </p:attrNameLst>
                                      </p:cBhvr>
                                      <p:to>
                                        <p:strVal val="visible"/>
                                      </p:to>
                                    </p:set>
                                    <p:anim calcmode="lin" valueType="num">
                                      <p:cBhvr additive="base">
                                        <p:cTn id="94" dur="500" fill="hold"/>
                                        <p:tgtEl>
                                          <p:spTgt spid="1131643"/>
                                        </p:tgtEl>
                                        <p:attrNameLst>
                                          <p:attrName>ppt_x</p:attrName>
                                        </p:attrNameLst>
                                      </p:cBhvr>
                                      <p:tavLst>
                                        <p:tav tm="0">
                                          <p:val>
                                            <p:strVal val="#ppt_x"/>
                                          </p:val>
                                        </p:tav>
                                        <p:tav tm="100000">
                                          <p:val>
                                            <p:strVal val="#ppt_x"/>
                                          </p:val>
                                        </p:tav>
                                      </p:tavLst>
                                    </p:anim>
                                    <p:anim calcmode="lin" valueType="num">
                                      <p:cBhvr additive="base">
                                        <p:cTn id="95" dur="500" fill="hold"/>
                                        <p:tgtEl>
                                          <p:spTgt spid="1131643"/>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131647"/>
                                        </p:tgtEl>
                                        <p:attrNameLst>
                                          <p:attrName>style.visibility</p:attrName>
                                        </p:attrNameLst>
                                      </p:cBhvr>
                                      <p:to>
                                        <p:strVal val="visible"/>
                                      </p:to>
                                    </p:set>
                                    <p:anim calcmode="lin" valueType="num">
                                      <p:cBhvr additive="base">
                                        <p:cTn id="100" dur="500" fill="hold"/>
                                        <p:tgtEl>
                                          <p:spTgt spid="1131647"/>
                                        </p:tgtEl>
                                        <p:attrNameLst>
                                          <p:attrName>ppt_x</p:attrName>
                                        </p:attrNameLst>
                                      </p:cBhvr>
                                      <p:tavLst>
                                        <p:tav tm="0">
                                          <p:val>
                                            <p:strVal val="#ppt_x"/>
                                          </p:val>
                                        </p:tav>
                                        <p:tav tm="100000">
                                          <p:val>
                                            <p:strVal val="#ppt_x"/>
                                          </p:val>
                                        </p:tav>
                                      </p:tavLst>
                                    </p:anim>
                                    <p:anim calcmode="lin" valueType="num">
                                      <p:cBhvr additive="base">
                                        <p:cTn id="101" dur="500" fill="hold"/>
                                        <p:tgtEl>
                                          <p:spTgt spid="1131647"/>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1131651"/>
                                        </p:tgtEl>
                                        <p:attrNameLst>
                                          <p:attrName>style.visibility</p:attrName>
                                        </p:attrNameLst>
                                      </p:cBhvr>
                                      <p:to>
                                        <p:strVal val="visible"/>
                                      </p:to>
                                    </p:set>
                                    <p:anim calcmode="lin" valueType="num">
                                      <p:cBhvr additive="base">
                                        <p:cTn id="106" dur="500" fill="hold"/>
                                        <p:tgtEl>
                                          <p:spTgt spid="1131651"/>
                                        </p:tgtEl>
                                        <p:attrNameLst>
                                          <p:attrName>ppt_x</p:attrName>
                                        </p:attrNameLst>
                                      </p:cBhvr>
                                      <p:tavLst>
                                        <p:tav tm="0">
                                          <p:val>
                                            <p:strVal val="#ppt_x"/>
                                          </p:val>
                                        </p:tav>
                                        <p:tav tm="100000">
                                          <p:val>
                                            <p:strVal val="#ppt_x"/>
                                          </p:val>
                                        </p:tav>
                                      </p:tavLst>
                                    </p:anim>
                                    <p:anim calcmode="lin" valueType="num">
                                      <p:cBhvr additive="base">
                                        <p:cTn id="107" dur="500" fill="hold"/>
                                        <p:tgtEl>
                                          <p:spTgt spid="1131651"/>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131639"/>
                                        </p:tgtEl>
                                        <p:attrNameLst>
                                          <p:attrName>style.visibility</p:attrName>
                                        </p:attrNameLst>
                                      </p:cBhvr>
                                      <p:to>
                                        <p:strVal val="visible"/>
                                      </p:to>
                                    </p:set>
                                    <p:anim calcmode="lin" valueType="num">
                                      <p:cBhvr additive="base">
                                        <p:cTn id="112" dur="500" fill="hold"/>
                                        <p:tgtEl>
                                          <p:spTgt spid="1131639"/>
                                        </p:tgtEl>
                                        <p:attrNameLst>
                                          <p:attrName>ppt_x</p:attrName>
                                        </p:attrNameLst>
                                      </p:cBhvr>
                                      <p:tavLst>
                                        <p:tav tm="0">
                                          <p:val>
                                            <p:strVal val="#ppt_x"/>
                                          </p:val>
                                        </p:tav>
                                        <p:tav tm="100000">
                                          <p:val>
                                            <p:strVal val="#ppt_x"/>
                                          </p:val>
                                        </p:tav>
                                      </p:tavLst>
                                    </p:anim>
                                    <p:anim calcmode="lin" valueType="num">
                                      <p:cBhvr additive="base">
                                        <p:cTn id="113" dur="500" fill="hold"/>
                                        <p:tgtEl>
                                          <p:spTgt spid="1131639"/>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1131636"/>
                                        </p:tgtEl>
                                        <p:attrNameLst>
                                          <p:attrName>style.visibility</p:attrName>
                                        </p:attrNameLst>
                                      </p:cBhvr>
                                      <p:to>
                                        <p:strVal val="visible"/>
                                      </p:to>
                                    </p:set>
                                    <p:anim calcmode="lin" valueType="num">
                                      <p:cBhvr additive="base">
                                        <p:cTn id="118" dur="500" fill="hold"/>
                                        <p:tgtEl>
                                          <p:spTgt spid="1131636"/>
                                        </p:tgtEl>
                                        <p:attrNameLst>
                                          <p:attrName>ppt_x</p:attrName>
                                        </p:attrNameLst>
                                      </p:cBhvr>
                                      <p:tavLst>
                                        <p:tav tm="0">
                                          <p:val>
                                            <p:strVal val="#ppt_x"/>
                                          </p:val>
                                        </p:tav>
                                        <p:tav tm="100000">
                                          <p:val>
                                            <p:strVal val="#ppt_x"/>
                                          </p:val>
                                        </p:tav>
                                      </p:tavLst>
                                    </p:anim>
                                    <p:anim calcmode="lin" valueType="num">
                                      <p:cBhvr additive="base">
                                        <p:cTn id="119" dur="500" fill="hold"/>
                                        <p:tgtEl>
                                          <p:spTgt spid="1131636"/>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131644"/>
                                        </p:tgtEl>
                                        <p:attrNameLst>
                                          <p:attrName>style.visibility</p:attrName>
                                        </p:attrNameLst>
                                      </p:cBhvr>
                                      <p:to>
                                        <p:strVal val="visible"/>
                                      </p:to>
                                    </p:set>
                                    <p:anim calcmode="lin" valueType="num">
                                      <p:cBhvr additive="base">
                                        <p:cTn id="124" dur="500" fill="hold"/>
                                        <p:tgtEl>
                                          <p:spTgt spid="1131644"/>
                                        </p:tgtEl>
                                        <p:attrNameLst>
                                          <p:attrName>ppt_x</p:attrName>
                                        </p:attrNameLst>
                                      </p:cBhvr>
                                      <p:tavLst>
                                        <p:tav tm="0">
                                          <p:val>
                                            <p:strVal val="#ppt_x"/>
                                          </p:val>
                                        </p:tav>
                                        <p:tav tm="100000">
                                          <p:val>
                                            <p:strVal val="#ppt_x"/>
                                          </p:val>
                                        </p:tav>
                                      </p:tavLst>
                                    </p:anim>
                                    <p:anim calcmode="lin" valueType="num">
                                      <p:cBhvr additive="base">
                                        <p:cTn id="125" dur="500" fill="hold"/>
                                        <p:tgtEl>
                                          <p:spTgt spid="1131644"/>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1131648"/>
                                        </p:tgtEl>
                                        <p:attrNameLst>
                                          <p:attrName>style.visibility</p:attrName>
                                        </p:attrNameLst>
                                      </p:cBhvr>
                                      <p:to>
                                        <p:strVal val="visible"/>
                                      </p:to>
                                    </p:set>
                                    <p:anim calcmode="lin" valueType="num">
                                      <p:cBhvr additive="base">
                                        <p:cTn id="130" dur="500" fill="hold"/>
                                        <p:tgtEl>
                                          <p:spTgt spid="1131648"/>
                                        </p:tgtEl>
                                        <p:attrNameLst>
                                          <p:attrName>ppt_x</p:attrName>
                                        </p:attrNameLst>
                                      </p:cBhvr>
                                      <p:tavLst>
                                        <p:tav tm="0">
                                          <p:val>
                                            <p:strVal val="#ppt_x"/>
                                          </p:val>
                                        </p:tav>
                                        <p:tav tm="100000">
                                          <p:val>
                                            <p:strVal val="#ppt_x"/>
                                          </p:val>
                                        </p:tav>
                                      </p:tavLst>
                                    </p:anim>
                                    <p:anim calcmode="lin" valueType="num">
                                      <p:cBhvr additive="base">
                                        <p:cTn id="131" dur="500" fill="hold"/>
                                        <p:tgtEl>
                                          <p:spTgt spid="1131648"/>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131652"/>
                                        </p:tgtEl>
                                        <p:attrNameLst>
                                          <p:attrName>style.visibility</p:attrName>
                                        </p:attrNameLst>
                                      </p:cBhvr>
                                      <p:to>
                                        <p:strVal val="visible"/>
                                      </p:to>
                                    </p:set>
                                    <p:anim calcmode="lin" valueType="num">
                                      <p:cBhvr additive="base">
                                        <p:cTn id="136" dur="500" fill="hold"/>
                                        <p:tgtEl>
                                          <p:spTgt spid="1131652"/>
                                        </p:tgtEl>
                                        <p:attrNameLst>
                                          <p:attrName>ppt_x</p:attrName>
                                        </p:attrNameLst>
                                      </p:cBhvr>
                                      <p:tavLst>
                                        <p:tav tm="0">
                                          <p:val>
                                            <p:strVal val="#ppt_x"/>
                                          </p:val>
                                        </p:tav>
                                        <p:tav tm="100000">
                                          <p:val>
                                            <p:strVal val="#ppt_x"/>
                                          </p:val>
                                        </p:tav>
                                      </p:tavLst>
                                    </p:anim>
                                    <p:anim calcmode="lin" valueType="num">
                                      <p:cBhvr additive="base">
                                        <p:cTn id="137" dur="500" fill="hold"/>
                                        <p:tgtEl>
                                          <p:spTgt spid="1131652"/>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1131640"/>
                                        </p:tgtEl>
                                        <p:attrNameLst>
                                          <p:attrName>style.visibility</p:attrName>
                                        </p:attrNameLst>
                                      </p:cBhvr>
                                      <p:to>
                                        <p:strVal val="visible"/>
                                      </p:to>
                                    </p:set>
                                    <p:anim calcmode="lin" valueType="num">
                                      <p:cBhvr additive="base">
                                        <p:cTn id="142" dur="500" fill="hold"/>
                                        <p:tgtEl>
                                          <p:spTgt spid="1131640"/>
                                        </p:tgtEl>
                                        <p:attrNameLst>
                                          <p:attrName>ppt_x</p:attrName>
                                        </p:attrNameLst>
                                      </p:cBhvr>
                                      <p:tavLst>
                                        <p:tav tm="0">
                                          <p:val>
                                            <p:strVal val="#ppt_x"/>
                                          </p:val>
                                        </p:tav>
                                        <p:tav tm="100000">
                                          <p:val>
                                            <p:strVal val="#ppt_x"/>
                                          </p:val>
                                        </p:tav>
                                      </p:tavLst>
                                    </p:anim>
                                    <p:anim calcmode="lin" valueType="num">
                                      <p:cBhvr additive="base">
                                        <p:cTn id="143" dur="500" fill="hold"/>
                                        <p:tgtEl>
                                          <p:spTgt spid="1131640"/>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grpId="0" nodeType="clickEffect">
                                  <p:stCondLst>
                                    <p:cond delay="0"/>
                                  </p:stCondLst>
                                  <p:childTnLst>
                                    <p:set>
                                      <p:cBhvr>
                                        <p:cTn id="147" dur="1" fill="hold">
                                          <p:stCondLst>
                                            <p:cond delay="0"/>
                                          </p:stCondLst>
                                        </p:cTn>
                                        <p:tgtEl>
                                          <p:spTgt spid="1131653"/>
                                        </p:tgtEl>
                                        <p:attrNameLst>
                                          <p:attrName>style.visibility</p:attrName>
                                        </p:attrNameLst>
                                      </p:cBhvr>
                                      <p:to>
                                        <p:strVal val="visible"/>
                                      </p:to>
                                    </p:set>
                                    <p:anim calcmode="lin" valueType="num">
                                      <p:cBhvr additive="base">
                                        <p:cTn id="148" dur="500" fill="hold"/>
                                        <p:tgtEl>
                                          <p:spTgt spid="1131653"/>
                                        </p:tgtEl>
                                        <p:attrNameLst>
                                          <p:attrName>ppt_x</p:attrName>
                                        </p:attrNameLst>
                                      </p:cBhvr>
                                      <p:tavLst>
                                        <p:tav tm="0">
                                          <p:val>
                                            <p:strVal val="#ppt_x"/>
                                          </p:val>
                                        </p:tav>
                                        <p:tav tm="100000">
                                          <p:val>
                                            <p:strVal val="#ppt_x"/>
                                          </p:val>
                                        </p:tav>
                                      </p:tavLst>
                                    </p:anim>
                                    <p:anim calcmode="lin" valueType="num">
                                      <p:cBhvr additive="base">
                                        <p:cTn id="149" dur="500" fill="hold"/>
                                        <p:tgtEl>
                                          <p:spTgt spid="1131653"/>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4" fill="hold" grpId="0" nodeType="clickEffect">
                                  <p:stCondLst>
                                    <p:cond delay="0"/>
                                  </p:stCondLst>
                                  <p:childTnLst>
                                    <p:set>
                                      <p:cBhvr>
                                        <p:cTn id="153" dur="1" fill="hold">
                                          <p:stCondLst>
                                            <p:cond delay="0"/>
                                          </p:stCondLst>
                                        </p:cTn>
                                        <p:tgtEl>
                                          <p:spTgt spid="1131654"/>
                                        </p:tgtEl>
                                        <p:attrNameLst>
                                          <p:attrName>style.visibility</p:attrName>
                                        </p:attrNameLst>
                                      </p:cBhvr>
                                      <p:to>
                                        <p:strVal val="visible"/>
                                      </p:to>
                                    </p:set>
                                    <p:anim calcmode="lin" valueType="num">
                                      <p:cBhvr additive="base">
                                        <p:cTn id="154" dur="500" fill="hold"/>
                                        <p:tgtEl>
                                          <p:spTgt spid="1131654"/>
                                        </p:tgtEl>
                                        <p:attrNameLst>
                                          <p:attrName>ppt_x</p:attrName>
                                        </p:attrNameLst>
                                      </p:cBhvr>
                                      <p:tavLst>
                                        <p:tav tm="0">
                                          <p:val>
                                            <p:strVal val="#ppt_x"/>
                                          </p:val>
                                        </p:tav>
                                        <p:tav tm="100000">
                                          <p:val>
                                            <p:strVal val="#ppt_x"/>
                                          </p:val>
                                        </p:tav>
                                      </p:tavLst>
                                    </p:anim>
                                    <p:anim calcmode="lin" valueType="num">
                                      <p:cBhvr additive="base">
                                        <p:cTn id="155" dur="500" fill="hold"/>
                                        <p:tgtEl>
                                          <p:spTgt spid="1131654"/>
                                        </p:tgtEl>
                                        <p:attrNameLst>
                                          <p:attrName>ppt_y</p:attrName>
                                        </p:attrNameLst>
                                      </p:cBhvr>
                                      <p:tavLst>
                                        <p:tav tm="0">
                                          <p:val>
                                            <p:strVal val="1+#ppt_h/2"/>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15" presetClass="entr" presetSubtype="0" fill="hold" grpId="0" nodeType="clickEffect">
                                  <p:stCondLst>
                                    <p:cond delay="0"/>
                                  </p:stCondLst>
                                  <p:childTnLst>
                                    <p:set>
                                      <p:cBhvr>
                                        <p:cTn id="159" dur="1" fill="hold">
                                          <p:stCondLst>
                                            <p:cond delay="0"/>
                                          </p:stCondLst>
                                        </p:cTn>
                                        <p:tgtEl>
                                          <p:spTgt spid="1131655"/>
                                        </p:tgtEl>
                                        <p:attrNameLst>
                                          <p:attrName>style.visibility</p:attrName>
                                        </p:attrNameLst>
                                      </p:cBhvr>
                                      <p:to>
                                        <p:strVal val="visible"/>
                                      </p:to>
                                    </p:set>
                                    <p:anim calcmode="lin" valueType="num">
                                      <p:cBhvr>
                                        <p:cTn id="160" dur="1000" fill="hold"/>
                                        <p:tgtEl>
                                          <p:spTgt spid="1131655"/>
                                        </p:tgtEl>
                                        <p:attrNameLst>
                                          <p:attrName>ppt_w</p:attrName>
                                        </p:attrNameLst>
                                      </p:cBhvr>
                                      <p:tavLst>
                                        <p:tav tm="0">
                                          <p:val>
                                            <p:fltVal val="0"/>
                                          </p:val>
                                        </p:tav>
                                        <p:tav tm="100000">
                                          <p:val>
                                            <p:strVal val="#ppt_w"/>
                                          </p:val>
                                        </p:tav>
                                      </p:tavLst>
                                    </p:anim>
                                    <p:anim calcmode="lin" valueType="num">
                                      <p:cBhvr>
                                        <p:cTn id="161" dur="1000" fill="hold"/>
                                        <p:tgtEl>
                                          <p:spTgt spid="1131655"/>
                                        </p:tgtEl>
                                        <p:attrNameLst>
                                          <p:attrName>ppt_h</p:attrName>
                                        </p:attrNameLst>
                                      </p:cBhvr>
                                      <p:tavLst>
                                        <p:tav tm="0">
                                          <p:val>
                                            <p:fltVal val="0"/>
                                          </p:val>
                                        </p:tav>
                                        <p:tav tm="100000">
                                          <p:val>
                                            <p:strVal val="#ppt_h"/>
                                          </p:val>
                                        </p:tav>
                                      </p:tavLst>
                                    </p:anim>
                                    <p:anim calcmode="lin" valueType="num">
                                      <p:cBhvr>
                                        <p:cTn id="162" dur="1000" fill="hold"/>
                                        <p:tgtEl>
                                          <p:spTgt spid="1131655"/>
                                        </p:tgtEl>
                                        <p:attrNameLst>
                                          <p:attrName>ppt_x</p:attrName>
                                        </p:attrNameLst>
                                      </p:cBhvr>
                                      <p:tavLst>
                                        <p:tav tm="0" fmla="#ppt_x+(cos(-2*pi*(1-$))*-#ppt_x-sin(-2*pi*(1-$))*(1-#ppt_y))*(1-$)">
                                          <p:val>
                                            <p:fltVal val="0"/>
                                          </p:val>
                                        </p:tav>
                                        <p:tav tm="100000">
                                          <p:val>
                                            <p:fltVal val="1"/>
                                          </p:val>
                                        </p:tav>
                                      </p:tavLst>
                                    </p:anim>
                                    <p:anim calcmode="lin" valueType="num">
                                      <p:cBhvr>
                                        <p:cTn id="163" dur="1000" fill="hold"/>
                                        <p:tgtEl>
                                          <p:spTgt spid="113165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633" grpId="0" autoUpdateAnimBg="0"/>
      <p:bldP spid="1131634" grpId="0" autoUpdateAnimBg="0"/>
      <p:bldP spid="1131635" grpId="0" autoUpdateAnimBg="0"/>
      <p:bldP spid="1131636" grpId="0" autoUpdateAnimBg="0"/>
      <p:bldP spid="1131637" grpId="0" autoUpdateAnimBg="0"/>
      <p:bldP spid="1131638" grpId="0" autoUpdateAnimBg="0"/>
      <p:bldP spid="1131639" grpId="0" autoUpdateAnimBg="0"/>
      <p:bldP spid="1131640" grpId="0" autoUpdateAnimBg="0"/>
      <p:bldP spid="1131641" grpId="0" autoUpdateAnimBg="0"/>
      <p:bldP spid="1131642" grpId="0" autoUpdateAnimBg="0"/>
      <p:bldP spid="1131643" grpId="0" autoUpdateAnimBg="0"/>
      <p:bldP spid="1131644" grpId="0" autoUpdateAnimBg="0"/>
      <p:bldP spid="1131645" grpId="0" autoUpdateAnimBg="0"/>
      <p:bldP spid="1131646" grpId="0" autoUpdateAnimBg="0"/>
      <p:bldP spid="1131647" grpId="0" autoUpdateAnimBg="0"/>
      <p:bldP spid="1131648" grpId="0" autoUpdateAnimBg="0"/>
      <p:bldP spid="1131649" grpId="0" autoUpdateAnimBg="0"/>
      <p:bldP spid="1131650" grpId="0" autoUpdateAnimBg="0"/>
      <p:bldP spid="1131651" grpId="0" autoUpdateAnimBg="0"/>
      <p:bldP spid="1131652" grpId="0" autoUpdateAnimBg="0"/>
      <p:bldP spid="1131653" grpId="0" autoUpdateAnimBg="0"/>
      <p:bldP spid="1131654" grpId="0" autoUpdateAnimBg="0"/>
      <p:bldP spid="1131655"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5" name="Group 2"/>
          <p:cNvGraphicFramePr>
            <a:graphicFrameLocks noGrp="1"/>
          </p:cNvGraphicFramePr>
          <p:nvPr>
            <p:extLst>
              <p:ext uri="{D42A27DB-BD31-4B8C-83A1-F6EECF244321}">
                <p14:modId xmlns:p14="http://schemas.microsoft.com/office/powerpoint/2010/main" val="3906183448"/>
              </p:ext>
            </p:extLst>
          </p:nvPr>
        </p:nvGraphicFramePr>
        <p:xfrm>
          <a:off x="1676400" y="1371600"/>
          <a:ext cx="8763000" cy="4254502"/>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760413">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进程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服务</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静态优先权</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6" name="Text Box 86"/>
          <p:cNvSpPr txBox="1">
            <a:spLocks noChangeArrowheads="1"/>
          </p:cNvSpPr>
          <p:nvPr/>
        </p:nvSpPr>
        <p:spPr bwMode="auto">
          <a:xfrm>
            <a:off x="800100" y="688976"/>
            <a:ext cx="6477000" cy="519113"/>
          </a:xfrm>
          <a:prstGeom prst="rect">
            <a:avLst/>
          </a:prstGeom>
          <a:noFill/>
          <a:ln w="9525">
            <a:noFill/>
            <a:miter lim="800000"/>
            <a:headEnd/>
            <a:tailEnd/>
          </a:ln>
          <a:effectLst/>
        </p:spPr>
        <p:txBody>
          <a:bodyPr>
            <a:spAutoFit/>
          </a:bodyPr>
          <a:lstStyle/>
          <a:p>
            <a:pPr>
              <a:spcBef>
                <a:spcPct val="50000"/>
              </a:spcBef>
            </a:pPr>
            <a:r>
              <a:rPr kumimoji="1" lang="zh-CN" altLang="en-US" sz="2800" b="1" dirty="0">
                <a:latin typeface="Times New Roman" pitchFamily="18" charset="0"/>
                <a:ea typeface="楷体_GB2312" pitchFamily="49" charset="-122"/>
              </a:rPr>
              <a:t>静态优先权，</a:t>
            </a:r>
            <a:r>
              <a:rPr kumimoji="1" lang="zh-CN" altLang="en-US" sz="2800" b="1" dirty="0">
                <a:solidFill>
                  <a:srgbClr val="990000"/>
                </a:solidFill>
                <a:latin typeface="Times New Roman" pitchFamily="18" charset="0"/>
                <a:ea typeface="楷体_GB2312" pitchFamily="49" charset="-122"/>
              </a:rPr>
              <a:t>抢占式</a:t>
            </a:r>
            <a:r>
              <a:rPr kumimoji="1" lang="zh-CN" altLang="en-US" sz="2800" b="1" dirty="0">
                <a:latin typeface="Times New Roman" pitchFamily="18" charset="0"/>
                <a:ea typeface="楷体_GB2312" pitchFamily="49" charset="-122"/>
              </a:rPr>
              <a:t>（</a:t>
            </a:r>
            <a:r>
              <a:rPr kumimoji="1" lang="en-US" altLang="zh-CN" sz="2800" b="1" dirty="0">
                <a:latin typeface="Times New Roman" pitchFamily="18" charset="0"/>
                <a:ea typeface="楷体_GB2312" pitchFamily="49" charset="-122"/>
              </a:rPr>
              <a:t>1</a:t>
            </a:r>
            <a:r>
              <a:rPr kumimoji="1" lang="zh-CN" altLang="en-US" sz="2800" b="1" dirty="0">
                <a:latin typeface="Times New Roman" pitchFamily="18" charset="0"/>
                <a:ea typeface="楷体_GB2312" pitchFamily="49" charset="-122"/>
              </a:rPr>
              <a:t>为高优先权）</a:t>
            </a:r>
          </a:p>
        </p:txBody>
      </p:sp>
      <p:grpSp>
        <p:nvGrpSpPr>
          <p:cNvPr id="87" name="Group 88"/>
          <p:cNvGrpSpPr>
            <a:grpSpLocks/>
          </p:cNvGrpSpPr>
          <p:nvPr/>
        </p:nvGrpSpPr>
        <p:grpSpPr bwMode="auto">
          <a:xfrm>
            <a:off x="1981200" y="2209800"/>
            <a:ext cx="3657600" cy="520700"/>
            <a:chOff x="336" y="1688"/>
            <a:chExt cx="2304" cy="328"/>
          </a:xfrm>
        </p:grpSpPr>
        <p:sp>
          <p:nvSpPr>
            <p:cNvPr id="88" name="Text Box 89"/>
            <p:cNvSpPr txBox="1">
              <a:spLocks noChangeArrowheads="1"/>
            </p:cNvSpPr>
            <p:nvPr/>
          </p:nvSpPr>
          <p:spPr bwMode="auto">
            <a:xfrm>
              <a:off x="1008"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0</a:t>
              </a:r>
            </a:p>
          </p:txBody>
        </p:sp>
        <p:sp>
          <p:nvSpPr>
            <p:cNvPr id="89" name="Text Box 90"/>
            <p:cNvSpPr txBox="1">
              <a:spLocks noChangeArrowheads="1"/>
            </p:cNvSpPr>
            <p:nvPr/>
          </p:nvSpPr>
          <p:spPr bwMode="auto">
            <a:xfrm>
              <a:off x="1728"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90" name="Text Box 91"/>
            <p:cNvSpPr txBox="1">
              <a:spLocks noChangeArrowheads="1"/>
            </p:cNvSpPr>
            <p:nvPr/>
          </p:nvSpPr>
          <p:spPr bwMode="auto">
            <a:xfrm>
              <a:off x="336"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A</a:t>
              </a:r>
            </a:p>
          </p:txBody>
        </p:sp>
        <p:sp>
          <p:nvSpPr>
            <p:cNvPr id="91" name="Text Box 92"/>
            <p:cNvSpPr txBox="1">
              <a:spLocks noChangeArrowheads="1"/>
            </p:cNvSpPr>
            <p:nvPr/>
          </p:nvSpPr>
          <p:spPr bwMode="auto">
            <a:xfrm>
              <a:off x="2400" y="1689"/>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4</a:t>
              </a:r>
            </a:p>
          </p:txBody>
        </p:sp>
      </p:grpSp>
      <p:grpSp>
        <p:nvGrpSpPr>
          <p:cNvPr id="92" name="Group 93"/>
          <p:cNvGrpSpPr>
            <a:grpSpLocks/>
          </p:cNvGrpSpPr>
          <p:nvPr/>
        </p:nvGrpSpPr>
        <p:grpSpPr bwMode="auto">
          <a:xfrm>
            <a:off x="1981200" y="2806701"/>
            <a:ext cx="3657600" cy="531813"/>
            <a:chOff x="336" y="2064"/>
            <a:chExt cx="2304" cy="335"/>
          </a:xfrm>
        </p:grpSpPr>
        <p:sp>
          <p:nvSpPr>
            <p:cNvPr id="93" name="Text Box 94"/>
            <p:cNvSpPr txBox="1">
              <a:spLocks noChangeArrowheads="1"/>
            </p:cNvSpPr>
            <p:nvPr/>
          </p:nvSpPr>
          <p:spPr bwMode="auto">
            <a:xfrm>
              <a:off x="1008"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1</a:t>
              </a:r>
            </a:p>
          </p:txBody>
        </p:sp>
        <p:sp>
          <p:nvSpPr>
            <p:cNvPr id="94" name="Text Box 95"/>
            <p:cNvSpPr txBox="1">
              <a:spLocks noChangeArrowheads="1"/>
            </p:cNvSpPr>
            <p:nvPr/>
          </p:nvSpPr>
          <p:spPr bwMode="auto">
            <a:xfrm>
              <a:off x="1728"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95" name="Text Box 96"/>
            <p:cNvSpPr txBox="1">
              <a:spLocks noChangeArrowheads="1"/>
            </p:cNvSpPr>
            <p:nvPr/>
          </p:nvSpPr>
          <p:spPr bwMode="auto">
            <a:xfrm>
              <a:off x="336"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B</a:t>
              </a:r>
            </a:p>
          </p:txBody>
        </p:sp>
        <p:sp>
          <p:nvSpPr>
            <p:cNvPr id="96" name="Text Box 97"/>
            <p:cNvSpPr txBox="1">
              <a:spLocks noChangeArrowheads="1"/>
            </p:cNvSpPr>
            <p:nvPr/>
          </p:nvSpPr>
          <p:spPr bwMode="auto">
            <a:xfrm>
              <a:off x="2400" y="206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2</a:t>
              </a:r>
            </a:p>
          </p:txBody>
        </p:sp>
      </p:grpSp>
      <p:grpSp>
        <p:nvGrpSpPr>
          <p:cNvPr id="97" name="Group 98"/>
          <p:cNvGrpSpPr>
            <a:grpSpLocks/>
          </p:cNvGrpSpPr>
          <p:nvPr/>
        </p:nvGrpSpPr>
        <p:grpSpPr bwMode="auto">
          <a:xfrm>
            <a:off x="1981200" y="3416301"/>
            <a:ext cx="3657600" cy="531813"/>
            <a:chOff x="336" y="2448"/>
            <a:chExt cx="2304" cy="335"/>
          </a:xfrm>
        </p:grpSpPr>
        <p:sp>
          <p:nvSpPr>
            <p:cNvPr id="98" name="Text Box 99"/>
            <p:cNvSpPr txBox="1">
              <a:spLocks noChangeArrowheads="1"/>
            </p:cNvSpPr>
            <p:nvPr/>
          </p:nvSpPr>
          <p:spPr bwMode="auto">
            <a:xfrm>
              <a:off x="100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99" name="Text Box 100"/>
            <p:cNvSpPr txBox="1">
              <a:spLocks noChangeArrowheads="1"/>
            </p:cNvSpPr>
            <p:nvPr/>
          </p:nvSpPr>
          <p:spPr bwMode="auto">
            <a:xfrm>
              <a:off x="172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00" name="Text Box 101"/>
            <p:cNvSpPr txBox="1">
              <a:spLocks noChangeArrowheads="1"/>
            </p:cNvSpPr>
            <p:nvPr/>
          </p:nvSpPr>
          <p:spPr bwMode="auto">
            <a:xfrm>
              <a:off x="336"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C</a:t>
              </a:r>
            </a:p>
          </p:txBody>
        </p:sp>
        <p:sp>
          <p:nvSpPr>
            <p:cNvPr id="101" name="Text Box 102"/>
            <p:cNvSpPr txBox="1">
              <a:spLocks noChangeArrowheads="1"/>
            </p:cNvSpPr>
            <p:nvPr/>
          </p:nvSpPr>
          <p:spPr bwMode="auto">
            <a:xfrm>
              <a:off x="2400" y="244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3</a:t>
              </a:r>
            </a:p>
          </p:txBody>
        </p:sp>
      </p:grpSp>
      <p:grpSp>
        <p:nvGrpSpPr>
          <p:cNvPr id="102" name="Group 103"/>
          <p:cNvGrpSpPr>
            <a:grpSpLocks/>
          </p:cNvGrpSpPr>
          <p:nvPr/>
        </p:nvGrpSpPr>
        <p:grpSpPr bwMode="auto">
          <a:xfrm>
            <a:off x="1981200" y="3949701"/>
            <a:ext cx="3657600" cy="531813"/>
            <a:chOff x="336" y="2784"/>
            <a:chExt cx="2304" cy="335"/>
          </a:xfrm>
        </p:grpSpPr>
        <p:sp>
          <p:nvSpPr>
            <p:cNvPr id="103" name="Text Box 104"/>
            <p:cNvSpPr txBox="1">
              <a:spLocks noChangeArrowheads="1"/>
            </p:cNvSpPr>
            <p:nvPr/>
          </p:nvSpPr>
          <p:spPr bwMode="auto">
            <a:xfrm>
              <a:off x="1008"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04" name="Text Box 105"/>
            <p:cNvSpPr txBox="1">
              <a:spLocks noChangeArrowheads="1"/>
            </p:cNvSpPr>
            <p:nvPr/>
          </p:nvSpPr>
          <p:spPr bwMode="auto">
            <a:xfrm>
              <a:off x="1728"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05" name="Text Box 106"/>
            <p:cNvSpPr txBox="1">
              <a:spLocks noChangeArrowheads="1"/>
            </p:cNvSpPr>
            <p:nvPr/>
          </p:nvSpPr>
          <p:spPr bwMode="auto">
            <a:xfrm>
              <a:off x="336"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D</a:t>
              </a:r>
            </a:p>
          </p:txBody>
        </p:sp>
        <p:sp>
          <p:nvSpPr>
            <p:cNvPr id="106" name="Text Box 107"/>
            <p:cNvSpPr txBox="1">
              <a:spLocks noChangeArrowheads="1"/>
            </p:cNvSpPr>
            <p:nvPr/>
          </p:nvSpPr>
          <p:spPr bwMode="auto">
            <a:xfrm>
              <a:off x="2400" y="278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5</a:t>
              </a:r>
            </a:p>
          </p:txBody>
        </p:sp>
      </p:grpSp>
      <p:grpSp>
        <p:nvGrpSpPr>
          <p:cNvPr id="107" name="Group 108"/>
          <p:cNvGrpSpPr>
            <a:grpSpLocks/>
          </p:cNvGrpSpPr>
          <p:nvPr/>
        </p:nvGrpSpPr>
        <p:grpSpPr bwMode="auto">
          <a:xfrm>
            <a:off x="1981200" y="4559301"/>
            <a:ext cx="3657600" cy="531813"/>
            <a:chOff x="336" y="3168"/>
            <a:chExt cx="2304" cy="335"/>
          </a:xfrm>
        </p:grpSpPr>
        <p:sp>
          <p:nvSpPr>
            <p:cNvPr id="108" name="Text Box 109"/>
            <p:cNvSpPr txBox="1">
              <a:spLocks noChangeArrowheads="1"/>
            </p:cNvSpPr>
            <p:nvPr/>
          </p:nvSpPr>
          <p:spPr bwMode="auto">
            <a:xfrm>
              <a:off x="1008"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09" name="Text Box 110"/>
            <p:cNvSpPr txBox="1">
              <a:spLocks noChangeArrowheads="1"/>
            </p:cNvSpPr>
            <p:nvPr/>
          </p:nvSpPr>
          <p:spPr bwMode="auto">
            <a:xfrm>
              <a:off x="1728"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0" name="Text Box 111"/>
            <p:cNvSpPr txBox="1">
              <a:spLocks noChangeArrowheads="1"/>
            </p:cNvSpPr>
            <p:nvPr/>
          </p:nvSpPr>
          <p:spPr bwMode="auto">
            <a:xfrm>
              <a:off x="336"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E</a:t>
              </a:r>
            </a:p>
          </p:txBody>
        </p:sp>
        <p:sp>
          <p:nvSpPr>
            <p:cNvPr id="111" name="Text Box 112"/>
            <p:cNvSpPr txBox="1">
              <a:spLocks noChangeArrowheads="1"/>
            </p:cNvSpPr>
            <p:nvPr/>
          </p:nvSpPr>
          <p:spPr bwMode="auto">
            <a:xfrm>
              <a:off x="2400" y="316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1</a:t>
              </a:r>
            </a:p>
          </p:txBody>
        </p:sp>
      </p:grpSp>
      <p:sp>
        <p:nvSpPr>
          <p:cNvPr id="112" name="Text Box 113"/>
          <p:cNvSpPr txBox="1">
            <a:spLocks noChangeArrowheads="1"/>
          </p:cNvSpPr>
          <p:nvPr/>
        </p:nvSpPr>
        <p:spPr bwMode="auto">
          <a:xfrm>
            <a:off x="6324600" y="21971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3" name="Text Box 114"/>
          <p:cNvSpPr txBox="1">
            <a:spLocks noChangeArrowheads="1"/>
          </p:cNvSpPr>
          <p:nvPr/>
        </p:nvSpPr>
        <p:spPr bwMode="auto">
          <a:xfrm>
            <a:off x="7162800" y="2197100"/>
            <a:ext cx="7620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16</a:t>
            </a:r>
          </a:p>
        </p:txBody>
      </p:sp>
      <p:sp>
        <p:nvSpPr>
          <p:cNvPr id="114" name="Text Box 115"/>
          <p:cNvSpPr txBox="1">
            <a:spLocks noChangeArrowheads="1"/>
          </p:cNvSpPr>
          <p:nvPr/>
        </p:nvSpPr>
        <p:spPr bwMode="auto">
          <a:xfrm>
            <a:off x="8458200" y="2197100"/>
            <a:ext cx="7620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16</a:t>
            </a:r>
          </a:p>
        </p:txBody>
      </p:sp>
      <p:sp>
        <p:nvSpPr>
          <p:cNvPr id="115" name="Text Box 116"/>
          <p:cNvSpPr txBox="1">
            <a:spLocks noChangeArrowheads="1"/>
          </p:cNvSpPr>
          <p:nvPr/>
        </p:nvSpPr>
        <p:spPr bwMode="auto">
          <a:xfrm>
            <a:off x="9525000" y="21971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a:t>
            </a:r>
          </a:p>
        </p:txBody>
      </p:sp>
      <p:sp>
        <p:nvSpPr>
          <p:cNvPr id="116" name="Text Box 117"/>
          <p:cNvSpPr txBox="1">
            <a:spLocks noChangeArrowheads="1"/>
          </p:cNvSpPr>
          <p:nvPr/>
        </p:nvSpPr>
        <p:spPr bwMode="auto">
          <a:xfrm>
            <a:off x="6248400" y="45593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a:t>
            </a:r>
          </a:p>
        </p:txBody>
      </p:sp>
      <p:sp>
        <p:nvSpPr>
          <p:cNvPr id="117" name="Text Box 118"/>
          <p:cNvSpPr txBox="1">
            <a:spLocks noChangeArrowheads="1"/>
          </p:cNvSpPr>
          <p:nvPr/>
        </p:nvSpPr>
        <p:spPr bwMode="auto">
          <a:xfrm>
            <a:off x="7315200" y="45593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a:t>
            </a:r>
          </a:p>
        </p:txBody>
      </p:sp>
      <p:sp>
        <p:nvSpPr>
          <p:cNvPr id="118" name="Text Box 119"/>
          <p:cNvSpPr txBox="1">
            <a:spLocks noChangeArrowheads="1"/>
          </p:cNvSpPr>
          <p:nvPr/>
        </p:nvSpPr>
        <p:spPr bwMode="auto">
          <a:xfrm>
            <a:off x="8458200" y="45593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9" name="Text Box 120"/>
          <p:cNvSpPr txBox="1">
            <a:spLocks noChangeArrowheads="1"/>
          </p:cNvSpPr>
          <p:nvPr/>
        </p:nvSpPr>
        <p:spPr bwMode="auto">
          <a:xfrm>
            <a:off x="9601200" y="45593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a:t>
            </a:r>
          </a:p>
        </p:txBody>
      </p:sp>
      <p:sp>
        <p:nvSpPr>
          <p:cNvPr id="120" name="Text Box 121"/>
          <p:cNvSpPr txBox="1">
            <a:spLocks noChangeArrowheads="1"/>
          </p:cNvSpPr>
          <p:nvPr/>
        </p:nvSpPr>
        <p:spPr bwMode="auto">
          <a:xfrm>
            <a:off x="6324600" y="28067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a:t>
            </a:r>
          </a:p>
        </p:txBody>
      </p:sp>
      <p:sp>
        <p:nvSpPr>
          <p:cNvPr id="121" name="Text Box 122"/>
          <p:cNvSpPr txBox="1">
            <a:spLocks noChangeArrowheads="1"/>
          </p:cNvSpPr>
          <p:nvPr/>
        </p:nvSpPr>
        <p:spPr bwMode="auto">
          <a:xfrm>
            <a:off x="7315200" y="28067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a:t>
            </a:r>
          </a:p>
        </p:txBody>
      </p:sp>
      <p:sp>
        <p:nvSpPr>
          <p:cNvPr id="122" name="Text Box 123"/>
          <p:cNvSpPr txBox="1">
            <a:spLocks noChangeArrowheads="1"/>
          </p:cNvSpPr>
          <p:nvPr/>
        </p:nvSpPr>
        <p:spPr bwMode="auto">
          <a:xfrm>
            <a:off x="8382000" y="28067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3</a:t>
            </a:r>
          </a:p>
        </p:txBody>
      </p:sp>
      <p:sp>
        <p:nvSpPr>
          <p:cNvPr id="123" name="Text Box 124"/>
          <p:cNvSpPr txBox="1">
            <a:spLocks noChangeArrowheads="1"/>
          </p:cNvSpPr>
          <p:nvPr/>
        </p:nvSpPr>
        <p:spPr bwMode="auto">
          <a:xfrm>
            <a:off x="9372600" y="2806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a:t>
            </a:r>
          </a:p>
        </p:txBody>
      </p:sp>
      <p:sp>
        <p:nvSpPr>
          <p:cNvPr id="124" name="Text Box 125"/>
          <p:cNvSpPr txBox="1">
            <a:spLocks noChangeArrowheads="1"/>
          </p:cNvSpPr>
          <p:nvPr/>
        </p:nvSpPr>
        <p:spPr bwMode="auto">
          <a:xfrm>
            <a:off x="6096000" y="34163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a:t>
            </a:r>
          </a:p>
        </p:txBody>
      </p:sp>
      <p:sp>
        <p:nvSpPr>
          <p:cNvPr id="125" name="Text Box 126"/>
          <p:cNvSpPr txBox="1">
            <a:spLocks noChangeArrowheads="1"/>
          </p:cNvSpPr>
          <p:nvPr/>
        </p:nvSpPr>
        <p:spPr bwMode="auto">
          <a:xfrm>
            <a:off x="7162800" y="34163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a:t>
            </a:r>
          </a:p>
        </p:txBody>
      </p:sp>
      <p:sp>
        <p:nvSpPr>
          <p:cNvPr id="126" name="Text Box 127"/>
          <p:cNvSpPr txBox="1">
            <a:spLocks noChangeArrowheads="1"/>
          </p:cNvSpPr>
          <p:nvPr/>
        </p:nvSpPr>
        <p:spPr bwMode="auto">
          <a:xfrm>
            <a:off x="8229600" y="34163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11</a:t>
            </a:r>
          </a:p>
        </p:txBody>
      </p:sp>
      <p:sp>
        <p:nvSpPr>
          <p:cNvPr id="127" name="Text Box 128"/>
          <p:cNvSpPr txBox="1">
            <a:spLocks noChangeArrowheads="1"/>
          </p:cNvSpPr>
          <p:nvPr/>
        </p:nvSpPr>
        <p:spPr bwMode="auto">
          <a:xfrm>
            <a:off x="9372600" y="34163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11/5</a:t>
            </a:r>
          </a:p>
        </p:txBody>
      </p:sp>
      <p:sp>
        <p:nvSpPr>
          <p:cNvPr id="128" name="Text Box 129"/>
          <p:cNvSpPr txBox="1">
            <a:spLocks noChangeArrowheads="1"/>
          </p:cNvSpPr>
          <p:nvPr/>
        </p:nvSpPr>
        <p:spPr bwMode="auto">
          <a:xfrm>
            <a:off x="6096000" y="3949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16</a:t>
            </a:r>
          </a:p>
        </p:txBody>
      </p:sp>
      <p:sp>
        <p:nvSpPr>
          <p:cNvPr id="129" name="Text Box 130"/>
          <p:cNvSpPr txBox="1">
            <a:spLocks noChangeArrowheads="1"/>
          </p:cNvSpPr>
          <p:nvPr/>
        </p:nvSpPr>
        <p:spPr bwMode="auto">
          <a:xfrm>
            <a:off x="7162800" y="3949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18</a:t>
            </a:r>
          </a:p>
        </p:txBody>
      </p:sp>
      <p:sp>
        <p:nvSpPr>
          <p:cNvPr id="130" name="Text Box 131"/>
          <p:cNvSpPr txBox="1">
            <a:spLocks noChangeArrowheads="1"/>
          </p:cNvSpPr>
          <p:nvPr/>
        </p:nvSpPr>
        <p:spPr bwMode="auto">
          <a:xfrm>
            <a:off x="8229600" y="3949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15</a:t>
            </a:r>
          </a:p>
        </p:txBody>
      </p:sp>
      <p:sp>
        <p:nvSpPr>
          <p:cNvPr id="131" name="Text Box 132"/>
          <p:cNvSpPr txBox="1">
            <a:spLocks noChangeArrowheads="1"/>
          </p:cNvSpPr>
          <p:nvPr/>
        </p:nvSpPr>
        <p:spPr bwMode="auto">
          <a:xfrm>
            <a:off x="9372600" y="3949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15/2</a:t>
            </a:r>
          </a:p>
        </p:txBody>
      </p:sp>
      <p:sp>
        <p:nvSpPr>
          <p:cNvPr id="132" name="Text Box 133"/>
          <p:cNvSpPr txBox="1">
            <a:spLocks noChangeArrowheads="1"/>
          </p:cNvSpPr>
          <p:nvPr/>
        </p:nvSpPr>
        <p:spPr bwMode="auto">
          <a:xfrm>
            <a:off x="8305800" y="5092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9.8</a:t>
            </a:r>
          </a:p>
        </p:txBody>
      </p:sp>
      <p:sp>
        <p:nvSpPr>
          <p:cNvPr id="133" name="Text Box 134"/>
          <p:cNvSpPr txBox="1">
            <a:spLocks noChangeArrowheads="1"/>
          </p:cNvSpPr>
          <p:nvPr/>
        </p:nvSpPr>
        <p:spPr bwMode="auto">
          <a:xfrm>
            <a:off x="9372600" y="5092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2.18</a:t>
            </a:r>
          </a:p>
        </p:txBody>
      </p:sp>
      <p:sp>
        <p:nvSpPr>
          <p:cNvPr id="135" name="Rectangle 125"/>
          <p:cNvSpPr>
            <a:spLocks noChangeArrowheads="1"/>
          </p:cNvSpPr>
          <p:nvPr/>
        </p:nvSpPr>
        <p:spPr bwMode="auto">
          <a:xfrm>
            <a:off x="2209800" y="5694090"/>
            <a:ext cx="381000" cy="457200"/>
          </a:xfrm>
          <a:prstGeom prst="rect">
            <a:avLst/>
          </a:prstGeom>
          <a:gradFill rotWithShape="0">
            <a:gsLst>
              <a:gs pos="0">
                <a:srgbClr val="E6DCAC"/>
              </a:gs>
              <a:gs pos="12000">
                <a:srgbClr val="E6D78A"/>
              </a:gs>
              <a:gs pos="30000">
                <a:srgbClr val="C7AC4C"/>
              </a:gs>
              <a:gs pos="45000">
                <a:srgbClr val="E6D78A"/>
              </a:gs>
              <a:gs pos="77000">
                <a:srgbClr val="C7AC4C"/>
              </a:gs>
              <a:gs pos="100000">
                <a:srgbClr val="E6DCAC"/>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grpSp>
        <p:nvGrpSpPr>
          <p:cNvPr id="177" name="组合 176"/>
          <p:cNvGrpSpPr/>
          <p:nvPr/>
        </p:nvGrpSpPr>
        <p:grpSpPr>
          <a:xfrm>
            <a:off x="2590800" y="5694090"/>
            <a:ext cx="1143000" cy="457200"/>
            <a:chOff x="1143000" y="5775325"/>
            <a:chExt cx="1143000" cy="457200"/>
          </a:xfrm>
        </p:grpSpPr>
        <p:sp>
          <p:nvSpPr>
            <p:cNvPr id="137" name="Rectangle 127"/>
            <p:cNvSpPr>
              <a:spLocks noChangeArrowheads="1"/>
            </p:cNvSpPr>
            <p:nvPr/>
          </p:nvSpPr>
          <p:spPr bwMode="auto">
            <a:xfrm>
              <a:off x="1524000" y="5775325"/>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B</a:t>
              </a:r>
            </a:p>
          </p:txBody>
        </p:sp>
        <p:sp>
          <p:nvSpPr>
            <p:cNvPr id="136" name="Rectangle 126"/>
            <p:cNvSpPr>
              <a:spLocks noChangeArrowheads="1"/>
            </p:cNvSpPr>
            <p:nvPr/>
          </p:nvSpPr>
          <p:spPr bwMode="auto">
            <a:xfrm>
              <a:off x="1143000" y="5775325"/>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B</a:t>
              </a:r>
            </a:p>
          </p:txBody>
        </p:sp>
        <p:sp>
          <p:nvSpPr>
            <p:cNvPr id="138" name="Rectangle 128"/>
            <p:cNvSpPr>
              <a:spLocks noChangeArrowheads="1"/>
            </p:cNvSpPr>
            <p:nvPr/>
          </p:nvSpPr>
          <p:spPr bwMode="auto">
            <a:xfrm>
              <a:off x="1905000" y="5775325"/>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B</a:t>
              </a:r>
            </a:p>
          </p:txBody>
        </p:sp>
      </p:grpSp>
      <p:grpSp>
        <p:nvGrpSpPr>
          <p:cNvPr id="166" name="组合 165"/>
          <p:cNvGrpSpPr/>
          <p:nvPr/>
        </p:nvGrpSpPr>
        <p:grpSpPr>
          <a:xfrm>
            <a:off x="3733800" y="5694090"/>
            <a:ext cx="1524000" cy="457200"/>
            <a:chOff x="2286000" y="5775325"/>
            <a:chExt cx="1524000" cy="457200"/>
          </a:xfrm>
        </p:grpSpPr>
        <p:sp>
          <p:nvSpPr>
            <p:cNvPr id="140" name="Rectangle 130"/>
            <p:cNvSpPr>
              <a:spLocks noChangeArrowheads="1"/>
            </p:cNvSpPr>
            <p:nvPr/>
          </p:nvSpPr>
          <p:spPr bwMode="auto">
            <a:xfrm>
              <a:off x="2286000" y="5775325"/>
              <a:ext cx="381000" cy="457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41" name="Rectangle 131"/>
            <p:cNvSpPr>
              <a:spLocks noChangeArrowheads="1"/>
            </p:cNvSpPr>
            <p:nvPr/>
          </p:nvSpPr>
          <p:spPr bwMode="auto">
            <a:xfrm>
              <a:off x="2667000" y="5775325"/>
              <a:ext cx="381000" cy="457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42" name="Rectangle 132"/>
            <p:cNvSpPr>
              <a:spLocks noChangeArrowheads="1"/>
            </p:cNvSpPr>
            <p:nvPr/>
          </p:nvSpPr>
          <p:spPr bwMode="auto">
            <a:xfrm>
              <a:off x="3048000" y="5775325"/>
              <a:ext cx="381000" cy="457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44" name="Rectangle 134"/>
            <p:cNvSpPr>
              <a:spLocks noChangeArrowheads="1"/>
            </p:cNvSpPr>
            <p:nvPr/>
          </p:nvSpPr>
          <p:spPr bwMode="auto">
            <a:xfrm>
              <a:off x="3429000" y="5775325"/>
              <a:ext cx="381000" cy="457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grpSp>
      <p:grpSp>
        <p:nvGrpSpPr>
          <p:cNvPr id="172" name="组合 171"/>
          <p:cNvGrpSpPr/>
          <p:nvPr/>
        </p:nvGrpSpPr>
        <p:grpSpPr>
          <a:xfrm>
            <a:off x="5257800" y="5694090"/>
            <a:ext cx="1905000" cy="457200"/>
            <a:chOff x="3810000" y="5775325"/>
            <a:chExt cx="1905000" cy="457200"/>
          </a:xfrm>
        </p:grpSpPr>
        <p:sp>
          <p:nvSpPr>
            <p:cNvPr id="145" name="Rectangle 135"/>
            <p:cNvSpPr>
              <a:spLocks noChangeArrowheads="1"/>
            </p:cNvSpPr>
            <p:nvPr/>
          </p:nvSpPr>
          <p:spPr bwMode="auto">
            <a:xfrm>
              <a:off x="3810000" y="5775325"/>
              <a:ext cx="381000" cy="457200"/>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46" name="Rectangle 136"/>
            <p:cNvSpPr>
              <a:spLocks noChangeArrowheads="1"/>
            </p:cNvSpPr>
            <p:nvPr/>
          </p:nvSpPr>
          <p:spPr bwMode="auto">
            <a:xfrm>
              <a:off x="4191000" y="5775325"/>
              <a:ext cx="381000" cy="457200"/>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47" name="Rectangle 137"/>
            <p:cNvSpPr>
              <a:spLocks noChangeArrowheads="1"/>
            </p:cNvSpPr>
            <p:nvPr/>
          </p:nvSpPr>
          <p:spPr bwMode="auto">
            <a:xfrm>
              <a:off x="4572000" y="5775325"/>
              <a:ext cx="381000" cy="457200"/>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48" name="Rectangle 138"/>
            <p:cNvSpPr>
              <a:spLocks noChangeArrowheads="1"/>
            </p:cNvSpPr>
            <p:nvPr/>
          </p:nvSpPr>
          <p:spPr bwMode="auto">
            <a:xfrm>
              <a:off x="4953000" y="5775325"/>
              <a:ext cx="381000" cy="457200"/>
            </a:xfrm>
            <a:prstGeom prst="rect">
              <a:avLst/>
            </a:prstGeom>
            <a:gradFill rotWithShape="0">
              <a:gsLst>
                <a:gs pos="0">
                  <a:srgbClr val="005A42"/>
                </a:gs>
                <a:gs pos="50000">
                  <a:srgbClr val="FFFFFF"/>
                </a:gs>
                <a:gs pos="100000">
                  <a:srgbClr val="005A4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50" name="Rectangle 140"/>
            <p:cNvSpPr>
              <a:spLocks noChangeArrowheads="1"/>
            </p:cNvSpPr>
            <p:nvPr/>
          </p:nvSpPr>
          <p:spPr bwMode="auto">
            <a:xfrm>
              <a:off x="5334000" y="5775325"/>
              <a:ext cx="381000" cy="457200"/>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grpSp>
      <p:grpSp>
        <p:nvGrpSpPr>
          <p:cNvPr id="175" name="组合 174"/>
          <p:cNvGrpSpPr/>
          <p:nvPr/>
        </p:nvGrpSpPr>
        <p:grpSpPr>
          <a:xfrm>
            <a:off x="7162800" y="5694090"/>
            <a:ext cx="1143000" cy="457200"/>
            <a:chOff x="5715000" y="5775325"/>
            <a:chExt cx="1143000" cy="457200"/>
          </a:xfrm>
        </p:grpSpPr>
        <p:sp>
          <p:nvSpPr>
            <p:cNvPr id="151" name="Rectangle 141"/>
            <p:cNvSpPr>
              <a:spLocks noChangeArrowheads="1"/>
            </p:cNvSpPr>
            <p:nvPr/>
          </p:nvSpPr>
          <p:spPr bwMode="auto">
            <a:xfrm>
              <a:off x="5715000" y="5775325"/>
              <a:ext cx="381000" cy="457200"/>
            </a:xfrm>
            <a:prstGeom prst="rect">
              <a:avLst/>
            </a:prstGeom>
            <a:gradFill rotWithShape="0">
              <a:gsLst>
                <a:gs pos="0">
                  <a:srgbClr val="E6DCAC"/>
                </a:gs>
                <a:gs pos="12000">
                  <a:srgbClr val="E6D78A"/>
                </a:gs>
                <a:gs pos="30000">
                  <a:srgbClr val="C7AC4C"/>
                </a:gs>
                <a:gs pos="45000">
                  <a:srgbClr val="E6D78A"/>
                </a:gs>
                <a:gs pos="77000">
                  <a:srgbClr val="C7AC4C"/>
                </a:gs>
                <a:gs pos="100000">
                  <a:srgbClr val="E6DCAC"/>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sp>
          <p:nvSpPr>
            <p:cNvPr id="153" name="Rectangle 143"/>
            <p:cNvSpPr>
              <a:spLocks noChangeArrowheads="1"/>
            </p:cNvSpPr>
            <p:nvPr/>
          </p:nvSpPr>
          <p:spPr bwMode="auto">
            <a:xfrm>
              <a:off x="6096000" y="5775325"/>
              <a:ext cx="381000" cy="457200"/>
            </a:xfrm>
            <a:prstGeom prst="rect">
              <a:avLst/>
            </a:prstGeom>
            <a:gradFill rotWithShape="0">
              <a:gsLst>
                <a:gs pos="0">
                  <a:srgbClr val="E6DCAC"/>
                </a:gs>
                <a:gs pos="12000">
                  <a:srgbClr val="E6D78A"/>
                </a:gs>
                <a:gs pos="30000">
                  <a:srgbClr val="C7AC4C"/>
                </a:gs>
                <a:gs pos="45000">
                  <a:srgbClr val="E6D78A"/>
                </a:gs>
                <a:gs pos="77000">
                  <a:srgbClr val="C7AC4C"/>
                </a:gs>
                <a:gs pos="100000">
                  <a:srgbClr val="E6DCAC"/>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sp>
          <p:nvSpPr>
            <p:cNvPr id="154" name="Rectangle 144"/>
            <p:cNvSpPr>
              <a:spLocks noChangeArrowheads="1"/>
            </p:cNvSpPr>
            <p:nvPr/>
          </p:nvSpPr>
          <p:spPr bwMode="auto">
            <a:xfrm>
              <a:off x="6477000" y="5775325"/>
              <a:ext cx="381000" cy="457200"/>
            </a:xfrm>
            <a:prstGeom prst="rect">
              <a:avLst/>
            </a:prstGeom>
            <a:gradFill rotWithShape="0">
              <a:gsLst>
                <a:gs pos="0">
                  <a:srgbClr val="E6DCAC"/>
                </a:gs>
                <a:gs pos="12000">
                  <a:srgbClr val="E6D78A"/>
                </a:gs>
                <a:gs pos="30000">
                  <a:srgbClr val="C7AC4C"/>
                </a:gs>
                <a:gs pos="45000">
                  <a:srgbClr val="E6D78A"/>
                </a:gs>
                <a:gs pos="77000">
                  <a:srgbClr val="C7AC4C"/>
                </a:gs>
                <a:gs pos="100000">
                  <a:srgbClr val="E6DCAC"/>
                </a:gs>
              </a:gsLst>
              <a:lin ang="5400000" scaled="0"/>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grpSp>
      <p:grpSp>
        <p:nvGrpSpPr>
          <p:cNvPr id="176" name="组合 175"/>
          <p:cNvGrpSpPr/>
          <p:nvPr/>
        </p:nvGrpSpPr>
        <p:grpSpPr>
          <a:xfrm>
            <a:off x="8305800" y="5694090"/>
            <a:ext cx="762000" cy="457200"/>
            <a:chOff x="6858000" y="5775325"/>
            <a:chExt cx="762000" cy="457200"/>
          </a:xfrm>
        </p:grpSpPr>
        <p:sp>
          <p:nvSpPr>
            <p:cNvPr id="155" name="Rectangle 145"/>
            <p:cNvSpPr>
              <a:spLocks noChangeArrowheads="1"/>
            </p:cNvSpPr>
            <p:nvPr/>
          </p:nvSpPr>
          <p:spPr bwMode="auto">
            <a:xfrm>
              <a:off x="6858000" y="5775325"/>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D</a:t>
              </a:r>
            </a:p>
          </p:txBody>
        </p:sp>
        <p:sp>
          <p:nvSpPr>
            <p:cNvPr id="156" name="Rectangle 146"/>
            <p:cNvSpPr>
              <a:spLocks noChangeArrowheads="1"/>
            </p:cNvSpPr>
            <p:nvPr/>
          </p:nvSpPr>
          <p:spPr bwMode="auto">
            <a:xfrm>
              <a:off x="7239000" y="5775325"/>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D</a:t>
              </a:r>
            </a:p>
          </p:txBody>
        </p:sp>
      </p:grpSp>
      <p:sp>
        <p:nvSpPr>
          <p:cNvPr id="158" name="Line 148"/>
          <p:cNvSpPr>
            <a:spLocks noChangeShapeType="1"/>
          </p:cNvSpPr>
          <p:nvPr/>
        </p:nvSpPr>
        <p:spPr bwMode="auto">
          <a:xfrm>
            <a:off x="2209800" y="6151290"/>
            <a:ext cx="7772400" cy="0"/>
          </a:xfrm>
          <a:prstGeom prst="line">
            <a:avLst/>
          </a:prstGeom>
          <a:solidFill>
            <a:schemeClr val="tx1"/>
          </a:solidFill>
          <a:ln w="28575">
            <a:solidFill>
              <a:schemeClr val="tx1"/>
            </a:solidFill>
            <a:miter lim="800000"/>
            <a:headEnd/>
            <a:tailEnd type="stealth" w="sm" len="lg"/>
          </a:ln>
          <a:effectLst/>
        </p:spPr>
        <p:txBody>
          <a:bodyPr wrap="none"/>
          <a:lstStyle/>
          <a:p>
            <a:endParaRPr lang="zh-CN" altLang="en-US"/>
          </a:p>
        </p:txBody>
      </p:sp>
      <p:sp>
        <p:nvSpPr>
          <p:cNvPr id="159" name="Text Box 149"/>
          <p:cNvSpPr txBox="1">
            <a:spLocks noChangeArrowheads="1"/>
          </p:cNvSpPr>
          <p:nvPr/>
        </p:nvSpPr>
        <p:spPr bwMode="auto">
          <a:xfrm>
            <a:off x="2057400" y="6227491"/>
            <a:ext cx="304800" cy="396875"/>
          </a:xfrm>
          <a:prstGeom prst="rect">
            <a:avLst/>
          </a:prstGeom>
          <a:solidFill>
            <a:schemeClr val="bg1"/>
          </a:solidFill>
          <a:ln w="9525">
            <a:noFill/>
            <a:miter lim="800000"/>
            <a:headEnd/>
            <a:tailEnd/>
          </a:ln>
          <a:effectLst/>
        </p:spPr>
        <p:txBody>
          <a:bodyPr>
            <a:spAutoFit/>
          </a:bodyPr>
          <a:lstStyle/>
          <a:p>
            <a:pPr>
              <a:spcBef>
                <a:spcPct val="50000"/>
              </a:spcBef>
            </a:pPr>
            <a:r>
              <a:rPr kumimoji="1" lang="en-US" altLang="zh-CN" b="1">
                <a:latin typeface="Times New Roman" pitchFamily="18" charset="0"/>
              </a:rPr>
              <a:t>0</a:t>
            </a:r>
          </a:p>
        </p:txBody>
      </p:sp>
      <p:sp>
        <p:nvSpPr>
          <p:cNvPr id="160" name="Text Box 150"/>
          <p:cNvSpPr txBox="1">
            <a:spLocks noChangeArrowheads="1"/>
          </p:cNvSpPr>
          <p:nvPr/>
        </p:nvSpPr>
        <p:spPr bwMode="auto">
          <a:xfrm>
            <a:off x="3962400" y="6227491"/>
            <a:ext cx="304800" cy="396875"/>
          </a:xfrm>
          <a:prstGeom prst="rect">
            <a:avLst/>
          </a:prstGeom>
          <a:solidFill>
            <a:schemeClr val="bg1"/>
          </a:solidFill>
          <a:ln w="9525">
            <a:noFill/>
            <a:miter lim="800000"/>
            <a:headEnd/>
            <a:tailEnd/>
          </a:ln>
          <a:effectLst/>
        </p:spPr>
        <p:txBody>
          <a:bodyPr>
            <a:spAutoFit/>
          </a:bodyPr>
          <a:lstStyle/>
          <a:p>
            <a:pPr>
              <a:spcBef>
                <a:spcPct val="50000"/>
              </a:spcBef>
            </a:pPr>
            <a:r>
              <a:rPr kumimoji="1" lang="en-US" altLang="zh-CN" b="1">
                <a:latin typeface="Times New Roman" pitchFamily="18" charset="0"/>
              </a:rPr>
              <a:t>5</a:t>
            </a:r>
          </a:p>
        </p:txBody>
      </p:sp>
      <p:sp>
        <p:nvSpPr>
          <p:cNvPr id="161" name="Text Box 151"/>
          <p:cNvSpPr txBox="1">
            <a:spLocks noChangeArrowheads="1"/>
          </p:cNvSpPr>
          <p:nvPr/>
        </p:nvSpPr>
        <p:spPr bwMode="auto">
          <a:xfrm>
            <a:off x="5791200" y="6227491"/>
            <a:ext cx="457200" cy="396875"/>
          </a:xfrm>
          <a:prstGeom prst="rect">
            <a:avLst/>
          </a:prstGeom>
          <a:solidFill>
            <a:schemeClr val="bg1"/>
          </a:solidFill>
          <a:ln w="9525">
            <a:noFill/>
            <a:miter lim="800000"/>
            <a:headEnd/>
            <a:tailEnd/>
          </a:ln>
          <a:effectLst/>
        </p:spPr>
        <p:txBody>
          <a:bodyPr>
            <a:spAutoFit/>
          </a:bodyPr>
          <a:lstStyle/>
          <a:p>
            <a:pPr>
              <a:spcBef>
                <a:spcPct val="50000"/>
              </a:spcBef>
            </a:pPr>
            <a:r>
              <a:rPr kumimoji="1" lang="en-US" altLang="zh-CN" b="1">
                <a:latin typeface="Times New Roman" pitchFamily="18" charset="0"/>
              </a:rPr>
              <a:t>10</a:t>
            </a:r>
          </a:p>
        </p:txBody>
      </p:sp>
      <p:sp>
        <p:nvSpPr>
          <p:cNvPr id="162" name="Text Box 152"/>
          <p:cNvSpPr txBox="1">
            <a:spLocks noChangeArrowheads="1"/>
          </p:cNvSpPr>
          <p:nvPr/>
        </p:nvSpPr>
        <p:spPr bwMode="auto">
          <a:xfrm>
            <a:off x="7696200" y="6227491"/>
            <a:ext cx="457200" cy="396875"/>
          </a:xfrm>
          <a:prstGeom prst="rect">
            <a:avLst/>
          </a:prstGeom>
          <a:solidFill>
            <a:schemeClr val="bg1"/>
          </a:solidFill>
          <a:ln w="9525">
            <a:noFill/>
            <a:miter lim="800000"/>
            <a:headEnd/>
            <a:tailEnd/>
          </a:ln>
          <a:effectLst/>
        </p:spPr>
        <p:txBody>
          <a:bodyPr>
            <a:spAutoFit/>
          </a:bodyPr>
          <a:lstStyle/>
          <a:p>
            <a:pPr>
              <a:spcBef>
                <a:spcPct val="50000"/>
              </a:spcBef>
            </a:pPr>
            <a:r>
              <a:rPr kumimoji="1" lang="en-US" altLang="zh-CN" b="1">
                <a:latin typeface="Times New Roman" pitchFamily="18" charset="0"/>
              </a:rPr>
              <a:t>15</a:t>
            </a:r>
          </a:p>
        </p:txBody>
      </p:sp>
      <p:sp>
        <p:nvSpPr>
          <p:cNvPr id="163" name="Text Box 153"/>
          <p:cNvSpPr txBox="1">
            <a:spLocks noChangeArrowheads="1"/>
          </p:cNvSpPr>
          <p:nvPr/>
        </p:nvSpPr>
        <p:spPr bwMode="auto">
          <a:xfrm>
            <a:off x="8839200" y="6227491"/>
            <a:ext cx="457200" cy="396875"/>
          </a:xfrm>
          <a:prstGeom prst="rect">
            <a:avLst/>
          </a:prstGeom>
          <a:solidFill>
            <a:schemeClr val="bg1"/>
          </a:solidFill>
          <a:ln w="9525">
            <a:noFill/>
            <a:miter lim="800000"/>
            <a:headEnd/>
            <a:tailEnd/>
          </a:ln>
          <a:effectLst/>
        </p:spPr>
        <p:txBody>
          <a:bodyPr>
            <a:spAutoFit/>
          </a:bodyPr>
          <a:lstStyle/>
          <a:p>
            <a:pPr>
              <a:spcBef>
                <a:spcPct val="50000"/>
              </a:spcBef>
            </a:pPr>
            <a:r>
              <a:rPr kumimoji="1" lang="en-US" altLang="zh-CN" b="1" dirty="0">
                <a:latin typeface="Times New Roman" pitchFamily="18" charset="0"/>
              </a:rPr>
              <a:t>18</a:t>
            </a:r>
          </a:p>
        </p:txBody>
      </p:sp>
      <p:sp>
        <p:nvSpPr>
          <p:cNvPr id="164" name="Text Box 154"/>
          <p:cNvSpPr txBox="1">
            <a:spLocks noChangeArrowheads="1"/>
          </p:cNvSpPr>
          <p:nvPr/>
        </p:nvSpPr>
        <p:spPr bwMode="auto">
          <a:xfrm>
            <a:off x="10058400" y="5922690"/>
            <a:ext cx="304800" cy="457200"/>
          </a:xfrm>
          <a:prstGeom prst="rect">
            <a:avLst/>
          </a:prstGeom>
          <a:solidFill>
            <a:schemeClr val="bg1"/>
          </a:solidFill>
          <a:ln w="9525">
            <a:noFill/>
            <a:miter lim="800000"/>
            <a:headEnd/>
            <a:tailEnd/>
          </a:ln>
          <a:effectLst/>
        </p:spPr>
        <p:txBody>
          <a:bodyPr>
            <a:spAutoFit/>
          </a:bodyPr>
          <a:lstStyle/>
          <a:p>
            <a:pPr>
              <a:spcBef>
                <a:spcPct val="50000"/>
              </a:spcBef>
            </a:pPr>
            <a:r>
              <a:rPr kumimoji="1" lang="en-US" altLang="zh-CN" sz="2400" b="1">
                <a:latin typeface="Times New Roman" pitchFamily="18" charset="0"/>
              </a:rPr>
              <a: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left)">
                                      <p:cBhvr>
                                        <p:cTn id="7" dur="500"/>
                                        <p:tgtEl>
                                          <p:spTgt spid="8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wipe(left)">
                                      <p:cBhvr>
                                        <p:cTn id="11" dur="500"/>
                                        <p:tgtEl>
                                          <p:spTgt spid="9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gtEl>
                                        <p:attrNameLst>
                                          <p:attrName>style.visibility</p:attrName>
                                        </p:attrNameLst>
                                      </p:cBhvr>
                                      <p:to>
                                        <p:strVal val="visible"/>
                                      </p:to>
                                    </p:set>
                                    <p:animEffect transition="in" filter="wipe(left)">
                                      <p:cBhvr>
                                        <p:cTn id="15" dur="500"/>
                                        <p:tgtEl>
                                          <p:spTgt spid="9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2"/>
                                        </p:tgtEl>
                                        <p:attrNameLst>
                                          <p:attrName>style.visibility</p:attrName>
                                        </p:attrNameLst>
                                      </p:cBhvr>
                                      <p:to>
                                        <p:strVal val="visible"/>
                                      </p:to>
                                    </p:set>
                                    <p:animEffect transition="in" filter="wipe(left)">
                                      <p:cBhvr>
                                        <p:cTn id="19" dur="500"/>
                                        <p:tgtEl>
                                          <p:spTgt spid="102"/>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7"/>
                                        </p:tgtEl>
                                        <p:attrNameLst>
                                          <p:attrName>style.visibility</p:attrName>
                                        </p:attrNameLst>
                                      </p:cBhvr>
                                      <p:to>
                                        <p:strVal val="visible"/>
                                      </p:to>
                                    </p:set>
                                    <p:animEffect transition="in" filter="wipe(left)">
                                      <p:cBhvr>
                                        <p:cTn id="23" dur="500"/>
                                        <p:tgtEl>
                                          <p:spTgt spid="10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12"/>
                                        </p:tgtEl>
                                        <p:attrNameLst>
                                          <p:attrName>style.visibility</p:attrName>
                                        </p:attrNameLst>
                                      </p:cBhvr>
                                      <p:to>
                                        <p:strVal val="visible"/>
                                      </p:to>
                                    </p:set>
                                    <p:anim calcmode="lin" valueType="num">
                                      <p:cBhvr additive="base">
                                        <p:cTn id="28" dur="500" fill="hold"/>
                                        <p:tgtEl>
                                          <p:spTgt spid="112"/>
                                        </p:tgtEl>
                                        <p:attrNameLst>
                                          <p:attrName>ppt_x</p:attrName>
                                        </p:attrNameLst>
                                      </p:cBhvr>
                                      <p:tavLst>
                                        <p:tav tm="0">
                                          <p:val>
                                            <p:strVal val="#ppt_x"/>
                                          </p:val>
                                        </p:tav>
                                        <p:tav tm="100000">
                                          <p:val>
                                            <p:strVal val="#ppt_x"/>
                                          </p:val>
                                        </p:tav>
                                      </p:tavLst>
                                    </p:anim>
                                    <p:anim calcmode="lin" valueType="num">
                                      <p:cBhvr additive="base">
                                        <p:cTn id="29"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20"/>
                                        </p:tgtEl>
                                        <p:attrNameLst>
                                          <p:attrName>style.visibility</p:attrName>
                                        </p:attrNameLst>
                                      </p:cBhvr>
                                      <p:to>
                                        <p:strVal val="visible"/>
                                      </p:to>
                                    </p:set>
                                    <p:anim calcmode="lin" valueType="num">
                                      <p:cBhvr additive="base">
                                        <p:cTn id="38" dur="500" fill="hold"/>
                                        <p:tgtEl>
                                          <p:spTgt spid="120"/>
                                        </p:tgtEl>
                                        <p:attrNameLst>
                                          <p:attrName>ppt_x</p:attrName>
                                        </p:attrNameLst>
                                      </p:cBhvr>
                                      <p:tavLst>
                                        <p:tav tm="0">
                                          <p:val>
                                            <p:strVal val="#ppt_x"/>
                                          </p:val>
                                        </p:tav>
                                        <p:tav tm="100000">
                                          <p:val>
                                            <p:strVal val="#ppt_x"/>
                                          </p:val>
                                        </p:tav>
                                      </p:tavLst>
                                    </p:anim>
                                    <p:anim calcmode="lin" valueType="num">
                                      <p:cBhvr additive="base">
                                        <p:cTn id="39"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7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21"/>
                                        </p:tgtEl>
                                        <p:attrNameLst>
                                          <p:attrName>style.visibility</p:attrName>
                                        </p:attrNameLst>
                                      </p:cBhvr>
                                      <p:to>
                                        <p:strVal val="visible"/>
                                      </p:to>
                                    </p:set>
                                    <p:anim calcmode="lin" valueType="num">
                                      <p:cBhvr additive="base">
                                        <p:cTn id="48" dur="500" fill="hold"/>
                                        <p:tgtEl>
                                          <p:spTgt spid="121"/>
                                        </p:tgtEl>
                                        <p:attrNameLst>
                                          <p:attrName>ppt_x</p:attrName>
                                        </p:attrNameLst>
                                      </p:cBhvr>
                                      <p:tavLst>
                                        <p:tav tm="0">
                                          <p:val>
                                            <p:strVal val="#ppt_x"/>
                                          </p:val>
                                        </p:tav>
                                        <p:tav tm="100000">
                                          <p:val>
                                            <p:strVal val="#ppt_x"/>
                                          </p:val>
                                        </p:tav>
                                      </p:tavLst>
                                    </p:anim>
                                    <p:anim calcmode="lin" valueType="num">
                                      <p:cBhvr additive="base">
                                        <p:cTn id="49" dur="500" fill="hold"/>
                                        <p:tgtEl>
                                          <p:spTgt spid="121"/>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16"/>
                                        </p:tgtEl>
                                        <p:attrNameLst>
                                          <p:attrName>style.visibility</p:attrName>
                                        </p:attrNameLst>
                                      </p:cBhvr>
                                      <p:to>
                                        <p:strVal val="visible"/>
                                      </p:to>
                                    </p:set>
                                    <p:anim calcmode="lin" valueType="num">
                                      <p:cBhvr additive="base">
                                        <p:cTn id="54" dur="500" fill="hold"/>
                                        <p:tgtEl>
                                          <p:spTgt spid="116"/>
                                        </p:tgtEl>
                                        <p:attrNameLst>
                                          <p:attrName>ppt_x</p:attrName>
                                        </p:attrNameLst>
                                      </p:cBhvr>
                                      <p:tavLst>
                                        <p:tav tm="0">
                                          <p:val>
                                            <p:strVal val="#ppt_x"/>
                                          </p:val>
                                        </p:tav>
                                        <p:tav tm="100000">
                                          <p:val>
                                            <p:strVal val="#ppt_x"/>
                                          </p:val>
                                        </p:tav>
                                      </p:tavLst>
                                    </p:anim>
                                    <p:anim calcmode="lin" valueType="num">
                                      <p:cBhvr additive="base">
                                        <p:cTn id="55"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6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17"/>
                                        </p:tgtEl>
                                        <p:attrNameLst>
                                          <p:attrName>style.visibility</p:attrName>
                                        </p:attrNameLst>
                                      </p:cBhvr>
                                      <p:to>
                                        <p:strVal val="visible"/>
                                      </p:to>
                                    </p:set>
                                    <p:anim calcmode="lin" valueType="num">
                                      <p:cBhvr additive="base">
                                        <p:cTn id="64" dur="500" fill="hold"/>
                                        <p:tgtEl>
                                          <p:spTgt spid="117"/>
                                        </p:tgtEl>
                                        <p:attrNameLst>
                                          <p:attrName>ppt_x</p:attrName>
                                        </p:attrNameLst>
                                      </p:cBhvr>
                                      <p:tavLst>
                                        <p:tav tm="0">
                                          <p:val>
                                            <p:strVal val="#ppt_x"/>
                                          </p:val>
                                        </p:tav>
                                        <p:tav tm="100000">
                                          <p:val>
                                            <p:strVal val="#ppt_x"/>
                                          </p:val>
                                        </p:tav>
                                      </p:tavLst>
                                    </p:anim>
                                    <p:anim calcmode="lin" valueType="num">
                                      <p:cBhvr additive="base">
                                        <p:cTn id="65"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24"/>
                                        </p:tgtEl>
                                        <p:attrNameLst>
                                          <p:attrName>style.visibility</p:attrName>
                                        </p:attrNameLst>
                                      </p:cBhvr>
                                      <p:to>
                                        <p:strVal val="visible"/>
                                      </p:to>
                                    </p:set>
                                    <p:anim calcmode="lin" valueType="num">
                                      <p:cBhvr additive="base">
                                        <p:cTn id="70" dur="500" fill="hold"/>
                                        <p:tgtEl>
                                          <p:spTgt spid="124"/>
                                        </p:tgtEl>
                                        <p:attrNameLst>
                                          <p:attrName>ppt_x</p:attrName>
                                        </p:attrNameLst>
                                      </p:cBhvr>
                                      <p:tavLst>
                                        <p:tav tm="0">
                                          <p:val>
                                            <p:strVal val="#ppt_x"/>
                                          </p:val>
                                        </p:tav>
                                        <p:tav tm="100000">
                                          <p:val>
                                            <p:strVal val="#ppt_x"/>
                                          </p:val>
                                        </p:tav>
                                      </p:tavLst>
                                    </p:anim>
                                    <p:anim calcmode="lin" valueType="num">
                                      <p:cBhvr additive="base">
                                        <p:cTn id="71" dur="500" fill="hold"/>
                                        <p:tgtEl>
                                          <p:spTgt spid="124"/>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7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125"/>
                                        </p:tgtEl>
                                        <p:attrNameLst>
                                          <p:attrName>style.visibility</p:attrName>
                                        </p:attrNameLst>
                                      </p:cBhvr>
                                      <p:to>
                                        <p:strVal val="visible"/>
                                      </p:to>
                                    </p:set>
                                    <p:anim calcmode="lin" valueType="num">
                                      <p:cBhvr additive="base">
                                        <p:cTn id="80" dur="500" fill="hold"/>
                                        <p:tgtEl>
                                          <p:spTgt spid="125"/>
                                        </p:tgtEl>
                                        <p:attrNameLst>
                                          <p:attrName>ppt_x</p:attrName>
                                        </p:attrNameLst>
                                      </p:cBhvr>
                                      <p:tavLst>
                                        <p:tav tm="0">
                                          <p:val>
                                            <p:strVal val="#ppt_x"/>
                                          </p:val>
                                        </p:tav>
                                        <p:tav tm="100000">
                                          <p:val>
                                            <p:strVal val="#ppt_x"/>
                                          </p:val>
                                        </p:tav>
                                      </p:tavLst>
                                    </p:anim>
                                    <p:anim calcmode="lin" valueType="num">
                                      <p:cBhvr additive="base">
                                        <p:cTn id="81" dur="500" fill="hold"/>
                                        <p:tgtEl>
                                          <p:spTgt spid="125"/>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7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113"/>
                                        </p:tgtEl>
                                        <p:attrNameLst>
                                          <p:attrName>style.visibility</p:attrName>
                                        </p:attrNameLst>
                                      </p:cBhvr>
                                      <p:to>
                                        <p:strVal val="visible"/>
                                      </p:to>
                                    </p:set>
                                    <p:anim calcmode="lin" valueType="num">
                                      <p:cBhvr additive="base">
                                        <p:cTn id="90" dur="500" fill="hold"/>
                                        <p:tgtEl>
                                          <p:spTgt spid="113"/>
                                        </p:tgtEl>
                                        <p:attrNameLst>
                                          <p:attrName>ppt_x</p:attrName>
                                        </p:attrNameLst>
                                      </p:cBhvr>
                                      <p:tavLst>
                                        <p:tav tm="0">
                                          <p:val>
                                            <p:strVal val="#ppt_x"/>
                                          </p:val>
                                        </p:tav>
                                        <p:tav tm="100000">
                                          <p:val>
                                            <p:strVal val="#ppt_x"/>
                                          </p:val>
                                        </p:tav>
                                      </p:tavLst>
                                    </p:anim>
                                    <p:anim calcmode="lin" valueType="num">
                                      <p:cBhvr additive="base">
                                        <p:cTn id="91"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128"/>
                                        </p:tgtEl>
                                        <p:attrNameLst>
                                          <p:attrName>style.visibility</p:attrName>
                                        </p:attrNameLst>
                                      </p:cBhvr>
                                      <p:to>
                                        <p:strVal val="visible"/>
                                      </p:to>
                                    </p:set>
                                    <p:anim calcmode="lin" valueType="num">
                                      <p:cBhvr additive="base">
                                        <p:cTn id="96" dur="500" fill="hold"/>
                                        <p:tgtEl>
                                          <p:spTgt spid="128"/>
                                        </p:tgtEl>
                                        <p:attrNameLst>
                                          <p:attrName>ppt_x</p:attrName>
                                        </p:attrNameLst>
                                      </p:cBhvr>
                                      <p:tavLst>
                                        <p:tav tm="0">
                                          <p:val>
                                            <p:strVal val="#ppt_x"/>
                                          </p:val>
                                        </p:tav>
                                        <p:tav tm="100000">
                                          <p:val>
                                            <p:strVal val="#ppt_x"/>
                                          </p:val>
                                        </p:tav>
                                      </p:tavLst>
                                    </p:anim>
                                    <p:anim calcmode="lin" valueType="num">
                                      <p:cBhvr additive="base">
                                        <p:cTn id="97"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176"/>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129"/>
                                        </p:tgtEl>
                                        <p:attrNameLst>
                                          <p:attrName>style.visibility</p:attrName>
                                        </p:attrNameLst>
                                      </p:cBhvr>
                                      <p:to>
                                        <p:strVal val="visible"/>
                                      </p:to>
                                    </p:set>
                                    <p:anim calcmode="lin" valueType="num">
                                      <p:cBhvr additive="base">
                                        <p:cTn id="106" dur="500" fill="hold"/>
                                        <p:tgtEl>
                                          <p:spTgt spid="129"/>
                                        </p:tgtEl>
                                        <p:attrNameLst>
                                          <p:attrName>ppt_x</p:attrName>
                                        </p:attrNameLst>
                                      </p:cBhvr>
                                      <p:tavLst>
                                        <p:tav tm="0">
                                          <p:val>
                                            <p:strVal val="#ppt_x"/>
                                          </p:val>
                                        </p:tav>
                                        <p:tav tm="100000">
                                          <p:val>
                                            <p:strVal val="#ppt_x"/>
                                          </p:val>
                                        </p:tav>
                                      </p:tavLst>
                                    </p:anim>
                                    <p:anim calcmode="lin" valueType="num">
                                      <p:cBhvr additive="base">
                                        <p:cTn id="107"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14"/>
                                        </p:tgtEl>
                                        <p:attrNameLst>
                                          <p:attrName>style.visibility</p:attrName>
                                        </p:attrNameLst>
                                      </p:cBhvr>
                                      <p:to>
                                        <p:strVal val="visible"/>
                                      </p:to>
                                    </p:set>
                                    <p:anim calcmode="lin" valueType="num">
                                      <p:cBhvr additive="base">
                                        <p:cTn id="112" dur="500" fill="hold"/>
                                        <p:tgtEl>
                                          <p:spTgt spid="114"/>
                                        </p:tgtEl>
                                        <p:attrNameLst>
                                          <p:attrName>ppt_x</p:attrName>
                                        </p:attrNameLst>
                                      </p:cBhvr>
                                      <p:tavLst>
                                        <p:tav tm="0">
                                          <p:val>
                                            <p:strVal val="#ppt_x"/>
                                          </p:val>
                                        </p:tav>
                                        <p:tav tm="100000">
                                          <p:val>
                                            <p:strVal val="#ppt_x"/>
                                          </p:val>
                                        </p:tav>
                                      </p:tavLst>
                                    </p:anim>
                                    <p:anim calcmode="lin" valueType="num">
                                      <p:cBhvr additive="base">
                                        <p:cTn id="113"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122"/>
                                        </p:tgtEl>
                                        <p:attrNameLst>
                                          <p:attrName>style.visibility</p:attrName>
                                        </p:attrNameLst>
                                      </p:cBhvr>
                                      <p:to>
                                        <p:strVal val="visible"/>
                                      </p:to>
                                    </p:set>
                                    <p:anim calcmode="lin" valueType="num">
                                      <p:cBhvr additive="base">
                                        <p:cTn id="118" dur="500" fill="hold"/>
                                        <p:tgtEl>
                                          <p:spTgt spid="122"/>
                                        </p:tgtEl>
                                        <p:attrNameLst>
                                          <p:attrName>ppt_x</p:attrName>
                                        </p:attrNameLst>
                                      </p:cBhvr>
                                      <p:tavLst>
                                        <p:tav tm="0">
                                          <p:val>
                                            <p:strVal val="#ppt_x"/>
                                          </p:val>
                                        </p:tav>
                                        <p:tav tm="100000">
                                          <p:val>
                                            <p:strVal val="#ppt_x"/>
                                          </p:val>
                                        </p:tav>
                                      </p:tavLst>
                                    </p:anim>
                                    <p:anim calcmode="lin" valueType="num">
                                      <p:cBhvr additive="base">
                                        <p:cTn id="119"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26"/>
                                        </p:tgtEl>
                                        <p:attrNameLst>
                                          <p:attrName>style.visibility</p:attrName>
                                        </p:attrNameLst>
                                      </p:cBhvr>
                                      <p:to>
                                        <p:strVal val="visible"/>
                                      </p:to>
                                    </p:set>
                                    <p:anim calcmode="lin" valueType="num">
                                      <p:cBhvr additive="base">
                                        <p:cTn id="124" dur="500" fill="hold"/>
                                        <p:tgtEl>
                                          <p:spTgt spid="126"/>
                                        </p:tgtEl>
                                        <p:attrNameLst>
                                          <p:attrName>ppt_x</p:attrName>
                                        </p:attrNameLst>
                                      </p:cBhvr>
                                      <p:tavLst>
                                        <p:tav tm="0">
                                          <p:val>
                                            <p:strVal val="#ppt_x"/>
                                          </p:val>
                                        </p:tav>
                                        <p:tav tm="100000">
                                          <p:val>
                                            <p:strVal val="#ppt_x"/>
                                          </p:val>
                                        </p:tav>
                                      </p:tavLst>
                                    </p:anim>
                                    <p:anim calcmode="lin" valueType="num">
                                      <p:cBhvr additive="base">
                                        <p:cTn id="125"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130"/>
                                        </p:tgtEl>
                                        <p:attrNameLst>
                                          <p:attrName>style.visibility</p:attrName>
                                        </p:attrNameLst>
                                      </p:cBhvr>
                                      <p:to>
                                        <p:strVal val="visible"/>
                                      </p:to>
                                    </p:set>
                                    <p:anim calcmode="lin" valueType="num">
                                      <p:cBhvr additive="base">
                                        <p:cTn id="130" dur="500" fill="hold"/>
                                        <p:tgtEl>
                                          <p:spTgt spid="130"/>
                                        </p:tgtEl>
                                        <p:attrNameLst>
                                          <p:attrName>ppt_x</p:attrName>
                                        </p:attrNameLst>
                                      </p:cBhvr>
                                      <p:tavLst>
                                        <p:tav tm="0">
                                          <p:val>
                                            <p:strVal val="#ppt_x"/>
                                          </p:val>
                                        </p:tav>
                                        <p:tav tm="100000">
                                          <p:val>
                                            <p:strVal val="#ppt_x"/>
                                          </p:val>
                                        </p:tav>
                                      </p:tavLst>
                                    </p:anim>
                                    <p:anim calcmode="lin" valueType="num">
                                      <p:cBhvr additive="base">
                                        <p:cTn id="131"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18"/>
                                        </p:tgtEl>
                                        <p:attrNameLst>
                                          <p:attrName>style.visibility</p:attrName>
                                        </p:attrNameLst>
                                      </p:cBhvr>
                                      <p:to>
                                        <p:strVal val="visible"/>
                                      </p:to>
                                    </p:set>
                                    <p:anim calcmode="lin" valueType="num">
                                      <p:cBhvr additive="base">
                                        <p:cTn id="136" dur="500" fill="hold"/>
                                        <p:tgtEl>
                                          <p:spTgt spid="118"/>
                                        </p:tgtEl>
                                        <p:attrNameLst>
                                          <p:attrName>ppt_x</p:attrName>
                                        </p:attrNameLst>
                                      </p:cBhvr>
                                      <p:tavLst>
                                        <p:tav tm="0">
                                          <p:val>
                                            <p:strVal val="#ppt_x"/>
                                          </p:val>
                                        </p:tav>
                                        <p:tav tm="100000">
                                          <p:val>
                                            <p:strVal val="#ppt_x"/>
                                          </p:val>
                                        </p:tav>
                                      </p:tavLst>
                                    </p:anim>
                                    <p:anim calcmode="lin" valueType="num">
                                      <p:cBhvr additive="base">
                                        <p:cTn id="137"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115"/>
                                        </p:tgtEl>
                                        <p:attrNameLst>
                                          <p:attrName>style.visibility</p:attrName>
                                        </p:attrNameLst>
                                      </p:cBhvr>
                                      <p:to>
                                        <p:strVal val="visible"/>
                                      </p:to>
                                    </p:set>
                                    <p:anim calcmode="lin" valueType="num">
                                      <p:cBhvr additive="base">
                                        <p:cTn id="142" dur="500" fill="hold"/>
                                        <p:tgtEl>
                                          <p:spTgt spid="115"/>
                                        </p:tgtEl>
                                        <p:attrNameLst>
                                          <p:attrName>ppt_x</p:attrName>
                                        </p:attrNameLst>
                                      </p:cBhvr>
                                      <p:tavLst>
                                        <p:tav tm="0">
                                          <p:val>
                                            <p:strVal val="#ppt_x"/>
                                          </p:val>
                                        </p:tav>
                                        <p:tav tm="100000">
                                          <p:val>
                                            <p:strVal val="#ppt_x"/>
                                          </p:val>
                                        </p:tav>
                                      </p:tavLst>
                                    </p:anim>
                                    <p:anim calcmode="lin" valueType="num">
                                      <p:cBhvr additive="base">
                                        <p:cTn id="143"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grpId="0" nodeType="clickEffect">
                                  <p:stCondLst>
                                    <p:cond delay="0"/>
                                  </p:stCondLst>
                                  <p:childTnLst>
                                    <p:set>
                                      <p:cBhvr>
                                        <p:cTn id="147" dur="1" fill="hold">
                                          <p:stCondLst>
                                            <p:cond delay="0"/>
                                          </p:stCondLst>
                                        </p:cTn>
                                        <p:tgtEl>
                                          <p:spTgt spid="123"/>
                                        </p:tgtEl>
                                        <p:attrNameLst>
                                          <p:attrName>style.visibility</p:attrName>
                                        </p:attrNameLst>
                                      </p:cBhvr>
                                      <p:to>
                                        <p:strVal val="visible"/>
                                      </p:to>
                                    </p:set>
                                    <p:anim calcmode="lin" valueType="num">
                                      <p:cBhvr additive="base">
                                        <p:cTn id="148" dur="500" fill="hold"/>
                                        <p:tgtEl>
                                          <p:spTgt spid="123"/>
                                        </p:tgtEl>
                                        <p:attrNameLst>
                                          <p:attrName>ppt_x</p:attrName>
                                        </p:attrNameLst>
                                      </p:cBhvr>
                                      <p:tavLst>
                                        <p:tav tm="0">
                                          <p:val>
                                            <p:strVal val="#ppt_x"/>
                                          </p:val>
                                        </p:tav>
                                        <p:tav tm="100000">
                                          <p:val>
                                            <p:strVal val="#ppt_x"/>
                                          </p:val>
                                        </p:tav>
                                      </p:tavLst>
                                    </p:anim>
                                    <p:anim calcmode="lin" valueType="num">
                                      <p:cBhvr additive="base">
                                        <p:cTn id="149" dur="500" fill="hold"/>
                                        <p:tgtEl>
                                          <p:spTgt spid="123"/>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4" fill="hold" grpId="0" nodeType="clickEffect">
                                  <p:stCondLst>
                                    <p:cond delay="0"/>
                                  </p:stCondLst>
                                  <p:childTnLst>
                                    <p:set>
                                      <p:cBhvr>
                                        <p:cTn id="153" dur="1" fill="hold">
                                          <p:stCondLst>
                                            <p:cond delay="0"/>
                                          </p:stCondLst>
                                        </p:cTn>
                                        <p:tgtEl>
                                          <p:spTgt spid="127"/>
                                        </p:tgtEl>
                                        <p:attrNameLst>
                                          <p:attrName>style.visibility</p:attrName>
                                        </p:attrNameLst>
                                      </p:cBhvr>
                                      <p:to>
                                        <p:strVal val="visible"/>
                                      </p:to>
                                    </p:set>
                                    <p:anim calcmode="lin" valueType="num">
                                      <p:cBhvr additive="base">
                                        <p:cTn id="154" dur="500" fill="hold"/>
                                        <p:tgtEl>
                                          <p:spTgt spid="127"/>
                                        </p:tgtEl>
                                        <p:attrNameLst>
                                          <p:attrName>ppt_x</p:attrName>
                                        </p:attrNameLst>
                                      </p:cBhvr>
                                      <p:tavLst>
                                        <p:tav tm="0">
                                          <p:val>
                                            <p:strVal val="#ppt_x"/>
                                          </p:val>
                                        </p:tav>
                                        <p:tav tm="100000">
                                          <p:val>
                                            <p:strVal val="#ppt_x"/>
                                          </p:val>
                                        </p:tav>
                                      </p:tavLst>
                                    </p:anim>
                                    <p:anim calcmode="lin" valueType="num">
                                      <p:cBhvr additive="base">
                                        <p:cTn id="155"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2" presetClass="entr" presetSubtype="4" fill="hold" grpId="0" nodeType="clickEffect">
                                  <p:stCondLst>
                                    <p:cond delay="0"/>
                                  </p:stCondLst>
                                  <p:childTnLst>
                                    <p:set>
                                      <p:cBhvr>
                                        <p:cTn id="159" dur="1" fill="hold">
                                          <p:stCondLst>
                                            <p:cond delay="0"/>
                                          </p:stCondLst>
                                        </p:cTn>
                                        <p:tgtEl>
                                          <p:spTgt spid="131"/>
                                        </p:tgtEl>
                                        <p:attrNameLst>
                                          <p:attrName>style.visibility</p:attrName>
                                        </p:attrNameLst>
                                      </p:cBhvr>
                                      <p:to>
                                        <p:strVal val="visible"/>
                                      </p:to>
                                    </p:set>
                                    <p:anim calcmode="lin" valueType="num">
                                      <p:cBhvr additive="base">
                                        <p:cTn id="160" dur="500" fill="hold"/>
                                        <p:tgtEl>
                                          <p:spTgt spid="131"/>
                                        </p:tgtEl>
                                        <p:attrNameLst>
                                          <p:attrName>ppt_x</p:attrName>
                                        </p:attrNameLst>
                                      </p:cBhvr>
                                      <p:tavLst>
                                        <p:tav tm="0">
                                          <p:val>
                                            <p:strVal val="#ppt_x"/>
                                          </p:val>
                                        </p:tav>
                                        <p:tav tm="100000">
                                          <p:val>
                                            <p:strVal val="#ppt_x"/>
                                          </p:val>
                                        </p:tav>
                                      </p:tavLst>
                                    </p:anim>
                                    <p:anim calcmode="lin" valueType="num">
                                      <p:cBhvr additive="base">
                                        <p:cTn id="161" dur="500" fill="hold"/>
                                        <p:tgtEl>
                                          <p:spTgt spid="131"/>
                                        </p:tgtEl>
                                        <p:attrNameLst>
                                          <p:attrName>ppt_y</p:attrName>
                                        </p:attrNameLst>
                                      </p:cBhvr>
                                      <p:tavLst>
                                        <p:tav tm="0">
                                          <p:val>
                                            <p:strVal val="1+#ppt_h/2"/>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2" presetClass="entr" presetSubtype="4" fill="hold" grpId="0" nodeType="clickEffect">
                                  <p:stCondLst>
                                    <p:cond delay="0"/>
                                  </p:stCondLst>
                                  <p:childTnLst>
                                    <p:set>
                                      <p:cBhvr>
                                        <p:cTn id="165" dur="1" fill="hold">
                                          <p:stCondLst>
                                            <p:cond delay="0"/>
                                          </p:stCondLst>
                                        </p:cTn>
                                        <p:tgtEl>
                                          <p:spTgt spid="119"/>
                                        </p:tgtEl>
                                        <p:attrNameLst>
                                          <p:attrName>style.visibility</p:attrName>
                                        </p:attrNameLst>
                                      </p:cBhvr>
                                      <p:to>
                                        <p:strVal val="visible"/>
                                      </p:to>
                                    </p:set>
                                    <p:anim calcmode="lin" valueType="num">
                                      <p:cBhvr additive="base">
                                        <p:cTn id="166" dur="500" fill="hold"/>
                                        <p:tgtEl>
                                          <p:spTgt spid="119"/>
                                        </p:tgtEl>
                                        <p:attrNameLst>
                                          <p:attrName>ppt_x</p:attrName>
                                        </p:attrNameLst>
                                      </p:cBhvr>
                                      <p:tavLst>
                                        <p:tav tm="0">
                                          <p:val>
                                            <p:strVal val="#ppt_x"/>
                                          </p:val>
                                        </p:tav>
                                        <p:tav tm="100000">
                                          <p:val>
                                            <p:strVal val="#ppt_x"/>
                                          </p:val>
                                        </p:tav>
                                      </p:tavLst>
                                    </p:anim>
                                    <p:anim calcmode="lin" valueType="num">
                                      <p:cBhvr additive="base">
                                        <p:cTn id="167"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132"/>
                                        </p:tgtEl>
                                        <p:attrNameLst>
                                          <p:attrName>style.visibility</p:attrName>
                                        </p:attrNameLst>
                                      </p:cBhvr>
                                      <p:to>
                                        <p:strVal val="visible"/>
                                      </p:to>
                                    </p:set>
                                    <p:anim calcmode="lin" valueType="num">
                                      <p:cBhvr additive="base">
                                        <p:cTn id="172" dur="500" fill="hold"/>
                                        <p:tgtEl>
                                          <p:spTgt spid="132"/>
                                        </p:tgtEl>
                                        <p:attrNameLst>
                                          <p:attrName>ppt_x</p:attrName>
                                        </p:attrNameLst>
                                      </p:cBhvr>
                                      <p:tavLst>
                                        <p:tav tm="0">
                                          <p:val>
                                            <p:strVal val="#ppt_x"/>
                                          </p:val>
                                        </p:tav>
                                        <p:tav tm="100000">
                                          <p:val>
                                            <p:strVal val="#ppt_x"/>
                                          </p:val>
                                        </p:tav>
                                      </p:tavLst>
                                    </p:anim>
                                    <p:anim calcmode="lin" valueType="num">
                                      <p:cBhvr additive="base">
                                        <p:cTn id="173" dur="500" fill="hold"/>
                                        <p:tgtEl>
                                          <p:spTgt spid="132"/>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 presetClass="entr" presetSubtype="4" fill="hold" grpId="0" nodeType="clickEffect">
                                  <p:stCondLst>
                                    <p:cond delay="0"/>
                                  </p:stCondLst>
                                  <p:childTnLst>
                                    <p:set>
                                      <p:cBhvr>
                                        <p:cTn id="177" dur="1" fill="hold">
                                          <p:stCondLst>
                                            <p:cond delay="0"/>
                                          </p:stCondLst>
                                        </p:cTn>
                                        <p:tgtEl>
                                          <p:spTgt spid="133"/>
                                        </p:tgtEl>
                                        <p:attrNameLst>
                                          <p:attrName>style.visibility</p:attrName>
                                        </p:attrNameLst>
                                      </p:cBhvr>
                                      <p:to>
                                        <p:strVal val="visible"/>
                                      </p:to>
                                    </p:set>
                                    <p:anim calcmode="lin" valueType="num">
                                      <p:cBhvr additive="base">
                                        <p:cTn id="178" dur="500" fill="hold"/>
                                        <p:tgtEl>
                                          <p:spTgt spid="133"/>
                                        </p:tgtEl>
                                        <p:attrNameLst>
                                          <p:attrName>ppt_x</p:attrName>
                                        </p:attrNameLst>
                                      </p:cBhvr>
                                      <p:tavLst>
                                        <p:tav tm="0">
                                          <p:val>
                                            <p:strVal val="#ppt_x"/>
                                          </p:val>
                                        </p:tav>
                                        <p:tav tm="100000">
                                          <p:val>
                                            <p:strVal val="#ppt_x"/>
                                          </p:val>
                                        </p:tav>
                                      </p:tavLst>
                                    </p:anim>
                                    <p:anim calcmode="lin" valueType="num">
                                      <p:cBhvr additive="base">
                                        <p:cTn id="179" dur="500" fill="hold"/>
                                        <p:tgtEl>
                                          <p:spTgt spid="1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utoUpdateAnimBg="0"/>
      <p:bldP spid="113" grpId="0" autoUpdateAnimBg="0"/>
      <p:bldP spid="114" grpId="0" autoUpdateAnimBg="0"/>
      <p:bldP spid="115" grpId="0" autoUpdateAnimBg="0"/>
      <p:bldP spid="116" grpId="0" autoUpdateAnimBg="0"/>
      <p:bldP spid="117" grpId="0" autoUpdateAnimBg="0"/>
      <p:bldP spid="118" grpId="0" autoUpdateAnimBg="0"/>
      <p:bldP spid="119" grpId="0" autoUpdateAnimBg="0"/>
      <p:bldP spid="120" grpId="0" autoUpdateAnimBg="0"/>
      <p:bldP spid="121" grpId="0" autoUpdateAnimBg="0"/>
      <p:bldP spid="122" grpId="0" autoUpdateAnimBg="0"/>
      <p:bldP spid="123" grpId="0" autoUpdateAnimBg="0"/>
      <p:bldP spid="124" grpId="0" autoUpdateAnimBg="0"/>
      <p:bldP spid="125" grpId="0" autoUpdateAnimBg="0"/>
      <p:bldP spid="126" grpId="0" autoUpdateAnimBg="0"/>
      <p:bldP spid="127" grpId="0" autoUpdateAnimBg="0"/>
      <p:bldP spid="128" grpId="0" autoUpdateAnimBg="0"/>
      <p:bldP spid="129" grpId="0" autoUpdateAnimBg="0"/>
      <p:bldP spid="130" grpId="0" autoUpdateAnimBg="0"/>
      <p:bldP spid="131" grpId="0" autoUpdateAnimBg="0"/>
      <p:bldP spid="132" grpId="0" autoUpdateAnimBg="0"/>
      <p:bldP spid="133" grpId="0" autoUpdateAnimBg="0"/>
      <p:bldP spid="13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533400" y="762000"/>
            <a:ext cx="11379200" cy="381000"/>
          </a:xfrm>
        </p:spPr>
        <p:txBody>
          <a:bodyPr/>
          <a:lstStyle/>
          <a:p>
            <a:pPr>
              <a:defRPr/>
            </a:pPr>
            <a:r>
              <a:rPr lang="zh-CN" altLang="en-US" sz="3200" b="0" dirty="0"/>
              <a:t>练</a:t>
            </a:r>
            <a:r>
              <a:rPr lang="en-US" altLang="en-US" sz="3200" b="0" dirty="0"/>
              <a:t>  </a:t>
            </a:r>
            <a:r>
              <a:rPr lang="zh-CN" altLang="en-US" sz="3200" b="0" dirty="0"/>
              <a:t>习</a:t>
            </a:r>
            <a:r>
              <a:rPr lang="en-US" altLang="en-US" sz="3200" b="0" dirty="0"/>
              <a:t>  </a:t>
            </a:r>
            <a:endParaRPr lang="zh-CN" altLang="en-US" sz="3200" b="0" dirty="0"/>
          </a:p>
        </p:txBody>
      </p:sp>
      <p:graphicFrame>
        <p:nvGraphicFramePr>
          <p:cNvPr id="102437" name="Group 37"/>
          <p:cNvGraphicFramePr>
            <a:graphicFrameLocks noGrp="1"/>
          </p:cNvGraphicFramePr>
          <p:nvPr>
            <p:ph idx="1"/>
            <p:extLst>
              <p:ext uri="{D42A27DB-BD31-4B8C-83A1-F6EECF244321}">
                <p14:modId xmlns:p14="http://schemas.microsoft.com/office/powerpoint/2010/main" val="1697633391"/>
              </p:ext>
            </p:extLst>
          </p:nvPr>
        </p:nvGraphicFramePr>
        <p:xfrm>
          <a:off x="2565400" y="2971800"/>
          <a:ext cx="7148513" cy="2743200"/>
        </p:xfrm>
        <a:graphic>
          <a:graphicData uri="http://schemas.openxmlformats.org/drawingml/2006/table">
            <a:tbl>
              <a:tblPr/>
              <a:tblGrid>
                <a:gridCol w="1787128">
                  <a:extLst>
                    <a:ext uri="{9D8B030D-6E8A-4147-A177-3AD203B41FA5}">
                      <a16:colId xmlns:a16="http://schemas.microsoft.com/office/drawing/2014/main" val="20000"/>
                    </a:ext>
                  </a:extLst>
                </a:gridCol>
                <a:gridCol w="1787128">
                  <a:extLst>
                    <a:ext uri="{9D8B030D-6E8A-4147-A177-3AD203B41FA5}">
                      <a16:colId xmlns:a16="http://schemas.microsoft.com/office/drawing/2014/main" val="20001"/>
                    </a:ext>
                  </a:extLst>
                </a:gridCol>
                <a:gridCol w="1787129">
                  <a:extLst>
                    <a:ext uri="{9D8B030D-6E8A-4147-A177-3AD203B41FA5}">
                      <a16:colId xmlns:a16="http://schemas.microsoft.com/office/drawing/2014/main" val="20002"/>
                    </a:ext>
                  </a:extLst>
                </a:gridCol>
                <a:gridCol w="1787128">
                  <a:extLst>
                    <a:ext uri="{9D8B030D-6E8A-4147-A177-3AD203B41FA5}">
                      <a16:colId xmlns:a16="http://schemas.microsoft.com/office/drawing/2014/main" val="20003"/>
                    </a:ext>
                  </a:extLst>
                </a:gridCol>
              </a:tblGrid>
              <a:tr h="371475">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FFFFFF"/>
                          </a:solidFill>
                          <a:effectLst/>
                          <a:latin typeface="楷体_GB2312" pitchFamily="49" charset="-122"/>
                          <a:ea typeface="楷体_GB2312" pitchFamily="49" charset="-122"/>
                        </a:rPr>
                        <a:t>进程名</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1" u="none" strike="noStrike" cap="none" normalizeH="0" baseline="0" dirty="0">
                          <a:ln>
                            <a:noFill/>
                          </a:ln>
                          <a:solidFill>
                            <a:srgbClr val="FFFFFF"/>
                          </a:solidFill>
                          <a:effectLst/>
                          <a:latin typeface="隶书" pitchFamily="49" charset="-122"/>
                          <a:ea typeface="隶书" pitchFamily="49" charset="-122"/>
                        </a:rPr>
                        <a:t>I</a:t>
                      </a:r>
                      <a:endParaRPr kumimoji="0" lang="zh-CN" altLang="en-US" sz="2400" b="1" i="0" u="none" strike="noStrike" cap="none" normalizeH="0" baseline="0" dirty="0">
                        <a:ln>
                          <a:noFill/>
                        </a:ln>
                        <a:solidFill>
                          <a:srgbClr val="FFFFFF"/>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1" u="none" strike="noStrike" cap="none" normalizeH="0" baseline="0" dirty="0">
                          <a:ln>
                            <a:noFill/>
                          </a:ln>
                          <a:solidFill>
                            <a:srgbClr val="FFFFFF"/>
                          </a:solidFill>
                          <a:effectLst/>
                          <a:latin typeface="隶书" pitchFamily="49" charset="-122"/>
                          <a:ea typeface="隶书" pitchFamily="49" charset="-122"/>
                        </a:rPr>
                        <a:t>T</a:t>
                      </a:r>
                      <a:endParaRPr kumimoji="0" lang="zh-CN" altLang="en-US" sz="2400" b="1" i="0" u="none" strike="noStrike" cap="none" normalizeH="0" baseline="0" dirty="0">
                        <a:ln>
                          <a:noFill/>
                        </a:ln>
                        <a:solidFill>
                          <a:srgbClr val="FFFFFF"/>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FFFFFF"/>
                          </a:solidFill>
                          <a:effectLst/>
                          <a:latin typeface="隶书" pitchFamily="49" charset="-122"/>
                          <a:ea typeface="隶书" pitchFamily="49" charset="-122"/>
                        </a:rPr>
                        <a:t>优</a:t>
                      </a:r>
                      <a:r>
                        <a:rPr kumimoji="0" lang="en-US" sz="2400" b="1" i="0" u="none" strike="noStrike" cap="none" normalizeH="0" baseline="0" dirty="0">
                          <a:ln>
                            <a:noFill/>
                          </a:ln>
                          <a:solidFill>
                            <a:srgbClr val="FFFFFF"/>
                          </a:solidFill>
                          <a:effectLst/>
                          <a:latin typeface="隶书" pitchFamily="49" charset="-122"/>
                          <a:ea typeface="隶书" pitchFamily="49" charset="-122"/>
                        </a:rPr>
                        <a:t>  </a:t>
                      </a:r>
                      <a:r>
                        <a:rPr kumimoji="0" lang="zh-CN" altLang="en-US" sz="2400" b="1" i="0" u="none" strike="noStrike" cap="none" normalizeH="0" baseline="0" dirty="0">
                          <a:ln>
                            <a:noFill/>
                          </a:ln>
                          <a:solidFill>
                            <a:srgbClr val="FFFFFF"/>
                          </a:solidFill>
                          <a:effectLst/>
                          <a:latin typeface="隶书" pitchFamily="49" charset="-122"/>
                          <a:ea typeface="隶书" pitchFamily="49" charset="-122"/>
                        </a:rPr>
                        <a:t>先</a:t>
                      </a:r>
                      <a:r>
                        <a:rPr kumimoji="0" lang="en-US" sz="2400" b="1" i="0" u="none" strike="noStrike" cap="none" normalizeH="0" baseline="0" dirty="0">
                          <a:ln>
                            <a:noFill/>
                          </a:ln>
                          <a:solidFill>
                            <a:srgbClr val="FFFFFF"/>
                          </a:solidFill>
                          <a:effectLst/>
                          <a:latin typeface="隶书" pitchFamily="49" charset="-122"/>
                          <a:ea typeface="隶书" pitchFamily="49" charset="-122"/>
                        </a:rPr>
                        <a:t>  </a:t>
                      </a:r>
                      <a:r>
                        <a:rPr kumimoji="0" lang="zh-CN" altLang="en-US" sz="2400" b="1" i="0" u="none" strike="noStrike" cap="none" normalizeH="0" baseline="0" dirty="0">
                          <a:ln>
                            <a:noFill/>
                          </a:ln>
                          <a:solidFill>
                            <a:srgbClr val="FFFFFF"/>
                          </a:solidFill>
                          <a:effectLst/>
                          <a:latin typeface="隶书" pitchFamily="49" charset="-122"/>
                          <a:ea typeface="隶书" pitchFamily="49" charset="-122"/>
                        </a:rPr>
                        <a:t>级</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000000"/>
                          </a:solidFill>
                          <a:effectLst/>
                          <a:latin typeface="隶书" pitchFamily="49" charset="-122"/>
                          <a:ea typeface="隶书" pitchFamily="49" charset="-122"/>
                        </a:rPr>
                        <a:t>进程</a:t>
                      </a:r>
                      <a:r>
                        <a:rPr kumimoji="0" lang="en-US" altLang="zh-CN" sz="2400" b="1" i="0" u="none" strike="noStrike" cap="none" normalizeH="0" baseline="0" dirty="0">
                          <a:ln>
                            <a:noFill/>
                          </a:ln>
                          <a:solidFill>
                            <a:srgbClr val="000000"/>
                          </a:solidFill>
                          <a:effectLst/>
                          <a:latin typeface="隶书" pitchFamily="49" charset="-122"/>
                          <a:ea typeface="隶书" pitchFamily="49" charset="-122"/>
                        </a:rPr>
                        <a:t>1</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0</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dirty="0">
                          <a:ln>
                            <a:noFill/>
                          </a:ln>
                          <a:solidFill>
                            <a:srgbClr val="000000"/>
                          </a:solidFill>
                          <a:effectLst/>
                          <a:latin typeface="隶书" pitchFamily="49" charset="-122"/>
                          <a:ea typeface="隶书" pitchFamily="49" charset="-122"/>
                        </a:rPr>
                        <a:t>75</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3</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000000"/>
                          </a:solidFill>
                          <a:effectLst/>
                          <a:latin typeface="隶书" pitchFamily="49" charset="-122"/>
                          <a:ea typeface="隶书" pitchFamily="49" charset="-122"/>
                        </a:rPr>
                        <a:t>进程</a:t>
                      </a:r>
                      <a:r>
                        <a:rPr kumimoji="0" lang="en-US" altLang="zh-CN" sz="2400" b="1" i="0" u="none" strike="noStrike" cap="none" normalizeH="0" baseline="0" dirty="0">
                          <a:ln>
                            <a:noFill/>
                          </a:ln>
                          <a:solidFill>
                            <a:srgbClr val="000000"/>
                          </a:solidFill>
                          <a:effectLst/>
                          <a:latin typeface="隶书" pitchFamily="49" charset="-122"/>
                          <a:ea typeface="隶书" pitchFamily="49" charset="-122"/>
                        </a:rPr>
                        <a:t>2</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1</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dirty="0">
                          <a:ln>
                            <a:noFill/>
                          </a:ln>
                          <a:solidFill>
                            <a:srgbClr val="000000"/>
                          </a:solidFill>
                          <a:effectLst/>
                          <a:latin typeface="隶书" pitchFamily="49" charset="-122"/>
                          <a:ea typeface="隶书" pitchFamily="49" charset="-122"/>
                        </a:rPr>
                        <a:t>15</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1</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000000"/>
                          </a:solidFill>
                          <a:effectLst/>
                          <a:latin typeface="隶书" pitchFamily="49" charset="-122"/>
                          <a:ea typeface="隶书" pitchFamily="49" charset="-122"/>
                        </a:rPr>
                        <a:t>进程</a:t>
                      </a:r>
                      <a:r>
                        <a:rPr kumimoji="0" lang="en-US" altLang="zh-CN" sz="2400" b="1" i="0" u="none" strike="noStrike" cap="none" normalizeH="0" baseline="0" dirty="0">
                          <a:ln>
                            <a:noFill/>
                          </a:ln>
                          <a:solidFill>
                            <a:srgbClr val="000000"/>
                          </a:solidFill>
                          <a:effectLst/>
                          <a:latin typeface="隶书" pitchFamily="49" charset="-122"/>
                          <a:ea typeface="隶书" pitchFamily="49" charset="-122"/>
                        </a:rPr>
                        <a:t>3</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2</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dirty="0">
                          <a:ln>
                            <a:noFill/>
                          </a:ln>
                          <a:solidFill>
                            <a:srgbClr val="000000"/>
                          </a:solidFill>
                          <a:effectLst/>
                          <a:latin typeface="隶书" pitchFamily="49" charset="-122"/>
                          <a:ea typeface="隶书" pitchFamily="49" charset="-122"/>
                        </a:rPr>
                        <a:t>5</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dirty="0">
                          <a:ln>
                            <a:noFill/>
                          </a:ln>
                          <a:solidFill>
                            <a:srgbClr val="000000"/>
                          </a:solidFill>
                          <a:effectLst/>
                          <a:latin typeface="隶书" pitchFamily="49" charset="-122"/>
                          <a:ea typeface="隶书" pitchFamily="49" charset="-122"/>
                        </a:rPr>
                        <a:t>4</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000000"/>
                          </a:solidFill>
                          <a:effectLst/>
                          <a:latin typeface="隶书" pitchFamily="49" charset="-122"/>
                          <a:ea typeface="隶书" pitchFamily="49" charset="-122"/>
                        </a:rPr>
                        <a:t>进程</a:t>
                      </a:r>
                      <a:r>
                        <a:rPr kumimoji="0" lang="en-US" altLang="zh-CN" sz="2400" b="1" i="0" u="none" strike="noStrike" cap="none" normalizeH="0" baseline="0" dirty="0">
                          <a:ln>
                            <a:noFill/>
                          </a:ln>
                          <a:solidFill>
                            <a:srgbClr val="000000"/>
                          </a:solidFill>
                          <a:effectLst/>
                          <a:latin typeface="隶书" pitchFamily="49" charset="-122"/>
                          <a:ea typeface="隶书" pitchFamily="49" charset="-122"/>
                        </a:rPr>
                        <a:t>4</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3</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15</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5</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zh-CN" altLang="en-US" sz="2400" b="1" i="0" u="none" strike="noStrike" cap="none" normalizeH="0" baseline="0" dirty="0">
                          <a:ln>
                            <a:noFill/>
                          </a:ln>
                          <a:solidFill>
                            <a:srgbClr val="000000"/>
                          </a:solidFill>
                          <a:effectLst/>
                          <a:latin typeface="隶书" pitchFamily="49" charset="-122"/>
                          <a:ea typeface="隶书" pitchFamily="49" charset="-122"/>
                        </a:rPr>
                        <a:t>进程</a:t>
                      </a:r>
                      <a:r>
                        <a:rPr kumimoji="0" lang="en-US" altLang="zh-CN" sz="2400" b="1" i="0" u="none" strike="noStrike" cap="none" normalizeH="0" baseline="0" dirty="0">
                          <a:ln>
                            <a:noFill/>
                          </a:ln>
                          <a:solidFill>
                            <a:srgbClr val="000000"/>
                          </a:solidFill>
                          <a:effectLst/>
                          <a:latin typeface="隶书" pitchFamily="49" charset="-122"/>
                          <a:ea typeface="隶书" pitchFamily="49" charset="-122"/>
                        </a:rPr>
                        <a:t>5</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4</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a:ln>
                            <a:noFill/>
                          </a:ln>
                          <a:solidFill>
                            <a:srgbClr val="000000"/>
                          </a:solidFill>
                          <a:effectLst/>
                          <a:latin typeface="隶书" pitchFamily="49" charset="-122"/>
                          <a:ea typeface="隶书" pitchFamily="49" charset="-122"/>
                        </a:rPr>
                        <a:t>45</a:t>
                      </a:r>
                      <a:endParaRPr kumimoji="0" lang="zh-CN" altLang="en-US" sz="2400" b="1" i="0" u="none" strike="noStrike" cap="none" normalizeH="0" baseline="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Tx/>
                        <a:buFontTx/>
                        <a:buNone/>
                        <a:tabLst/>
                      </a:pPr>
                      <a:r>
                        <a:rPr kumimoji="0" lang="en-US" altLang="zh-CN" sz="2400" b="1" i="0" u="none" strike="noStrike" cap="none" normalizeH="0" baseline="0" dirty="0">
                          <a:ln>
                            <a:noFill/>
                          </a:ln>
                          <a:solidFill>
                            <a:srgbClr val="000000"/>
                          </a:solidFill>
                          <a:effectLst/>
                          <a:latin typeface="隶书" pitchFamily="49" charset="-122"/>
                          <a:ea typeface="隶书" pitchFamily="49" charset="-122"/>
                        </a:rPr>
                        <a:t>2</a:t>
                      </a:r>
                      <a:endParaRPr kumimoji="0" lang="zh-CN" altLang="en-US" sz="2400" b="1" i="0" u="none" strike="noStrike" cap="none" normalizeH="0" baseline="0" dirty="0">
                        <a:ln>
                          <a:noFill/>
                        </a:ln>
                        <a:solidFill>
                          <a:srgbClr val="000000"/>
                        </a:solidFill>
                        <a:effectLst/>
                        <a:latin typeface="隶书" pitchFamily="49" charset="-122"/>
                        <a:ea typeface="隶书"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7681" name="TextBox 4"/>
          <p:cNvSpPr txBox="1">
            <a:spLocks noChangeArrowheads="1"/>
          </p:cNvSpPr>
          <p:nvPr/>
        </p:nvSpPr>
        <p:spPr bwMode="auto">
          <a:xfrm>
            <a:off x="1905000" y="1447800"/>
            <a:ext cx="8294687" cy="1384995"/>
          </a:xfrm>
          <a:prstGeom prst="rect">
            <a:avLst/>
          </a:prstGeom>
          <a:noFill/>
          <a:ln w="9525">
            <a:noFill/>
            <a:miter lim="800000"/>
            <a:headEnd/>
            <a:tailEnd/>
          </a:ln>
        </p:spPr>
        <p:txBody>
          <a:bodyPr wrap="square">
            <a:spAutoFit/>
          </a:bodyPr>
          <a:lstStyle/>
          <a:p>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假如在具有一个处理器系统中，采用优先级高者优先的进程调度算法，优先数小代表优先级高，进程达到顺序</a:t>
            </a:r>
            <a:r>
              <a:rPr lang="en-US" altLang="zh-CN" sz="2800" i="1" dirty="0">
                <a:latin typeface="楷体_GB2312" pitchFamily="49" charset="-122"/>
                <a:ea typeface="楷体_GB2312" pitchFamily="49" charset="-122"/>
              </a:rPr>
              <a:t>I</a:t>
            </a:r>
            <a:r>
              <a:rPr lang="zh-CN" altLang="en-US" sz="2800" i="1"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需要处理时间</a:t>
            </a:r>
            <a:r>
              <a:rPr lang="en-US" altLang="zh-CN" sz="2800" i="1" dirty="0">
                <a:latin typeface="楷体_GB2312" pitchFamily="49" charset="-122"/>
                <a:ea typeface="楷体_GB2312" pitchFamily="49" charset="-122"/>
              </a:rPr>
              <a:t>T</a:t>
            </a:r>
            <a:r>
              <a:rPr lang="zh-CN" altLang="en-US" sz="2800" dirty="0">
                <a:latin typeface="楷体_GB2312" pitchFamily="49" charset="-122"/>
                <a:ea typeface="楷体_GB2312" pitchFamily="49" charset="-122"/>
              </a:rPr>
              <a:t>、优先数分别如下：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Box 5"/>
          <p:cNvSpPr txBox="1">
            <a:spLocks noChangeArrowheads="1"/>
          </p:cNvSpPr>
          <p:nvPr/>
        </p:nvSpPr>
        <p:spPr bwMode="auto">
          <a:xfrm>
            <a:off x="2063750" y="1188928"/>
            <a:ext cx="8064500" cy="3108543"/>
          </a:xfrm>
          <a:prstGeom prst="rect">
            <a:avLst/>
          </a:prstGeom>
          <a:noFill/>
          <a:ln w="9525">
            <a:noFill/>
            <a:miter lim="800000"/>
            <a:headEnd/>
            <a:tailEnd/>
          </a:ln>
        </p:spPr>
        <p:txBody>
          <a:bodyPr>
            <a:spAutoFit/>
          </a:bodyPr>
          <a:lstStyle/>
          <a:p>
            <a:pPr>
              <a:lnSpc>
                <a:spcPct val="150000"/>
              </a:lnSpc>
            </a:pP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1</a:t>
            </a:r>
            <a:r>
              <a:rPr lang="zh-CN" altLang="en-US" sz="2800" dirty="0">
                <a:latin typeface="楷体_GB2312" pitchFamily="49" charset="-122"/>
                <a:ea typeface="楷体_GB2312" pitchFamily="49" charset="-122"/>
              </a:rPr>
              <a:t>）没有优先级抢占情况下，写出进程的执行先后序列，进程</a:t>
            </a: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的周转时间是多少？</a:t>
            </a:r>
          </a:p>
          <a:p>
            <a:pPr>
              <a:lnSpc>
                <a:spcPct val="150000"/>
              </a:lnSpc>
            </a:pP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）有优先级抢占情况下，写出进程的执行先后序列，进程</a:t>
            </a: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的周转时间是多少？</a:t>
            </a:r>
          </a:p>
          <a:p>
            <a:endParaRPr lang="zh-CN" altLang="en-US" sz="2800" dirty="0">
              <a:latin typeface="楷体_GB2312" pitchFamily="49" charset="-122"/>
              <a:ea typeface="楷体_GB2312" pitchFamily="49" charset="-122"/>
            </a:endParaRPr>
          </a:p>
        </p:txBody>
      </p:sp>
      <p:sp>
        <p:nvSpPr>
          <p:cNvPr id="4" name="标题 1"/>
          <p:cNvSpPr txBox="1">
            <a:spLocks/>
          </p:cNvSpPr>
          <p:nvPr/>
        </p:nvSpPr>
        <p:spPr>
          <a:xfrm>
            <a:off x="457200" y="685800"/>
            <a:ext cx="8534400" cy="381000"/>
          </a:xfrm>
          <a:prstGeom prst="rect">
            <a:avLst/>
          </a:prstGeom>
        </p:spPr>
        <p:txBody>
          <a:bodyPr/>
          <a:lstStyle/>
          <a:p>
            <a:pPr eaLnBrk="0" hangingPunct="0">
              <a:lnSpc>
                <a:spcPct val="85000"/>
              </a:lnSpc>
              <a:defRPr/>
            </a:pPr>
            <a:r>
              <a:rPr lang="zh-CN" altLang="en-US" sz="3200" dirty="0">
                <a:solidFill>
                  <a:schemeClr val="tx2"/>
                </a:solidFill>
                <a:latin typeface="+mj-lt"/>
                <a:ea typeface="+mj-ea"/>
                <a:cs typeface="+mj-cs"/>
              </a:rPr>
              <a:t>练</a:t>
            </a:r>
            <a:r>
              <a:rPr lang="en-US" altLang="en-US" sz="3200" dirty="0">
                <a:solidFill>
                  <a:schemeClr val="tx2"/>
                </a:solidFill>
                <a:latin typeface="+mj-lt"/>
                <a:ea typeface="+mj-ea"/>
                <a:cs typeface="+mj-cs"/>
              </a:rPr>
              <a:t>  </a:t>
            </a:r>
            <a:r>
              <a:rPr lang="zh-CN" altLang="en-US" sz="3200" dirty="0">
                <a:solidFill>
                  <a:schemeClr val="tx2"/>
                </a:solidFill>
                <a:latin typeface="+mj-lt"/>
                <a:ea typeface="+mj-ea"/>
                <a:cs typeface="+mj-cs"/>
              </a:rPr>
              <a:t>习</a:t>
            </a:r>
            <a:r>
              <a:rPr lang="en-US" altLang="en-US" sz="3200" dirty="0">
                <a:solidFill>
                  <a:schemeClr val="tx2"/>
                </a:solidFill>
                <a:latin typeface="+mj-lt"/>
                <a:ea typeface="+mj-ea"/>
                <a:cs typeface="+mj-cs"/>
              </a:rPr>
              <a:t>  </a:t>
            </a:r>
            <a:endParaRPr lang="zh-CN" altLang="en-US" sz="3200" dirty="0">
              <a:solidFill>
                <a:schemeClr val="tx2"/>
              </a:solidFill>
              <a:latin typeface="+mj-lt"/>
              <a:ea typeface="+mj-ea"/>
              <a:cs typeface="+mj-cs"/>
            </a:endParaRPr>
          </a:p>
        </p:txBody>
      </p:sp>
      <p:pic>
        <p:nvPicPr>
          <p:cNvPr id="3" name="图片 2">
            <a:extLst>
              <a:ext uri="{FF2B5EF4-FFF2-40B4-BE49-F238E27FC236}">
                <a16:creationId xmlns:a16="http://schemas.microsoft.com/office/drawing/2014/main" id="{A121B8EA-7A54-44B7-8D67-A3C2EB514D53}"/>
              </a:ext>
            </a:extLst>
          </p:cNvPr>
          <p:cNvPicPr>
            <a:picLocks noChangeAspect="1"/>
          </p:cNvPicPr>
          <p:nvPr/>
        </p:nvPicPr>
        <p:blipFill>
          <a:blip r:embed="rId3"/>
          <a:stretch>
            <a:fillRect/>
          </a:stretch>
        </p:blipFill>
        <p:spPr>
          <a:xfrm>
            <a:off x="2819400" y="3733800"/>
            <a:ext cx="6477000" cy="261801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1522" name="Group 2"/>
          <p:cNvGraphicFramePr>
            <a:graphicFrameLocks noGrp="1"/>
          </p:cNvGraphicFramePr>
          <p:nvPr>
            <p:extLst>
              <p:ext uri="{D42A27DB-BD31-4B8C-83A1-F6EECF244321}">
                <p14:modId xmlns:p14="http://schemas.microsoft.com/office/powerpoint/2010/main" val="4220868815"/>
              </p:ext>
            </p:extLst>
          </p:nvPr>
        </p:nvGraphicFramePr>
        <p:xfrm>
          <a:off x="1676400" y="1524000"/>
          <a:ext cx="8763000" cy="4254502"/>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760413">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进程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服务</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静态优先权</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1606" name="Text Box 86"/>
          <p:cNvSpPr txBox="1">
            <a:spLocks noChangeArrowheads="1"/>
          </p:cNvSpPr>
          <p:nvPr/>
        </p:nvSpPr>
        <p:spPr bwMode="auto">
          <a:xfrm>
            <a:off x="577850" y="684212"/>
            <a:ext cx="6477000" cy="519113"/>
          </a:xfrm>
          <a:prstGeom prst="rect">
            <a:avLst/>
          </a:prstGeom>
          <a:noFill/>
          <a:ln w="9525">
            <a:noFill/>
            <a:miter lim="800000"/>
            <a:headEnd/>
            <a:tailEnd/>
          </a:ln>
          <a:effectLst/>
        </p:spPr>
        <p:txBody>
          <a:bodyPr>
            <a:spAutoFit/>
          </a:bodyPr>
          <a:lstStyle/>
          <a:p>
            <a:pPr>
              <a:spcBef>
                <a:spcPct val="50000"/>
              </a:spcBef>
            </a:pPr>
            <a:r>
              <a:rPr kumimoji="1" lang="zh-CN" altLang="en-US" sz="2800" b="1" dirty="0">
                <a:latin typeface="Times New Roman" pitchFamily="18" charset="0"/>
                <a:ea typeface="楷体_GB2312" pitchFamily="49" charset="-122"/>
              </a:rPr>
              <a:t>静态优先权，</a:t>
            </a:r>
            <a:r>
              <a:rPr kumimoji="1" lang="zh-CN" altLang="en-US" sz="2800" b="1" dirty="0">
                <a:solidFill>
                  <a:srgbClr val="990000"/>
                </a:solidFill>
                <a:latin typeface="Times New Roman" pitchFamily="18" charset="0"/>
                <a:ea typeface="楷体_GB2312" pitchFamily="49" charset="-122"/>
              </a:rPr>
              <a:t>非抢占式</a:t>
            </a:r>
            <a:r>
              <a:rPr kumimoji="1" lang="zh-CN" altLang="en-US" sz="2800" b="1" dirty="0">
                <a:latin typeface="Times New Roman" pitchFamily="18" charset="0"/>
                <a:ea typeface="楷体_GB2312" pitchFamily="49" charset="-122"/>
              </a:rPr>
              <a:t>（</a:t>
            </a:r>
            <a:r>
              <a:rPr kumimoji="1" lang="en-US" altLang="zh-CN" sz="2800" b="1" dirty="0">
                <a:latin typeface="Times New Roman" pitchFamily="18" charset="0"/>
                <a:ea typeface="楷体_GB2312" pitchFamily="49" charset="-122"/>
              </a:rPr>
              <a:t>1</a:t>
            </a:r>
            <a:r>
              <a:rPr kumimoji="1" lang="zh-CN" altLang="en-US" sz="2800" b="1" dirty="0">
                <a:latin typeface="Times New Roman" pitchFamily="18" charset="0"/>
                <a:ea typeface="楷体_GB2312" pitchFamily="49" charset="-122"/>
              </a:rPr>
              <a:t>为高优先权）</a:t>
            </a:r>
          </a:p>
        </p:txBody>
      </p:sp>
      <p:grpSp>
        <p:nvGrpSpPr>
          <p:cNvPr id="1131608" name="Group 88"/>
          <p:cNvGrpSpPr>
            <a:grpSpLocks/>
          </p:cNvGrpSpPr>
          <p:nvPr/>
        </p:nvGrpSpPr>
        <p:grpSpPr bwMode="auto">
          <a:xfrm>
            <a:off x="1981200" y="2362200"/>
            <a:ext cx="3657600" cy="530225"/>
            <a:chOff x="336" y="1688"/>
            <a:chExt cx="2304" cy="334"/>
          </a:xfrm>
        </p:grpSpPr>
        <p:sp>
          <p:nvSpPr>
            <p:cNvPr id="1131609" name="Text Box 89"/>
            <p:cNvSpPr txBox="1">
              <a:spLocks noChangeArrowheads="1"/>
            </p:cNvSpPr>
            <p:nvPr/>
          </p:nvSpPr>
          <p:spPr bwMode="auto">
            <a:xfrm>
              <a:off x="1008"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0</a:t>
              </a:r>
            </a:p>
          </p:txBody>
        </p:sp>
        <p:sp>
          <p:nvSpPr>
            <p:cNvPr id="1131610" name="Text Box 90"/>
            <p:cNvSpPr txBox="1">
              <a:spLocks noChangeArrowheads="1"/>
            </p:cNvSpPr>
            <p:nvPr/>
          </p:nvSpPr>
          <p:spPr bwMode="auto">
            <a:xfrm>
              <a:off x="1704" y="1692"/>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75</a:t>
              </a:r>
            </a:p>
          </p:txBody>
        </p:sp>
        <p:sp>
          <p:nvSpPr>
            <p:cNvPr id="1131611" name="Text Box 91"/>
            <p:cNvSpPr txBox="1">
              <a:spLocks noChangeArrowheads="1"/>
            </p:cNvSpPr>
            <p:nvPr/>
          </p:nvSpPr>
          <p:spPr bwMode="auto">
            <a:xfrm>
              <a:off x="336"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1</a:t>
              </a:r>
            </a:p>
          </p:txBody>
        </p:sp>
        <p:sp>
          <p:nvSpPr>
            <p:cNvPr id="1131612" name="Text Box 92"/>
            <p:cNvSpPr txBox="1">
              <a:spLocks noChangeArrowheads="1"/>
            </p:cNvSpPr>
            <p:nvPr/>
          </p:nvSpPr>
          <p:spPr bwMode="auto">
            <a:xfrm>
              <a:off x="2400" y="1689"/>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3</a:t>
              </a:r>
            </a:p>
          </p:txBody>
        </p:sp>
      </p:grpSp>
      <p:grpSp>
        <p:nvGrpSpPr>
          <p:cNvPr id="1131613" name="Group 93"/>
          <p:cNvGrpSpPr>
            <a:grpSpLocks/>
          </p:cNvGrpSpPr>
          <p:nvPr/>
        </p:nvGrpSpPr>
        <p:grpSpPr bwMode="auto">
          <a:xfrm>
            <a:off x="1981200" y="2959098"/>
            <a:ext cx="3657600" cy="542925"/>
            <a:chOff x="336" y="2064"/>
            <a:chExt cx="2304" cy="342"/>
          </a:xfrm>
        </p:grpSpPr>
        <p:sp>
          <p:nvSpPr>
            <p:cNvPr id="1131614" name="Text Box 94"/>
            <p:cNvSpPr txBox="1">
              <a:spLocks noChangeArrowheads="1"/>
            </p:cNvSpPr>
            <p:nvPr/>
          </p:nvSpPr>
          <p:spPr bwMode="auto">
            <a:xfrm>
              <a:off x="1008"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1</a:t>
              </a:r>
            </a:p>
          </p:txBody>
        </p:sp>
        <p:sp>
          <p:nvSpPr>
            <p:cNvPr id="1131615" name="Text Box 95"/>
            <p:cNvSpPr txBox="1">
              <a:spLocks noChangeArrowheads="1"/>
            </p:cNvSpPr>
            <p:nvPr/>
          </p:nvSpPr>
          <p:spPr bwMode="auto">
            <a:xfrm>
              <a:off x="1704" y="2076"/>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15</a:t>
              </a:r>
            </a:p>
          </p:txBody>
        </p:sp>
        <p:sp>
          <p:nvSpPr>
            <p:cNvPr id="1131616" name="Text Box 96"/>
            <p:cNvSpPr txBox="1">
              <a:spLocks noChangeArrowheads="1"/>
            </p:cNvSpPr>
            <p:nvPr/>
          </p:nvSpPr>
          <p:spPr bwMode="auto">
            <a:xfrm>
              <a:off x="336"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2</a:t>
              </a:r>
            </a:p>
          </p:txBody>
        </p:sp>
        <p:sp>
          <p:nvSpPr>
            <p:cNvPr id="1131617" name="Text Box 97"/>
            <p:cNvSpPr txBox="1">
              <a:spLocks noChangeArrowheads="1"/>
            </p:cNvSpPr>
            <p:nvPr/>
          </p:nvSpPr>
          <p:spPr bwMode="auto">
            <a:xfrm>
              <a:off x="2400" y="206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1</a:t>
              </a:r>
            </a:p>
          </p:txBody>
        </p:sp>
      </p:grpSp>
      <p:grpSp>
        <p:nvGrpSpPr>
          <p:cNvPr id="1131618" name="Group 98"/>
          <p:cNvGrpSpPr>
            <a:grpSpLocks/>
          </p:cNvGrpSpPr>
          <p:nvPr/>
        </p:nvGrpSpPr>
        <p:grpSpPr bwMode="auto">
          <a:xfrm>
            <a:off x="1981200" y="3568701"/>
            <a:ext cx="3657600" cy="531813"/>
            <a:chOff x="336" y="2448"/>
            <a:chExt cx="2304" cy="335"/>
          </a:xfrm>
        </p:grpSpPr>
        <p:sp>
          <p:nvSpPr>
            <p:cNvPr id="1131619" name="Text Box 99"/>
            <p:cNvSpPr txBox="1">
              <a:spLocks noChangeArrowheads="1"/>
            </p:cNvSpPr>
            <p:nvPr/>
          </p:nvSpPr>
          <p:spPr bwMode="auto">
            <a:xfrm>
              <a:off x="100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31620" name="Text Box 100"/>
            <p:cNvSpPr txBox="1">
              <a:spLocks noChangeArrowheads="1"/>
            </p:cNvSpPr>
            <p:nvPr/>
          </p:nvSpPr>
          <p:spPr bwMode="auto">
            <a:xfrm>
              <a:off x="172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131621" name="Text Box 101"/>
            <p:cNvSpPr txBox="1">
              <a:spLocks noChangeArrowheads="1"/>
            </p:cNvSpPr>
            <p:nvPr/>
          </p:nvSpPr>
          <p:spPr bwMode="auto">
            <a:xfrm>
              <a:off x="336"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3</a:t>
              </a:r>
            </a:p>
          </p:txBody>
        </p:sp>
        <p:sp>
          <p:nvSpPr>
            <p:cNvPr id="1131622" name="Text Box 102"/>
            <p:cNvSpPr txBox="1">
              <a:spLocks noChangeArrowheads="1"/>
            </p:cNvSpPr>
            <p:nvPr/>
          </p:nvSpPr>
          <p:spPr bwMode="auto">
            <a:xfrm>
              <a:off x="2400" y="244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4</a:t>
              </a:r>
            </a:p>
          </p:txBody>
        </p:sp>
      </p:grpSp>
      <p:grpSp>
        <p:nvGrpSpPr>
          <p:cNvPr id="1131623" name="Group 103"/>
          <p:cNvGrpSpPr>
            <a:grpSpLocks/>
          </p:cNvGrpSpPr>
          <p:nvPr/>
        </p:nvGrpSpPr>
        <p:grpSpPr bwMode="auto">
          <a:xfrm>
            <a:off x="1981200" y="4102097"/>
            <a:ext cx="3657600" cy="536575"/>
            <a:chOff x="336" y="2784"/>
            <a:chExt cx="2304" cy="338"/>
          </a:xfrm>
        </p:grpSpPr>
        <p:sp>
          <p:nvSpPr>
            <p:cNvPr id="1131624" name="Text Box 104"/>
            <p:cNvSpPr txBox="1">
              <a:spLocks noChangeArrowheads="1"/>
            </p:cNvSpPr>
            <p:nvPr/>
          </p:nvSpPr>
          <p:spPr bwMode="auto">
            <a:xfrm>
              <a:off x="1008"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31625" name="Text Box 105"/>
            <p:cNvSpPr txBox="1">
              <a:spLocks noChangeArrowheads="1"/>
            </p:cNvSpPr>
            <p:nvPr/>
          </p:nvSpPr>
          <p:spPr bwMode="auto">
            <a:xfrm>
              <a:off x="1704" y="2792"/>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15</a:t>
              </a:r>
            </a:p>
          </p:txBody>
        </p:sp>
        <p:sp>
          <p:nvSpPr>
            <p:cNvPr id="1131626" name="Text Box 106"/>
            <p:cNvSpPr txBox="1">
              <a:spLocks noChangeArrowheads="1"/>
            </p:cNvSpPr>
            <p:nvPr/>
          </p:nvSpPr>
          <p:spPr bwMode="auto">
            <a:xfrm>
              <a:off x="336"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4</a:t>
              </a:r>
            </a:p>
          </p:txBody>
        </p:sp>
        <p:sp>
          <p:nvSpPr>
            <p:cNvPr id="1131627" name="Text Box 107"/>
            <p:cNvSpPr txBox="1">
              <a:spLocks noChangeArrowheads="1"/>
            </p:cNvSpPr>
            <p:nvPr/>
          </p:nvSpPr>
          <p:spPr bwMode="auto">
            <a:xfrm>
              <a:off x="2400" y="278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5</a:t>
              </a:r>
            </a:p>
          </p:txBody>
        </p:sp>
      </p:grpSp>
      <p:grpSp>
        <p:nvGrpSpPr>
          <p:cNvPr id="1131628" name="Group 108"/>
          <p:cNvGrpSpPr>
            <a:grpSpLocks/>
          </p:cNvGrpSpPr>
          <p:nvPr/>
        </p:nvGrpSpPr>
        <p:grpSpPr bwMode="auto">
          <a:xfrm>
            <a:off x="1981200" y="4711701"/>
            <a:ext cx="3657600" cy="538163"/>
            <a:chOff x="336" y="3168"/>
            <a:chExt cx="2304" cy="339"/>
          </a:xfrm>
        </p:grpSpPr>
        <p:sp>
          <p:nvSpPr>
            <p:cNvPr id="1131629" name="Text Box 109"/>
            <p:cNvSpPr txBox="1">
              <a:spLocks noChangeArrowheads="1"/>
            </p:cNvSpPr>
            <p:nvPr/>
          </p:nvSpPr>
          <p:spPr bwMode="auto">
            <a:xfrm>
              <a:off x="1008"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1630" name="Text Box 110"/>
            <p:cNvSpPr txBox="1">
              <a:spLocks noChangeArrowheads="1"/>
            </p:cNvSpPr>
            <p:nvPr/>
          </p:nvSpPr>
          <p:spPr bwMode="auto">
            <a:xfrm>
              <a:off x="1704" y="3177"/>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45</a:t>
              </a:r>
            </a:p>
          </p:txBody>
        </p:sp>
        <p:sp>
          <p:nvSpPr>
            <p:cNvPr id="1131631" name="Text Box 111"/>
            <p:cNvSpPr txBox="1">
              <a:spLocks noChangeArrowheads="1"/>
            </p:cNvSpPr>
            <p:nvPr/>
          </p:nvSpPr>
          <p:spPr bwMode="auto">
            <a:xfrm>
              <a:off x="336"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5</a:t>
              </a:r>
            </a:p>
          </p:txBody>
        </p:sp>
        <p:sp>
          <p:nvSpPr>
            <p:cNvPr id="1131632" name="Text Box 112"/>
            <p:cNvSpPr txBox="1">
              <a:spLocks noChangeArrowheads="1"/>
            </p:cNvSpPr>
            <p:nvPr/>
          </p:nvSpPr>
          <p:spPr bwMode="auto">
            <a:xfrm>
              <a:off x="2400" y="316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2</a:t>
              </a:r>
            </a:p>
          </p:txBody>
        </p:sp>
      </p:grpSp>
      <p:sp>
        <p:nvSpPr>
          <p:cNvPr id="1131633" name="Text Box 113"/>
          <p:cNvSpPr txBox="1">
            <a:spLocks noChangeArrowheads="1"/>
          </p:cNvSpPr>
          <p:nvPr/>
        </p:nvSpPr>
        <p:spPr bwMode="auto">
          <a:xfrm>
            <a:off x="6324600" y="23495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31634" name="Text Box 114"/>
          <p:cNvSpPr txBox="1">
            <a:spLocks noChangeArrowheads="1"/>
          </p:cNvSpPr>
          <p:nvPr/>
        </p:nvSpPr>
        <p:spPr bwMode="auto">
          <a:xfrm>
            <a:off x="7327900" y="2349501"/>
            <a:ext cx="6858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75</a:t>
            </a:r>
          </a:p>
        </p:txBody>
      </p:sp>
      <p:sp>
        <p:nvSpPr>
          <p:cNvPr id="1131635" name="Text Box 115"/>
          <p:cNvSpPr txBox="1">
            <a:spLocks noChangeArrowheads="1"/>
          </p:cNvSpPr>
          <p:nvPr/>
        </p:nvSpPr>
        <p:spPr bwMode="auto">
          <a:xfrm>
            <a:off x="8369300" y="2362201"/>
            <a:ext cx="64135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75</a:t>
            </a:r>
          </a:p>
        </p:txBody>
      </p:sp>
      <p:sp>
        <p:nvSpPr>
          <p:cNvPr id="1131636" name="Text Box 116"/>
          <p:cNvSpPr txBox="1">
            <a:spLocks noChangeArrowheads="1"/>
          </p:cNvSpPr>
          <p:nvPr/>
        </p:nvSpPr>
        <p:spPr bwMode="auto">
          <a:xfrm>
            <a:off x="9525000" y="23495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a:t>
            </a:r>
          </a:p>
        </p:txBody>
      </p:sp>
      <p:sp>
        <p:nvSpPr>
          <p:cNvPr id="1131637" name="Text Box 117"/>
          <p:cNvSpPr txBox="1">
            <a:spLocks noChangeArrowheads="1"/>
          </p:cNvSpPr>
          <p:nvPr/>
        </p:nvSpPr>
        <p:spPr bwMode="auto">
          <a:xfrm>
            <a:off x="6248400" y="4711701"/>
            <a:ext cx="6096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90</a:t>
            </a:r>
          </a:p>
        </p:txBody>
      </p:sp>
      <p:sp>
        <p:nvSpPr>
          <p:cNvPr id="1131638" name="Text Box 118"/>
          <p:cNvSpPr txBox="1">
            <a:spLocks noChangeArrowheads="1"/>
          </p:cNvSpPr>
          <p:nvPr/>
        </p:nvSpPr>
        <p:spPr bwMode="auto">
          <a:xfrm>
            <a:off x="7315200" y="4711701"/>
            <a:ext cx="7620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135</a:t>
            </a:r>
          </a:p>
        </p:txBody>
      </p:sp>
      <p:sp>
        <p:nvSpPr>
          <p:cNvPr id="1131639" name="Text Box 119"/>
          <p:cNvSpPr txBox="1">
            <a:spLocks noChangeArrowheads="1"/>
          </p:cNvSpPr>
          <p:nvPr/>
        </p:nvSpPr>
        <p:spPr bwMode="auto">
          <a:xfrm>
            <a:off x="8375650" y="4726645"/>
            <a:ext cx="7239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131</a:t>
            </a:r>
          </a:p>
        </p:txBody>
      </p:sp>
      <p:sp>
        <p:nvSpPr>
          <p:cNvPr id="1131640" name="Text Box 120"/>
          <p:cNvSpPr txBox="1">
            <a:spLocks noChangeArrowheads="1"/>
          </p:cNvSpPr>
          <p:nvPr/>
        </p:nvSpPr>
        <p:spPr bwMode="auto">
          <a:xfrm>
            <a:off x="9347200" y="4660879"/>
            <a:ext cx="117475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131/45</a:t>
            </a:r>
          </a:p>
        </p:txBody>
      </p:sp>
      <p:sp>
        <p:nvSpPr>
          <p:cNvPr id="1131641" name="Text Box 121"/>
          <p:cNvSpPr txBox="1">
            <a:spLocks noChangeArrowheads="1"/>
          </p:cNvSpPr>
          <p:nvPr/>
        </p:nvSpPr>
        <p:spPr bwMode="auto">
          <a:xfrm>
            <a:off x="6324600" y="2959101"/>
            <a:ext cx="6096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75</a:t>
            </a:r>
          </a:p>
        </p:txBody>
      </p:sp>
      <p:sp>
        <p:nvSpPr>
          <p:cNvPr id="1131642" name="Text Box 122"/>
          <p:cNvSpPr txBox="1">
            <a:spLocks noChangeArrowheads="1"/>
          </p:cNvSpPr>
          <p:nvPr/>
        </p:nvSpPr>
        <p:spPr bwMode="auto">
          <a:xfrm>
            <a:off x="7315200" y="29591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90</a:t>
            </a:r>
          </a:p>
        </p:txBody>
      </p:sp>
      <p:sp>
        <p:nvSpPr>
          <p:cNvPr id="1131643" name="Text Box 123"/>
          <p:cNvSpPr txBox="1">
            <a:spLocks noChangeArrowheads="1"/>
          </p:cNvSpPr>
          <p:nvPr/>
        </p:nvSpPr>
        <p:spPr bwMode="auto">
          <a:xfrm>
            <a:off x="8382000" y="29591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89</a:t>
            </a:r>
          </a:p>
        </p:txBody>
      </p:sp>
      <p:sp>
        <p:nvSpPr>
          <p:cNvPr id="1131644" name="Text Box 124"/>
          <p:cNvSpPr txBox="1">
            <a:spLocks noChangeArrowheads="1"/>
          </p:cNvSpPr>
          <p:nvPr/>
        </p:nvSpPr>
        <p:spPr bwMode="auto">
          <a:xfrm>
            <a:off x="9372600" y="2959101"/>
            <a:ext cx="10668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89/15</a:t>
            </a:r>
          </a:p>
        </p:txBody>
      </p:sp>
      <p:sp>
        <p:nvSpPr>
          <p:cNvPr id="1131645" name="Text Box 125"/>
          <p:cNvSpPr txBox="1">
            <a:spLocks noChangeArrowheads="1"/>
          </p:cNvSpPr>
          <p:nvPr/>
        </p:nvSpPr>
        <p:spPr bwMode="auto">
          <a:xfrm>
            <a:off x="60960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135</a:t>
            </a:r>
          </a:p>
        </p:txBody>
      </p:sp>
      <p:sp>
        <p:nvSpPr>
          <p:cNvPr id="1131646" name="Text Box 126"/>
          <p:cNvSpPr txBox="1">
            <a:spLocks noChangeArrowheads="1"/>
          </p:cNvSpPr>
          <p:nvPr/>
        </p:nvSpPr>
        <p:spPr bwMode="auto">
          <a:xfrm>
            <a:off x="71628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140</a:t>
            </a:r>
          </a:p>
        </p:txBody>
      </p:sp>
      <p:sp>
        <p:nvSpPr>
          <p:cNvPr id="1131647" name="Text Box 127"/>
          <p:cNvSpPr txBox="1">
            <a:spLocks noChangeArrowheads="1"/>
          </p:cNvSpPr>
          <p:nvPr/>
        </p:nvSpPr>
        <p:spPr bwMode="auto">
          <a:xfrm>
            <a:off x="8229600" y="35687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138</a:t>
            </a:r>
          </a:p>
        </p:txBody>
      </p:sp>
      <p:sp>
        <p:nvSpPr>
          <p:cNvPr id="1131648" name="Text Box 128"/>
          <p:cNvSpPr txBox="1">
            <a:spLocks noChangeArrowheads="1"/>
          </p:cNvSpPr>
          <p:nvPr/>
        </p:nvSpPr>
        <p:spPr bwMode="auto">
          <a:xfrm>
            <a:off x="9315450" y="3556009"/>
            <a:ext cx="10668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138/5</a:t>
            </a:r>
          </a:p>
        </p:txBody>
      </p:sp>
      <p:sp>
        <p:nvSpPr>
          <p:cNvPr id="1131649" name="Text Box 129"/>
          <p:cNvSpPr txBox="1">
            <a:spLocks noChangeArrowheads="1"/>
          </p:cNvSpPr>
          <p:nvPr/>
        </p:nvSpPr>
        <p:spPr bwMode="auto">
          <a:xfrm>
            <a:off x="60960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140</a:t>
            </a:r>
          </a:p>
        </p:txBody>
      </p:sp>
      <p:sp>
        <p:nvSpPr>
          <p:cNvPr id="1131650" name="Text Box 130"/>
          <p:cNvSpPr txBox="1">
            <a:spLocks noChangeArrowheads="1"/>
          </p:cNvSpPr>
          <p:nvPr/>
        </p:nvSpPr>
        <p:spPr bwMode="auto">
          <a:xfrm>
            <a:off x="71628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155</a:t>
            </a:r>
          </a:p>
        </p:txBody>
      </p:sp>
      <p:sp>
        <p:nvSpPr>
          <p:cNvPr id="1131651" name="Text Box 131"/>
          <p:cNvSpPr txBox="1">
            <a:spLocks noChangeArrowheads="1"/>
          </p:cNvSpPr>
          <p:nvPr/>
        </p:nvSpPr>
        <p:spPr bwMode="auto">
          <a:xfrm>
            <a:off x="8229600" y="4102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152</a:t>
            </a:r>
          </a:p>
        </p:txBody>
      </p:sp>
      <p:sp>
        <p:nvSpPr>
          <p:cNvPr id="1131652" name="Text Box 132"/>
          <p:cNvSpPr txBox="1">
            <a:spLocks noChangeArrowheads="1"/>
          </p:cNvSpPr>
          <p:nvPr/>
        </p:nvSpPr>
        <p:spPr bwMode="auto">
          <a:xfrm>
            <a:off x="9315450" y="4108444"/>
            <a:ext cx="12192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152/15</a:t>
            </a:r>
          </a:p>
        </p:txBody>
      </p:sp>
      <p:sp>
        <p:nvSpPr>
          <p:cNvPr id="1131653" name="Text Box 133"/>
          <p:cNvSpPr txBox="1">
            <a:spLocks noChangeArrowheads="1"/>
          </p:cNvSpPr>
          <p:nvPr/>
        </p:nvSpPr>
        <p:spPr bwMode="auto">
          <a:xfrm>
            <a:off x="8305800" y="5245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117</a:t>
            </a:r>
          </a:p>
        </p:txBody>
      </p:sp>
      <p:sp>
        <p:nvSpPr>
          <p:cNvPr id="1131654" name="Text Box 134"/>
          <p:cNvSpPr txBox="1">
            <a:spLocks noChangeArrowheads="1"/>
          </p:cNvSpPr>
          <p:nvPr/>
        </p:nvSpPr>
        <p:spPr bwMode="auto">
          <a:xfrm>
            <a:off x="9372600" y="52451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9.52</a:t>
            </a:r>
          </a:p>
        </p:txBody>
      </p:sp>
    </p:spTree>
    <p:extLst>
      <p:ext uri="{BB962C8B-B14F-4D97-AF65-F5344CB8AC3E}">
        <p14:creationId xmlns:p14="http://schemas.microsoft.com/office/powerpoint/2010/main" val="327271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1608"/>
                                        </p:tgtEl>
                                        <p:attrNameLst>
                                          <p:attrName>style.visibility</p:attrName>
                                        </p:attrNameLst>
                                      </p:cBhvr>
                                      <p:to>
                                        <p:strVal val="visible"/>
                                      </p:to>
                                    </p:set>
                                    <p:animEffect transition="in" filter="wipe(left)">
                                      <p:cBhvr>
                                        <p:cTn id="7" dur="500"/>
                                        <p:tgtEl>
                                          <p:spTgt spid="113160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31613"/>
                                        </p:tgtEl>
                                        <p:attrNameLst>
                                          <p:attrName>style.visibility</p:attrName>
                                        </p:attrNameLst>
                                      </p:cBhvr>
                                      <p:to>
                                        <p:strVal val="visible"/>
                                      </p:to>
                                    </p:set>
                                    <p:animEffect transition="in" filter="wipe(left)">
                                      <p:cBhvr>
                                        <p:cTn id="11" dur="500"/>
                                        <p:tgtEl>
                                          <p:spTgt spid="113161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31618"/>
                                        </p:tgtEl>
                                        <p:attrNameLst>
                                          <p:attrName>style.visibility</p:attrName>
                                        </p:attrNameLst>
                                      </p:cBhvr>
                                      <p:to>
                                        <p:strVal val="visible"/>
                                      </p:to>
                                    </p:set>
                                    <p:animEffect transition="in" filter="wipe(left)">
                                      <p:cBhvr>
                                        <p:cTn id="15" dur="500"/>
                                        <p:tgtEl>
                                          <p:spTgt spid="113161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31623"/>
                                        </p:tgtEl>
                                        <p:attrNameLst>
                                          <p:attrName>style.visibility</p:attrName>
                                        </p:attrNameLst>
                                      </p:cBhvr>
                                      <p:to>
                                        <p:strVal val="visible"/>
                                      </p:to>
                                    </p:set>
                                    <p:animEffect transition="in" filter="wipe(left)">
                                      <p:cBhvr>
                                        <p:cTn id="19" dur="500"/>
                                        <p:tgtEl>
                                          <p:spTgt spid="113162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31628"/>
                                        </p:tgtEl>
                                        <p:attrNameLst>
                                          <p:attrName>style.visibility</p:attrName>
                                        </p:attrNameLst>
                                      </p:cBhvr>
                                      <p:to>
                                        <p:strVal val="visible"/>
                                      </p:to>
                                    </p:set>
                                    <p:animEffect transition="in" filter="wipe(left)">
                                      <p:cBhvr>
                                        <p:cTn id="23" dur="500"/>
                                        <p:tgtEl>
                                          <p:spTgt spid="113162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131633"/>
                                        </p:tgtEl>
                                        <p:attrNameLst>
                                          <p:attrName>style.visibility</p:attrName>
                                        </p:attrNameLst>
                                      </p:cBhvr>
                                      <p:to>
                                        <p:strVal val="visible"/>
                                      </p:to>
                                    </p:set>
                                    <p:anim calcmode="lin" valueType="num">
                                      <p:cBhvr additive="base">
                                        <p:cTn id="28" dur="500" fill="hold"/>
                                        <p:tgtEl>
                                          <p:spTgt spid="1131633"/>
                                        </p:tgtEl>
                                        <p:attrNameLst>
                                          <p:attrName>ppt_x</p:attrName>
                                        </p:attrNameLst>
                                      </p:cBhvr>
                                      <p:tavLst>
                                        <p:tav tm="0">
                                          <p:val>
                                            <p:strVal val="#ppt_x"/>
                                          </p:val>
                                        </p:tav>
                                        <p:tav tm="100000">
                                          <p:val>
                                            <p:strVal val="#ppt_x"/>
                                          </p:val>
                                        </p:tav>
                                      </p:tavLst>
                                    </p:anim>
                                    <p:anim calcmode="lin" valueType="num">
                                      <p:cBhvr additive="base">
                                        <p:cTn id="29" dur="500" fill="hold"/>
                                        <p:tgtEl>
                                          <p:spTgt spid="113163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31634"/>
                                        </p:tgtEl>
                                        <p:attrNameLst>
                                          <p:attrName>style.visibility</p:attrName>
                                        </p:attrNameLst>
                                      </p:cBhvr>
                                      <p:to>
                                        <p:strVal val="visible"/>
                                      </p:to>
                                    </p:set>
                                    <p:anim calcmode="lin" valueType="num">
                                      <p:cBhvr additive="base">
                                        <p:cTn id="34" dur="500" fill="hold"/>
                                        <p:tgtEl>
                                          <p:spTgt spid="1131634"/>
                                        </p:tgtEl>
                                        <p:attrNameLst>
                                          <p:attrName>ppt_x</p:attrName>
                                        </p:attrNameLst>
                                      </p:cBhvr>
                                      <p:tavLst>
                                        <p:tav tm="0">
                                          <p:val>
                                            <p:strVal val="#ppt_x"/>
                                          </p:val>
                                        </p:tav>
                                        <p:tav tm="100000">
                                          <p:val>
                                            <p:strVal val="#ppt_x"/>
                                          </p:val>
                                        </p:tav>
                                      </p:tavLst>
                                    </p:anim>
                                    <p:anim calcmode="lin" valueType="num">
                                      <p:cBhvr additive="base">
                                        <p:cTn id="35" dur="500" fill="hold"/>
                                        <p:tgtEl>
                                          <p:spTgt spid="113163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131637"/>
                                        </p:tgtEl>
                                        <p:attrNameLst>
                                          <p:attrName>style.visibility</p:attrName>
                                        </p:attrNameLst>
                                      </p:cBhvr>
                                      <p:to>
                                        <p:strVal val="visible"/>
                                      </p:to>
                                    </p:set>
                                    <p:anim calcmode="lin" valueType="num">
                                      <p:cBhvr additive="base">
                                        <p:cTn id="40" dur="500" fill="hold"/>
                                        <p:tgtEl>
                                          <p:spTgt spid="1131637"/>
                                        </p:tgtEl>
                                        <p:attrNameLst>
                                          <p:attrName>ppt_x</p:attrName>
                                        </p:attrNameLst>
                                      </p:cBhvr>
                                      <p:tavLst>
                                        <p:tav tm="0">
                                          <p:val>
                                            <p:strVal val="#ppt_x"/>
                                          </p:val>
                                        </p:tav>
                                        <p:tav tm="100000">
                                          <p:val>
                                            <p:strVal val="#ppt_x"/>
                                          </p:val>
                                        </p:tav>
                                      </p:tavLst>
                                    </p:anim>
                                    <p:anim calcmode="lin" valueType="num">
                                      <p:cBhvr additive="base">
                                        <p:cTn id="41" dur="500" fill="hold"/>
                                        <p:tgtEl>
                                          <p:spTgt spid="1131637"/>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131638"/>
                                        </p:tgtEl>
                                        <p:attrNameLst>
                                          <p:attrName>style.visibility</p:attrName>
                                        </p:attrNameLst>
                                      </p:cBhvr>
                                      <p:to>
                                        <p:strVal val="visible"/>
                                      </p:to>
                                    </p:set>
                                    <p:anim calcmode="lin" valueType="num">
                                      <p:cBhvr additive="base">
                                        <p:cTn id="46" dur="500" fill="hold"/>
                                        <p:tgtEl>
                                          <p:spTgt spid="1131638"/>
                                        </p:tgtEl>
                                        <p:attrNameLst>
                                          <p:attrName>ppt_x</p:attrName>
                                        </p:attrNameLst>
                                      </p:cBhvr>
                                      <p:tavLst>
                                        <p:tav tm="0">
                                          <p:val>
                                            <p:strVal val="#ppt_x"/>
                                          </p:val>
                                        </p:tav>
                                        <p:tav tm="100000">
                                          <p:val>
                                            <p:strVal val="#ppt_x"/>
                                          </p:val>
                                        </p:tav>
                                      </p:tavLst>
                                    </p:anim>
                                    <p:anim calcmode="lin" valueType="num">
                                      <p:cBhvr additive="base">
                                        <p:cTn id="47" dur="500" fill="hold"/>
                                        <p:tgtEl>
                                          <p:spTgt spid="113163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131641"/>
                                        </p:tgtEl>
                                        <p:attrNameLst>
                                          <p:attrName>style.visibility</p:attrName>
                                        </p:attrNameLst>
                                      </p:cBhvr>
                                      <p:to>
                                        <p:strVal val="visible"/>
                                      </p:to>
                                    </p:set>
                                    <p:anim calcmode="lin" valueType="num">
                                      <p:cBhvr additive="base">
                                        <p:cTn id="52" dur="500" fill="hold"/>
                                        <p:tgtEl>
                                          <p:spTgt spid="1131641"/>
                                        </p:tgtEl>
                                        <p:attrNameLst>
                                          <p:attrName>ppt_x</p:attrName>
                                        </p:attrNameLst>
                                      </p:cBhvr>
                                      <p:tavLst>
                                        <p:tav tm="0">
                                          <p:val>
                                            <p:strVal val="#ppt_x"/>
                                          </p:val>
                                        </p:tav>
                                        <p:tav tm="100000">
                                          <p:val>
                                            <p:strVal val="#ppt_x"/>
                                          </p:val>
                                        </p:tav>
                                      </p:tavLst>
                                    </p:anim>
                                    <p:anim calcmode="lin" valueType="num">
                                      <p:cBhvr additive="base">
                                        <p:cTn id="53" dur="500" fill="hold"/>
                                        <p:tgtEl>
                                          <p:spTgt spid="113164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131642"/>
                                        </p:tgtEl>
                                        <p:attrNameLst>
                                          <p:attrName>style.visibility</p:attrName>
                                        </p:attrNameLst>
                                      </p:cBhvr>
                                      <p:to>
                                        <p:strVal val="visible"/>
                                      </p:to>
                                    </p:set>
                                    <p:anim calcmode="lin" valueType="num">
                                      <p:cBhvr additive="base">
                                        <p:cTn id="58" dur="500" fill="hold"/>
                                        <p:tgtEl>
                                          <p:spTgt spid="1131642"/>
                                        </p:tgtEl>
                                        <p:attrNameLst>
                                          <p:attrName>ppt_x</p:attrName>
                                        </p:attrNameLst>
                                      </p:cBhvr>
                                      <p:tavLst>
                                        <p:tav tm="0">
                                          <p:val>
                                            <p:strVal val="#ppt_x"/>
                                          </p:val>
                                        </p:tav>
                                        <p:tav tm="100000">
                                          <p:val>
                                            <p:strVal val="#ppt_x"/>
                                          </p:val>
                                        </p:tav>
                                      </p:tavLst>
                                    </p:anim>
                                    <p:anim calcmode="lin" valueType="num">
                                      <p:cBhvr additive="base">
                                        <p:cTn id="59" dur="500" fill="hold"/>
                                        <p:tgtEl>
                                          <p:spTgt spid="113164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131645"/>
                                        </p:tgtEl>
                                        <p:attrNameLst>
                                          <p:attrName>style.visibility</p:attrName>
                                        </p:attrNameLst>
                                      </p:cBhvr>
                                      <p:to>
                                        <p:strVal val="visible"/>
                                      </p:to>
                                    </p:set>
                                    <p:anim calcmode="lin" valueType="num">
                                      <p:cBhvr additive="base">
                                        <p:cTn id="64" dur="500" fill="hold"/>
                                        <p:tgtEl>
                                          <p:spTgt spid="1131645"/>
                                        </p:tgtEl>
                                        <p:attrNameLst>
                                          <p:attrName>ppt_x</p:attrName>
                                        </p:attrNameLst>
                                      </p:cBhvr>
                                      <p:tavLst>
                                        <p:tav tm="0">
                                          <p:val>
                                            <p:strVal val="#ppt_x"/>
                                          </p:val>
                                        </p:tav>
                                        <p:tav tm="100000">
                                          <p:val>
                                            <p:strVal val="#ppt_x"/>
                                          </p:val>
                                        </p:tav>
                                      </p:tavLst>
                                    </p:anim>
                                    <p:anim calcmode="lin" valueType="num">
                                      <p:cBhvr additive="base">
                                        <p:cTn id="65" dur="500" fill="hold"/>
                                        <p:tgtEl>
                                          <p:spTgt spid="113164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131646"/>
                                        </p:tgtEl>
                                        <p:attrNameLst>
                                          <p:attrName>style.visibility</p:attrName>
                                        </p:attrNameLst>
                                      </p:cBhvr>
                                      <p:to>
                                        <p:strVal val="visible"/>
                                      </p:to>
                                    </p:set>
                                    <p:anim calcmode="lin" valueType="num">
                                      <p:cBhvr additive="base">
                                        <p:cTn id="70" dur="500" fill="hold"/>
                                        <p:tgtEl>
                                          <p:spTgt spid="1131646"/>
                                        </p:tgtEl>
                                        <p:attrNameLst>
                                          <p:attrName>ppt_x</p:attrName>
                                        </p:attrNameLst>
                                      </p:cBhvr>
                                      <p:tavLst>
                                        <p:tav tm="0">
                                          <p:val>
                                            <p:strVal val="#ppt_x"/>
                                          </p:val>
                                        </p:tav>
                                        <p:tav tm="100000">
                                          <p:val>
                                            <p:strVal val="#ppt_x"/>
                                          </p:val>
                                        </p:tav>
                                      </p:tavLst>
                                    </p:anim>
                                    <p:anim calcmode="lin" valueType="num">
                                      <p:cBhvr additive="base">
                                        <p:cTn id="71" dur="500" fill="hold"/>
                                        <p:tgtEl>
                                          <p:spTgt spid="1131646"/>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131649"/>
                                        </p:tgtEl>
                                        <p:attrNameLst>
                                          <p:attrName>style.visibility</p:attrName>
                                        </p:attrNameLst>
                                      </p:cBhvr>
                                      <p:to>
                                        <p:strVal val="visible"/>
                                      </p:to>
                                    </p:set>
                                    <p:anim calcmode="lin" valueType="num">
                                      <p:cBhvr additive="base">
                                        <p:cTn id="76" dur="500" fill="hold"/>
                                        <p:tgtEl>
                                          <p:spTgt spid="1131649"/>
                                        </p:tgtEl>
                                        <p:attrNameLst>
                                          <p:attrName>ppt_x</p:attrName>
                                        </p:attrNameLst>
                                      </p:cBhvr>
                                      <p:tavLst>
                                        <p:tav tm="0">
                                          <p:val>
                                            <p:strVal val="#ppt_x"/>
                                          </p:val>
                                        </p:tav>
                                        <p:tav tm="100000">
                                          <p:val>
                                            <p:strVal val="#ppt_x"/>
                                          </p:val>
                                        </p:tav>
                                      </p:tavLst>
                                    </p:anim>
                                    <p:anim calcmode="lin" valueType="num">
                                      <p:cBhvr additive="base">
                                        <p:cTn id="77" dur="500" fill="hold"/>
                                        <p:tgtEl>
                                          <p:spTgt spid="1131649"/>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131650"/>
                                        </p:tgtEl>
                                        <p:attrNameLst>
                                          <p:attrName>style.visibility</p:attrName>
                                        </p:attrNameLst>
                                      </p:cBhvr>
                                      <p:to>
                                        <p:strVal val="visible"/>
                                      </p:to>
                                    </p:set>
                                    <p:anim calcmode="lin" valueType="num">
                                      <p:cBhvr additive="base">
                                        <p:cTn id="82" dur="500" fill="hold"/>
                                        <p:tgtEl>
                                          <p:spTgt spid="1131650"/>
                                        </p:tgtEl>
                                        <p:attrNameLst>
                                          <p:attrName>ppt_x</p:attrName>
                                        </p:attrNameLst>
                                      </p:cBhvr>
                                      <p:tavLst>
                                        <p:tav tm="0">
                                          <p:val>
                                            <p:strVal val="#ppt_x"/>
                                          </p:val>
                                        </p:tav>
                                        <p:tav tm="100000">
                                          <p:val>
                                            <p:strVal val="#ppt_x"/>
                                          </p:val>
                                        </p:tav>
                                      </p:tavLst>
                                    </p:anim>
                                    <p:anim calcmode="lin" valueType="num">
                                      <p:cBhvr additive="base">
                                        <p:cTn id="83" dur="500" fill="hold"/>
                                        <p:tgtEl>
                                          <p:spTgt spid="1131650"/>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131635"/>
                                        </p:tgtEl>
                                        <p:attrNameLst>
                                          <p:attrName>style.visibility</p:attrName>
                                        </p:attrNameLst>
                                      </p:cBhvr>
                                      <p:to>
                                        <p:strVal val="visible"/>
                                      </p:to>
                                    </p:set>
                                    <p:anim calcmode="lin" valueType="num">
                                      <p:cBhvr additive="base">
                                        <p:cTn id="88" dur="500" fill="hold"/>
                                        <p:tgtEl>
                                          <p:spTgt spid="1131635"/>
                                        </p:tgtEl>
                                        <p:attrNameLst>
                                          <p:attrName>ppt_x</p:attrName>
                                        </p:attrNameLst>
                                      </p:cBhvr>
                                      <p:tavLst>
                                        <p:tav tm="0">
                                          <p:val>
                                            <p:strVal val="#ppt_x"/>
                                          </p:val>
                                        </p:tav>
                                        <p:tav tm="100000">
                                          <p:val>
                                            <p:strVal val="#ppt_x"/>
                                          </p:val>
                                        </p:tav>
                                      </p:tavLst>
                                    </p:anim>
                                    <p:anim calcmode="lin" valueType="num">
                                      <p:cBhvr additive="base">
                                        <p:cTn id="89" dur="500" fill="hold"/>
                                        <p:tgtEl>
                                          <p:spTgt spid="1131635"/>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1131643"/>
                                        </p:tgtEl>
                                        <p:attrNameLst>
                                          <p:attrName>style.visibility</p:attrName>
                                        </p:attrNameLst>
                                      </p:cBhvr>
                                      <p:to>
                                        <p:strVal val="visible"/>
                                      </p:to>
                                    </p:set>
                                    <p:anim calcmode="lin" valueType="num">
                                      <p:cBhvr additive="base">
                                        <p:cTn id="94" dur="500" fill="hold"/>
                                        <p:tgtEl>
                                          <p:spTgt spid="1131643"/>
                                        </p:tgtEl>
                                        <p:attrNameLst>
                                          <p:attrName>ppt_x</p:attrName>
                                        </p:attrNameLst>
                                      </p:cBhvr>
                                      <p:tavLst>
                                        <p:tav tm="0">
                                          <p:val>
                                            <p:strVal val="#ppt_x"/>
                                          </p:val>
                                        </p:tav>
                                        <p:tav tm="100000">
                                          <p:val>
                                            <p:strVal val="#ppt_x"/>
                                          </p:val>
                                        </p:tav>
                                      </p:tavLst>
                                    </p:anim>
                                    <p:anim calcmode="lin" valueType="num">
                                      <p:cBhvr additive="base">
                                        <p:cTn id="95" dur="500" fill="hold"/>
                                        <p:tgtEl>
                                          <p:spTgt spid="1131643"/>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131647"/>
                                        </p:tgtEl>
                                        <p:attrNameLst>
                                          <p:attrName>style.visibility</p:attrName>
                                        </p:attrNameLst>
                                      </p:cBhvr>
                                      <p:to>
                                        <p:strVal val="visible"/>
                                      </p:to>
                                    </p:set>
                                    <p:anim calcmode="lin" valueType="num">
                                      <p:cBhvr additive="base">
                                        <p:cTn id="100" dur="500" fill="hold"/>
                                        <p:tgtEl>
                                          <p:spTgt spid="1131647"/>
                                        </p:tgtEl>
                                        <p:attrNameLst>
                                          <p:attrName>ppt_x</p:attrName>
                                        </p:attrNameLst>
                                      </p:cBhvr>
                                      <p:tavLst>
                                        <p:tav tm="0">
                                          <p:val>
                                            <p:strVal val="#ppt_x"/>
                                          </p:val>
                                        </p:tav>
                                        <p:tav tm="100000">
                                          <p:val>
                                            <p:strVal val="#ppt_x"/>
                                          </p:val>
                                        </p:tav>
                                      </p:tavLst>
                                    </p:anim>
                                    <p:anim calcmode="lin" valueType="num">
                                      <p:cBhvr additive="base">
                                        <p:cTn id="101" dur="500" fill="hold"/>
                                        <p:tgtEl>
                                          <p:spTgt spid="1131647"/>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1131651"/>
                                        </p:tgtEl>
                                        <p:attrNameLst>
                                          <p:attrName>style.visibility</p:attrName>
                                        </p:attrNameLst>
                                      </p:cBhvr>
                                      <p:to>
                                        <p:strVal val="visible"/>
                                      </p:to>
                                    </p:set>
                                    <p:anim calcmode="lin" valueType="num">
                                      <p:cBhvr additive="base">
                                        <p:cTn id="106" dur="500" fill="hold"/>
                                        <p:tgtEl>
                                          <p:spTgt spid="1131651"/>
                                        </p:tgtEl>
                                        <p:attrNameLst>
                                          <p:attrName>ppt_x</p:attrName>
                                        </p:attrNameLst>
                                      </p:cBhvr>
                                      <p:tavLst>
                                        <p:tav tm="0">
                                          <p:val>
                                            <p:strVal val="#ppt_x"/>
                                          </p:val>
                                        </p:tav>
                                        <p:tav tm="100000">
                                          <p:val>
                                            <p:strVal val="#ppt_x"/>
                                          </p:val>
                                        </p:tav>
                                      </p:tavLst>
                                    </p:anim>
                                    <p:anim calcmode="lin" valueType="num">
                                      <p:cBhvr additive="base">
                                        <p:cTn id="107" dur="500" fill="hold"/>
                                        <p:tgtEl>
                                          <p:spTgt spid="1131651"/>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131639"/>
                                        </p:tgtEl>
                                        <p:attrNameLst>
                                          <p:attrName>style.visibility</p:attrName>
                                        </p:attrNameLst>
                                      </p:cBhvr>
                                      <p:to>
                                        <p:strVal val="visible"/>
                                      </p:to>
                                    </p:set>
                                    <p:anim calcmode="lin" valueType="num">
                                      <p:cBhvr additive="base">
                                        <p:cTn id="112" dur="500" fill="hold"/>
                                        <p:tgtEl>
                                          <p:spTgt spid="1131639"/>
                                        </p:tgtEl>
                                        <p:attrNameLst>
                                          <p:attrName>ppt_x</p:attrName>
                                        </p:attrNameLst>
                                      </p:cBhvr>
                                      <p:tavLst>
                                        <p:tav tm="0">
                                          <p:val>
                                            <p:strVal val="#ppt_x"/>
                                          </p:val>
                                        </p:tav>
                                        <p:tav tm="100000">
                                          <p:val>
                                            <p:strVal val="#ppt_x"/>
                                          </p:val>
                                        </p:tav>
                                      </p:tavLst>
                                    </p:anim>
                                    <p:anim calcmode="lin" valueType="num">
                                      <p:cBhvr additive="base">
                                        <p:cTn id="113" dur="500" fill="hold"/>
                                        <p:tgtEl>
                                          <p:spTgt spid="1131639"/>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1131636"/>
                                        </p:tgtEl>
                                        <p:attrNameLst>
                                          <p:attrName>style.visibility</p:attrName>
                                        </p:attrNameLst>
                                      </p:cBhvr>
                                      <p:to>
                                        <p:strVal val="visible"/>
                                      </p:to>
                                    </p:set>
                                    <p:anim calcmode="lin" valueType="num">
                                      <p:cBhvr additive="base">
                                        <p:cTn id="118" dur="500" fill="hold"/>
                                        <p:tgtEl>
                                          <p:spTgt spid="1131636"/>
                                        </p:tgtEl>
                                        <p:attrNameLst>
                                          <p:attrName>ppt_x</p:attrName>
                                        </p:attrNameLst>
                                      </p:cBhvr>
                                      <p:tavLst>
                                        <p:tav tm="0">
                                          <p:val>
                                            <p:strVal val="#ppt_x"/>
                                          </p:val>
                                        </p:tav>
                                        <p:tav tm="100000">
                                          <p:val>
                                            <p:strVal val="#ppt_x"/>
                                          </p:val>
                                        </p:tav>
                                      </p:tavLst>
                                    </p:anim>
                                    <p:anim calcmode="lin" valueType="num">
                                      <p:cBhvr additive="base">
                                        <p:cTn id="119" dur="500" fill="hold"/>
                                        <p:tgtEl>
                                          <p:spTgt spid="1131636"/>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131644"/>
                                        </p:tgtEl>
                                        <p:attrNameLst>
                                          <p:attrName>style.visibility</p:attrName>
                                        </p:attrNameLst>
                                      </p:cBhvr>
                                      <p:to>
                                        <p:strVal val="visible"/>
                                      </p:to>
                                    </p:set>
                                    <p:anim calcmode="lin" valueType="num">
                                      <p:cBhvr additive="base">
                                        <p:cTn id="124" dur="500" fill="hold"/>
                                        <p:tgtEl>
                                          <p:spTgt spid="1131644"/>
                                        </p:tgtEl>
                                        <p:attrNameLst>
                                          <p:attrName>ppt_x</p:attrName>
                                        </p:attrNameLst>
                                      </p:cBhvr>
                                      <p:tavLst>
                                        <p:tav tm="0">
                                          <p:val>
                                            <p:strVal val="#ppt_x"/>
                                          </p:val>
                                        </p:tav>
                                        <p:tav tm="100000">
                                          <p:val>
                                            <p:strVal val="#ppt_x"/>
                                          </p:val>
                                        </p:tav>
                                      </p:tavLst>
                                    </p:anim>
                                    <p:anim calcmode="lin" valueType="num">
                                      <p:cBhvr additive="base">
                                        <p:cTn id="125" dur="500" fill="hold"/>
                                        <p:tgtEl>
                                          <p:spTgt spid="1131644"/>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1131648"/>
                                        </p:tgtEl>
                                        <p:attrNameLst>
                                          <p:attrName>style.visibility</p:attrName>
                                        </p:attrNameLst>
                                      </p:cBhvr>
                                      <p:to>
                                        <p:strVal val="visible"/>
                                      </p:to>
                                    </p:set>
                                    <p:anim calcmode="lin" valueType="num">
                                      <p:cBhvr additive="base">
                                        <p:cTn id="130" dur="500" fill="hold"/>
                                        <p:tgtEl>
                                          <p:spTgt spid="1131648"/>
                                        </p:tgtEl>
                                        <p:attrNameLst>
                                          <p:attrName>ppt_x</p:attrName>
                                        </p:attrNameLst>
                                      </p:cBhvr>
                                      <p:tavLst>
                                        <p:tav tm="0">
                                          <p:val>
                                            <p:strVal val="#ppt_x"/>
                                          </p:val>
                                        </p:tav>
                                        <p:tav tm="100000">
                                          <p:val>
                                            <p:strVal val="#ppt_x"/>
                                          </p:val>
                                        </p:tav>
                                      </p:tavLst>
                                    </p:anim>
                                    <p:anim calcmode="lin" valueType="num">
                                      <p:cBhvr additive="base">
                                        <p:cTn id="131" dur="500" fill="hold"/>
                                        <p:tgtEl>
                                          <p:spTgt spid="1131648"/>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131652"/>
                                        </p:tgtEl>
                                        <p:attrNameLst>
                                          <p:attrName>style.visibility</p:attrName>
                                        </p:attrNameLst>
                                      </p:cBhvr>
                                      <p:to>
                                        <p:strVal val="visible"/>
                                      </p:to>
                                    </p:set>
                                    <p:anim calcmode="lin" valueType="num">
                                      <p:cBhvr additive="base">
                                        <p:cTn id="136" dur="500" fill="hold"/>
                                        <p:tgtEl>
                                          <p:spTgt spid="1131652"/>
                                        </p:tgtEl>
                                        <p:attrNameLst>
                                          <p:attrName>ppt_x</p:attrName>
                                        </p:attrNameLst>
                                      </p:cBhvr>
                                      <p:tavLst>
                                        <p:tav tm="0">
                                          <p:val>
                                            <p:strVal val="#ppt_x"/>
                                          </p:val>
                                        </p:tav>
                                        <p:tav tm="100000">
                                          <p:val>
                                            <p:strVal val="#ppt_x"/>
                                          </p:val>
                                        </p:tav>
                                      </p:tavLst>
                                    </p:anim>
                                    <p:anim calcmode="lin" valueType="num">
                                      <p:cBhvr additive="base">
                                        <p:cTn id="137" dur="500" fill="hold"/>
                                        <p:tgtEl>
                                          <p:spTgt spid="1131652"/>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1131640"/>
                                        </p:tgtEl>
                                        <p:attrNameLst>
                                          <p:attrName>style.visibility</p:attrName>
                                        </p:attrNameLst>
                                      </p:cBhvr>
                                      <p:to>
                                        <p:strVal val="visible"/>
                                      </p:to>
                                    </p:set>
                                    <p:anim calcmode="lin" valueType="num">
                                      <p:cBhvr additive="base">
                                        <p:cTn id="142" dur="500" fill="hold"/>
                                        <p:tgtEl>
                                          <p:spTgt spid="1131640"/>
                                        </p:tgtEl>
                                        <p:attrNameLst>
                                          <p:attrName>ppt_x</p:attrName>
                                        </p:attrNameLst>
                                      </p:cBhvr>
                                      <p:tavLst>
                                        <p:tav tm="0">
                                          <p:val>
                                            <p:strVal val="#ppt_x"/>
                                          </p:val>
                                        </p:tav>
                                        <p:tav tm="100000">
                                          <p:val>
                                            <p:strVal val="#ppt_x"/>
                                          </p:val>
                                        </p:tav>
                                      </p:tavLst>
                                    </p:anim>
                                    <p:anim calcmode="lin" valueType="num">
                                      <p:cBhvr additive="base">
                                        <p:cTn id="143" dur="500" fill="hold"/>
                                        <p:tgtEl>
                                          <p:spTgt spid="1131640"/>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grpId="0" nodeType="clickEffect">
                                  <p:stCondLst>
                                    <p:cond delay="0"/>
                                  </p:stCondLst>
                                  <p:childTnLst>
                                    <p:set>
                                      <p:cBhvr>
                                        <p:cTn id="147" dur="1" fill="hold">
                                          <p:stCondLst>
                                            <p:cond delay="0"/>
                                          </p:stCondLst>
                                        </p:cTn>
                                        <p:tgtEl>
                                          <p:spTgt spid="1131653"/>
                                        </p:tgtEl>
                                        <p:attrNameLst>
                                          <p:attrName>style.visibility</p:attrName>
                                        </p:attrNameLst>
                                      </p:cBhvr>
                                      <p:to>
                                        <p:strVal val="visible"/>
                                      </p:to>
                                    </p:set>
                                    <p:anim calcmode="lin" valueType="num">
                                      <p:cBhvr additive="base">
                                        <p:cTn id="148" dur="500" fill="hold"/>
                                        <p:tgtEl>
                                          <p:spTgt spid="1131653"/>
                                        </p:tgtEl>
                                        <p:attrNameLst>
                                          <p:attrName>ppt_x</p:attrName>
                                        </p:attrNameLst>
                                      </p:cBhvr>
                                      <p:tavLst>
                                        <p:tav tm="0">
                                          <p:val>
                                            <p:strVal val="#ppt_x"/>
                                          </p:val>
                                        </p:tav>
                                        <p:tav tm="100000">
                                          <p:val>
                                            <p:strVal val="#ppt_x"/>
                                          </p:val>
                                        </p:tav>
                                      </p:tavLst>
                                    </p:anim>
                                    <p:anim calcmode="lin" valueType="num">
                                      <p:cBhvr additive="base">
                                        <p:cTn id="149" dur="500" fill="hold"/>
                                        <p:tgtEl>
                                          <p:spTgt spid="1131653"/>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4" fill="hold" grpId="0" nodeType="clickEffect">
                                  <p:stCondLst>
                                    <p:cond delay="0"/>
                                  </p:stCondLst>
                                  <p:childTnLst>
                                    <p:set>
                                      <p:cBhvr>
                                        <p:cTn id="153" dur="1" fill="hold">
                                          <p:stCondLst>
                                            <p:cond delay="0"/>
                                          </p:stCondLst>
                                        </p:cTn>
                                        <p:tgtEl>
                                          <p:spTgt spid="1131654"/>
                                        </p:tgtEl>
                                        <p:attrNameLst>
                                          <p:attrName>style.visibility</p:attrName>
                                        </p:attrNameLst>
                                      </p:cBhvr>
                                      <p:to>
                                        <p:strVal val="visible"/>
                                      </p:to>
                                    </p:set>
                                    <p:anim calcmode="lin" valueType="num">
                                      <p:cBhvr additive="base">
                                        <p:cTn id="154" dur="500" fill="hold"/>
                                        <p:tgtEl>
                                          <p:spTgt spid="1131654"/>
                                        </p:tgtEl>
                                        <p:attrNameLst>
                                          <p:attrName>ppt_x</p:attrName>
                                        </p:attrNameLst>
                                      </p:cBhvr>
                                      <p:tavLst>
                                        <p:tav tm="0">
                                          <p:val>
                                            <p:strVal val="#ppt_x"/>
                                          </p:val>
                                        </p:tav>
                                        <p:tav tm="100000">
                                          <p:val>
                                            <p:strVal val="#ppt_x"/>
                                          </p:val>
                                        </p:tav>
                                      </p:tavLst>
                                    </p:anim>
                                    <p:anim calcmode="lin" valueType="num">
                                      <p:cBhvr additive="base">
                                        <p:cTn id="155" dur="500" fill="hold"/>
                                        <p:tgtEl>
                                          <p:spTgt spid="1131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633" grpId="0" autoUpdateAnimBg="0"/>
      <p:bldP spid="1131634" grpId="0" autoUpdateAnimBg="0"/>
      <p:bldP spid="1131635" grpId="0" autoUpdateAnimBg="0"/>
      <p:bldP spid="1131636" grpId="0" autoUpdateAnimBg="0"/>
      <p:bldP spid="1131637" grpId="0" autoUpdateAnimBg="0"/>
      <p:bldP spid="1131638" grpId="0" autoUpdateAnimBg="0"/>
      <p:bldP spid="1131639" grpId="0" autoUpdateAnimBg="0"/>
      <p:bldP spid="1131640" grpId="0" autoUpdateAnimBg="0"/>
      <p:bldP spid="1131641" grpId="0" autoUpdateAnimBg="0"/>
      <p:bldP spid="1131642" grpId="0" autoUpdateAnimBg="0"/>
      <p:bldP spid="1131643" grpId="0" autoUpdateAnimBg="0"/>
      <p:bldP spid="1131644" grpId="0" autoUpdateAnimBg="0"/>
      <p:bldP spid="1131645" grpId="0" autoUpdateAnimBg="0"/>
      <p:bldP spid="1131646" grpId="0" autoUpdateAnimBg="0"/>
      <p:bldP spid="1131647" grpId="0" autoUpdateAnimBg="0"/>
      <p:bldP spid="1131648" grpId="0" autoUpdateAnimBg="0"/>
      <p:bldP spid="1131649" grpId="0" autoUpdateAnimBg="0"/>
      <p:bldP spid="1131650" grpId="0" autoUpdateAnimBg="0"/>
      <p:bldP spid="1131651" grpId="0" autoUpdateAnimBg="0"/>
      <p:bldP spid="1131652" grpId="0" autoUpdateAnimBg="0"/>
      <p:bldP spid="1131653" grpId="0" autoUpdateAnimBg="0"/>
      <p:bldP spid="1131654"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 Box 86"/>
          <p:cNvSpPr txBox="1">
            <a:spLocks noChangeArrowheads="1"/>
          </p:cNvSpPr>
          <p:nvPr/>
        </p:nvSpPr>
        <p:spPr bwMode="auto">
          <a:xfrm>
            <a:off x="800100" y="688976"/>
            <a:ext cx="6477000" cy="519113"/>
          </a:xfrm>
          <a:prstGeom prst="rect">
            <a:avLst/>
          </a:prstGeom>
          <a:noFill/>
          <a:ln w="9525">
            <a:noFill/>
            <a:miter lim="800000"/>
            <a:headEnd/>
            <a:tailEnd/>
          </a:ln>
          <a:effectLst/>
        </p:spPr>
        <p:txBody>
          <a:bodyPr>
            <a:spAutoFit/>
          </a:bodyPr>
          <a:lstStyle/>
          <a:p>
            <a:pPr>
              <a:spcBef>
                <a:spcPct val="50000"/>
              </a:spcBef>
            </a:pPr>
            <a:r>
              <a:rPr kumimoji="1" lang="zh-CN" altLang="en-US" sz="2800" b="1" dirty="0">
                <a:latin typeface="Times New Roman" pitchFamily="18" charset="0"/>
                <a:ea typeface="楷体_GB2312" pitchFamily="49" charset="-122"/>
              </a:rPr>
              <a:t>静态优先权，</a:t>
            </a:r>
            <a:r>
              <a:rPr kumimoji="1" lang="zh-CN" altLang="en-US" sz="2800" b="1" dirty="0">
                <a:solidFill>
                  <a:srgbClr val="990000"/>
                </a:solidFill>
                <a:latin typeface="Times New Roman" pitchFamily="18" charset="0"/>
                <a:ea typeface="楷体_GB2312" pitchFamily="49" charset="-122"/>
              </a:rPr>
              <a:t>抢占式</a:t>
            </a:r>
            <a:r>
              <a:rPr kumimoji="1" lang="zh-CN" altLang="en-US" sz="2800" b="1" dirty="0">
                <a:latin typeface="Times New Roman" pitchFamily="18" charset="0"/>
                <a:ea typeface="楷体_GB2312" pitchFamily="49" charset="-122"/>
              </a:rPr>
              <a:t>（</a:t>
            </a:r>
            <a:r>
              <a:rPr kumimoji="1" lang="en-US" altLang="zh-CN" sz="2800" b="1" dirty="0">
                <a:latin typeface="Times New Roman" pitchFamily="18" charset="0"/>
                <a:ea typeface="楷体_GB2312" pitchFamily="49" charset="-122"/>
              </a:rPr>
              <a:t>1</a:t>
            </a:r>
            <a:r>
              <a:rPr kumimoji="1" lang="zh-CN" altLang="en-US" sz="2800" b="1" dirty="0">
                <a:latin typeface="Times New Roman" pitchFamily="18" charset="0"/>
                <a:ea typeface="楷体_GB2312" pitchFamily="49" charset="-122"/>
              </a:rPr>
              <a:t>为高优先权）</a:t>
            </a:r>
          </a:p>
        </p:txBody>
      </p:sp>
      <p:graphicFrame>
        <p:nvGraphicFramePr>
          <p:cNvPr id="2" name="Group 2">
            <a:extLst>
              <a:ext uri="{FF2B5EF4-FFF2-40B4-BE49-F238E27FC236}">
                <a16:creationId xmlns:a16="http://schemas.microsoft.com/office/drawing/2014/main" id="{BA015F45-814B-2F10-C8EE-97C3B0B2E88B}"/>
              </a:ext>
            </a:extLst>
          </p:cNvPr>
          <p:cNvGraphicFramePr>
            <a:graphicFrameLocks noGrp="1"/>
          </p:cNvGraphicFramePr>
          <p:nvPr>
            <p:extLst>
              <p:ext uri="{D42A27DB-BD31-4B8C-83A1-F6EECF244321}">
                <p14:modId xmlns:p14="http://schemas.microsoft.com/office/powerpoint/2010/main" val="3499933824"/>
              </p:ext>
            </p:extLst>
          </p:nvPr>
        </p:nvGraphicFramePr>
        <p:xfrm>
          <a:off x="1600200" y="1447800"/>
          <a:ext cx="8763000" cy="4254502"/>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760413">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进程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服务</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静态优先权</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3" name="Group 88">
            <a:extLst>
              <a:ext uri="{FF2B5EF4-FFF2-40B4-BE49-F238E27FC236}">
                <a16:creationId xmlns:a16="http://schemas.microsoft.com/office/drawing/2014/main" id="{8959A960-3A57-24B1-81C7-DDF2ABE82462}"/>
              </a:ext>
            </a:extLst>
          </p:cNvPr>
          <p:cNvGrpSpPr>
            <a:grpSpLocks/>
          </p:cNvGrpSpPr>
          <p:nvPr/>
        </p:nvGrpSpPr>
        <p:grpSpPr bwMode="auto">
          <a:xfrm>
            <a:off x="1905000" y="2286000"/>
            <a:ext cx="3657600" cy="530225"/>
            <a:chOff x="336" y="1688"/>
            <a:chExt cx="2304" cy="334"/>
          </a:xfrm>
        </p:grpSpPr>
        <p:sp>
          <p:nvSpPr>
            <p:cNvPr id="4" name="Text Box 89">
              <a:extLst>
                <a:ext uri="{FF2B5EF4-FFF2-40B4-BE49-F238E27FC236}">
                  <a16:creationId xmlns:a16="http://schemas.microsoft.com/office/drawing/2014/main" id="{B442D5EB-9DD5-1329-A079-D109C782CA48}"/>
                </a:ext>
              </a:extLst>
            </p:cNvPr>
            <p:cNvSpPr txBox="1">
              <a:spLocks noChangeArrowheads="1"/>
            </p:cNvSpPr>
            <p:nvPr/>
          </p:nvSpPr>
          <p:spPr bwMode="auto">
            <a:xfrm>
              <a:off x="1008"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0</a:t>
              </a:r>
            </a:p>
          </p:txBody>
        </p:sp>
        <p:sp>
          <p:nvSpPr>
            <p:cNvPr id="5" name="Text Box 90">
              <a:extLst>
                <a:ext uri="{FF2B5EF4-FFF2-40B4-BE49-F238E27FC236}">
                  <a16:creationId xmlns:a16="http://schemas.microsoft.com/office/drawing/2014/main" id="{2B9AE668-1404-DD70-1B2F-8DC4EE4618F5}"/>
                </a:ext>
              </a:extLst>
            </p:cNvPr>
            <p:cNvSpPr txBox="1">
              <a:spLocks noChangeArrowheads="1"/>
            </p:cNvSpPr>
            <p:nvPr/>
          </p:nvSpPr>
          <p:spPr bwMode="auto">
            <a:xfrm>
              <a:off x="1704" y="1692"/>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75</a:t>
              </a:r>
            </a:p>
          </p:txBody>
        </p:sp>
        <p:sp>
          <p:nvSpPr>
            <p:cNvPr id="6" name="Text Box 91">
              <a:extLst>
                <a:ext uri="{FF2B5EF4-FFF2-40B4-BE49-F238E27FC236}">
                  <a16:creationId xmlns:a16="http://schemas.microsoft.com/office/drawing/2014/main" id="{E22DD188-92DC-484A-52AB-445A2E0C3123}"/>
                </a:ext>
              </a:extLst>
            </p:cNvPr>
            <p:cNvSpPr txBox="1">
              <a:spLocks noChangeArrowheads="1"/>
            </p:cNvSpPr>
            <p:nvPr/>
          </p:nvSpPr>
          <p:spPr bwMode="auto">
            <a:xfrm>
              <a:off x="336" y="168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1</a:t>
              </a:r>
            </a:p>
          </p:txBody>
        </p:sp>
        <p:sp>
          <p:nvSpPr>
            <p:cNvPr id="7" name="Text Box 92">
              <a:extLst>
                <a:ext uri="{FF2B5EF4-FFF2-40B4-BE49-F238E27FC236}">
                  <a16:creationId xmlns:a16="http://schemas.microsoft.com/office/drawing/2014/main" id="{8216B8AC-FD2E-B968-2118-B6C8F858898A}"/>
                </a:ext>
              </a:extLst>
            </p:cNvPr>
            <p:cNvSpPr txBox="1">
              <a:spLocks noChangeArrowheads="1"/>
            </p:cNvSpPr>
            <p:nvPr/>
          </p:nvSpPr>
          <p:spPr bwMode="auto">
            <a:xfrm>
              <a:off x="2400" y="1689"/>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3</a:t>
              </a:r>
            </a:p>
          </p:txBody>
        </p:sp>
      </p:grpSp>
      <p:grpSp>
        <p:nvGrpSpPr>
          <p:cNvPr id="8" name="Group 93">
            <a:extLst>
              <a:ext uri="{FF2B5EF4-FFF2-40B4-BE49-F238E27FC236}">
                <a16:creationId xmlns:a16="http://schemas.microsoft.com/office/drawing/2014/main" id="{6182B29D-B761-94EE-59A4-A31EBA358E8C}"/>
              </a:ext>
            </a:extLst>
          </p:cNvPr>
          <p:cNvGrpSpPr>
            <a:grpSpLocks/>
          </p:cNvGrpSpPr>
          <p:nvPr/>
        </p:nvGrpSpPr>
        <p:grpSpPr bwMode="auto">
          <a:xfrm>
            <a:off x="1905000" y="2882898"/>
            <a:ext cx="3657600" cy="542925"/>
            <a:chOff x="336" y="2064"/>
            <a:chExt cx="2304" cy="342"/>
          </a:xfrm>
        </p:grpSpPr>
        <p:sp>
          <p:nvSpPr>
            <p:cNvPr id="9" name="Text Box 94">
              <a:extLst>
                <a:ext uri="{FF2B5EF4-FFF2-40B4-BE49-F238E27FC236}">
                  <a16:creationId xmlns:a16="http://schemas.microsoft.com/office/drawing/2014/main" id="{4FDB4897-B332-65EA-9CBA-245415DAACB6}"/>
                </a:ext>
              </a:extLst>
            </p:cNvPr>
            <p:cNvSpPr txBox="1">
              <a:spLocks noChangeArrowheads="1"/>
            </p:cNvSpPr>
            <p:nvPr/>
          </p:nvSpPr>
          <p:spPr bwMode="auto">
            <a:xfrm>
              <a:off x="1008"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1</a:t>
              </a:r>
            </a:p>
          </p:txBody>
        </p:sp>
        <p:sp>
          <p:nvSpPr>
            <p:cNvPr id="10" name="Text Box 95">
              <a:extLst>
                <a:ext uri="{FF2B5EF4-FFF2-40B4-BE49-F238E27FC236}">
                  <a16:creationId xmlns:a16="http://schemas.microsoft.com/office/drawing/2014/main" id="{047FADA9-EE68-C5D9-6BB9-C75028BDC954}"/>
                </a:ext>
              </a:extLst>
            </p:cNvPr>
            <p:cNvSpPr txBox="1">
              <a:spLocks noChangeArrowheads="1"/>
            </p:cNvSpPr>
            <p:nvPr/>
          </p:nvSpPr>
          <p:spPr bwMode="auto">
            <a:xfrm>
              <a:off x="1704" y="2076"/>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15</a:t>
              </a:r>
            </a:p>
          </p:txBody>
        </p:sp>
        <p:sp>
          <p:nvSpPr>
            <p:cNvPr id="11" name="Text Box 96">
              <a:extLst>
                <a:ext uri="{FF2B5EF4-FFF2-40B4-BE49-F238E27FC236}">
                  <a16:creationId xmlns:a16="http://schemas.microsoft.com/office/drawing/2014/main" id="{D7B12318-A5E4-BA3C-B11B-98AD6CCE800D}"/>
                </a:ext>
              </a:extLst>
            </p:cNvPr>
            <p:cNvSpPr txBox="1">
              <a:spLocks noChangeArrowheads="1"/>
            </p:cNvSpPr>
            <p:nvPr/>
          </p:nvSpPr>
          <p:spPr bwMode="auto">
            <a:xfrm>
              <a:off x="336" y="207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2</a:t>
              </a:r>
            </a:p>
          </p:txBody>
        </p:sp>
        <p:sp>
          <p:nvSpPr>
            <p:cNvPr id="12" name="Text Box 97">
              <a:extLst>
                <a:ext uri="{FF2B5EF4-FFF2-40B4-BE49-F238E27FC236}">
                  <a16:creationId xmlns:a16="http://schemas.microsoft.com/office/drawing/2014/main" id="{BE0E88EC-8C41-5C2C-56A7-D470E0DFF8A6}"/>
                </a:ext>
              </a:extLst>
            </p:cNvPr>
            <p:cNvSpPr txBox="1">
              <a:spLocks noChangeArrowheads="1"/>
            </p:cNvSpPr>
            <p:nvPr/>
          </p:nvSpPr>
          <p:spPr bwMode="auto">
            <a:xfrm>
              <a:off x="2400" y="206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1</a:t>
              </a:r>
            </a:p>
          </p:txBody>
        </p:sp>
      </p:grpSp>
      <p:grpSp>
        <p:nvGrpSpPr>
          <p:cNvPr id="13" name="Group 98">
            <a:extLst>
              <a:ext uri="{FF2B5EF4-FFF2-40B4-BE49-F238E27FC236}">
                <a16:creationId xmlns:a16="http://schemas.microsoft.com/office/drawing/2014/main" id="{FF1F1411-974E-1768-6767-3A76FFEAE539}"/>
              </a:ext>
            </a:extLst>
          </p:cNvPr>
          <p:cNvGrpSpPr>
            <a:grpSpLocks/>
          </p:cNvGrpSpPr>
          <p:nvPr/>
        </p:nvGrpSpPr>
        <p:grpSpPr bwMode="auto">
          <a:xfrm>
            <a:off x="1905000" y="3492501"/>
            <a:ext cx="3657600" cy="531813"/>
            <a:chOff x="336" y="2448"/>
            <a:chExt cx="2304" cy="335"/>
          </a:xfrm>
        </p:grpSpPr>
        <p:sp>
          <p:nvSpPr>
            <p:cNvPr id="14" name="Text Box 99">
              <a:extLst>
                <a:ext uri="{FF2B5EF4-FFF2-40B4-BE49-F238E27FC236}">
                  <a16:creationId xmlns:a16="http://schemas.microsoft.com/office/drawing/2014/main" id="{3ED53EBC-F2C6-88BA-B308-D5128CD60E39}"/>
                </a:ext>
              </a:extLst>
            </p:cNvPr>
            <p:cNvSpPr txBox="1">
              <a:spLocks noChangeArrowheads="1"/>
            </p:cNvSpPr>
            <p:nvPr/>
          </p:nvSpPr>
          <p:spPr bwMode="auto">
            <a:xfrm>
              <a:off x="100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5" name="Text Box 100">
              <a:extLst>
                <a:ext uri="{FF2B5EF4-FFF2-40B4-BE49-F238E27FC236}">
                  <a16:creationId xmlns:a16="http://schemas.microsoft.com/office/drawing/2014/main" id="{1F7A177E-CE96-33DD-ADC7-70D173DCDC2B}"/>
                </a:ext>
              </a:extLst>
            </p:cNvPr>
            <p:cNvSpPr txBox="1">
              <a:spLocks noChangeArrowheads="1"/>
            </p:cNvSpPr>
            <p:nvPr/>
          </p:nvSpPr>
          <p:spPr bwMode="auto">
            <a:xfrm>
              <a:off x="1728"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6" name="Text Box 101">
              <a:extLst>
                <a:ext uri="{FF2B5EF4-FFF2-40B4-BE49-F238E27FC236}">
                  <a16:creationId xmlns:a16="http://schemas.microsoft.com/office/drawing/2014/main" id="{38601E25-DB46-498F-5CA6-8FEBEB747BE5}"/>
                </a:ext>
              </a:extLst>
            </p:cNvPr>
            <p:cNvSpPr txBox="1">
              <a:spLocks noChangeArrowheads="1"/>
            </p:cNvSpPr>
            <p:nvPr/>
          </p:nvSpPr>
          <p:spPr bwMode="auto">
            <a:xfrm>
              <a:off x="336" y="245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3</a:t>
              </a:r>
            </a:p>
          </p:txBody>
        </p:sp>
        <p:sp>
          <p:nvSpPr>
            <p:cNvPr id="17" name="Text Box 102">
              <a:extLst>
                <a:ext uri="{FF2B5EF4-FFF2-40B4-BE49-F238E27FC236}">
                  <a16:creationId xmlns:a16="http://schemas.microsoft.com/office/drawing/2014/main" id="{356DBEE2-6C8A-CF4B-E6C5-7198755F0D5F}"/>
                </a:ext>
              </a:extLst>
            </p:cNvPr>
            <p:cNvSpPr txBox="1">
              <a:spLocks noChangeArrowheads="1"/>
            </p:cNvSpPr>
            <p:nvPr/>
          </p:nvSpPr>
          <p:spPr bwMode="auto">
            <a:xfrm>
              <a:off x="2400" y="244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4</a:t>
              </a:r>
            </a:p>
          </p:txBody>
        </p:sp>
      </p:grpSp>
      <p:grpSp>
        <p:nvGrpSpPr>
          <p:cNvPr id="18" name="Group 103">
            <a:extLst>
              <a:ext uri="{FF2B5EF4-FFF2-40B4-BE49-F238E27FC236}">
                <a16:creationId xmlns:a16="http://schemas.microsoft.com/office/drawing/2014/main" id="{7B03733B-019E-125F-E6E6-CFDBD9B9F85C}"/>
              </a:ext>
            </a:extLst>
          </p:cNvPr>
          <p:cNvGrpSpPr>
            <a:grpSpLocks/>
          </p:cNvGrpSpPr>
          <p:nvPr/>
        </p:nvGrpSpPr>
        <p:grpSpPr bwMode="auto">
          <a:xfrm>
            <a:off x="1905000" y="4025897"/>
            <a:ext cx="3657600" cy="536575"/>
            <a:chOff x="336" y="2784"/>
            <a:chExt cx="2304" cy="338"/>
          </a:xfrm>
        </p:grpSpPr>
        <p:sp>
          <p:nvSpPr>
            <p:cNvPr id="19" name="Text Box 104">
              <a:extLst>
                <a:ext uri="{FF2B5EF4-FFF2-40B4-BE49-F238E27FC236}">
                  <a16:creationId xmlns:a16="http://schemas.microsoft.com/office/drawing/2014/main" id="{B215E090-4181-3B30-6437-BC5D69CE0C6B}"/>
                </a:ext>
              </a:extLst>
            </p:cNvPr>
            <p:cNvSpPr txBox="1">
              <a:spLocks noChangeArrowheads="1"/>
            </p:cNvSpPr>
            <p:nvPr/>
          </p:nvSpPr>
          <p:spPr bwMode="auto">
            <a:xfrm>
              <a:off x="1008"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20" name="Text Box 105">
              <a:extLst>
                <a:ext uri="{FF2B5EF4-FFF2-40B4-BE49-F238E27FC236}">
                  <a16:creationId xmlns:a16="http://schemas.microsoft.com/office/drawing/2014/main" id="{2D72DF73-2640-0C5B-F4A2-7A5CF646A366}"/>
                </a:ext>
              </a:extLst>
            </p:cNvPr>
            <p:cNvSpPr txBox="1">
              <a:spLocks noChangeArrowheads="1"/>
            </p:cNvSpPr>
            <p:nvPr/>
          </p:nvSpPr>
          <p:spPr bwMode="auto">
            <a:xfrm>
              <a:off x="1704" y="2792"/>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15</a:t>
              </a:r>
            </a:p>
          </p:txBody>
        </p:sp>
        <p:sp>
          <p:nvSpPr>
            <p:cNvPr id="21" name="Text Box 106">
              <a:extLst>
                <a:ext uri="{FF2B5EF4-FFF2-40B4-BE49-F238E27FC236}">
                  <a16:creationId xmlns:a16="http://schemas.microsoft.com/office/drawing/2014/main" id="{A3386790-18B3-7E49-7862-311980A41CB5}"/>
                </a:ext>
              </a:extLst>
            </p:cNvPr>
            <p:cNvSpPr txBox="1">
              <a:spLocks noChangeArrowheads="1"/>
            </p:cNvSpPr>
            <p:nvPr/>
          </p:nvSpPr>
          <p:spPr bwMode="auto">
            <a:xfrm>
              <a:off x="336" y="279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4</a:t>
              </a:r>
            </a:p>
          </p:txBody>
        </p:sp>
        <p:sp>
          <p:nvSpPr>
            <p:cNvPr id="22" name="Text Box 107">
              <a:extLst>
                <a:ext uri="{FF2B5EF4-FFF2-40B4-BE49-F238E27FC236}">
                  <a16:creationId xmlns:a16="http://schemas.microsoft.com/office/drawing/2014/main" id="{11E607E4-6C51-F820-3635-3EA02B6754FD}"/>
                </a:ext>
              </a:extLst>
            </p:cNvPr>
            <p:cNvSpPr txBox="1">
              <a:spLocks noChangeArrowheads="1"/>
            </p:cNvSpPr>
            <p:nvPr/>
          </p:nvSpPr>
          <p:spPr bwMode="auto">
            <a:xfrm>
              <a:off x="2400" y="2784"/>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5</a:t>
              </a:r>
            </a:p>
          </p:txBody>
        </p:sp>
      </p:grpSp>
      <p:grpSp>
        <p:nvGrpSpPr>
          <p:cNvPr id="23" name="Group 108">
            <a:extLst>
              <a:ext uri="{FF2B5EF4-FFF2-40B4-BE49-F238E27FC236}">
                <a16:creationId xmlns:a16="http://schemas.microsoft.com/office/drawing/2014/main" id="{284D02FB-895C-B637-9803-20FB01EE6BCB}"/>
              </a:ext>
            </a:extLst>
          </p:cNvPr>
          <p:cNvGrpSpPr>
            <a:grpSpLocks/>
          </p:cNvGrpSpPr>
          <p:nvPr/>
        </p:nvGrpSpPr>
        <p:grpSpPr bwMode="auto">
          <a:xfrm>
            <a:off x="1905000" y="4635501"/>
            <a:ext cx="3657600" cy="538163"/>
            <a:chOff x="336" y="3168"/>
            <a:chExt cx="2304" cy="339"/>
          </a:xfrm>
        </p:grpSpPr>
        <p:sp>
          <p:nvSpPr>
            <p:cNvPr id="24" name="Text Box 109">
              <a:extLst>
                <a:ext uri="{FF2B5EF4-FFF2-40B4-BE49-F238E27FC236}">
                  <a16:creationId xmlns:a16="http://schemas.microsoft.com/office/drawing/2014/main" id="{0CCDAE55-F2F2-E328-EBDE-22059574085A}"/>
                </a:ext>
              </a:extLst>
            </p:cNvPr>
            <p:cNvSpPr txBox="1">
              <a:spLocks noChangeArrowheads="1"/>
            </p:cNvSpPr>
            <p:nvPr/>
          </p:nvSpPr>
          <p:spPr bwMode="auto">
            <a:xfrm>
              <a:off x="1008"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25" name="Text Box 110">
              <a:extLst>
                <a:ext uri="{FF2B5EF4-FFF2-40B4-BE49-F238E27FC236}">
                  <a16:creationId xmlns:a16="http://schemas.microsoft.com/office/drawing/2014/main" id="{108CD0A1-0105-8F2D-F2B5-55C85F02D138}"/>
                </a:ext>
              </a:extLst>
            </p:cNvPr>
            <p:cNvSpPr txBox="1">
              <a:spLocks noChangeArrowheads="1"/>
            </p:cNvSpPr>
            <p:nvPr/>
          </p:nvSpPr>
          <p:spPr bwMode="auto">
            <a:xfrm>
              <a:off x="1704" y="3177"/>
              <a:ext cx="384" cy="330"/>
            </a:xfrm>
            <a:prstGeom prst="rect">
              <a:avLst/>
            </a:prstGeom>
            <a:noFill/>
            <a:ln w="9525">
              <a:noFill/>
              <a:miter lim="800000"/>
              <a:headEnd/>
              <a:tailEnd/>
            </a:ln>
            <a:effectLst/>
          </p:spPr>
          <p:txBody>
            <a:bodyPr wrap="square">
              <a:spAutoFit/>
            </a:bodyPr>
            <a:lstStyle/>
            <a:p>
              <a:pPr>
                <a:spcBef>
                  <a:spcPct val="50000"/>
                </a:spcBef>
              </a:pPr>
              <a:r>
                <a:rPr kumimoji="1" lang="en-US" altLang="zh-CN" sz="2800" b="1" dirty="0">
                  <a:latin typeface="Times New Roman" pitchFamily="18" charset="0"/>
                </a:rPr>
                <a:t>45</a:t>
              </a:r>
            </a:p>
          </p:txBody>
        </p:sp>
        <p:sp>
          <p:nvSpPr>
            <p:cNvPr id="26" name="Text Box 111">
              <a:extLst>
                <a:ext uri="{FF2B5EF4-FFF2-40B4-BE49-F238E27FC236}">
                  <a16:creationId xmlns:a16="http://schemas.microsoft.com/office/drawing/2014/main" id="{78C2D8A3-4670-6534-E35B-ABD3FB34113F}"/>
                </a:ext>
              </a:extLst>
            </p:cNvPr>
            <p:cNvSpPr txBox="1">
              <a:spLocks noChangeArrowheads="1"/>
            </p:cNvSpPr>
            <p:nvPr/>
          </p:nvSpPr>
          <p:spPr bwMode="auto">
            <a:xfrm>
              <a:off x="336" y="3176"/>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5</a:t>
              </a:r>
            </a:p>
          </p:txBody>
        </p:sp>
        <p:sp>
          <p:nvSpPr>
            <p:cNvPr id="27" name="Text Box 112">
              <a:extLst>
                <a:ext uri="{FF2B5EF4-FFF2-40B4-BE49-F238E27FC236}">
                  <a16:creationId xmlns:a16="http://schemas.microsoft.com/office/drawing/2014/main" id="{BF4287F1-8A53-782B-EAF1-18EE9D1591F2}"/>
                </a:ext>
              </a:extLst>
            </p:cNvPr>
            <p:cNvSpPr txBox="1">
              <a:spLocks noChangeArrowheads="1"/>
            </p:cNvSpPr>
            <p:nvPr/>
          </p:nvSpPr>
          <p:spPr bwMode="auto">
            <a:xfrm>
              <a:off x="2400" y="3168"/>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2</a:t>
              </a:r>
            </a:p>
          </p:txBody>
        </p:sp>
      </p:grpSp>
      <p:sp>
        <p:nvSpPr>
          <p:cNvPr id="28" name="Text Box 113">
            <a:extLst>
              <a:ext uri="{FF2B5EF4-FFF2-40B4-BE49-F238E27FC236}">
                <a16:creationId xmlns:a16="http://schemas.microsoft.com/office/drawing/2014/main" id="{E275E006-A6B6-1A31-4FDF-7F84F461835C}"/>
              </a:ext>
            </a:extLst>
          </p:cNvPr>
          <p:cNvSpPr txBox="1">
            <a:spLocks noChangeArrowheads="1"/>
          </p:cNvSpPr>
          <p:nvPr/>
        </p:nvSpPr>
        <p:spPr bwMode="auto">
          <a:xfrm>
            <a:off x="6248400" y="2273301"/>
            <a:ext cx="533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29" name="Text Box 114">
            <a:extLst>
              <a:ext uri="{FF2B5EF4-FFF2-40B4-BE49-F238E27FC236}">
                <a16:creationId xmlns:a16="http://schemas.microsoft.com/office/drawing/2014/main" id="{894A4E38-349D-6173-910D-2309A0B1B761}"/>
              </a:ext>
            </a:extLst>
          </p:cNvPr>
          <p:cNvSpPr txBox="1">
            <a:spLocks noChangeArrowheads="1"/>
          </p:cNvSpPr>
          <p:nvPr/>
        </p:nvSpPr>
        <p:spPr bwMode="auto">
          <a:xfrm>
            <a:off x="7204075" y="2281893"/>
            <a:ext cx="8255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135</a:t>
            </a:r>
          </a:p>
        </p:txBody>
      </p:sp>
      <p:sp>
        <p:nvSpPr>
          <p:cNvPr id="30" name="Text Box 115">
            <a:extLst>
              <a:ext uri="{FF2B5EF4-FFF2-40B4-BE49-F238E27FC236}">
                <a16:creationId xmlns:a16="http://schemas.microsoft.com/office/drawing/2014/main" id="{E7F132A9-0186-B1CA-EF23-81EF206832E3}"/>
              </a:ext>
            </a:extLst>
          </p:cNvPr>
          <p:cNvSpPr txBox="1">
            <a:spLocks noChangeArrowheads="1"/>
          </p:cNvSpPr>
          <p:nvPr/>
        </p:nvSpPr>
        <p:spPr bwMode="auto">
          <a:xfrm>
            <a:off x="8261350" y="2266675"/>
            <a:ext cx="7747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135</a:t>
            </a:r>
          </a:p>
        </p:txBody>
      </p:sp>
      <p:sp>
        <p:nvSpPr>
          <p:cNvPr id="31" name="Text Box 116">
            <a:extLst>
              <a:ext uri="{FF2B5EF4-FFF2-40B4-BE49-F238E27FC236}">
                <a16:creationId xmlns:a16="http://schemas.microsoft.com/office/drawing/2014/main" id="{1245D847-9E16-43D5-E18D-7BE7FB625B45}"/>
              </a:ext>
            </a:extLst>
          </p:cNvPr>
          <p:cNvSpPr txBox="1">
            <a:spLocks noChangeArrowheads="1"/>
          </p:cNvSpPr>
          <p:nvPr/>
        </p:nvSpPr>
        <p:spPr bwMode="auto">
          <a:xfrm>
            <a:off x="9220200" y="2260981"/>
            <a:ext cx="12954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135/75</a:t>
            </a:r>
          </a:p>
        </p:txBody>
      </p:sp>
      <p:sp>
        <p:nvSpPr>
          <p:cNvPr id="32" name="Text Box 117">
            <a:extLst>
              <a:ext uri="{FF2B5EF4-FFF2-40B4-BE49-F238E27FC236}">
                <a16:creationId xmlns:a16="http://schemas.microsoft.com/office/drawing/2014/main" id="{6FADFAAE-CC90-607E-F558-3B0402C8EDDE}"/>
              </a:ext>
            </a:extLst>
          </p:cNvPr>
          <p:cNvSpPr txBox="1">
            <a:spLocks noChangeArrowheads="1"/>
          </p:cNvSpPr>
          <p:nvPr/>
        </p:nvSpPr>
        <p:spPr bwMode="auto">
          <a:xfrm>
            <a:off x="6200775" y="4624254"/>
            <a:ext cx="6096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16</a:t>
            </a:r>
          </a:p>
        </p:txBody>
      </p:sp>
      <p:sp>
        <p:nvSpPr>
          <p:cNvPr id="33" name="Text Box 118">
            <a:extLst>
              <a:ext uri="{FF2B5EF4-FFF2-40B4-BE49-F238E27FC236}">
                <a16:creationId xmlns:a16="http://schemas.microsoft.com/office/drawing/2014/main" id="{42632874-AA20-A561-8984-31F02D1F7C2B}"/>
              </a:ext>
            </a:extLst>
          </p:cNvPr>
          <p:cNvSpPr txBox="1">
            <a:spLocks noChangeArrowheads="1"/>
          </p:cNvSpPr>
          <p:nvPr/>
        </p:nvSpPr>
        <p:spPr bwMode="auto">
          <a:xfrm>
            <a:off x="7204075" y="4635501"/>
            <a:ext cx="7620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61</a:t>
            </a:r>
          </a:p>
        </p:txBody>
      </p:sp>
      <p:sp>
        <p:nvSpPr>
          <p:cNvPr id="34" name="Text Box 119">
            <a:extLst>
              <a:ext uri="{FF2B5EF4-FFF2-40B4-BE49-F238E27FC236}">
                <a16:creationId xmlns:a16="http://schemas.microsoft.com/office/drawing/2014/main" id="{8890B9DC-A53C-A5DC-50A8-1B3314B6DD24}"/>
              </a:ext>
            </a:extLst>
          </p:cNvPr>
          <p:cNvSpPr txBox="1">
            <a:spLocks noChangeArrowheads="1"/>
          </p:cNvSpPr>
          <p:nvPr/>
        </p:nvSpPr>
        <p:spPr bwMode="auto">
          <a:xfrm>
            <a:off x="8299450" y="4650445"/>
            <a:ext cx="7239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57</a:t>
            </a:r>
          </a:p>
        </p:txBody>
      </p:sp>
      <p:sp>
        <p:nvSpPr>
          <p:cNvPr id="35" name="Text Box 120">
            <a:extLst>
              <a:ext uri="{FF2B5EF4-FFF2-40B4-BE49-F238E27FC236}">
                <a16:creationId xmlns:a16="http://schemas.microsoft.com/office/drawing/2014/main" id="{6AC94F06-DE53-EB29-46B5-93A8E92DDEB2}"/>
              </a:ext>
            </a:extLst>
          </p:cNvPr>
          <p:cNvSpPr txBox="1">
            <a:spLocks noChangeArrowheads="1"/>
          </p:cNvSpPr>
          <p:nvPr/>
        </p:nvSpPr>
        <p:spPr bwMode="auto">
          <a:xfrm>
            <a:off x="9271000" y="4584679"/>
            <a:ext cx="117475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57/45</a:t>
            </a:r>
          </a:p>
        </p:txBody>
      </p:sp>
      <p:sp>
        <p:nvSpPr>
          <p:cNvPr id="36" name="Text Box 121">
            <a:extLst>
              <a:ext uri="{FF2B5EF4-FFF2-40B4-BE49-F238E27FC236}">
                <a16:creationId xmlns:a16="http://schemas.microsoft.com/office/drawing/2014/main" id="{9D39D3C2-B9B4-73B4-EFFF-03DF20696A77}"/>
              </a:ext>
            </a:extLst>
          </p:cNvPr>
          <p:cNvSpPr txBox="1">
            <a:spLocks noChangeArrowheads="1"/>
          </p:cNvSpPr>
          <p:nvPr/>
        </p:nvSpPr>
        <p:spPr bwMode="auto">
          <a:xfrm>
            <a:off x="6248400" y="2882901"/>
            <a:ext cx="6096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a:t>
            </a:r>
          </a:p>
        </p:txBody>
      </p:sp>
      <p:sp>
        <p:nvSpPr>
          <p:cNvPr id="37" name="Text Box 122">
            <a:extLst>
              <a:ext uri="{FF2B5EF4-FFF2-40B4-BE49-F238E27FC236}">
                <a16:creationId xmlns:a16="http://schemas.microsoft.com/office/drawing/2014/main" id="{BF9626D0-3C21-8E2B-629B-DAC14237BDDF}"/>
              </a:ext>
            </a:extLst>
          </p:cNvPr>
          <p:cNvSpPr txBox="1">
            <a:spLocks noChangeArrowheads="1"/>
          </p:cNvSpPr>
          <p:nvPr/>
        </p:nvSpPr>
        <p:spPr bwMode="auto">
          <a:xfrm>
            <a:off x="7239000" y="28829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16</a:t>
            </a:r>
          </a:p>
        </p:txBody>
      </p:sp>
      <p:sp>
        <p:nvSpPr>
          <p:cNvPr id="38" name="Text Box 123">
            <a:extLst>
              <a:ext uri="{FF2B5EF4-FFF2-40B4-BE49-F238E27FC236}">
                <a16:creationId xmlns:a16="http://schemas.microsoft.com/office/drawing/2014/main" id="{B06CDD77-2674-6F56-9D82-85F6C77EC4FE}"/>
              </a:ext>
            </a:extLst>
          </p:cNvPr>
          <p:cNvSpPr txBox="1">
            <a:spLocks noChangeArrowheads="1"/>
          </p:cNvSpPr>
          <p:nvPr/>
        </p:nvSpPr>
        <p:spPr bwMode="auto">
          <a:xfrm>
            <a:off x="8305800" y="2882901"/>
            <a:ext cx="6858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15</a:t>
            </a:r>
          </a:p>
        </p:txBody>
      </p:sp>
      <p:sp>
        <p:nvSpPr>
          <p:cNvPr id="39" name="Text Box 124">
            <a:extLst>
              <a:ext uri="{FF2B5EF4-FFF2-40B4-BE49-F238E27FC236}">
                <a16:creationId xmlns:a16="http://schemas.microsoft.com/office/drawing/2014/main" id="{64F0FD18-6A51-198F-69A4-69BB2BF691FC}"/>
              </a:ext>
            </a:extLst>
          </p:cNvPr>
          <p:cNvSpPr txBox="1">
            <a:spLocks noChangeArrowheads="1"/>
          </p:cNvSpPr>
          <p:nvPr/>
        </p:nvSpPr>
        <p:spPr bwMode="auto">
          <a:xfrm>
            <a:off x="9296400" y="2882901"/>
            <a:ext cx="10668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a:t>
            </a:r>
          </a:p>
        </p:txBody>
      </p:sp>
      <p:sp>
        <p:nvSpPr>
          <p:cNvPr id="40" name="Text Box 125">
            <a:extLst>
              <a:ext uri="{FF2B5EF4-FFF2-40B4-BE49-F238E27FC236}">
                <a16:creationId xmlns:a16="http://schemas.microsoft.com/office/drawing/2014/main" id="{8EC37745-8220-B28D-9D8D-26404285DEAD}"/>
              </a:ext>
            </a:extLst>
          </p:cNvPr>
          <p:cNvSpPr txBox="1">
            <a:spLocks noChangeArrowheads="1"/>
          </p:cNvSpPr>
          <p:nvPr/>
        </p:nvSpPr>
        <p:spPr bwMode="auto">
          <a:xfrm>
            <a:off x="6019800" y="34925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135</a:t>
            </a:r>
          </a:p>
        </p:txBody>
      </p:sp>
      <p:sp>
        <p:nvSpPr>
          <p:cNvPr id="41" name="Text Box 126">
            <a:extLst>
              <a:ext uri="{FF2B5EF4-FFF2-40B4-BE49-F238E27FC236}">
                <a16:creationId xmlns:a16="http://schemas.microsoft.com/office/drawing/2014/main" id="{4FB5645D-0F35-F921-BB1E-554043F1EAF6}"/>
              </a:ext>
            </a:extLst>
          </p:cNvPr>
          <p:cNvSpPr txBox="1">
            <a:spLocks noChangeArrowheads="1"/>
          </p:cNvSpPr>
          <p:nvPr/>
        </p:nvSpPr>
        <p:spPr bwMode="auto">
          <a:xfrm>
            <a:off x="7086600" y="34925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140</a:t>
            </a:r>
          </a:p>
        </p:txBody>
      </p:sp>
      <p:sp>
        <p:nvSpPr>
          <p:cNvPr id="42" name="Text Box 127">
            <a:extLst>
              <a:ext uri="{FF2B5EF4-FFF2-40B4-BE49-F238E27FC236}">
                <a16:creationId xmlns:a16="http://schemas.microsoft.com/office/drawing/2014/main" id="{962FB2A9-5D7C-71A0-0426-1198514F78EC}"/>
              </a:ext>
            </a:extLst>
          </p:cNvPr>
          <p:cNvSpPr txBox="1">
            <a:spLocks noChangeArrowheads="1"/>
          </p:cNvSpPr>
          <p:nvPr/>
        </p:nvSpPr>
        <p:spPr bwMode="auto">
          <a:xfrm>
            <a:off x="8153400" y="34925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138</a:t>
            </a:r>
          </a:p>
        </p:txBody>
      </p:sp>
      <p:sp>
        <p:nvSpPr>
          <p:cNvPr id="43" name="Text Box 128">
            <a:extLst>
              <a:ext uri="{FF2B5EF4-FFF2-40B4-BE49-F238E27FC236}">
                <a16:creationId xmlns:a16="http://schemas.microsoft.com/office/drawing/2014/main" id="{F67A56E5-B04A-FAF1-FE3E-812D3678F5FD}"/>
              </a:ext>
            </a:extLst>
          </p:cNvPr>
          <p:cNvSpPr txBox="1">
            <a:spLocks noChangeArrowheads="1"/>
          </p:cNvSpPr>
          <p:nvPr/>
        </p:nvSpPr>
        <p:spPr bwMode="auto">
          <a:xfrm>
            <a:off x="9239250" y="3479809"/>
            <a:ext cx="10668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138/5</a:t>
            </a:r>
          </a:p>
        </p:txBody>
      </p:sp>
      <p:sp>
        <p:nvSpPr>
          <p:cNvPr id="44" name="Text Box 129">
            <a:extLst>
              <a:ext uri="{FF2B5EF4-FFF2-40B4-BE49-F238E27FC236}">
                <a16:creationId xmlns:a16="http://schemas.microsoft.com/office/drawing/2014/main" id="{C8ADEADD-5EC4-40D9-B6FF-D9636ACAE59A}"/>
              </a:ext>
            </a:extLst>
          </p:cNvPr>
          <p:cNvSpPr txBox="1">
            <a:spLocks noChangeArrowheads="1"/>
          </p:cNvSpPr>
          <p:nvPr/>
        </p:nvSpPr>
        <p:spPr bwMode="auto">
          <a:xfrm>
            <a:off x="6019800" y="40259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140</a:t>
            </a:r>
          </a:p>
        </p:txBody>
      </p:sp>
      <p:sp>
        <p:nvSpPr>
          <p:cNvPr id="45" name="Text Box 130">
            <a:extLst>
              <a:ext uri="{FF2B5EF4-FFF2-40B4-BE49-F238E27FC236}">
                <a16:creationId xmlns:a16="http://schemas.microsoft.com/office/drawing/2014/main" id="{2CB97719-768F-2040-4CF1-B462ABEFFB48}"/>
              </a:ext>
            </a:extLst>
          </p:cNvPr>
          <p:cNvSpPr txBox="1">
            <a:spLocks noChangeArrowheads="1"/>
          </p:cNvSpPr>
          <p:nvPr/>
        </p:nvSpPr>
        <p:spPr bwMode="auto">
          <a:xfrm>
            <a:off x="7086600" y="40259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155</a:t>
            </a:r>
          </a:p>
        </p:txBody>
      </p:sp>
      <p:sp>
        <p:nvSpPr>
          <p:cNvPr id="46" name="Text Box 131">
            <a:extLst>
              <a:ext uri="{FF2B5EF4-FFF2-40B4-BE49-F238E27FC236}">
                <a16:creationId xmlns:a16="http://schemas.microsoft.com/office/drawing/2014/main" id="{76BF3D19-6FD1-8627-BD8E-DCC057007726}"/>
              </a:ext>
            </a:extLst>
          </p:cNvPr>
          <p:cNvSpPr txBox="1">
            <a:spLocks noChangeArrowheads="1"/>
          </p:cNvSpPr>
          <p:nvPr/>
        </p:nvSpPr>
        <p:spPr bwMode="auto">
          <a:xfrm>
            <a:off x="8153400" y="40259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152</a:t>
            </a:r>
          </a:p>
        </p:txBody>
      </p:sp>
      <p:sp>
        <p:nvSpPr>
          <p:cNvPr id="47" name="Text Box 132">
            <a:extLst>
              <a:ext uri="{FF2B5EF4-FFF2-40B4-BE49-F238E27FC236}">
                <a16:creationId xmlns:a16="http://schemas.microsoft.com/office/drawing/2014/main" id="{BDB5D47C-B010-1F87-EFC7-89E9FAB449C2}"/>
              </a:ext>
            </a:extLst>
          </p:cNvPr>
          <p:cNvSpPr txBox="1">
            <a:spLocks noChangeArrowheads="1"/>
          </p:cNvSpPr>
          <p:nvPr/>
        </p:nvSpPr>
        <p:spPr bwMode="auto">
          <a:xfrm>
            <a:off x="9239250" y="4032244"/>
            <a:ext cx="12192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152/15</a:t>
            </a:r>
          </a:p>
        </p:txBody>
      </p:sp>
      <p:sp>
        <p:nvSpPr>
          <p:cNvPr id="48" name="Text Box 133">
            <a:extLst>
              <a:ext uri="{FF2B5EF4-FFF2-40B4-BE49-F238E27FC236}">
                <a16:creationId xmlns:a16="http://schemas.microsoft.com/office/drawing/2014/main" id="{E9864D73-D6E6-E326-BD2D-4D84A2C86E86}"/>
              </a:ext>
            </a:extLst>
          </p:cNvPr>
          <p:cNvSpPr txBox="1">
            <a:spLocks noChangeArrowheads="1"/>
          </p:cNvSpPr>
          <p:nvPr/>
        </p:nvSpPr>
        <p:spPr bwMode="auto">
          <a:xfrm>
            <a:off x="8229600" y="5168901"/>
            <a:ext cx="914400" cy="523220"/>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99.4</a:t>
            </a:r>
          </a:p>
        </p:txBody>
      </p:sp>
      <p:sp>
        <p:nvSpPr>
          <p:cNvPr id="49" name="Text Box 134">
            <a:extLst>
              <a:ext uri="{FF2B5EF4-FFF2-40B4-BE49-F238E27FC236}">
                <a16:creationId xmlns:a16="http://schemas.microsoft.com/office/drawing/2014/main" id="{409EB53D-A1BF-4D07-34EE-76EC847CF3F4}"/>
              </a:ext>
            </a:extLst>
          </p:cNvPr>
          <p:cNvSpPr txBox="1">
            <a:spLocks noChangeArrowheads="1"/>
          </p:cNvSpPr>
          <p:nvPr/>
        </p:nvSpPr>
        <p:spPr bwMode="auto">
          <a:xfrm>
            <a:off x="9296400" y="5168901"/>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8.36</a:t>
            </a:r>
          </a:p>
        </p:txBody>
      </p:sp>
    </p:spTree>
    <p:extLst>
      <p:ext uri="{BB962C8B-B14F-4D97-AF65-F5344CB8AC3E}">
        <p14:creationId xmlns:p14="http://schemas.microsoft.com/office/powerpoint/2010/main" val="220866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ppt_x"/>
                                          </p:val>
                                        </p:tav>
                                        <p:tav tm="100000">
                                          <p:val>
                                            <p:strVal val="#ppt_x"/>
                                          </p:val>
                                        </p:tav>
                                      </p:tavLst>
                                    </p:anim>
                                    <p:anim calcmode="lin" valueType="num">
                                      <p:cBhvr additive="base">
                                        <p:cTn id="2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fill="hold"/>
                                        <p:tgtEl>
                                          <p:spTgt spid="29"/>
                                        </p:tgtEl>
                                        <p:attrNameLst>
                                          <p:attrName>ppt_x</p:attrName>
                                        </p:attrNameLst>
                                      </p:cBhvr>
                                      <p:tavLst>
                                        <p:tav tm="0">
                                          <p:val>
                                            <p:strVal val="#ppt_x"/>
                                          </p:val>
                                        </p:tav>
                                        <p:tav tm="100000">
                                          <p:val>
                                            <p:strVal val="#ppt_x"/>
                                          </p:val>
                                        </p:tav>
                                      </p:tavLst>
                                    </p:anim>
                                    <p:anim calcmode="lin" valueType="num">
                                      <p:cBhvr additive="base">
                                        <p:cTn id="3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additive="base">
                                        <p:cTn id="40" dur="500" fill="hold"/>
                                        <p:tgtEl>
                                          <p:spTgt spid="32"/>
                                        </p:tgtEl>
                                        <p:attrNameLst>
                                          <p:attrName>ppt_x</p:attrName>
                                        </p:attrNameLst>
                                      </p:cBhvr>
                                      <p:tavLst>
                                        <p:tav tm="0">
                                          <p:val>
                                            <p:strVal val="#ppt_x"/>
                                          </p:val>
                                        </p:tav>
                                        <p:tav tm="100000">
                                          <p:val>
                                            <p:strVal val="#ppt_x"/>
                                          </p:val>
                                        </p:tav>
                                      </p:tavLst>
                                    </p:anim>
                                    <p:anim calcmode="lin" valueType="num">
                                      <p:cBhvr additive="base">
                                        <p:cTn id="41"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additive="base">
                                        <p:cTn id="46" dur="500" fill="hold"/>
                                        <p:tgtEl>
                                          <p:spTgt spid="33"/>
                                        </p:tgtEl>
                                        <p:attrNameLst>
                                          <p:attrName>ppt_x</p:attrName>
                                        </p:attrNameLst>
                                      </p:cBhvr>
                                      <p:tavLst>
                                        <p:tav tm="0">
                                          <p:val>
                                            <p:strVal val="#ppt_x"/>
                                          </p:val>
                                        </p:tav>
                                        <p:tav tm="100000">
                                          <p:val>
                                            <p:strVal val="#ppt_x"/>
                                          </p:val>
                                        </p:tav>
                                      </p:tavLst>
                                    </p:anim>
                                    <p:anim calcmode="lin" valueType="num">
                                      <p:cBhvr additive="base">
                                        <p:cTn id="47"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 calcmode="lin" valueType="num">
                                      <p:cBhvr additive="base">
                                        <p:cTn id="52" dur="500" fill="hold"/>
                                        <p:tgtEl>
                                          <p:spTgt spid="36"/>
                                        </p:tgtEl>
                                        <p:attrNameLst>
                                          <p:attrName>ppt_x</p:attrName>
                                        </p:attrNameLst>
                                      </p:cBhvr>
                                      <p:tavLst>
                                        <p:tav tm="0">
                                          <p:val>
                                            <p:strVal val="#ppt_x"/>
                                          </p:val>
                                        </p:tav>
                                        <p:tav tm="100000">
                                          <p:val>
                                            <p:strVal val="#ppt_x"/>
                                          </p:val>
                                        </p:tav>
                                      </p:tavLst>
                                    </p:anim>
                                    <p:anim calcmode="lin" valueType="num">
                                      <p:cBhvr additive="base">
                                        <p:cTn id="5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cBhvr additive="base">
                                        <p:cTn id="58" dur="500" fill="hold"/>
                                        <p:tgtEl>
                                          <p:spTgt spid="37"/>
                                        </p:tgtEl>
                                        <p:attrNameLst>
                                          <p:attrName>ppt_x</p:attrName>
                                        </p:attrNameLst>
                                      </p:cBhvr>
                                      <p:tavLst>
                                        <p:tav tm="0">
                                          <p:val>
                                            <p:strVal val="#ppt_x"/>
                                          </p:val>
                                        </p:tav>
                                        <p:tav tm="100000">
                                          <p:val>
                                            <p:strVal val="#ppt_x"/>
                                          </p:val>
                                        </p:tav>
                                      </p:tavLst>
                                    </p:anim>
                                    <p:anim calcmode="lin" valueType="num">
                                      <p:cBhvr additive="base">
                                        <p:cTn id="5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40"/>
                                        </p:tgtEl>
                                        <p:attrNameLst>
                                          <p:attrName>style.visibility</p:attrName>
                                        </p:attrNameLst>
                                      </p:cBhvr>
                                      <p:to>
                                        <p:strVal val="visible"/>
                                      </p:to>
                                    </p:set>
                                    <p:anim calcmode="lin" valueType="num">
                                      <p:cBhvr additive="base">
                                        <p:cTn id="64" dur="500" fill="hold"/>
                                        <p:tgtEl>
                                          <p:spTgt spid="40"/>
                                        </p:tgtEl>
                                        <p:attrNameLst>
                                          <p:attrName>ppt_x</p:attrName>
                                        </p:attrNameLst>
                                      </p:cBhvr>
                                      <p:tavLst>
                                        <p:tav tm="0">
                                          <p:val>
                                            <p:strVal val="#ppt_x"/>
                                          </p:val>
                                        </p:tav>
                                        <p:tav tm="100000">
                                          <p:val>
                                            <p:strVal val="#ppt_x"/>
                                          </p:val>
                                        </p:tav>
                                      </p:tavLst>
                                    </p:anim>
                                    <p:anim calcmode="lin" valueType="num">
                                      <p:cBhvr additive="base">
                                        <p:cTn id="6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anim calcmode="lin" valueType="num">
                                      <p:cBhvr additive="base">
                                        <p:cTn id="70" dur="500" fill="hold"/>
                                        <p:tgtEl>
                                          <p:spTgt spid="41"/>
                                        </p:tgtEl>
                                        <p:attrNameLst>
                                          <p:attrName>ppt_x</p:attrName>
                                        </p:attrNameLst>
                                      </p:cBhvr>
                                      <p:tavLst>
                                        <p:tav tm="0">
                                          <p:val>
                                            <p:strVal val="#ppt_x"/>
                                          </p:val>
                                        </p:tav>
                                        <p:tav tm="100000">
                                          <p:val>
                                            <p:strVal val="#ppt_x"/>
                                          </p:val>
                                        </p:tav>
                                      </p:tavLst>
                                    </p:anim>
                                    <p:anim calcmode="lin" valueType="num">
                                      <p:cBhvr additive="base">
                                        <p:cTn id="71"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44"/>
                                        </p:tgtEl>
                                        <p:attrNameLst>
                                          <p:attrName>style.visibility</p:attrName>
                                        </p:attrNameLst>
                                      </p:cBhvr>
                                      <p:to>
                                        <p:strVal val="visible"/>
                                      </p:to>
                                    </p:set>
                                    <p:anim calcmode="lin" valueType="num">
                                      <p:cBhvr additive="base">
                                        <p:cTn id="76" dur="500" fill="hold"/>
                                        <p:tgtEl>
                                          <p:spTgt spid="44"/>
                                        </p:tgtEl>
                                        <p:attrNameLst>
                                          <p:attrName>ppt_x</p:attrName>
                                        </p:attrNameLst>
                                      </p:cBhvr>
                                      <p:tavLst>
                                        <p:tav tm="0">
                                          <p:val>
                                            <p:strVal val="#ppt_x"/>
                                          </p:val>
                                        </p:tav>
                                        <p:tav tm="100000">
                                          <p:val>
                                            <p:strVal val="#ppt_x"/>
                                          </p:val>
                                        </p:tav>
                                      </p:tavLst>
                                    </p:anim>
                                    <p:anim calcmode="lin" valueType="num">
                                      <p:cBhvr additive="base">
                                        <p:cTn id="77"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45"/>
                                        </p:tgtEl>
                                        <p:attrNameLst>
                                          <p:attrName>style.visibility</p:attrName>
                                        </p:attrNameLst>
                                      </p:cBhvr>
                                      <p:to>
                                        <p:strVal val="visible"/>
                                      </p:to>
                                    </p:set>
                                    <p:anim calcmode="lin" valueType="num">
                                      <p:cBhvr additive="base">
                                        <p:cTn id="82" dur="500" fill="hold"/>
                                        <p:tgtEl>
                                          <p:spTgt spid="45"/>
                                        </p:tgtEl>
                                        <p:attrNameLst>
                                          <p:attrName>ppt_x</p:attrName>
                                        </p:attrNameLst>
                                      </p:cBhvr>
                                      <p:tavLst>
                                        <p:tav tm="0">
                                          <p:val>
                                            <p:strVal val="#ppt_x"/>
                                          </p:val>
                                        </p:tav>
                                        <p:tav tm="100000">
                                          <p:val>
                                            <p:strVal val="#ppt_x"/>
                                          </p:val>
                                        </p:tav>
                                      </p:tavLst>
                                    </p:anim>
                                    <p:anim calcmode="lin" valueType="num">
                                      <p:cBhvr additive="base">
                                        <p:cTn id="8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30"/>
                                        </p:tgtEl>
                                        <p:attrNameLst>
                                          <p:attrName>style.visibility</p:attrName>
                                        </p:attrNameLst>
                                      </p:cBhvr>
                                      <p:to>
                                        <p:strVal val="visible"/>
                                      </p:to>
                                    </p:set>
                                    <p:anim calcmode="lin" valueType="num">
                                      <p:cBhvr additive="base">
                                        <p:cTn id="88" dur="500" fill="hold"/>
                                        <p:tgtEl>
                                          <p:spTgt spid="30"/>
                                        </p:tgtEl>
                                        <p:attrNameLst>
                                          <p:attrName>ppt_x</p:attrName>
                                        </p:attrNameLst>
                                      </p:cBhvr>
                                      <p:tavLst>
                                        <p:tav tm="0">
                                          <p:val>
                                            <p:strVal val="#ppt_x"/>
                                          </p:val>
                                        </p:tav>
                                        <p:tav tm="100000">
                                          <p:val>
                                            <p:strVal val="#ppt_x"/>
                                          </p:val>
                                        </p:tav>
                                      </p:tavLst>
                                    </p:anim>
                                    <p:anim calcmode="lin" valueType="num">
                                      <p:cBhvr additive="base">
                                        <p:cTn id="8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38"/>
                                        </p:tgtEl>
                                        <p:attrNameLst>
                                          <p:attrName>style.visibility</p:attrName>
                                        </p:attrNameLst>
                                      </p:cBhvr>
                                      <p:to>
                                        <p:strVal val="visible"/>
                                      </p:to>
                                    </p:set>
                                    <p:anim calcmode="lin" valueType="num">
                                      <p:cBhvr additive="base">
                                        <p:cTn id="94" dur="500" fill="hold"/>
                                        <p:tgtEl>
                                          <p:spTgt spid="38"/>
                                        </p:tgtEl>
                                        <p:attrNameLst>
                                          <p:attrName>ppt_x</p:attrName>
                                        </p:attrNameLst>
                                      </p:cBhvr>
                                      <p:tavLst>
                                        <p:tav tm="0">
                                          <p:val>
                                            <p:strVal val="#ppt_x"/>
                                          </p:val>
                                        </p:tav>
                                        <p:tav tm="100000">
                                          <p:val>
                                            <p:strVal val="#ppt_x"/>
                                          </p:val>
                                        </p:tav>
                                      </p:tavLst>
                                    </p:anim>
                                    <p:anim calcmode="lin" valueType="num">
                                      <p:cBhvr additive="base">
                                        <p:cTn id="9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42"/>
                                        </p:tgtEl>
                                        <p:attrNameLst>
                                          <p:attrName>style.visibility</p:attrName>
                                        </p:attrNameLst>
                                      </p:cBhvr>
                                      <p:to>
                                        <p:strVal val="visible"/>
                                      </p:to>
                                    </p:set>
                                    <p:anim calcmode="lin" valueType="num">
                                      <p:cBhvr additive="base">
                                        <p:cTn id="100" dur="500" fill="hold"/>
                                        <p:tgtEl>
                                          <p:spTgt spid="42"/>
                                        </p:tgtEl>
                                        <p:attrNameLst>
                                          <p:attrName>ppt_x</p:attrName>
                                        </p:attrNameLst>
                                      </p:cBhvr>
                                      <p:tavLst>
                                        <p:tav tm="0">
                                          <p:val>
                                            <p:strVal val="#ppt_x"/>
                                          </p:val>
                                        </p:tav>
                                        <p:tav tm="100000">
                                          <p:val>
                                            <p:strVal val="#ppt_x"/>
                                          </p:val>
                                        </p:tav>
                                      </p:tavLst>
                                    </p:anim>
                                    <p:anim calcmode="lin" valueType="num">
                                      <p:cBhvr additive="base">
                                        <p:cTn id="101"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46"/>
                                        </p:tgtEl>
                                        <p:attrNameLst>
                                          <p:attrName>style.visibility</p:attrName>
                                        </p:attrNameLst>
                                      </p:cBhvr>
                                      <p:to>
                                        <p:strVal val="visible"/>
                                      </p:to>
                                    </p:set>
                                    <p:anim calcmode="lin" valueType="num">
                                      <p:cBhvr additive="base">
                                        <p:cTn id="106" dur="500" fill="hold"/>
                                        <p:tgtEl>
                                          <p:spTgt spid="46"/>
                                        </p:tgtEl>
                                        <p:attrNameLst>
                                          <p:attrName>ppt_x</p:attrName>
                                        </p:attrNameLst>
                                      </p:cBhvr>
                                      <p:tavLst>
                                        <p:tav tm="0">
                                          <p:val>
                                            <p:strVal val="#ppt_x"/>
                                          </p:val>
                                        </p:tav>
                                        <p:tav tm="100000">
                                          <p:val>
                                            <p:strVal val="#ppt_x"/>
                                          </p:val>
                                        </p:tav>
                                      </p:tavLst>
                                    </p:anim>
                                    <p:anim calcmode="lin" valueType="num">
                                      <p:cBhvr additive="base">
                                        <p:cTn id="107"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500" fill="hold"/>
                                        <p:tgtEl>
                                          <p:spTgt spid="34"/>
                                        </p:tgtEl>
                                        <p:attrNameLst>
                                          <p:attrName>ppt_x</p:attrName>
                                        </p:attrNameLst>
                                      </p:cBhvr>
                                      <p:tavLst>
                                        <p:tav tm="0">
                                          <p:val>
                                            <p:strVal val="#ppt_x"/>
                                          </p:val>
                                        </p:tav>
                                        <p:tav tm="100000">
                                          <p:val>
                                            <p:strVal val="#ppt_x"/>
                                          </p:val>
                                        </p:tav>
                                      </p:tavLst>
                                    </p:anim>
                                    <p:anim calcmode="lin" valueType="num">
                                      <p:cBhvr additive="base">
                                        <p:cTn id="11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31"/>
                                        </p:tgtEl>
                                        <p:attrNameLst>
                                          <p:attrName>style.visibility</p:attrName>
                                        </p:attrNameLst>
                                      </p:cBhvr>
                                      <p:to>
                                        <p:strVal val="visible"/>
                                      </p:to>
                                    </p:set>
                                    <p:anim calcmode="lin" valueType="num">
                                      <p:cBhvr additive="base">
                                        <p:cTn id="118" dur="500" fill="hold"/>
                                        <p:tgtEl>
                                          <p:spTgt spid="31"/>
                                        </p:tgtEl>
                                        <p:attrNameLst>
                                          <p:attrName>ppt_x</p:attrName>
                                        </p:attrNameLst>
                                      </p:cBhvr>
                                      <p:tavLst>
                                        <p:tav tm="0">
                                          <p:val>
                                            <p:strVal val="#ppt_x"/>
                                          </p:val>
                                        </p:tav>
                                        <p:tav tm="100000">
                                          <p:val>
                                            <p:strVal val="#ppt_x"/>
                                          </p:val>
                                        </p:tav>
                                      </p:tavLst>
                                    </p:anim>
                                    <p:anim calcmode="lin" valueType="num">
                                      <p:cBhvr additive="base">
                                        <p:cTn id="119"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39"/>
                                        </p:tgtEl>
                                        <p:attrNameLst>
                                          <p:attrName>style.visibility</p:attrName>
                                        </p:attrNameLst>
                                      </p:cBhvr>
                                      <p:to>
                                        <p:strVal val="visible"/>
                                      </p:to>
                                    </p:set>
                                    <p:anim calcmode="lin" valueType="num">
                                      <p:cBhvr additive="base">
                                        <p:cTn id="124" dur="500" fill="hold"/>
                                        <p:tgtEl>
                                          <p:spTgt spid="39"/>
                                        </p:tgtEl>
                                        <p:attrNameLst>
                                          <p:attrName>ppt_x</p:attrName>
                                        </p:attrNameLst>
                                      </p:cBhvr>
                                      <p:tavLst>
                                        <p:tav tm="0">
                                          <p:val>
                                            <p:strVal val="#ppt_x"/>
                                          </p:val>
                                        </p:tav>
                                        <p:tav tm="100000">
                                          <p:val>
                                            <p:strVal val="#ppt_x"/>
                                          </p:val>
                                        </p:tav>
                                      </p:tavLst>
                                    </p:anim>
                                    <p:anim calcmode="lin" valueType="num">
                                      <p:cBhvr additive="base">
                                        <p:cTn id="125"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43"/>
                                        </p:tgtEl>
                                        <p:attrNameLst>
                                          <p:attrName>style.visibility</p:attrName>
                                        </p:attrNameLst>
                                      </p:cBhvr>
                                      <p:to>
                                        <p:strVal val="visible"/>
                                      </p:to>
                                    </p:set>
                                    <p:anim calcmode="lin" valueType="num">
                                      <p:cBhvr additive="base">
                                        <p:cTn id="130" dur="500" fill="hold"/>
                                        <p:tgtEl>
                                          <p:spTgt spid="43"/>
                                        </p:tgtEl>
                                        <p:attrNameLst>
                                          <p:attrName>ppt_x</p:attrName>
                                        </p:attrNameLst>
                                      </p:cBhvr>
                                      <p:tavLst>
                                        <p:tav tm="0">
                                          <p:val>
                                            <p:strVal val="#ppt_x"/>
                                          </p:val>
                                        </p:tav>
                                        <p:tav tm="100000">
                                          <p:val>
                                            <p:strVal val="#ppt_x"/>
                                          </p:val>
                                        </p:tav>
                                      </p:tavLst>
                                    </p:anim>
                                    <p:anim calcmode="lin" valueType="num">
                                      <p:cBhvr additive="base">
                                        <p:cTn id="131"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47"/>
                                        </p:tgtEl>
                                        <p:attrNameLst>
                                          <p:attrName>style.visibility</p:attrName>
                                        </p:attrNameLst>
                                      </p:cBhvr>
                                      <p:to>
                                        <p:strVal val="visible"/>
                                      </p:to>
                                    </p:set>
                                    <p:anim calcmode="lin" valueType="num">
                                      <p:cBhvr additive="base">
                                        <p:cTn id="136" dur="500" fill="hold"/>
                                        <p:tgtEl>
                                          <p:spTgt spid="47"/>
                                        </p:tgtEl>
                                        <p:attrNameLst>
                                          <p:attrName>ppt_x</p:attrName>
                                        </p:attrNameLst>
                                      </p:cBhvr>
                                      <p:tavLst>
                                        <p:tav tm="0">
                                          <p:val>
                                            <p:strVal val="#ppt_x"/>
                                          </p:val>
                                        </p:tav>
                                        <p:tav tm="100000">
                                          <p:val>
                                            <p:strVal val="#ppt_x"/>
                                          </p:val>
                                        </p:tav>
                                      </p:tavLst>
                                    </p:anim>
                                    <p:anim calcmode="lin" valueType="num">
                                      <p:cBhvr additive="base">
                                        <p:cTn id="137"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35"/>
                                        </p:tgtEl>
                                        <p:attrNameLst>
                                          <p:attrName>style.visibility</p:attrName>
                                        </p:attrNameLst>
                                      </p:cBhvr>
                                      <p:to>
                                        <p:strVal val="visible"/>
                                      </p:to>
                                    </p:set>
                                    <p:anim calcmode="lin" valueType="num">
                                      <p:cBhvr additive="base">
                                        <p:cTn id="142" dur="500" fill="hold"/>
                                        <p:tgtEl>
                                          <p:spTgt spid="35"/>
                                        </p:tgtEl>
                                        <p:attrNameLst>
                                          <p:attrName>ppt_x</p:attrName>
                                        </p:attrNameLst>
                                      </p:cBhvr>
                                      <p:tavLst>
                                        <p:tav tm="0">
                                          <p:val>
                                            <p:strVal val="#ppt_x"/>
                                          </p:val>
                                        </p:tav>
                                        <p:tav tm="100000">
                                          <p:val>
                                            <p:strVal val="#ppt_x"/>
                                          </p:val>
                                        </p:tav>
                                      </p:tavLst>
                                    </p:anim>
                                    <p:anim calcmode="lin" valueType="num">
                                      <p:cBhvr additive="base">
                                        <p:cTn id="143"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grpId="0" nodeType="clickEffect">
                                  <p:stCondLst>
                                    <p:cond delay="0"/>
                                  </p:stCondLst>
                                  <p:childTnLst>
                                    <p:set>
                                      <p:cBhvr>
                                        <p:cTn id="147" dur="1" fill="hold">
                                          <p:stCondLst>
                                            <p:cond delay="0"/>
                                          </p:stCondLst>
                                        </p:cTn>
                                        <p:tgtEl>
                                          <p:spTgt spid="48"/>
                                        </p:tgtEl>
                                        <p:attrNameLst>
                                          <p:attrName>style.visibility</p:attrName>
                                        </p:attrNameLst>
                                      </p:cBhvr>
                                      <p:to>
                                        <p:strVal val="visible"/>
                                      </p:to>
                                    </p:set>
                                    <p:anim calcmode="lin" valueType="num">
                                      <p:cBhvr additive="base">
                                        <p:cTn id="148" dur="500" fill="hold"/>
                                        <p:tgtEl>
                                          <p:spTgt spid="48"/>
                                        </p:tgtEl>
                                        <p:attrNameLst>
                                          <p:attrName>ppt_x</p:attrName>
                                        </p:attrNameLst>
                                      </p:cBhvr>
                                      <p:tavLst>
                                        <p:tav tm="0">
                                          <p:val>
                                            <p:strVal val="#ppt_x"/>
                                          </p:val>
                                        </p:tav>
                                        <p:tav tm="100000">
                                          <p:val>
                                            <p:strVal val="#ppt_x"/>
                                          </p:val>
                                        </p:tav>
                                      </p:tavLst>
                                    </p:anim>
                                    <p:anim calcmode="lin" valueType="num">
                                      <p:cBhvr additive="base">
                                        <p:cTn id="149"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4" fill="hold" grpId="0" nodeType="clickEffect">
                                  <p:stCondLst>
                                    <p:cond delay="0"/>
                                  </p:stCondLst>
                                  <p:childTnLst>
                                    <p:set>
                                      <p:cBhvr>
                                        <p:cTn id="153" dur="1" fill="hold">
                                          <p:stCondLst>
                                            <p:cond delay="0"/>
                                          </p:stCondLst>
                                        </p:cTn>
                                        <p:tgtEl>
                                          <p:spTgt spid="49"/>
                                        </p:tgtEl>
                                        <p:attrNameLst>
                                          <p:attrName>style.visibility</p:attrName>
                                        </p:attrNameLst>
                                      </p:cBhvr>
                                      <p:to>
                                        <p:strVal val="visible"/>
                                      </p:to>
                                    </p:set>
                                    <p:anim calcmode="lin" valueType="num">
                                      <p:cBhvr additive="base">
                                        <p:cTn id="154" dur="500" fill="hold"/>
                                        <p:tgtEl>
                                          <p:spTgt spid="49"/>
                                        </p:tgtEl>
                                        <p:attrNameLst>
                                          <p:attrName>ppt_x</p:attrName>
                                        </p:attrNameLst>
                                      </p:cBhvr>
                                      <p:tavLst>
                                        <p:tav tm="0">
                                          <p:val>
                                            <p:strVal val="#ppt_x"/>
                                          </p:val>
                                        </p:tav>
                                        <p:tav tm="100000">
                                          <p:val>
                                            <p:strVal val="#ppt_x"/>
                                          </p:val>
                                        </p:tav>
                                      </p:tavLst>
                                    </p:anim>
                                    <p:anim calcmode="lin" valueType="num">
                                      <p:cBhvr additive="base">
                                        <p:cTn id="155"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utoUpdateAnimBg="0"/>
      <p:bldP spid="29" grpId="0" autoUpdateAnimBg="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P spid="38" grpId="0" autoUpdateAnimBg="0"/>
      <p:bldP spid="39" grpId="0" autoUpdateAnimBg="0"/>
      <p:bldP spid="40" grpId="0" autoUpdateAnimBg="0"/>
      <p:bldP spid="41" grpId="0" autoUpdateAnimBg="0"/>
      <p:bldP spid="42" grpId="0" autoUpdateAnimBg="0"/>
      <p:bldP spid="43" grpId="0" autoUpdateAnimBg="0"/>
      <p:bldP spid="44" grpId="0" autoUpdateAnimBg="0"/>
      <p:bldP spid="45" grpId="0" autoUpdateAnimBg="0"/>
      <p:bldP spid="46" grpId="0" autoUpdateAnimBg="0"/>
      <p:bldP spid="47" grpId="0" autoUpdateAnimBg="0"/>
      <p:bldP spid="48" grpId="0" autoUpdateAnimBg="0"/>
      <p:bldP spid="4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5618" name="Rectangle 2"/>
          <p:cNvSpPr>
            <a:spLocks noGrp="1" noChangeArrowheads="1"/>
          </p:cNvSpPr>
          <p:nvPr>
            <p:ph type="title"/>
          </p:nvPr>
        </p:nvSpPr>
        <p:spPr>
          <a:xfrm>
            <a:off x="674356" y="761999"/>
            <a:ext cx="11379200" cy="381000"/>
          </a:xfrm>
        </p:spPr>
        <p:txBody>
          <a:bodyPr/>
          <a:lstStyle/>
          <a:p>
            <a:r>
              <a:rPr lang="zh-CN" altLang="en-US" sz="3200" b="0" dirty="0"/>
              <a:t>基于时间片的轮转调度算法</a:t>
            </a:r>
          </a:p>
        </p:txBody>
      </p:sp>
      <p:sp>
        <p:nvSpPr>
          <p:cNvPr id="1135619" name="Rectangle 3"/>
          <p:cNvSpPr>
            <a:spLocks noGrp="1" noChangeArrowheads="1"/>
          </p:cNvSpPr>
          <p:nvPr>
            <p:ph type="body" idx="1"/>
          </p:nvPr>
        </p:nvSpPr>
        <p:spPr>
          <a:xfrm>
            <a:off x="1905000" y="1371600"/>
            <a:ext cx="8534400" cy="4267200"/>
          </a:xfrm>
        </p:spPr>
        <p:txBody>
          <a:bodyPr/>
          <a:lstStyle/>
          <a:p>
            <a:pPr marL="533400" indent="-533400"/>
            <a:r>
              <a:rPr lang="zh-CN" altLang="en-US" sz="2600" b="1" dirty="0">
                <a:ea typeface="楷体_GB2312" pitchFamily="49" charset="-122"/>
              </a:rPr>
              <a:t>简单的时间片轮转法</a:t>
            </a:r>
            <a:r>
              <a:rPr lang="en-US" altLang="zh-CN" sz="2600" b="1" u="sng" dirty="0">
                <a:solidFill>
                  <a:srgbClr val="990000"/>
                </a:solidFill>
                <a:ea typeface="楷体_GB2312" pitchFamily="49" charset="-122"/>
              </a:rPr>
              <a:t>(RR—Round Robin)</a:t>
            </a:r>
            <a:endParaRPr lang="en-US" altLang="zh-CN" sz="2600" b="1" dirty="0">
              <a:solidFill>
                <a:srgbClr val="990000"/>
              </a:solidFill>
              <a:ea typeface="楷体_GB2312" pitchFamily="49" charset="-122"/>
            </a:endParaRPr>
          </a:p>
          <a:p>
            <a:pPr marL="914400" lvl="1" indent="-457200"/>
            <a:r>
              <a:rPr lang="zh-CN" altLang="en-US" sz="2600" b="1" dirty="0">
                <a:ea typeface="楷体_GB2312" pitchFamily="49" charset="-122"/>
              </a:rPr>
              <a:t>系统将所有的就绪进程按</a:t>
            </a:r>
            <a:r>
              <a:rPr lang="zh-CN" altLang="en-US" sz="2600" b="1" dirty="0">
                <a:solidFill>
                  <a:srgbClr val="FF0000"/>
                </a:solidFill>
                <a:ea typeface="楷体_GB2312" pitchFamily="49" charset="-122"/>
              </a:rPr>
              <a:t>先来先服务</a:t>
            </a:r>
            <a:r>
              <a:rPr lang="zh-CN" altLang="en-US" sz="2600" b="1" dirty="0">
                <a:ea typeface="楷体_GB2312" pitchFamily="49" charset="-122"/>
              </a:rPr>
              <a:t>的原则排成一个队列。系统可设置每隔一定的时间（如</a:t>
            </a:r>
            <a:r>
              <a:rPr lang="en-US" altLang="zh-CN" sz="2600" b="1" dirty="0">
                <a:ea typeface="楷体_GB2312" pitchFamily="49" charset="-122"/>
              </a:rPr>
              <a:t>30ms</a:t>
            </a:r>
            <a:r>
              <a:rPr lang="zh-CN" altLang="en-US" sz="2600" b="1" dirty="0">
                <a:ea typeface="楷体_GB2312" pitchFamily="49" charset="-122"/>
              </a:rPr>
              <a:t>）便产生一次</a:t>
            </a:r>
            <a:r>
              <a:rPr lang="zh-CN" altLang="en-US" sz="2600" b="1" dirty="0">
                <a:solidFill>
                  <a:srgbClr val="FF0000"/>
                </a:solidFill>
                <a:ea typeface="楷体_GB2312" pitchFamily="49" charset="-122"/>
              </a:rPr>
              <a:t>时钟中断</a:t>
            </a:r>
            <a:r>
              <a:rPr lang="zh-CN" altLang="en-US" sz="2600" b="1" dirty="0">
                <a:ea typeface="楷体_GB2312" pitchFamily="49" charset="-122"/>
              </a:rPr>
              <a:t>，激活调度程序进行调度。</a:t>
            </a:r>
            <a:endParaRPr lang="en-US" altLang="zh-CN" sz="2600" b="1" dirty="0">
              <a:ea typeface="楷体_GB2312" pitchFamily="49" charset="-122"/>
            </a:endParaRPr>
          </a:p>
          <a:p>
            <a:pPr marL="914400" lvl="1" indent="-457200"/>
            <a:r>
              <a:rPr lang="zh-CN" altLang="en-US" sz="2600" b="1" dirty="0">
                <a:ea typeface="楷体_GB2312" pitchFamily="49" charset="-122"/>
              </a:rPr>
              <a:t>每次调度时，把</a:t>
            </a:r>
            <a:r>
              <a:rPr lang="en-US" altLang="zh-CN" sz="2600" b="1" dirty="0">
                <a:ea typeface="楷体_GB2312" pitchFamily="49" charset="-122"/>
              </a:rPr>
              <a:t>CPU</a:t>
            </a:r>
            <a:r>
              <a:rPr lang="zh-CN" altLang="en-US" sz="2600" b="1" dirty="0">
                <a:ea typeface="楷体_GB2312" pitchFamily="49" charset="-122"/>
              </a:rPr>
              <a:t>分配给队首进程，并令其执行一个时间片。</a:t>
            </a:r>
          </a:p>
          <a:p>
            <a:pPr marL="914400" lvl="1" indent="-457200"/>
            <a:r>
              <a:rPr lang="zh-CN" altLang="en-US" sz="2600" b="1" dirty="0">
                <a:ea typeface="楷体_GB2312" pitchFamily="49" charset="-122"/>
              </a:rPr>
              <a:t>当执行的时间片用完时，即使进程并未运行完成，它也必须释放出</a:t>
            </a:r>
            <a:r>
              <a:rPr lang="en-US" altLang="zh-CN" sz="2600" b="1" dirty="0">
                <a:ea typeface="楷体_GB2312" pitchFamily="49" charset="-122"/>
              </a:rPr>
              <a:t>CPU</a:t>
            </a:r>
            <a:r>
              <a:rPr lang="zh-CN" altLang="en-US" sz="2600" b="1" dirty="0">
                <a:ea typeface="楷体_GB2312" pitchFamily="49" charset="-122"/>
              </a:rPr>
              <a:t>给就绪队列的新队首进程，而被剥夺的进程返回到就绪队列的末尾重新排队，等候再次运行。</a:t>
            </a:r>
            <a:endParaRPr lang="en-US" altLang="zh-CN" sz="2600" b="1" dirty="0">
              <a:ea typeface="楷体_GB2312" pitchFamily="49" charset="-122"/>
            </a:endParaRPr>
          </a:p>
          <a:p>
            <a:pPr marL="914400" lvl="1" indent="-457200"/>
            <a:r>
              <a:rPr lang="zh-CN" altLang="en-US" sz="2600" b="1" dirty="0">
                <a:ea typeface="楷体_GB2312" pitchFamily="49" charset="-122"/>
              </a:rPr>
              <a:t>时间片的大小从几</a:t>
            </a:r>
            <a:r>
              <a:rPr lang="en-US" altLang="zh-CN" sz="2600" b="1" dirty="0">
                <a:ea typeface="楷体_GB2312" pitchFamily="49" charset="-122"/>
              </a:rPr>
              <a:t>ms</a:t>
            </a:r>
            <a:r>
              <a:rPr lang="zh-CN" altLang="en-US" sz="2600" b="1" dirty="0">
                <a:ea typeface="楷体_GB2312" pitchFamily="49" charset="-122"/>
              </a:rPr>
              <a:t>到几百</a:t>
            </a:r>
            <a:r>
              <a:rPr lang="en-US" altLang="zh-CN" sz="2600" b="1" dirty="0">
                <a:ea typeface="楷体_GB2312" pitchFamily="49" charset="-122"/>
              </a:rPr>
              <a:t>ms</a:t>
            </a:r>
          </a:p>
        </p:txBody>
      </p:sp>
      <p:sp>
        <p:nvSpPr>
          <p:cNvPr id="1135620" name="Text Box 4"/>
          <p:cNvSpPr txBox="1">
            <a:spLocks noChangeArrowheads="1"/>
          </p:cNvSpPr>
          <p:nvPr/>
        </p:nvSpPr>
        <p:spPr bwMode="auto">
          <a:xfrm>
            <a:off x="2590800" y="5379243"/>
            <a:ext cx="8077200" cy="955675"/>
          </a:xfrm>
          <a:prstGeom prst="rect">
            <a:avLst/>
          </a:prstGeom>
          <a:solidFill>
            <a:srgbClr val="FFCC00"/>
          </a:solidFill>
          <a:ln w="9525">
            <a:solidFill>
              <a:schemeClr val="tx1"/>
            </a:solidFill>
            <a:miter lim="800000"/>
            <a:headEnd/>
            <a:tailEnd/>
          </a:ln>
          <a:effectLst>
            <a:outerShdw dist="107763" dir="2700000" algn="ctr" rotWithShape="0">
              <a:schemeClr val="bg2"/>
            </a:outerShdw>
          </a:effectLst>
        </p:spPr>
        <p:txBody>
          <a:bodyPr>
            <a:spAutoFit/>
          </a:bodyPr>
          <a:lstStyle/>
          <a:p>
            <a:pPr>
              <a:spcBef>
                <a:spcPct val="50000"/>
              </a:spcBef>
            </a:pPr>
            <a:r>
              <a:rPr kumimoji="1" lang="zh-CN" altLang="en-US" sz="2800" b="1" dirty="0">
                <a:latin typeface="Times New Roman" pitchFamily="18" charset="0"/>
                <a:ea typeface="楷体_GB2312" pitchFamily="49" charset="-122"/>
              </a:rPr>
              <a:t>优点：公平。保证就绪队列中所有进程在一给定的时间内，均能获得一时间片的处理机执行时间</a:t>
            </a:r>
          </a:p>
        </p:txBody>
      </p:sp>
      <p:sp>
        <p:nvSpPr>
          <p:cNvPr id="1135621" name="Text Box 5"/>
          <p:cNvSpPr txBox="1">
            <a:spLocks noChangeArrowheads="1"/>
          </p:cNvSpPr>
          <p:nvPr/>
        </p:nvSpPr>
        <p:spPr bwMode="auto">
          <a:xfrm>
            <a:off x="2590800" y="5379243"/>
            <a:ext cx="8077200" cy="976313"/>
          </a:xfrm>
          <a:prstGeom prst="rect">
            <a:avLst/>
          </a:prstGeom>
          <a:solidFill>
            <a:srgbClr val="FFCC00"/>
          </a:solidFill>
          <a:ln w="9525">
            <a:solidFill>
              <a:schemeClr val="tx1"/>
            </a:solidFill>
            <a:miter lim="800000"/>
            <a:headEnd/>
            <a:tailEnd/>
          </a:ln>
          <a:effectLst>
            <a:outerShdw dist="107763" dir="2700000" algn="ctr" rotWithShape="0">
              <a:schemeClr val="bg2"/>
            </a:outerShdw>
          </a:effectLst>
        </p:spPr>
        <p:txBody>
          <a:bodyPr>
            <a:spAutoFit/>
          </a:bodyPr>
          <a:lstStyle/>
          <a:p>
            <a:pPr>
              <a:spcBef>
                <a:spcPct val="5000"/>
              </a:spcBef>
            </a:pPr>
            <a:r>
              <a:rPr kumimoji="1" lang="zh-CN" altLang="en-US" sz="2800" b="1" dirty="0">
                <a:latin typeface="Times New Roman" pitchFamily="18" charset="0"/>
                <a:ea typeface="楷体_GB2312" pitchFamily="49" charset="-122"/>
              </a:rPr>
              <a:t>缺点：紧迫任务响应慢。</a:t>
            </a:r>
          </a:p>
          <a:p>
            <a:pPr>
              <a:spcBef>
                <a:spcPct val="5000"/>
              </a:spcBef>
            </a:pPr>
            <a:r>
              <a:rPr kumimoji="1" lang="en-US" altLang="zh-CN" sz="2800" b="1" dirty="0">
                <a:latin typeface="Times New Roman" pitchFamily="18" charset="0"/>
                <a:ea typeface="楷体_GB2312" pitchFamily="49" charset="-122"/>
              </a:rPr>
              <a:t>UNIX</a:t>
            </a:r>
            <a:r>
              <a:rPr kumimoji="1" lang="zh-CN" altLang="en-US" sz="2800" b="1" dirty="0">
                <a:latin typeface="Times New Roman" pitchFamily="18" charset="0"/>
                <a:ea typeface="楷体_GB2312" pitchFamily="49" charset="-122"/>
              </a:rPr>
              <a:t>中采用：时间片</a:t>
            </a:r>
            <a:r>
              <a:rPr kumimoji="1" lang="en-US" altLang="zh-CN" sz="2800" b="1" dirty="0">
                <a:latin typeface="Times New Roman" pitchFamily="18" charset="0"/>
                <a:ea typeface="楷体_GB2312" pitchFamily="49" charset="-122"/>
              </a:rPr>
              <a:t>+</a:t>
            </a:r>
            <a:r>
              <a:rPr kumimoji="1" lang="zh-CN" altLang="en-US" sz="2800" b="1" dirty="0">
                <a:latin typeface="Times New Roman" pitchFamily="18" charset="0"/>
                <a:ea typeface="楷体_GB2312" pitchFamily="49" charset="-122"/>
              </a:rPr>
              <a:t>优先权</a:t>
            </a:r>
          </a:p>
        </p:txBody>
      </p:sp>
      <p:sp>
        <p:nvSpPr>
          <p:cNvPr id="1135622" name="Rectangle 6"/>
          <p:cNvSpPr>
            <a:spLocks noChangeArrowheads="1"/>
          </p:cNvSpPr>
          <p:nvPr/>
        </p:nvSpPr>
        <p:spPr bwMode="auto">
          <a:xfrm>
            <a:off x="5562600" y="721666"/>
            <a:ext cx="494046" cy="461665"/>
          </a:xfrm>
          <a:prstGeom prst="rect">
            <a:avLst/>
          </a:prstGeom>
          <a:noFill/>
          <a:ln w="9525">
            <a:noFill/>
            <a:miter lim="800000"/>
            <a:headEnd/>
            <a:tailEnd/>
          </a:ln>
          <a:effectLst/>
        </p:spPr>
        <p:txBody>
          <a:bodyPr wrap="none">
            <a:spAutoFit/>
          </a:bodyPr>
          <a:lstStyle/>
          <a:p>
            <a:r>
              <a:rPr kumimoji="1" lang="zh-CN" altLang="en-US" sz="2400" b="1" dirty="0">
                <a:solidFill>
                  <a:srgbClr val="FF0066"/>
                </a:solidFill>
                <a:latin typeface="Times New Roman" pitchFamily="18" charset="0"/>
              </a:rPr>
              <a:t>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35619">
                                            <p:txEl>
                                              <p:pRg st="0" end="0"/>
                                            </p:txEl>
                                          </p:spTgt>
                                        </p:tgtEl>
                                        <p:attrNameLst>
                                          <p:attrName>style.visibility</p:attrName>
                                        </p:attrNameLst>
                                      </p:cBhvr>
                                      <p:to>
                                        <p:strVal val="visible"/>
                                      </p:to>
                                    </p:set>
                                    <p:animEffect transition="in" filter="wipe(up)">
                                      <p:cBhvr>
                                        <p:cTn id="7" dur="500"/>
                                        <p:tgtEl>
                                          <p:spTgt spid="1135619">
                                            <p:txEl>
                                              <p:pRg st="0" end="0"/>
                                            </p:txEl>
                                          </p:spTgt>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1135622"/>
                                        </p:tgtEl>
                                        <p:attrNameLst>
                                          <p:attrName>style.visibility</p:attrName>
                                        </p:attrNameLst>
                                      </p:cBhvr>
                                      <p:to>
                                        <p:strVal val="visible"/>
                                      </p:to>
                                    </p:set>
                                    <p:anim calcmode="lin" valueType="num">
                                      <p:cBhvr>
                                        <p:cTn id="11" dur="1000" fill="hold"/>
                                        <p:tgtEl>
                                          <p:spTgt spid="1135622"/>
                                        </p:tgtEl>
                                        <p:attrNameLst>
                                          <p:attrName>ppt_w</p:attrName>
                                        </p:attrNameLst>
                                      </p:cBhvr>
                                      <p:tavLst>
                                        <p:tav tm="0">
                                          <p:val>
                                            <p:fltVal val="0"/>
                                          </p:val>
                                        </p:tav>
                                        <p:tav tm="100000">
                                          <p:val>
                                            <p:strVal val="#ppt_w"/>
                                          </p:val>
                                        </p:tav>
                                      </p:tavLst>
                                    </p:anim>
                                    <p:anim calcmode="lin" valueType="num">
                                      <p:cBhvr>
                                        <p:cTn id="12" dur="1000" fill="hold"/>
                                        <p:tgtEl>
                                          <p:spTgt spid="1135622"/>
                                        </p:tgtEl>
                                        <p:attrNameLst>
                                          <p:attrName>ppt_h</p:attrName>
                                        </p:attrNameLst>
                                      </p:cBhvr>
                                      <p:tavLst>
                                        <p:tav tm="0">
                                          <p:val>
                                            <p:fltVal val="0"/>
                                          </p:val>
                                        </p:tav>
                                        <p:tav tm="100000">
                                          <p:val>
                                            <p:strVal val="#ppt_h"/>
                                          </p:val>
                                        </p:tav>
                                      </p:tavLst>
                                    </p:anim>
                                    <p:anim calcmode="lin" valueType="num">
                                      <p:cBhvr>
                                        <p:cTn id="13" dur="1000" fill="hold"/>
                                        <p:tgtEl>
                                          <p:spTgt spid="1135622"/>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113562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35619">
                                            <p:txEl>
                                              <p:pRg st="1" end="1"/>
                                            </p:txEl>
                                          </p:spTgt>
                                        </p:tgtEl>
                                        <p:attrNameLst>
                                          <p:attrName>style.visibility</p:attrName>
                                        </p:attrNameLst>
                                      </p:cBhvr>
                                      <p:to>
                                        <p:strVal val="visible"/>
                                      </p:to>
                                    </p:set>
                                    <p:animEffect transition="in" filter="wipe(up)">
                                      <p:cBhvr>
                                        <p:cTn id="19" dur="500"/>
                                        <p:tgtEl>
                                          <p:spTgt spid="113561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135619">
                                            <p:txEl>
                                              <p:pRg st="2" end="2"/>
                                            </p:txEl>
                                          </p:spTgt>
                                        </p:tgtEl>
                                        <p:attrNameLst>
                                          <p:attrName>style.visibility</p:attrName>
                                        </p:attrNameLst>
                                      </p:cBhvr>
                                      <p:to>
                                        <p:strVal val="visible"/>
                                      </p:to>
                                    </p:set>
                                    <p:animEffect transition="in" filter="wipe(up)">
                                      <p:cBhvr>
                                        <p:cTn id="24" dur="500"/>
                                        <p:tgtEl>
                                          <p:spTgt spid="113561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135619">
                                            <p:txEl>
                                              <p:pRg st="3" end="3"/>
                                            </p:txEl>
                                          </p:spTgt>
                                        </p:tgtEl>
                                        <p:attrNameLst>
                                          <p:attrName>style.visibility</p:attrName>
                                        </p:attrNameLst>
                                      </p:cBhvr>
                                      <p:to>
                                        <p:strVal val="visible"/>
                                      </p:to>
                                    </p:set>
                                    <p:animEffect transition="in" filter="wipe(up)">
                                      <p:cBhvr>
                                        <p:cTn id="29" dur="500"/>
                                        <p:tgtEl>
                                          <p:spTgt spid="1135619">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135619">
                                            <p:txEl>
                                              <p:pRg st="4" end="4"/>
                                            </p:txEl>
                                          </p:spTgt>
                                        </p:tgtEl>
                                        <p:attrNameLst>
                                          <p:attrName>style.visibility</p:attrName>
                                        </p:attrNameLst>
                                      </p:cBhvr>
                                      <p:to>
                                        <p:strVal val="visible"/>
                                      </p:to>
                                    </p:set>
                                    <p:animEffect transition="in" filter="wipe(up)">
                                      <p:cBhvr>
                                        <p:cTn id="34" dur="500"/>
                                        <p:tgtEl>
                                          <p:spTgt spid="1135619">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135620"/>
                                        </p:tgtEl>
                                        <p:attrNameLst>
                                          <p:attrName>style.visibility</p:attrName>
                                        </p:attrNameLst>
                                      </p:cBhvr>
                                      <p:to>
                                        <p:strVal val="visible"/>
                                      </p:to>
                                    </p:set>
                                    <p:animEffect transition="in" filter="blinds(horizontal)">
                                      <p:cBhvr>
                                        <p:cTn id="39" dur="500"/>
                                        <p:tgtEl>
                                          <p:spTgt spid="113562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135621"/>
                                        </p:tgtEl>
                                        <p:attrNameLst>
                                          <p:attrName>style.visibility</p:attrName>
                                        </p:attrNameLst>
                                      </p:cBhvr>
                                      <p:to>
                                        <p:strVal val="visible"/>
                                      </p:to>
                                    </p:set>
                                    <p:animEffect transition="in" filter="blinds(horizontal)">
                                      <p:cBhvr>
                                        <p:cTn id="44" dur="500"/>
                                        <p:tgtEl>
                                          <p:spTgt spid="1135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5619" grpId="0" build="p" bldLvl="5" autoUpdateAnimBg="0"/>
      <p:bldP spid="1135620" grpId="0" animBg="1" autoUpdateAnimBg="0"/>
      <p:bldP spid="1135621" grpId="0" animBg="1" autoUpdateAnimBg="0"/>
      <p:bldP spid="11356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42" name="Rectangle 2"/>
          <p:cNvSpPr>
            <a:spLocks noGrp="1" noChangeArrowheads="1"/>
          </p:cNvSpPr>
          <p:nvPr>
            <p:ph type="title"/>
          </p:nvPr>
        </p:nvSpPr>
        <p:spPr>
          <a:xfrm>
            <a:off x="495300" y="640558"/>
            <a:ext cx="8534400" cy="381000"/>
          </a:xfrm>
        </p:spPr>
        <p:txBody>
          <a:bodyPr/>
          <a:lstStyle/>
          <a:p>
            <a:r>
              <a:rPr lang="zh-CN" altLang="en-US" sz="3200" b="0" dirty="0"/>
              <a:t>基于时间片的轮转调度算法</a:t>
            </a:r>
          </a:p>
        </p:txBody>
      </p:sp>
      <p:graphicFrame>
        <p:nvGraphicFramePr>
          <p:cNvPr id="1136643" name="Group 3"/>
          <p:cNvGraphicFramePr>
            <a:graphicFrameLocks noGrp="1"/>
          </p:cNvGraphicFramePr>
          <p:nvPr>
            <p:extLst>
              <p:ext uri="{D42A27DB-BD31-4B8C-83A1-F6EECF244321}">
                <p14:modId xmlns:p14="http://schemas.microsoft.com/office/powerpoint/2010/main" val="2489754186"/>
              </p:ext>
            </p:extLst>
          </p:nvPr>
        </p:nvGraphicFramePr>
        <p:xfrm>
          <a:off x="1700243" y="1371600"/>
          <a:ext cx="8534400" cy="4230181"/>
        </p:xfrm>
        <a:graphic>
          <a:graphicData uri="http://schemas.openxmlformats.org/drawingml/2006/table">
            <a:tbl>
              <a:tblPr/>
              <a:tblGrid>
                <a:gridCol w="1220788">
                  <a:extLst>
                    <a:ext uri="{9D8B030D-6E8A-4147-A177-3AD203B41FA5}">
                      <a16:colId xmlns:a16="http://schemas.microsoft.com/office/drawing/2014/main" val="20000"/>
                    </a:ext>
                  </a:extLst>
                </a:gridCol>
                <a:gridCol w="1217612">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7613">
                  <a:extLst>
                    <a:ext uri="{9D8B030D-6E8A-4147-A177-3AD203B41FA5}">
                      <a16:colId xmlns:a16="http://schemas.microsoft.com/office/drawing/2014/main" val="20005"/>
                    </a:ext>
                  </a:extLst>
                </a:gridCol>
                <a:gridCol w="1220787">
                  <a:extLst>
                    <a:ext uri="{9D8B030D-6E8A-4147-A177-3AD203B41FA5}">
                      <a16:colId xmlns:a16="http://schemas.microsoft.com/office/drawing/2014/main" val="20006"/>
                    </a:ext>
                  </a:extLst>
                </a:gridCol>
              </a:tblGrid>
              <a:tr h="606425">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进程名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服务时间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周转时间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6719" name="Rectangle 79"/>
          <p:cNvSpPr>
            <a:spLocks noChangeArrowheads="1"/>
          </p:cNvSpPr>
          <p:nvPr/>
        </p:nvSpPr>
        <p:spPr bwMode="auto">
          <a:xfrm>
            <a:off x="1857068" y="5646229"/>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36720" name="Rectangle 80"/>
          <p:cNvSpPr>
            <a:spLocks noChangeArrowheads="1"/>
          </p:cNvSpPr>
          <p:nvPr/>
        </p:nvSpPr>
        <p:spPr bwMode="auto">
          <a:xfrm>
            <a:off x="2238068" y="5646229"/>
            <a:ext cx="381000" cy="457200"/>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36721" name="Rectangle 81"/>
          <p:cNvSpPr>
            <a:spLocks noChangeArrowheads="1"/>
          </p:cNvSpPr>
          <p:nvPr/>
        </p:nvSpPr>
        <p:spPr bwMode="auto">
          <a:xfrm>
            <a:off x="2619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36722" name="Rectangle 82"/>
          <p:cNvSpPr>
            <a:spLocks noChangeArrowheads="1"/>
          </p:cNvSpPr>
          <p:nvPr/>
        </p:nvSpPr>
        <p:spPr bwMode="auto">
          <a:xfrm>
            <a:off x="3000068" y="5646229"/>
            <a:ext cx="381000" cy="457200"/>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D</a:t>
            </a:r>
          </a:p>
        </p:txBody>
      </p:sp>
      <p:sp>
        <p:nvSpPr>
          <p:cNvPr id="1136723" name="Rectangle 83"/>
          <p:cNvSpPr>
            <a:spLocks noChangeArrowheads="1"/>
          </p:cNvSpPr>
          <p:nvPr/>
        </p:nvSpPr>
        <p:spPr bwMode="auto">
          <a:xfrm>
            <a:off x="3381068" y="5646229"/>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36724" name="Rectangle 84"/>
          <p:cNvSpPr>
            <a:spLocks noChangeArrowheads="1"/>
          </p:cNvSpPr>
          <p:nvPr/>
        </p:nvSpPr>
        <p:spPr bwMode="auto">
          <a:xfrm>
            <a:off x="3762068" y="5646229"/>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36725" name="Rectangle 85"/>
          <p:cNvSpPr>
            <a:spLocks noChangeArrowheads="1"/>
          </p:cNvSpPr>
          <p:nvPr/>
        </p:nvSpPr>
        <p:spPr bwMode="auto">
          <a:xfrm>
            <a:off x="4143068" y="5646229"/>
            <a:ext cx="381000" cy="457200"/>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36726" name="Rectangle 86"/>
          <p:cNvSpPr>
            <a:spLocks noChangeArrowheads="1"/>
          </p:cNvSpPr>
          <p:nvPr/>
        </p:nvSpPr>
        <p:spPr bwMode="auto">
          <a:xfrm>
            <a:off x="4524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36727" name="Rectangle 87"/>
          <p:cNvSpPr>
            <a:spLocks noChangeArrowheads="1"/>
          </p:cNvSpPr>
          <p:nvPr/>
        </p:nvSpPr>
        <p:spPr bwMode="auto">
          <a:xfrm>
            <a:off x="4905068" y="5646229"/>
            <a:ext cx="381000" cy="457200"/>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D</a:t>
            </a:r>
          </a:p>
        </p:txBody>
      </p:sp>
      <p:sp>
        <p:nvSpPr>
          <p:cNvPr id="1136728" name="Rectangle 88"/>
          <p:cNvSpPr>
            <a:spLocks noChangeArrowheads="1"/>
          </p:cNvSpPr>
          <p:nvPr/>
        </p:nvSpPr>
        <p:spPr bwMode="auto">
          <a:xfrm>
            <a:off x="5286068" y="5646229"/>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36729" name="Rectangle 89"/>
          <p:cNvSpPr>
            <a:spLocks noChangeArrowheads="1"/>
          </p:cNvSpPr>
          <p:nvPr/>
        </p:nvSpPr>
        <p:spPr bwMode="auto">
          <a:xfrm>
            <a:off x="5667068" y="5646229"/>
            <a:ext cx="381000" cy="457200"/>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36730" name="Rectangle 90"/>
          <p:cNvSpPr>
            <a:spLocks noChangeArrowheads="1"/>
          </p:cNvSpPr>
          <p:nvPr/>
        </p:nvSpPr>
        <p:spPr bwMode="auto">
          <a:xfrm>
            <a:off x="6048068" y="5646229"/>
            <a:ext cx="381000" cy="457200"/>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B</a:t>
            </a:r>
          </a:p>
        </p:txBody>
      </p:sp>
      <p:sp>
        <p:nvSpPr>
          <p:cNvPr id="1136731" name="Rectangle 91"/>
          <p:cNvSpPr>
            <a:spLocks noChangeArrowheads="1"/>
          </p:cNvSpPr>
          <p:nvPr/>
        </p:nvSpPr>
        <p:spPr bwMode="auto">
          <a:xfrm>
            <a:off x="6429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36732" name="Rectangle 92"/>
          <p:cNvSpPr>
            <a:spLocks noChangeArrowheads="1"/>
          </p:cNvSpPr>
          <p:nvPr/>
        </p:nvSpPr>
        <p:spPr bwMode="auto">
          <a:xfrm>
            <a:off x="6810068" y="5646229"/>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36733" name="Rectangle 93"/>
          <p:cNvSpPr>
            <a:spLocks noChangeArrowheads="1"/>
          </p:cNvSpPr>
          <p:nvPr/>
        </p:nvSpPr>
        <p:spPr bwMode="auto">
          <a:xfrm>
            <a:off x="7191068" y="5646229"/>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A</a:t>
            </a:r>
          </a:p>
        </p:txBody>
      </p:sp>
      <p:sp>
        <p:nvSpPr>
          <p:cNvPr id="1136734" name="Rectangle 94"/>
          <p:cNvSpPr>
            <a:spLocks noChangeArrowheads="1"/>
          </p:cNvSpPr>
          <p:nvPr/>
        </p:nvSpPr>
        <p:spPr bwMode="auto">
          <a:xfrm>
            <a:off x="7572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sp>
        <p:nvSpPr>
          <p:cNvPr id="1136735" name="Rectangle 95"/>
          <p:cNvSpPr>
            <a:spLocks noChangeArrowheads="1"/>
          </p:cNvSpPr>
          <p:nvPr/>
        </p:nvSpPr>
        <p:spPr bwMode="auto">
          <a:xfrm>
            <a:off x="7953068" y="5646229"/>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E</a:t>
            </a:r>
          </a:p>
        </p:txBody>
      </p:sp>
      <p:sp>
        <p:nvSpPr>
          <p:cNvPr id="1136736" name="Rectangle 96"/>
          <p:cNvSpPr>
            <a:spLocks noChangeArrowheads="1"/>
          </p:cNvSpPr>
          <p:nvPr/>
        </p:nvSpPr>
        <p:spPr bwMode="auto">
          <a:xfrm>
            <a:off x="8334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a:latin typeface="Times New Roman" pitchFamily="18" charset="0"/>
              </a:rPr>
              <a:t>C</a:t>
            </a:r>
          </a:p>
        </p:txBody>
      </p:sp>
      <p:grpSp>
        <p:nvGrpSpPr>
          <p:cNvPr id="1136737" name="Group 97"/>
          <p:cNvGrpSpPr>
            <a:grpSpLocks/>
          </p:cNvGrpSpPr>
          <p:nvPr/>
        </p:nvGrpSpPr>
        <p:grpSpPr bwMode="auto">
          <a:xfrm>
            <a:off x="1704668" y="5874830"/>
            <a:ext cx="8305800" cy="701675"/>
            <a:chOff x="384" y="3648"/>
            <a:chExt cx="5232" cy="442"/>
          </a:xfrm>
        </p:grpSpPr>
        <p:sp>
          <p:nvSpPr>
            <p:cNvPr id="1136738" name="Line 98"/>
            <p:cNvSpPr>
              <a:spLocks noChangeShapeType="1"/>
            </p:cNvSpPr>
            <p:nvPr/>
          </p:nvSpPr>
          <p:spPr bwMode="auto">
            <a:xfrm>
              <a:off x="480" y="3792"/>
              <a:ext cx="4896" cy="0"/>
            </a:xfrm>
            <a:prstGeom prst="line">
              <a:avLst/>
            </a:prstGeom>
            <a:noFill/>
            <a:ln w="28575">
              <a:solidFill>
                <a:schemeClr val="tx1"/>
              </a:solidFill>
              <a:miter lim="800000"/>
              <a:headEnd/>
              <a:tailEnd type="stealth" w="sm" len="lg"/>
            </a:ln>
            <a:effectLst/>
          </p:spPr>
          <p:txBody>
            <a:bodyPr wrap="none"/>
            <a:lstStyle/>
            <a:p>
              <a:endParaRPr lang="zh-CN" altLang="en-US"/>
            </a:p>
          </p:txBody>
        </p:sp>
        <p:sp>
          <p:nvSpPr>
            <p:cNvPr id="1136739" name="Text Box 99"/>
            <p:cNvSpPr txBox="1">
              <a:spLocks noChangeArrowheads="1"/>
            </p:cNvSpPr>
            <p:nvPr/>
          </p:nvSpPr>
          <p:spPr bwMode="auto">
            <a:xfrm>
              <a:off x="3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0</a:t>
              </a:r>
            </a:p>
          </p:txBody>
        </p:sp>
        <p:sp>
          <p:nvSpPr>
            <p:cNvPr id="1136740" name="Text Box 100"/>
            <p:cNvSpPr txBox="1">
              <a:spLocks noChangeArrowheads="1"/>
            </p:cNvSpPr>
            <p:nvPr/>
          </p:nvSpPr>
          <p:spPr bwMode="auto">
            <a:xfrm>
              <a:off x="15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5</a:t>
              </a:r>
            </a:p>
          </p:txBody>
        </p:sp>
        <p:sp>
          <p:nvSpPr>
            <p:cNvPr id="1136741" name="Text Box 101"/>
            <p:cNvSpPr txBox="1">
              <a:spLocks noChangeArrowheads="1"/>
            </p:cNvSpPr>
            <p:nvPr/>
          </p:nvSpPr>
          <p:spPr bwMode="auto">
            <a:xfrm>
              <a:off x="27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10</a:t>
              </a:r>
            </a:p>
          </p:txBody>
        </p:sp>
        <p:sp>
          <p:nvSpPr>
            <p:cNvPr id="1136742" name="Text Box 102"/>
            <p:cNvSpPr txBox="1">
              <a:spLocks noChangeArrowheads="1"/>
            </p:cNvSpPr>
            <p:nvPr/>
          </p:nvSpPr>
          <p:spPr bwMode="auto">
            <a:xfrm>
              <a:off x="39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15</a:t>
              </a:r>
            </a:p>
          </p:txBody>
        </p:sp>
        <p:sp>
          <p:nvSpPr>
            <p:cNvPr id="1136743" name="Text Box 103"/>
            <p:cNvSpPr txBox="1">
              <a:spLocks noChangeArrowheads="1"/>
            </p:cNvSpPr>
            <p:nvPr/>
          </p:nvSpPr>
          <p:spPr bwMode="auto">
            <a:xfrm>
              <a:off x="465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18</a:t>
              </a:r>
            </a:p>
          </p:txBody>
        </p:sp>
        <p:sp>
          <p:nvSpPr>
            <p:cNvPr id="1136744" name="Text Box 104"/>
            <p:cNvSpPr txBox="1">
              <a:spLocks noChangeArrowheads="1"/>
            </p:cNvSpPr>
            <p:nvPr/>
          </p:nvSpPr>
          <p:spPr bwMode="auto">
            <a:xfrm>
              <a:off x="5424" y="3648"/>
              <a:ext cx="192" cy="288"/>
            </a:xfrm>
            <a:prstGeom prst="rect">
              <a:avLst/>
            </a:prstGeom>
            <a:noFill/>
            <a:ln w="9525">
              <a:noFill/>
              <a:miter lim="800000"/>
              <a:headEnd/>
              <a:tailEnd/>
            </a:ln>
            <a:effectLst/>
          </p:spPr>
          <p:txBody>
            <a:bodyPr>
              <a:spAutoFit/>
            </a:bodyPr>
            <a:lstStyle/>
            <a:p>
              <a:pPr>
                <a:spcBef>
                  <a:spcPct val="50000"/>
                </a:spcBef>
              </a:pPr>
              <a:r>
                <a:rPr kumimoji="1" lang="en-US" altLang="zh-CN" sz="2400" b="1">
                  <a:latin typeface="Times New Roman" pitchFamily="18" charset="0"/>
                </a:rPr>
                <a:t>t</a:t>
              </a:r>
            </a:p>
          </p:txBody>
        </p:sp>
      </p:grpSp>
      <p:grpSp>
        <p:nvGrpSpPr>
          <p:cNvPr id="1136745" name="Group 105"/>
          <p:cNvGrpSpPr>
            <a:grpSpLocks/>
          </p:cNvGrpSpPr>
          <p:nvPr/>
        </p:nvGrpSpPr>
        <p:grpSpPr bwMode="auto">
          <a:xfrm>
            <a:off x="2046338" y="2122668"/>
            <a:ext cx="2895600" cy="519113"/>
            <a:chOff x="384" y="1632"/>
            <a:chExt cx="1824" cy="327"/>
          </a:xfrm>
        </p:grpSpPr>
        <p:sp>
          <p:nvSpPr>
            <p:cNvPr id="1136746" name="Text Box 106"/>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0</a:t>
              </a:r>
            </a:p>
          </p:txBody>
        </p:sp>
        <p:sp>
          <p:nvSpPr>
            <p:cNvPr id="1136747" name="Text Box 107"/>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6748" name="Text Box 108"/>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A</a:t>
              </a:r>
            </a:p>
          </p:txBody>
        </p:sp>
      </p:grpSp>
      <p:grpSp>
        <p:nvGrpSpPr>
          <p:cNvPr id="1136749" name="Group 109"/>
          <p:cNvGrpSpPr>
            <a:grpSpLocks/>
          </p:cNvGrpSpPr>
          <p:nvPr/>
        </p:nvGrpSpPr>
        <p:grpSpPr bwMode="auto">
          <a:xfrm>
            <a:off x="2046338" y="2732268"/>
            <a:ext cx="2895600" cy="519113"/>
            <a:chOff x="384" y="1632"/>
            <a:chExt cx="1824" cy="327"/>
          </a:xfrm>
        </p:grpSpPr>
        <p:sp>
          <p:nvSpPr>
            <p:cNvPr id="1136750" name="Text Box 110"/>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0</a:t>
              </a:r>
            </a:p>
          </p:txBody>
        </p:sp>
        <p:sp>
          <p:nvSpPr>
            <p:cNvPr id="1136751" name="Text Box 111"/>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36752" name="Text Box 112"/>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B</a:t>
              </a:r>
            </a:p>
          </p:txBody>
        </p:sp>
      </p:grpSp>
      <p:grpSp>
        <p:nvGrpSpPr>
          <p:cNvPr id="1136753" name="Group 113"/>
          <p:cNvGrpSpPr>
            <a:grpSpLocks/>
          </p:cNvGrpSpPr>
          <p:nvPr/>
        </p:nvGrpSpPr>
        <p:grpSpPr bwMode="auto">
          <a:xfrm>
            <a:off x="2046338" y="3341868"/>
            <a:ext cx="2895600" cy="519113"/>
            <a:chOff x="384" y="1632"/>
            <a:chExt cx="1824" cy="327"/>
          </a:xfrm>
        </p:grpSpPr>
        <p:sp>
          <p:nvSpPr>
            <p:cNvPr id="1136754" name="Text Box 114"/>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0</a:t>
              </a:r>
            </a:p>
          </p:txBody>
        </p:sp>
        <p:sp>
          <p:nvSpPr>
            <p:cNvPr id="1136755" name="Text Box 115"/>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136756" name="Text Box 116"/>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C</a:t>
              </a:r>
            </a:p>
          </p:txBody>
        </p:sp>
      </p:grpSp>
      <p:grpSp>
        <p:nvGrpSpPr>
          <p:cNvPr id="1136757" name="Group 117"/>
          <p:cNvGrpSpPr>
            <a:grpSpLocks/>
          </p:cNvGrpSpPr>
          <p:nvPr/>
        </p:nvGrpSpPr>
        <p:grpSpPr bwMode="auto">
          <a:xfrm>
            <a:off x="2046338" y="3875268"/>
            <a:ext cx="2895600" cy="519113"/>
            <a:chOff x="384" y="1632"/>
            <a:chExt cx="1824" cy="327"/>
          </a:xfrm>
        </p:grpSpPr>
        <p:sp>
          <p:nvSpPr>
            <p:cNvPr id="1136758" name="Text Box 118"/>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0</a:t>
              </a:r>
            </a:p>
          </p:txBody>
        </p:sp>
        <p:sp>
          <p:nvSpPr>
            <p:cNvPr id="1136759" name="Text Box 119"/>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36760" name="Text Box 120"/>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D</a:t>
              </a:r>
            </a:p>
          </p:txBody>
        </p:sp>
      </p:grpSp>
      <p:grpSp>
        <p:nvGrpSpPr>
          <p:cNvPr id="1136761" name="Group 121"/>
          <p:cNvGrpSpPr>
            <a:grpSpLocks/>
          </p:cNvGrpSpPr>
          <p:nvPr/>
        </p:nvGrpSpPr>
        <p:grpSpPr bwMode="auto">
          <a:xfrm>
            <a:off x="2046338" y="4484868"/>
            <a:ext cx="2895600" cy="519113"/>
            <a:chOff x="384" y="1632"/>
            <a:chExt cx="1824" cy="327"/>
          </a:xfrm>
        </p:grpSpPr>
        <p:sp>
          <p:nvSpPr>
            <p:cNvPr id="1136762" name="Text Box 122"/>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0</a:t>
              </a:r>
            </a:p>
          </p:txBody>
        </p:sp>
        <p:sp>
          <p:nvSpPr>
            <p:cNvPr id="1136763" name="Text Box 123"/>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6764" name="Text Box 124"/>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E</a:t>
              </a:r>
            </a:p>
          </p:txBody>
        </p:sp>
      </p:grpSp>
      <p:sp>
        <p:nvSpPr>
          <p:cNvPr id="1136765" name="Text Box 125"/>
          <p:cNvSpPr txBox="1">
            <a:spLocks noChangeArrowheads="1"/>
          </p:cNvSpPr>
          <p:nvPr/>
        </p:nvSpPr>
        <p:spPr bwMode="auto">
          <a:xfrm>
            <a:off x="5703938" y="21226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36766" name="Text Box 126"/>
          <p:cNvSpPr txBox="1">
            <a:spLocks noChangeArrowheads="1"/>
          </p:cNvSpPr>
          <p:nvPr/>
        </p:nvSpPr>
        <p:spPr bwMode="auto">
          <a:xfrm>
            <a:off x="5703938" y="27322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a:t>
            </a:r>
          </a:p>
        </p:txBody>
      </p:sp>
      <p:sp>
        <p:nvSpPr>
          <p:cNvPr id="1136767" name="Text Box 127"/>
          <p:cNvSpPr txBox="1">
            <a:spLocks noChangeArrowheads="1"/>
          </p:cNvSpPr>
          <p:nvPr/>
        </p:nvSpPr>
        <p:spPr bwMode="auto">
          <a:xfrm>
            <a:off x="5703938" y="33418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2</a:t>
            </a:r>
          </a:p>
        </p:txBody>
      </p:sp>
      <p:sp>
        <p:nvSpPr>
          <p:cNvPr id="1136768" name="Text Box 128"/>
          <p:cNvSpPr txBox="1">
            <a:spLocks noChangeArrowheads="1"/>
          </p:cNvSpPr>
          <p:nvPr/>
        </p:nvSpPr>
        <p:spPr bwMode="auto">
          <a:xfrm>
            <a:off x="5703938" y="38752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3</a:t>
            </a:r>
          </a:p>
        </p:txBody>
      </p:sp>
      <p:sp>
        <p:nvSpPr>
          <p:cNvPr id="1136769" name="Text Box 129"/>
          <p:cNvSpPr txBox="1">
            <a:spLocks noChangeArrowheads="1"/>
          </p:cNvSpPr>
          <p:nvPr/>
        </p:nvSpPr>
        <p:spPr bwMode="auto">
          <a:xfrm>
            <a:off x="5703938" y="44848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4</a:t>
            </a:r>
          </a:p>
        </p:txBody>
      </p:sp>
      <p:sp>
        <p:nvSpPr>
          <p:cNvPr id="1136770" name="Text Box 130"/>
          <p:cNvSpPr txBox="1">
            <a:spLocks noChangeArrowheads="1"/>
          </p:cNvSpPr>
          <p:nvPr/>
        </p:nvSpPr>
        <p:spPr bwMode="auto">
          <a:xfrm>
            <a:off x="6923138" y="38752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9</a:t>
            </a:r>
          </a:p>
        </p:txBody>
      </p:sp>
      <p:sp>
        <p:nvSpPr>
          <p:cNvPr id="1136771" name="Text Box 131"/>
          <p:cNvSpPr txBox="1">
            <a:spLocks noChangeArrowheads="1"/>
          </p:cNvSpPr>
          <p:nvPr/>
        </p:nvSpPr>
        <p:spPr bwMode="auto">
          <a:xfrm>
            <a:off x="6846938" y="27322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12</a:t>
            </a:r>
          </a:p>
        </p:txBody>
      </p:sp>
      <p:sp>
        <p:nvSpPr>
          <p:cNvPr id="1136772" name="Text Box 132"/>
          <p:cNvSpPr txBox="1">
            <a:spLocks noChangeArrowheads="1"/>
          </p:cNvSpPr>
          <p:nvPr/>
        </p:nvSpPr>
        <p:spPr bwMode="auto">
          <a:xfrm>
            <a:off x="6846938" y="21226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15</a:t>
            </a:r>
          </a:p>
        </p:txBody>
      </p:sp>
      <p:sp>
        <p:nvSpPr>
          <p:cNvPr id="1136773" name="Text Box 133"/>
          <p:cNvSpPr txBox="1">
            <a:spLocks noChangeArrowheads="1"/>
          </p:cNvSpPr>
          <p:nvPr/>
        </p:nvSpPr>
        <p:spPr bwMode="auto">
          <a:xfrm>
            <a:off x="6846938" y="44848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17</a:t>
            </a:r>
          </a:p>
        </p:txBody>
      </p:sp>
      <p:sp>
        <p:nvSpPr>
          <p:cNvPr id="1136774" name="Text Box 134"/>
          <p:cNvSpPr txBox="1">
            <a:spLocks noChangeArrowheads="1"/>
          </p:cNvSpPr>
          <p:nvPr/>
        </p:nvSpPr>
        <p:spPr bwMode="auto">
          <a:xfrm>
            <a:off x="6846938" y="33418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18</a:t>
            </a:r>
          </a:p>
        </p:txBody>
      </p:sp>
      <p:sp>
        <p:nvSpPr>
          <p:cNvPr id="1136775" name="Text Box 135"/>
          <p:cNvSpPr txBox="1">
            <a:spLocks noChangeArrowheads="1"/>
          </p:cNvSpPr>
          <p:nvPr/>
        </p:nvSpPr>
        <p:spPr bwMode="auto">
          <a:xfrm>
            <a:off x="8066138" y="21226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15</a:t>
            </a:r>
          </a:p>
        </p:txBody>
      </p:sp>
      <p:sp>
        <p:nvSpPr>
          <p:cNvPr id="1136776" name="Text Box 136"/>
          <p:cNvSpPr txBox="1">
            <a:spLocks noChangeArrowheads="1"/>
          </p:cNvSpPr>
          <p:nvPr/>
        </p:nvSpPr>
        <p:spPr bwMode="auto">
          <a:xfrm>
            <a:off x="9132938" y="21226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15/4</a:t>
            </a:r>
          </a:p>
        </p:txBody>
      </p:sp>
      <p:sp>
        <p:nvSpPr>
          <p:cNvPr id="1136777" name="Text Box 137"/>
          <p:cNvSpPr txBox="1">
            <a:spLocks noChangeArrowheads="1"/>
          </p:cNvSpPr>
          <p:nvPr/>
        </p:nvSpPr>
        <p:spPr bwMode="auto">
          <a:xfrm>
            <a:off x="7913738" y="2732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12</a:t>
            </a:r>
          </a:p>
        </p:txBody>
      </p:sp>
      <p:sp>
        <p:nvSpPr>
          <p:cNvPr id="1136778" name="Text Box 138"/>
          <p:cNvSpPr txBox="1">
            <a:spLocks noChangeArrowheads="1"/>
          </p:cNvSpPr>
          <p:nvPr/>
        </p:nvSpPr>
        <p:spPr bwMode="auto">
          <a:xfrm>
            <a:off x="9132938" y="2732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12/3</a:t>
            </a:r>
          </a:p>
        </p:txBody>
      </p:sp>
      <p:sp>
        <p:nvSpPr>
          <p:cNvPr id="1136779" name="Text Box 139"/>
          <p:cNvSpPr txBox="1">
            <a:spLocks noChangeArrowheads="1"/>
          </p:cNvSpPr>
          <p:nvPr/>
        </p:nvSpPr>
        <p:spPr bwMode="auto">
          <a:xfrm>
            <a:off x="7913738" y="3341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18</a:t>
            </a:r>
          </a:p>
        </p:txBody>
      </p:sp>
      <p:sp>
        <p:nvSpPr>
          <p:cNvPr id="1136780" name="Text Box 140"/>
          <p:cNvSpPr txBox="1">
            <a:spLocks noChangeArrowheads="1"/>
          </p:cNvSpPr>
          <p:nvPr/>
        </p:nvSpPr>
        <p:spPr bwMode="auto">
          <a:xfrm>
            <a:off x="9132938" y="3341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18/5</a:t>
            </a:r>
          </a:p>
        </p:txBody>
      </p:sp>
      <p:sp>
        <p:nvSpPr>
          <p:cNvPr id="1136781" name="Text Box 141"/>
          <p:cNvSpPr txBox="1">
            <a:spLocks noChangeArrowheads="1"/>
          </p:cNvSpPr>
          <p:nvPr/>
        </p:nvSpPr>
        <p:spPr bwMode="auto">
          <a:xfrm>
            <a:off x="7913738" y="3875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a:t>
            </a:r>
          </a:p>
        </p:txBody>
      </p:sp>
      <p:sp>
        <p:nvSpPr>
          <p:cNvPr id="1136782" name="Text Box 142"/>
          <p:cNvSpPr txBox="1">
            <a:spLocks noChangeArrowheads="1"/>
          </p:cNvSpPr>
          <p:nvPr/>
        </p:nvSpPr>
        <p:spPr bwMode="auto">
          <a:xfrm>
            <a:off x="9132938" y="3875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9/2</a:t>
            </a:r>
          </a:p>
        </p:txBody>
      </p:sp>
      <p:sp>
        <p:nvSpPr>
          <p:cNvPr id="1136783" name="Text Box 143"/>
          <p:cNvSpPr txBox="1">
            <a:spLocks noChangeArrowheads="1"/>
          </p:cNvSpPr>
          <p:nvPr/>
        </p:nvSpPr>
        <p:spPr bwMode="auto">
          <a:xfrm>
            <a:off x="7913738" y="4484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17</a:t>
            </a:r>
          </a:p>
        </p:txBody>
      </p:sp>
      <p:sp>
        <p:nvSpPr>
          <p:cNvPr id="1136784" name="Text Box 144"/>
          <p:cNvSpPr txBox="1">
            <a:spLocks noChangeArrowheads="1"/>
          </p:cNvSpPr>
          <p:nvPr/>
        </p:nvSpPr>
        <p:spPr bwMode="auto">
          <a:xfrm>
            <a:off x="9132938" y="4484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17/4</a:t>
            </a:r>
          </a:p>
        </p:txBody>
      </p:sp>
      <p:sp>
        <p:nvSpPr>
          <p:cNvPr id="1136785" name="Text Box 145"/>
          <p:cNvSpPr txBox="1">
            <a:spLocks noChangeArrowheads="1"/>
          </p:cNvSpPr>
          <p:nvPr/>
        </p:nvSpPr>
        <p:spPr bwMode="auto">
          <a:xfrm>
            <a:off x="7913738" y="5018268"/>
            <a:ext cx="914400" cy="523220"/>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14.2</a:t>
            </a:r>
          </a:p>
        </p:txBody>
      </p:sp>
      <p:sp>
        <p:nvSpPr>
          <p:cNvPr id="1136786" name="Text Box 146"/>
          <p:cNvSpPr txBox="1">
            <a:spLocks noChangeArrowheads="1"/>
          </p:cNvSpPr>
          <p:nvPr/>
        </p:nvSpPr>
        <p:spPr bwMode="auto">
          <a:xfrm>
            <a:off x="9056738" y="5018268"/>
            <a:ext cx="11430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4.02</a:t>
            </a:r>
          </a:p>
        </p:txBody>
      </p:sp>
      <p:sp>
        <p:nvSpPr>
          <p:cNvPr id="1136787" name="AutoShape 147"/>
          <p:cNvSpPr>
            <a:spLocks noChangeArrowheads="1"/>
          </p:cNvSpPr>
          <p:nvPr/>
        </p:nvSpPr>
        <p:spPr bwMode="auto">
          <a:xfrm>
            <a:off x="5181600" y="152400"/>
            <a:ext cx="3276600" cy="1524000"/>
          </a:xfrm>
          <a:prstGeom prst="cloudCallout">
            <a:avLst>
              <a:gd name="adj1" fmla="val -88958"/>
              <a:gd name="adj2" fmla="val 73231"/>
            </a:avLst>
          </a:prstGeom>
          <a:solidFill>
            <a:srgbClr val="FFFFED"/>
          </a:solidFill>
          <a:ln w="9525">
            <a:solidFill>
              <a:schemeClr val="tx1"/>
            </a:solidFill>
            <a:miter lim="800000"/>
            <a:headEnd/>
            <a:tailEnd/>
          </a:ln>
          <a:effectLst/>
        </p:spPr>
        <p:txBody>
          <a:bodyPr/>
          <a:lstStyle/>
          <a:p>
            <a:r>
              <a:rPr kumimoji="1" lang="zh-CN" altLang="en-US" sz="2400" b="1" dirty="0">
                <a:latin typeface="楷体_GB2312" pitchFamily="49" charset="-122"/>
                <a:ea typeface="楷体_GB2312" pitchFamily="49" charset="-122"/>
              </a:rPr>
              <a:t>若到达时间为</a:t>
            </a:r>
            <a:r>
              <a:rPr kumimoji="1" lang="en-US" altLang="zh-CN" sz="2400" b="1" dirty="0">
                <a:latin typeface="楷体_GB2312" pitchFamily="49" charset="-122"/>
                <a:ea typeface="楷体_GB2312" pitchFamily="49" charset="-122"/>
              </a:rPr>
              <a:t>0</a:t>
            </a:r>
            <a:r>
              <a:rPr kumimoji="1" lang="zh-CN" altLang="en-US" sz="2400" b="1" dirty="0">
                <a:latin typeface="楷体_GB2312" pitchFamily="49" charset="-122"/>
                <a:ea typeface="楷体_GB2312" pitchFamily="49" charset="-122"/>
              </a:rPr>
              <a:t>、</a:t>
            </a:r>
            <a:r>
              <a:rPr kumimoji="1" lang="en-US" altLang="zh-CN" sz="2400" b="1" dirty="0">
                <a:latin typeface="楷体_GB2312" pitchFamily="49" charset="-122"/>
                <a:ea typeface="楷体_GB2312" pitchFamily="49" charset="-122"/>
              </a:rPr>
              <a:t>1</a:t>
            </a:r>
            <a:r>
              <a:rPr kumimoji="1" lang="zh-CN" altLang="en-US" sz="2400" b="1" dirty="0">
                <a:latin typeface="楷体_GB2312" pitchFamily="49" charset="-122"/>
                <a:ea typeface="楷体_GB2312" pitchFamily="49" charset="-122"/>
              </a:rPr>
              <a:t>、</a:t>
            </a:r>
            <a:r>
              <a:rPr kumimoji="1" lang="en-US" altLang="zh-CN" sz="2400" b="1" dirty="0">
                <a:latin typeface="楷体_GB2312" pitchFamily="49" charset="-122"/>
                <a:ea typeface="楷体_GB2312" pitchFamily="49" charset="-122"/>
              </a:rPr>
              <a:t>2</a:t>
            </a:r>
            <a:r>
              <a:rPr kumimoji="1" lang="zh-CN" altLang="en-US" sz="2400" b="1" dirty="0">
                <a:latin typeface="楷体_GB2312" pitchFamily="49" charset="-122"/>
                <a:ea typeface="楷体_GB2312" pitchFamily="49" charset="-122"/>
              </a:rPr>
              <a:t>、</a:t>
            </a:r>
            <a:r>
              <a:rPr kumimoji="1" lang="en-US" altLang="zh-CN" sz="2400" b="1" dirty="0">
                <a:latin typeface="楷体_GB2312" pitchFamily="49" charset="-122"/>
                <a:ea typeface="楷体_GB2312" pitchFamily="49" charset="-122"/>
              </a:rPr>
              <a:t>3</a:t>
            </a:r>
            <a:r>
              <a:rPr kumimoji="1" lang="zh-CN" altLang="en-US" sz="2400" b="1" dirty="0">
                <a:latin typeface="楷体_GB2312" pitchFamily="49" charset="-122"/>
                <a:ea typeface="楷体_GB2312" pitchFamily="49" charset="-122"/>
              </a:rPr>
              <a:t>、</a:t>
            </a:r>
            <a:r>
              <a:rPr kumimoji="1" lang="en-US" altLang="zh-CN" sz="2400" b="1" dirty="0">
                <a:latin typeface="楷体_GB2312" pitchFamily="49" charset="-122"/>
                <a:ea typeface="楷体_GB2312" pitchFamily="49" charset="-122"/>
              </a:rPr>
              <a:t>4</a:t>
            </a:r>
            <a:r>
              <a:rPr kumimoji="1" lang="zh-CN" altLang="en-US" sz="2400" b="1" dirty="0">
                <a:latin typeface="楷体_GB2312" pitchFamily="49" charset="-122"/>
                <a:ea typeface="楷体_GB2312" pitchFamily="49" charset="-122"/>
              </a:rPr>
              <a:t>，又如何？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6737"/>
                                        </p:tgtEl>
                                        <p:attrNameLst>
                                          <p:attrName>style.visibility</p:attrName>
                                        </p:attrNameLst>
                                      </p:cBhvr>
                                      <p:to>
                                        <p:strVal val="visible"/>
                                      </p:to>
                                    </p:set>
                                    <p:animEffect transition="in" filter="wipe(left)">
                                      <p:cBhvr>
                                        <p:cTn id="7" dur="500"/>
                                        <p:tgtEl>
                                          <p:spTgt spid="11367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36765"/>
                                        </p:tgtEl>
                                        <p:attrNameLst>
                                          <p:attrName>style.visibility</p:attrName>
                                        </p:attrNameLst>
                                      </p:cBhvr>
                                      <p:to>
                                        <p:strVal val="visible"/>
                                      </p:to>
                                    </p:set>
                                    <p:anim calcmode="lin" valueType="num">
                                      <p:cBhvr additive="base">
                                        <p:cTn id="12" dur="500" fill="hold"/>
                                        <p:tgtEl>
                                          <p:spTgt spid="1136765"/>
                                        </p:tgtEl>
                                        <p:attrNameLst>
                                          <p:attrName>ppt_x</p:attrName>
                                        </p:attrNameLst>
                                      </p:cBhvr>
                                      <p:tavLst>
                                        <p:tav tm="0">
                                          <p:val>
                                            <p:strVal val="#ppt_x"/>
                                          </p:val>
                                        </p:tav>
                                        <p:tav tm="100000">
                                          <p:val>
                                            <p:strVal val="#ppt_x"/>
                                          </p:val>
                                        </p:tav>
                                      </p:tavLst>
                                    </p:anim>
                                    <p:anim calcmode="lin" valueType="num">
                                      <p:cBhvr additive="base">
                                        <p:cTn id="13" dur="500" fill="hold"/>
                                        <p:tgtEl>
                                          <p:spTgt spid="1136765"/>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136719"/>
                                        </p:tgtEl>
                                        <p:attrNameLst>
                                          <p:attrName>style.visibility</p:attrName>
                                        </p:attrNameLst>
                                      </p:cBhvr>
                                      <p:to>
                                        <p:strVal val="visible"/>
                                      </p:to>
                                    </p:set>
                                    <p:animEffect transition="in" filter="wipe(left)">
                                      <p:cBhvr>
                                        <p:cTn id="17" dur="500"/>
                                        <p:tgtEl>
                                          <p:spTgt spid="11367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36766"/>
                                        </p:tgtEl>
                                        <p:attrNameLst>
                                          <p:attrName>style.visibility</p:attrName>
                                        </p:attrNameLst>
                                      </p:cBhvr>
                                      <p:to>
                                        <p:strVal val="visible"/>
                                      </p:to>
                                    </p:set>
                                    <p:anim calcmode="lin" valueType="num">
                                      <p:cBhvr additive="base">
                                        <p:cTn id="22" dur="500" fill="hold"/>
                                        <p:tgtEl>
                                          <p:spTgt spid="1136766"/>
                                        </p:tgtEl>
                                        <p:attrNameLst>
                                          <p:attrName>ppt_x</p:attrName>
                                        </p:attrNameLst>
                                      </p:cBhvr>
                                      <p:tavLst>
                                        <p:tav tm="0">
                                          <p:val>
                                            <p:strVal val="#ppt_x"/>
                                          </p:val>
                                        </p:tav>
                                        <p:tav tm="100000">
                                          <p:val>
                                            <p:strVal val="#ppt_x"/>
                                          </p:val>
                                        </p:tav>
                                      </p:tavLst>
                                    </p:anim>
                                    <p:anim calcmode="lin" valueType="num">
                                      <p:cBhvr additive="base">
                                        <p:cTn id="23" dur="500" fill="hold"/>
                                        <p:tgtEl>
                                          <p:spTgt spid="1136766"/>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136720"/>
                                        </p:tgtEl>
                                        <p:attrNameLst>
                                          <p:attrName>style.visibility</p:attrName>
                                        </p:attrNameLst>
                                      </p:cBhvr>
                                      <p:to>
                                        <p:strVal val="visible"/>
                                      </p:to>
                                    </p:set>
                                    <p:animEffect transition="in" filter="wipe(left)">
                                      <p:cBhvr>
                                        <p:cTn id="27" dur="500"/>
                                        <p:tgtEl>
                                          <p:spTgt spid="113672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136767"/>
                                        </p:tgtEl>
                                        <p:attrNameLst>
                                          <p:attrName>style.visibility</p:attrName>
                                        </p:attrNameLst>
                                      </p:cBhvr>
                                      <p:to>
                                        <p:strVal val="visible"/>
                                      </p:to>
                                    </p:set>
                                    <p:anim calcmode="lin" valueType="num">
                                      <p:cBhvr additive="base">
                                        <p:cTn id="32" dur="500" fill="hold"/>
                                        <p:tgtEl>
                                          <p:spTgt spid="1136767"/>
                                        </p:tgtEl>
                                        <p:attrNameLst>
                                          <p:attrName>ppt_x</p:attrName>
                                        </p:attrNameLst>
                                      </p:cBhvr>
                                      <p:tavLst>
                                        <p:tav tm="0">
                                          <p:val>
                                            <p:strVal val="#ppt_x"/>
                                          </p:val>
                                        </p:tav>
                                        <p:tav tm="100000">
                                          <p:val>
                                            <p:strVal val="#ppt_x"/>
                                          </p:val>
                                        </p:tav>
                                      </p:tavLst>
                                    </p:anim>
                                    <p:anim calcmode="lin" valueType="num">
                                      <p:cBhvr additive="base">
                                        <p:cTn id="33" dur="500" fill="hold"/>
                                        <p:tgtEl>
                                          <p:spTgt spid="1136767"/>
                                        </p:tgtEl>
                                        <p:attrNameLst>
                                          <p:attrName>ppt_y</p:attrName>
                                        </p:attrNameLst>
                                      </p:cBhvr>
                                      <p:tavLst>
                                        <p:tav tm="0">
                                          <p:val>
                                            <p:strVal val="1+#ppt_h/2"/>
                                          </p:val>
                                        </p:tav>
                                        <p:tav tm="100000">
                                          <p:val>
                                            <p:strVal val="#ppt_y"/>
                                          </p:val>
                                        </p:tav>
                                      </p:tavLst>
                                    </p:anim>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136721"/>
                                        </p:tgtEl>
                                        <p:attrNameLst>
                                          <p:attrName>style.visibility</p:attrName>
                                        </p:attrNameLst>
                                      </p:cBhvr>
                                      <p:to>
                                        <p:strVal val="visible"/>
                                      </p:to>
                                    </p:set>
                                    <p:animEffect transition="in" filter="wipe(left)">
                                      <p:cBhvr>
                                        <p:cTn id="37" dur="500"/>
                                        <p:tgtEl>
                                          <p:spTgt spid="113672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136768"/>
                                        </p:tgtEl>
                                        <p:attrNameLst>
                                          <p:attrName>style.visibility</p:attrName>
                                        </p:attrNameLst>
                                      </p:cBhvr>
                                      <p:to>
                                        <p:strVal val="visible"/>
                                      </p:to>
                                    </p:set>
                                    <p:anim calcmode="lin" valueType="num">
                                      <p:cBhvr additive="base">
                                        <p:cTn id="42" dur="500" fill="hold"/>
                                        <p:tgtEl>
                                          <p:spTgt spid="1136768"/>
                                        </p:tgtEl>
                                        <p:attrNameLst>
                                          <p:attrName>ppt_x</p:attrName>
                                        </p:attrNameLst>
                                      </p:cBhvr>
                                      <p:tavLst>
                                        <p:tav tm="0">
                                          <p:val>
                                            <p:strVal val="#ppt_x"/>
                                          </p:val>
                                        </p:tav>
                                        <p:tav tm="100000">
                                          <p:val>
                                            <p:strVal val="#ppt_x"/>
                                          </p:val>
                                        </p:tav>
                                      </p:tavLst>
                                    </p:anim>
                                    <p:anim calcmode="lin" valueType="num">
                                      <p:cBhvr additive="base">
                                        <p:cTn id="43" dur="500" fill="hold"/>
                                        <p:tgtEl>
                                          <p:spTgt spid="1136768"/>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136722"/>
                                        </p:tgtEl>
                                        <p:attrNameLst>
                                          <p:attrName>style.visibility</p:attrName>
                                        </p:attrNameLst>
                                      </p:cBhvr>
                                      <p:to>
                                        <p:strVal val="visible"/>
                                      </p:to>
                                    </p:set>
                                    <p:animEffect transition="in" filter="wipe(left)">
                                      <p:cBhvr>
                                        <p:cTn id="47" dur="500"/>
                                        <p:tgtEl>
                                          <p:spTgt spid="113672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136769"/>
                                        </p:tgtEl>
                                        <p:attrNameLst>
                                          <p:attrName>style.visibility</p:attrName>
                                        </p:attrNameLst>
                                      </p:cBhvr>
                                      <p:to>
                                        <p:strVal val="visible"/>
                                      </p:to>
                                    </p:set>
                                    <p:anim calcmode="lin" valueType="num">
                                      <p:cBhvr additive="base">
                                        <p:cTn id="52" dur="500" fill="hold"/>
                                        <p:tgtEl>
                                          <p:spTgt spid="1136769"/>
                                        </p:tgtEl>
                                        <p:attrNameLst>
                                          <p:attrName>ppt_x</p:attrName>
                                        </p:attrNameLst>
                                      </p:cBhvr>
                                      <p:tavLst>
                                        <p:tav tm="0">
                                          <p:val>
                                            <p:strVal val="#ppt_x"/>
                                          </p:val>
                                        </p:tav>
                                        <p:tav tm="100000">
                                          <p:val>
                                            <p:strVal val="#ppt_x"/>
                                          </p:val>
                                        </p:tav>
                                      </p:tavLst>
                                    </p:anim>
                                    <p:anim calcmode="lin" valueType="num">
                                      <p:cBhvr additive="base">
                                        <p:cTn id="53" dur="500" fill="hold"/>
                                        <p:tgtEl>
                                          <p:spTgt spid="1136769"/>
                                        </p:tgtEl>
                                        <p:attrNameLst>
                                          <p:attrName>ppt_y</p:attrName>
                                        </p:attrNameLst>
                                      </p:cBhvr>
                                      <p:tavLst>
                                        <p:tav tm="0">
                                          <p:val>
                                            <p:strVal val="1+#ppt_h/2"/>
                                          </p:val>
                                        </p:tav>
                                        <p:tav tm="100000">
                                          <p:val>
                                            <p:strVal val="#ppt_y"/>
                                          </p:val>
                                        </p:tav>
                                      </p:tavLst>
                                    </p:anim>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1136723"/>
                                        </p:tgtEl>
                                        <p:attrNameLst>
                                          <p:attrName>style.visibility</p:attrName>
                                        </p:attrNameLst>
                                      </p:cBhvr>
                                      <p:to>
                                        <p:strVal val="visible"/>
                                      </p:to>
                                    </p:set>
                                    <p:animEffect transition="in" filter="wipe(up)">
                                      <p:cBhvr>
                                        <p:cTn id="57" dur="500"/>
                                        <p:tgtEl>
                                          <p:spTgt spid="113672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36724"/>
                                        </p:tgtEl>
                                        <p:attrNameLst>
                                          <p:attrName>style.visibility</p:attrName>
                                        </p:attrNameLst>
                                      </p:cBhvr>
                                      <p:to>
                                        <p:strVal val="visible"/>
                                      </p:to>
                                    </p:set>
                                    <p:animEffect transition="in" filter="wipe(left)">
                                      <p:cBhvr>
                                        <p:cTn id="62" dur="500"/>
                                        <p:tgtEl>
                                          <p:spTgt spid="11367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36725"/>
                                        </p:tgtEl>
                                        <p:attrNameLst>
                                          <p:attrName>style.visibility</p:attrName>
                                        </p:attrNameLst>
                                      </p:cBhvr>
                                      <p:to>
                                        <p:strVal val="visible"/>
                                      </p:to>
                                    </p:set>
                                    <p:animEffect transition="in" filter="wipe(left)">
                                      <p:cBhvr>
                                        <p:cTn id="67" dur="500"/>
                                        <p:tgtEl>
                                          <p:spTgt spid="113672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136726"/>
                                        </p:tgtEl>
                                        <p:attrNameLst>
                                          <p:attrName>style.visibility</p:attrName>
                                        </p:attrNameLst>
                                      </p:cBhvr>
                                      <p:to>
                                        <p:strVal val="visible"/>
                                      </p:to>
                                    </p:set>
                                    <p:animEffect transition="in" filter="wipe(left)">
                                      <p:cBhvr>
                                        <p:cTn id="72" dur="500"/>
                                        <p:tgtEl>
                                          <p:spTgt spid="113672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36727"/>
                                        </p:tgtEl>
                                        <p:attrNameLst>
                                          <p:attrName>style.visibility</p:attrName>
                                        </p:attrNameLst>
                                      </p:cBhvr>
                                      <p:to>
                                        <p:strVal val="visible"/>
                                      </p:to>
                                    </p:set>
                                    <p:animEffect transition="in" filter="wipe(left)">
                                      <p:cBhvr>
                                        <p:cTn id="77" dur="500"/>
                                        <p:tgtEl>
                                          <p:spTgt spid="1136727"/>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136770"/>
                                        </p:tgtEl>
                                        <p:attrNameLst>
                                          <p:attrName>style.visibility</p:attrName>
                                        </p:attrNameLst>
                                      </p:cBhvr>
                                      <p:to>
                                        <p:strVal val="visible"/>
                                      </p:to>
                                    </p:set>
                                    <p:anim calcmode="lin" valueType="num">
                                      <p:cBhvr additive="base">
                                        <p:cTn id="82" dur="500" fill="hold"/>
                                        <p:tgtEl>
                                          <p:spTgt spid="1136770"/>
                                        </p:tgtEl>
                                        <p:attrNameLst>
                                          <p:attrName>ppt_x</p:attrName>
                                        </p:attrNameLst>
                                      </p:cBhvr>
                                      <p:tavLst>
                                        <p:tav tm="0">
                                          <p:val>
                                            <p:strVal val="#ppt_x"/>
                                          </p:val>
                                        </p:tav>
                                        <p:tav tm="100000">
                                          <p:val>
                                            <p:strVal val="#ppt_x"/>
                                          </p:val>
                                        </p:tav>
                                      </p:tavLst>
                                    </p:anim>
                                    <p:anim calcmode="lin" valueType="num">
                                      <p:cBhvr additive="base">
                                        <p:cTn id="83" dur="500" fill="hold"/>
                                        <p:tgtEl>
                                          <p:spTgt spid="1136770"/>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136728"/>
                                        </p:tgtEl>
                                        <p:attrNameLst>
                                          <p:attrName>style.visibility</p:attrName>
                                        </p:attrNameLst>
                                      </p:cBhvr>
                                      <p:to>
                                        <p:strVal val="visible"/>
                                      </p:to>
                                    </p:set>
                                    <p:animEffect transition="in" filter="wipe(left)">
                                      <p:cBhvr>
                                        <p:cTn id="88" dur="500"/>
                                        <p:tgtEl>
                                          <p:spTgt spid="113672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136729"/>
                                        </p:tgtEl>
                                        <p:attrNameLst>
                                          <p:attrName>style.visibility</p:attrName>
                                        </p:attrNameLst>
                                      </p:cBhvr>
                                      <p:to>
                                        <p:strVal val="visible"/>
                                      </p:to>
                                    </p:set>
                                    <p:animEffect transition="in" filter="wipe(left)">
                                      <p:cBhvr>
                                        <p:cTn id="93" dur="500"/>
                                        <p:tgtEl>
                                          <p:spTgt spid="1136729"/>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36730"/>
                                        </p:tgtEl>
                                        <p:attrNameLst>
                                          <p:attrName>style.visibility</p:attrName>
                                        </p:attrNameLst>
                                      </p:cBhvr>
                                      <p:to>
                                        <p:strVal val="visible"/>
                                      </p:to>
                                    </p:set>
                                    <p:animEffect transition="in" filter="wipe(left)">
                                      <p:cBhvr>
                                        <p:cTn id="98" dur="500"/>
                                        <p:tgtEl>
                                          <p:spTgt spid="1136730"/>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136771"/>
                                        </p:tgtEl>
                                        <p:attrNameLst>
                                          <p:attrName>style.visibility</p:attrName>
                                        </p:attrNameLst>
                                      </p:cBhvr>
                                      <p:to>
                                        <p:strVal val="visible"/>
                                      </p:to>
                                    </p:set>
                                    <p:anim calcmode="lin" valueType="num">
                                      <p:cBhvr additive="base">
                                        <p:cTn id="103" dur="500" fill="hold"/>
                                        <p:tgtEl>
                                          <p:spTgt spid="1136771"/>
                                        </p:tgtEl>
                                        <p:attrNameLst>
                                          <p:attrName>ppt_x</p:attrName>
                                        </p:attrNameLst>
                                      </p:cBhvr>
                                      <p:tavLst>
                                        <p:tav tm="0">
                                          <p:val>
                                            <p:strVal val="#ppt_x"/>
                                          </p:val>
                                        </p:tav>
                                        <p:tav tm="100000">
                                          <p:val>
                                            <p:strVal val="#ppt_x"/>
                                          </p:val>
                                        </p:tav>
                                      </p:tavLst>
                                    </p:anim>
                                    <p:anim calcmode="lin" valueType="num">
                                      <p:cBhvr additive="base">
                                        <p:cTn id="104" dur="500" fill="hold"/>
                                        <p:tgtEl>
                                          <p:spTgt spid="1136771"/>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136731"/>
                                        </p:tgtEl>
                                        <p:attrNameLst>
                                          <p:attrName>style.visibility</p:attrName>
                                        </p:attrNameLst>
                                      </p:cBhvr>
                                      <p:to>
                                        <p:strVal val="visible"/>
                                      </p:to>
                                    </p:set>
                                    <p:animEffect transition="in" filter="wipe(left)">
                                      <p:cBhvr>
                                        <p:cTn id="109" dur="500"/>
                                        <p:tgtEl>
                                          <p:spTgt spid="1136731"/>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136732"/>
                                        </p:tgtEl>
                                        <p:attrNameLst>
                                          <p:attrName>style.visibility</p:attrName>
                                        </p:attrNameLst>
                                      </p:cBhvr>
                                      <p:to>
                                        <p:strVal val="visible"/>
                                      </p:to>
                                    </p:set>
                                    <p:animEffect transition="in" filter="wipe(left)">
                                      <p:cBhvr>
                                        <p:cTn id="114" dur="500"/>
                                        <p:tgtEl>
                                          <p:spTgt spid="113673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136733"/>
                                        </p:tgtEl>
                                        <p:attrNameLst>
                                          <p:attrName>style.visibility</p:attrName>
                                        </p:attrNameLst>
                                      </p:cBhvr>
                                      <p:to>
                                        <p:strVal val="visible"/>
                                      </p:to>
                                    </p:set>
                                    <p:animEffect transition="in" filter="wipe(left)">
                                      <p:cBhvr>
                                        <p:cTn id="119" dur="500"/>
                                        <p:tgtEl>
                                          <p:spTgt spid="1136733"/>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136772"/>
                                        </p:tgtEl>
                                        <p:attrNameLst>
                                          <p:attrName>style.visibility</p:attrName>
                                        </p:attrNameLst>
                                      </p:cBhvr>
                                      <p:to>
                                        <p:strVal val="visible"/>
                                      </p:to>
                                    </p:set>
                                    <p:anim calcmode="lin" valueType="num">
                                      <p:cBhvr additive="base">
                                        <p:cTn id="124" dur="500" fill="hold"/>
                                        <p:tgtEl>
                                          <p:spTgt spid="1136772"/>
                                        </p:tgtEl>
                                        <p:attrNameLst>
                                          <p:attrName>ppt_x</p:attrName>
                                        </p:attrNameLst>
                                      </p:cBhvr>
                                      <p:tavLst>
                                        <p:tav tm="0">
                                          <p:val>
                                            <p:strVal val="#ppt_x"/>
                                          </p:val>
                                        </p:tav>
                                        <p:tav tm="100000">
                                          <p:val>
                                            <p:strVal val="#ppt_x"/>
                                          </p:val>
                                        </p:tav>
                                      </p:tavLst>
                                    </p:anim>
                                    <p:anim calcmode="lin" valueType="num">
                                      <p:cBhvr additive="base">
                                        <p:cTn id="125" dur="500" fill="hold"/>
                                        <p:tgtEl>
                                          <p:spTgt spid="1136772"/>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136734"/>
                                        </p:tgtEl>
                                        <p:attrNameLst>
                                          <p:attrName>style.visibility</p:attrName>
                                        </p:attrNameLst>
                                      </p:cBhvr>
                                      <p:to>
                                        <p:strVal val="visible"/>
                                      </p:to>
                                    </p:set>
                                    <p:animEffect transition="in" filter="wipe(left)">
                                      <p:cBhvr>
                                        <p:cTn id="130" dur="500"/>
                                        <p:tgtEl>
                                          <p:spTgt spid="1136734"/>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136735"/>
                                        </p:tgtEl>
                                        <p:attrNameLst>
                                          <p:attrName>style.visibility</p:attrName>
                                        </p:attrNameLst>
                                      </p:cBhvr>
                                      <p:to>
                                        <p:strVal val="visible"/>
                                      </p:to>
                                    </p:set>
                                    <p:animEffect transition="in" filter="wipe(left)">
                                      <p:cBhvr>
                                        <p:cTn id="135" dur="500"/>
                                        <p:tgtEl>
                                          <p:spTgt spid="1136735"/>
                                        </p:tgtEl>
                                      </p:cBhvr>
                                    </p:animEffect>
                                  </p:childTnLst>
                                </p:cTn>
                              </p:par>
                            </p:childTnLst>
                          </p:cTn>
                        </p:par>
                      </p:childTnLst>
                    </p:cTn>
                  </p:par>
                  <p:par>
                    <p:cTn id="136" fill="hold">
                      <p:stCondLst>
                        <p:cond delay="indefinite"/>
                      </p:stCondLst>
                      <p:childTnLst>
                        <p:par>
                          <p:cTn id="137" fill="hold">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1136773"/>
                                        </p:tgtEl>
                                        <p:attrNameLst>
                                          <p:attrName>style.visibility</p:attrName>
                                        </p:attrNameLst>
                                      </p:cBhvr>
                                      <p:to>
                                        <p:strVal val="visible"/>
                                      </p:to>
                                    </p:set>
                                    <p:anim calcmode="lin" valueType="num">
                                      <p:cBhvr additive="base">
                                        <p:cTn id="140" dur="500" fill="hold"/>
                                        <p:tgtEl>
                                          <p:spTgt spid="1136773"/>
                                        </p:tgtEl>
                                        <p:attrNameLst>
                                          <p:attrName>ppt_x</p:attrName>
                                        </p:attrNameLst>
                                      </p:cBhvr>
                                      <p:tavLst>
                                        <p:tav tm="0">
                                          <p:val>
                                            <p:strVal val="#ppt_x"/>
                                          </p:val>
                                        </p:tav>
                                        <p:tav tm="100000">
                                          <p:val>
                                            <p:strVal val="#ppt_x"/>
                                          </p:val>
                                        </p:tav>
                                      </p:tavLst>
                                    </p:anim>
                                    <p:anim calcmode="lin" valueType="num">
                                      <p:cBhvr additive="base">
                                        <p:cTn id="141" dur="500" fill="hold"/>
                                        <p:tgtEl>
                                          <p:spTgt spid="1136773"/>
                                        </p:tgtEl>
                                        <p:attrNameLst>
                                          <p:attrName>ppt_y</p:attrName>
                                        </p:attrNameLst>
                                      </p:cBhvr>
                                      <p:tavLst>
                                        <p:tav tm="0">
                                          <p:val>
                                            <p:strVal val="1+#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1136736"/>
                                        </p:tgtEl>
                                        <p:attrNameLst>
                                          <p:attrName>style.visibility</p:attrName>
                                        </p:attrNameLst>
                                      </p:cBhvr>
                                      <p:to>
                                        <p:strVal val="visible"/>
                                      </p:to>
                                    </p:set>
                                    <p:animEffect transition="in" filter="wipe(left)">
                                      <p:cBhvr>
                                        <p:cTn id="146" dur="500"/>
                                        <p:tgtEl>
                                          <p:spTgt spid="1136736"/>
                                        </p:tgtEl>
                                      </p:cBhvr>
                                    </p:animEffec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1136774"/>
                                        </p:tgtEl>
                                        <p:attrNameLst>
                                          <p:attrName>style.visibility</p:attrName>
                                        </p:attrNameLst>
                                      </p:cBhvr>
                                      <p:to>
                                        <p:strVal val="visible"/>
                                      </p:to>
                                    </p:set>
                                    <p:anim calcmode="lin" valueType="num">
                                      <p:cBhvr additive="base">
                                        <p:cTn id="151" dur="500" fill="hold"/>
                                        <p:tgtEl>
                                          <p:spTgt spid="1136774"/>
                                        </p:tgtEl>
                                        <p:attrNameLst>
                                          <p:attrName>ppt_x</p:attrName>
                                        </p:attrNameLst>
                                      </p:cBhvr>
                                      <p:tavLst>
                                        <p:tav tm="0">
                                          <p:val>
                                            <p:strVal val="#ppt_x"/>
                                          </p:val>
                                        </p:tav>
                                        <p:tav tm="100000">
                                          <p:val>
                                            <p:strVal val="#ppt_x"/>
                                          </p:val>
                                        </p:tav>
                                      </p:tavLst>
                                    </p:anim>
                                    <p:anim calcmode="lin" valueType="num">
                                      <p:cBhvr additive="base">
                                        <p:cTn id="152" dur="500" fill="hold"/>
                                        <p:tgtEl>
                                          <p:spTgt spid="1136774"/>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1136775"/>
                                        </p:tgtEl>
                                        <p:attrNameLst>
                                          <p:attrName>style.visibility</p:attrName>
                                        </p:attrNameLst>
                                      </p:cBhvr>
                                      <p:to>
                                        <p:strVal val="visible"/>
                                      </p:to>
                                    </p:set>
                                    <p:anim calcmode="lin" valueType="num">
                                      <p:cBhvr additive="base">
                                        <p:cTn id="157" dur="500" fill="hold"/>
                                        <p:tgtEl>
                                          <p:spTgt spid="1136775"/>
                                        </p:tgtEl>
                                        <p:attrNameLst>
                                          <p:attrName>ppt_x</p:attrName>
                                        </p:attrNameLst>
                                      </p:cBhvr>
                                      <p:tavLst>
                                        <p:tav tm="0">
                                          <p:val>
                                            <p:strVal val="#ppt_x"/>
                                          </p:val>
                                        </p:tav>
                                        <p:tav tm="100000">
                                          <p:val>
                                            <p:strVal val="#ppt_x"/>
                                          </p:val>
                                        </p:tav>
                                      </p:tavLst>
                                    </p:anim>
                                    <p:anim calcmode="lin" valueType="num">
                                      <p:cBhvr additive="base">
                                        <p:cTn id="158" dur="500" fill="hold"/>
                                        <p:tgtEl>
                                          <p:spTgt spid="1136775"/>
                                        </p:tgtEl>
                                        <p:attrNameLst>
                                          <p:attrName>ppt_y</p:attrName>
                                        </p:attrNameLst>
                                      </p:cBhvr>
                                      <p:tavLst>
                                        <p:tav tm="0">
                                          <p:val>
                                            <p:strVal val="1+#ppt_h/2"/>
                                          </p:val>
                                        </p:tav>
                                        <p:tav tm="100000">
                                          <p:val>
                                            <p:strVal val="#ppt_y"/>
                                          </p:val>
                                        </p:tav>
                                      </p:tavLst>
                                    </p:anim>
                                  </p:childTnLst>
                                </p:cTn>
                              </p:par>
                            </p:childTnLst>
                          </p:cTn>
                        </p:par>
                        <p:par>
                          <p:cTn id="159" fill="hold">
                            <p:stCondLst>
                              <p:cond delay="500"/>
                            </p:stCondLst>
                            <p:childTnLst>
                              <p:par>
                                <p:cTn id="160" presetID="2" presetClass="entr" presetSubtype="4" fill="hold" grpId="0" nodeType="afterEffect">
                                  <p:stCondLst>
                                    <p:cond delay="0"/>
                                  </p:stCondLst>
                                  <p:childTnLst>
                                    <p:set>
                                      <p:cBhvr>
                                        <p:cTn id="161" dur="1" fill="hold">
                                          <p:stCondLst>
                                            <p:cond delay="0"/>
                                          </p:stCondLst>
                                        </p:cTn>
                                        <p:tgtEl>
                                          <p:spTgt spid="1136777"/>
                                        </p:tgtEl>
                                        <p:attrNameLst>
                                          <p:attrName>style.visibility</p:attrName>
                                        </p:attrNameLst>
                                      </p:cBhvr>
                                      <p:to>
                                        <p:strVal val="visible"/>
                                      </p:to>
                                    </p:set>
                                    <p:anim calcmode="lin" valueType="num">
                                      <p:cBhvr additive="base">
                                        <p:cTn id="162" dur="500" fill="hold"/>
                                        <p:tgtEl>
                                          <p:spTgt spid="1136777"/>
                                        </p:tgtEl>
                                        <p:attrNameLst>
                                          <p:attrName>ppt_x</p:attrName>
                                        </p:attrNameLst>
                                      </p:cBhvr>
                                      <p:tavLst>
                                        <p:tav tm="0">
                                          <p:val>
                                            <p:strVal val="#ppt_x"/>
                                          </p:val>
                                        </p:tav>
                                        <p:tav tm="100000">
                                          <p:val>
                                            <p:strVal val="#ppt_x"/>
                                          </p:val>
                                        </p:tav>
                                      </p:tavLst>
                                    </p:anim>
                                    <p:anim calcmode="lin" valueType="num">
                                      <p:cBhvr additive="base">
                                        <p:cTn id="163" dur="500" fill="hold"/>
                                        <p:tgtEl>
                                          <p:spTgt spid="1136777"/>
                                        </p:tgtEl>
                                        <p:attrNameLst>
                                          <p:attrName>ppt_y</p:attrName>
                                        </p:attrNameLst>
                                      </p:cBhvr>
                                      <p:tavLst>
                                        <p:tav tm="0">
                                          <p:val>
                                            <p:strVal val="1+#ppt_h/2"/>
                                          </p:val>
                                        </p:tav>
                                        <p:tav tm="100000">
                                          <p:val>
                                            <p:strVal val="#ppt_y"/>
                                          </p:val>
                                        </p:tav>
                                      </p:tavLst>
                                    </p:anim>
                                  </p:childTnLst>
                                </p:cTn>
                              </p:par>
                            </p:childTnLst>
                          </p:cTn>
                        </p:par>
                        <p:par>
                          <p:cTn id="164" fill="hold">
                            <p:stCondLst>
                              <p:cond delay="1000"/>
                            </p:stCondLst>
                            <p:childTnLst>
                              <p:par>
                                <p:cTn id="165" presetID="2" presetClass="entr" presetSubtype="4" fill="hold" grpId="0" nodeType="afterEffect">
                                  <p:stCondLst>
                                    <p:cond delay="0"/>
                                  </p:stCondLst>
                                  <p:childTnLst>
                                    <p:set>
                                      <p:cBhvr>
                                        <p:cTn id="166" dur="1" fill="hold">
                                          <p:stCondLst>
                                            <p:cond delay="0"/>
                                          </p:stCondLst>
                                        </p:cTn>
                                        <p:tgtEl>
                                          <p:spTgt spid="1136779"/>
                                        </p:tgtEl>
                                        <p:attrNameLst>
                                          <p:attrName>style.visibility</p:attrName>
                                        </p:attrNameLst>
                                      </p:cBhvr>
                                      <p:to>
                                        <p:strVal val="visible"/>
                                      </p:to>
                                    </p:set>
                                    <p:anim calcmode="lin" valueType="num">
                                      <p:cBhvr additive="base">
                                        <p:cTn id="167" dur="500" fill="hold"/>
                                        <p:tgtEl>
                                          <p:spTgt spid="1136779"/>
                                        </p:tgtEl>
                                        <p:attrNameLst>
                                          <p:attrName>ppt_x</p:attrName>
                                        </p:attrNameLst>
                                      </p:cBhvr>
                                      <p:tavLst>
                                        <p:tav tm="0">
                                          <p:val>
                                            <p:strVal val="#ppt_x"/>
                                          </p:val>
                                        </p:tav>
                                        <p:tav tm="100000">
                                          <p:val>
                                            <p:strVal val="#ppt_x"/>
                                          </p:val>
                                        </p:tav>
                                      </p:tavLst>
                                    </p:anim>
                                    <p:anim calcmode="lin" valueType="num">
                                      <p:cBhvr additive="base">
                                        <p:cTn id="168" dur="500" fill="hold"/>
                                        <p:tgtEl>
                                          <p:spTgt spid="1136779"/>
                                        </p:tgtEl>
                                        <p:attrNameLst>
                                          <p:attrName>ppt_y</p:attrName>
                                        </p:attrNameLst>
                                      </p:cBhvr>
                                      <p:tavLst>
                                        <p:tav tm="0">
                                          <p:val>
                                            <p:strVal val="1+#ppt_h/2"/>
                                          </p:val>
                                        </p:tav>
                                        <p:tav tm="100000">
                                          <p:val>
                                            <p:strVal val="#ppt_y"/>
                                          </p:val>
                                        </p:tav>
                                      </p:tavLst>
                                    </p:anim>
                                  </p:childTnLst>
                                </p:cTn>
                              </p:par>
                            </p:childTnLst>
                          </p:cTn>
                        </p:par>
                        <p:par>
                          <p:cTn id="169" fill="hold">
                            <p:stCondLst>
                              <p:cond delay="1500"/>
                            </p:stCondLst>
                            <p:childTnLst>
                              <p:par>
                                <p:cTn id="170" presetID="2" presetClass="entr" presetSubtype="4" fill="hold" grpId="0" nodeType="afterEffect">
                                  <p:stCondLst>
                                    <p:cond delay="0"/>
                                  </p:stCondLst>
                                  <p:childTnLst>
                                    <p:set>
                                      <p:cBhvr>
                                        <p:cTn id="171" dur="1" fill="hold">
                                          <p:stCondLst>
                                            <p:cond delay="0"/>
                                          </p:stCondLst>
                                        </p:cTn>
                                        <p:tgtEl>
                                          <p:spTgt spid="1136781"/>
                                        </p:tgtEl>
                                        <p:attrNameLst>
                                          <p:attrName>style.visibility</p:attrName>
                                        </p:attrNameLst>
                                      </p:cBhvr>
                                      <p:to>
                                        <p:strVal val="visible"/>
                                      </p:to>
                                    </p:set>
                                    <p:anim calcmode="lin" valueType="num">
                                      <p:cBhvr additive="base">
                                        <p:cTn id="172" dur="500" fill="hold"/>
                                        <p:tgtEl>
                                          <p:spTgt spid="1136781"/>
                                        </p:tgtEl>
                                        <p:attrNameLst>
                                          <p:attrName>ppt_x</p:attrName>
                                        </p:attrNameLst>
                                      </p:cBhvr>
                                      <p:tavLst>
                                        <p:tav tm="0">
                                          <p:val>
                                            <p:strVal val="#ppt_x"/>
                                          </p:val>
                                        </p:tav>
                                        <p:tav tm="100000">
                                          <p:val>
                                            <p:strVal val="#ppt_x"/>
                                          </p:val>
                                        </p:tav>
                                      </p:tavLst>
                                    </p:anim>
                                    <p:anim calcmode="lin" valueType="num">
                                      <p:cBhvr additive="base">
                                        <p:cTn id="173" dur="500" fill="hold"/>
                                        <p:tgtEl>
                                          <p:spTgt spid="1136781"/>
                                        </p:tgtEl>
                                        <p:attrNameLst>
                                          <p:attrName>ppt_y</p:attrName>
                                        </p:attrNameLst>
                                      </p:cBhvr>
                                      <p:tavLst>
                                        <p:tav tm="0">
                                          <p:val>
                                            <p:strVal val="1+#ppt_h/2"/>
                                          </p:val>
                                        </p:tav>
                                        <p:tav tm="100000">
                                          <p:val>
                                            <p:strVal val="#ppt_y"/>
                                          </p:val>
                                        </p:tav>
                                      </p:tavLst>
                                    </p:anim>
                                  </p:childTnLst>
                                </p:cTn>
                              </p:par>
                            </p:childTnLst>
                          </p:cTn>
                        </p:par>
                        <p:par>
                          <p:cTn id="174" fill="hold">
                            <p:stCondLst>
                              <p:cond delay="2000"/>
                            </p:stCondLst>
                            <p:childTnLst>
                              <p:par>
                                <p:cTn id="175" presetID="2" presetClass="entr" presetSubtype="4" fill="hold" grpId="0" nodeType="afterEffect">
                                  <p:stCondLst>
                                    <p:cond delay="0"/>
                                  </p:stCondLst>
                                  <p:childTnLst>
                                    <p:set>
                                      <p:cBhvr>
                                        <p:cTn id="176" dur="1" fill="hold">
                                          <p:stCondLst>
                                            <p:cond delay="0"/>
                                          </p:stCondLst>
                                        </p:cTn>
                                        <p:tgtEl>
                                          <p:spTgt spid="1136783"/>
                                        </p:tgtEl>
                                        <p:attrNameLst>
                                          <p:attrName>style.visibility</p:attrName>
                                        </p:attrNameLst>
                                      </p:cBhvr>
                                      <p:to>
                                        <p:strVal val="visible"/>
                                      </p:to>
                                    </p:set>
                                    <p:anim calcmode="lin" valueType="num">
                                      <p:cBhvr additive="base">
                                        <p:cTn id="177" dur="500" fill="hold"/>
                                        <p:tgtEl>
                                          <p:spTgt spid="1136783"/>
                                        </p:tgtEl>
                                        <p:attrNameLst>
                                          <p:attrName>ppt_x</p:attrName>
                                        </p:attrNameLst>
                                      </p:cBhvr>
                                      <p:tavLst>
                                        <p:tav tm="0">
                                          <p:val>
                                            <p:strVal val="#ppt_x"/>
                                          </p:val>
                                        </p:tav>
                                        <p:tav tm="100000">
                                          <p:val>
                                            <p:strVal val="#ppt_x"/>
                                          </p:val>
                                        </p:tav>
                                      </p:tavLst>
                                    </p:anim>
                                    <p:anim calcmode="lin" valueType="num">
                                      <p:cBhvr additive="base">
                                        <p:cTn id="178" dur="500" fill="hold"/>
                                        <p:tgtEl>
                                          <p:spTgt spid="1136783"/>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1136776"/>
                                        </p:tgtEl>
                                        <p:attrNameLst>
                                          <p:attrName>style.visibility</p:attrName>
                                        </p:attrNameLst>
                                      </p:cBhvr>
                                      <p:to>
                                        <p:strVal val="visible"/>
                                      </p:to>
                                    </p:set>
                                    <p:anim calcmode="lin" valueType="num">
                                      <p:cBhvr additive="base">
                                        <p:cTn id="183" dur="500" fill="hold"/>
                                        <p:tgtEl>
                                          <p:spTgt spid="1136776"/>
                                        </p:tgtEl>
                                        <p:attrNameLst>
                                          <p:attrName>ppt_x</p:attrName>
                                        </p:attrNameLst>
                                      </p:cBhvr>
                                      <p:tavLst>
                                        <p:tav tm="0">
                                          <p:val>
                                            <p:strVal val="#ppt_x"/>
                                          </p:val>
                                        </p:tav>
                                        <p:tav tm="100000">
                                          <p:val>
                                            <p:strVal val="#ppt_x"/>
                                          </p:val>
                                        </p:tav>
                                      </p:tavLst>
                                    </p:anim>
                                    <p:anim calcmode="lin" valueType="num">
                                      <p:cBhvr additive="base">
                                        <p:cTn id="184" dur="500" fill="hold"/>
                                        <p:tgtEl>
                                          <p:spTgt spid="1136776"/>
                                        </p:tgtEl>
                                        <p:attrNameLst>
                                          <p:attrName>ppt_y</p:attrName>
                                        </p:attrNameLst>
                                      </p:cBhvr>
                                      <p:tavLst>
                                        <p:tav tm="0">
                                          <p:val>
                                            <p:strVal val="1+#ppt_h/2"/>
                                          </p:val>
                                        </p:tav>
                                        <p:tav tm="100000">
                                          <p:val>
                                            <p:strVal val="#ppt_y"/>
                                          </p:val>
                                        </p:tav>
                                      </p:tavLst>
                                    </p:anim>
                                  </p:childTnLst>
                                </p:cTn>
                              </p:par>
                            </p:childTnLst>
                          </p:cTn>
                        </p:par>
                        <p:par>
                          <p:cTn id="185" fill="hold">
                            <p:stCondLst>
                              <p:cond delay="500"/>
                            </p:stCondLst>
                            <p:childTnLst>
                              <p:par>
                                <p:cTn id="186" presetID="2" presetClass="entr" presetSubtype="4" fill="hold" grpId="0" nodeType="afterEffect">
                                  <p:stCondLst>
                                    <p:cond delay="0"/>
                                  </p:stCondLst>
                                  <p:childTnLst>
                                    <p:set>
                                      <p:cBhvr>
                                        <p:cTn id="187" dur="1" fill="hold">
                                          <p:stCondLst>
                                            <p:cond delay="0"/>
                                          </p:stCondLst>
                                        </p:cTn>
                                        <p:tgtEl>
                                          <p:spTgt spid="1136778"/>
                                        </p:tgtEl>
                                        <p:attrNameLst>
                                          <p:attrName>style.visibility</p:attrName>
                                        </p:attrNameLst>
                                      </p:cBhvr>
                                      <p:to>
                                        <p:strVal val="visible"/>
                                      </p:to>
                                    </p:set>
                                    <p:anim calcmode="lin" valueType="num">
                                      <p:cBhvr additive="base">
                                        <p:cTn id="188" dur="500" fill="hold"/>
                                        <p:tgtEl>
                                          <p:spTgt spid="1136778"/>
                                        </p:tgtEl>
                                        <p:attrNameLst>
                                          <p:attrName>ppt_x</p:attrName>
                                        </p:attrNameLst>
                                      </p:cBhvr>
                                      <p:tavLst>
                                        <p:tav tm="0">
                                          <p:val>
                                            <p:strVal val="#ppt_x"/>
                                          </p:val>
                                        </p:tav>
                                        <p:tav tm="100000">
                                          <p:val>
                                            <p:strVal val="#ppt_x"/>
                                          </p:val>
                                        </p:tav>
                                      </p:tavLst>
                                    </p:anim>
                                    <p:anim calcmode="lin" valueType="num">
                                      <p:cBhvr additive="base">
                                        <p:cTn id="189" dur="500" fill="hold"/>
                                        <p:tgtEl>
                                          <p:spTgt spid="1136778"/>
                                        </p:tgtEl>
                                        <p:attrNameLst>
                                          <p:attrName>ppt_y</p:attrName>
                                        </p:attrNameLst>
                                      </p:cBhvr>
                                      <p:tavLst>
                                        <p:tav tm="0">
                                          <p:val>
                                            <p:strVal val="1+#ppt_h/2"/>
                                          </p:val>
                                        </p:tav>
                                        <p:tav tm="100000">
                                          <p:val>
                                            <p:strVal val="#ppt_y"/>
                                          </p:val>
                                        </p:tav>
                                      </p:tavLst>
                                    </p:anim>
                                  </p:childTnLst>
                                </p:cTn>
                              </p:par>
                            </p:childTnLst>
                          </p:cTn>
                        </p:par>
                        <p:par>
                          <p:cTn id="190" fill="hold">
                            <p:stCondLst>
                              <p:cond delay="1000"/>
                            </p:stCondLst>
                            <p:childTnLst>
                              <p:par>
                                <p:cTn id="191" presetID="2" presetClass="entr" presetSubtype="4" fill="hold" grpId="0" nodeType="afterEffect">
                                  <p:stCondLst>
                                    <p:cond delay="0"/>
                                  </p:stCondLst>
                                  <p:childTnLst>
                                    <p:set>
                                      <p:cBhvr>
                                        <p:cTn id="192" dur="1" fill="hold">
                                          <p:stCondLst>
                                            <p:cond delay="0"/>
                                          </p:stCondLst>
                                        </p:cTn>
                                        <p:tgtEl>
                                          <p:spTgt spid="1136780"/>
                                        </p:tgtEl>
                                        <p:attrNameLst>
                                          <p:attrName>style.visibility</p:attrName>
                                        </p:attrNameLst>
                                      </p:cBhvr>
                                      <p:to>
                                        <p:strVal val="visible"/>
                                      </p:to>
                                    </p:set>
                                    <p:anim calcmode="lin" valueType="num">
                                      <p:cBhvr additive="base">
                                        <p:cTn id="193" dur="500" fill="hold"/>
                                        <p:tgtEl>
                                          <p:spTgt spid="1136780"/>
                                        </p:tgtEl>
                                        <p:attrNameLst>
                                          <p:attrName>ppt_x</p:attrName>
                                        </p:attrNameLst>
                                      </p:cBhvr>
                                      <p:tavLst>
                                        <p:tav tm="0">
                                          <p:val>
                                            <p:strVal val="#ppt_x"/>
                                          </p:val>
                                        </p:tav>
                                        <p:tav tm="100000">
                                          <p:val>
                                            <p:strVal val="#ppt_x"/>
                                          </p:val>
                                        </p:tav>
                                      </p:tavLst>
                                    </p:anim>
                                    <p:anim calcmode="lin" valueType="num">
                                      <p:cBhvr additive="base">
                                        <p:cTn id="194" dur="500" fill="hold"/>
                                        <p:tgtEl>
                                          <p:spTgt spid="1136780"/>
                                        </p:tgtEl>
                                        <p:attrNameLst>
                                          <p:attrName>ppt_y</p:attrName>
                                        </p:attrNameLst>
                                      </p:cBhvr>
                                      <p:tavLst>
                                        <p:tav tm="0">
                                          <p:val>
                                            <p:strVal val="1+#ppt_h/2"/>
                                          </p:val>
                                        </p:tav>
                                        <p:tav tm="100000">
                                          <p:val>
                                            <p:strVal val="#ppt_y"/>
                                          </p:val>
                                        </p:tav>
                                      </p:tavLst>
                                    </p:anim>
                                  </p:childTnLst>
                                </p:cTn>
                              </p:par>
                            </p:childTnLst>
                          </p:cTn>
                        </p:par>
                        <p:par>
                          <p:cTn id="195" fill="hold">
                            <p:stCondLst>
                              <p:cond delay="1500"/>
                            </p:stCondLst>
                            <p:childTnLst>
                              <p:par>
                                <p:cTn id="196" presetID="2" presetClass="entr" presetSubtype="4" fill="hold" grpId="0" nodeType="afterEffect">
                                  <p:stCondLst>
                                    <p:cond delay="0"/>
                                  </p:stCondLst>
                                  <p:childTnLst>
                                    <p:set>
                                      <p:cBhvr>
                                        <p:cTn id="197" dur="1" fill="hold">
                                          <p:stCondLst>
                                            <p:cond delay="0"/>
                                          </p:stCondLst>
                                        </p:cTn>
                                        <p:tgtEl>
                                          <p:spTgt spid="1136782"/>
                                        </p:tgtEl>
                                        <p:attrNameLst>
                                          <p:attrName>style.visibility</p:attrName>
                                        </p:attrNameLst>
                                      </p:cBhvr>
                                      <p:to>
                                        <p:strVal val="visible"/>
                                      </p:to>
                                    </p:set>
                                    <p:anim calcmode="lin" valueType="num">
                                      <p:cBhvr additive="base">
                                        <p:cTn id="198" dur="500" fill="hold"/>
                                        <p:tgtEl>
                                          <p:spTgt spid="1136782"/>
                                        </p:tgtEl>
                                        <p:attrNameLst>
                                          <p:attrName>ppt_x</p:attrName>
                                        </p:attrNameLst>
                                      </p:cBhvr>
                                      <p:tavLst>
                                        <p:tav tm="0">
                                          <p:val>
                                            <p:strVal val="#ppt_x"/>
                                          </p:val>
                                        </p:tav>
                                        <p:tav tm="100000">
                                          <p:val>
                                            <p:strVal val="#ppt_x"/>
                                          </p:val>
                                        </p:tav>
                                      </p:tavLst>
                                    </p:anim>
                                    <p:anim calcmode="lin" valueType="num">
                                      <p:cBhvr additive="base">
                                        <p:cTn id="199" dur="500" fill="hold"/>
                                        <p:tgtEl>
                                          <p:spTgt spid="1136782"/>
                                        </p:tgtEl>
                                        <p:attrNameLst>
                                          <p:attrName>ppt_y</p:attrName>
                                        </p:attrNameLst>
                                      </p:cBhvr>
                                      <p:tavLst>
                                        <p:tav tm="0">
                                          <p:val>
                                            <p:strVal val="1+#ppt_h/2"/>
                                          </p:val>
                                        </p:tav>
                                        <p:tav tm="100000">
                                          <p:val>
                                            <p:strVal val="#ppt_y"/>
                                          </p:val>
                                        </p:tav>
                                      </p:tavLst>
                                    </p:anim>
                                  </p:childTnLst>
                                </p:cTn>
                              </p:par>
                            </p:childTnLst>
                          </p:cTn>
                        </p:par>
                        <p:par>
                          <p:cTn id="200" fill="hold">
                            <p:stCondLst>
                              <p:cond delay="2000"/>
                            </p:stCondLst>
                            <p:childTnLst>
                              <p:par>
                                <p:cTn id="201" presetID="2" presetClass="entr" presetSubtype="4" fill="hold" grpId="0" nodeType="afterEffect">
                                  <p:stCondLst>
                                    <p:cond delay="0"/>
                                  </p:stCondLst>
                                  <p:childTnLst>
                                    <p:set>
                                      <p:cBhvr>
                                        <p:cTn id="202" dur="1" fill="hold">
                                          <p:stCondLst>
                                            <p:cond delay="0"/>
                                          </p:stCondLst>
                                        </p:cTn>
                                        <p:tgtEl>
                                          <p:spTgt spid="1136784"/>
                                        </p:tgtEl>
                                        <p:attrNameLst>
                                          <p:attrName>style.visibility</p:attrName>
                                        </p:attrNameLst>
                                      </p:cBhvr>
                                      <p:to>
                                        <p:strVal val="visible"/>
                                      </p:to>
                                    </p:set>
                                    <p:anim calcmode="lin" valueType="num">
                                      <p:cBhvr additive="base">
                                        <p:cTn id="203" dur="500" fill="hold"/>
                                        <p:tgtEl>
                                          <p:spTgt spid="1136784"/>
                                        </p:tgtEl>
                                        <p:attrNameLst>
                                          <p:attrName>ppt_x</p:attrName>
                                        </p:attrNameLst>
                                      </p:cBhvr>
                                      <p:tavLst>
                                        <p:tav tm="0">
                                          <p:val>
                                            <p:strVal val="#ppt_x"/>
                                          </p:val>
                                        </p:tav>
                                        <p:tav tm="100000">
                                          <p:val>
                                            <p:strVal val="#ppt_x"/>
                                          </p:val>
                                        </p:tav>
                                      </p:tavLst>
                                    </p:anim>
                                    <p:anim calcmode="lin" valueType="num">
                                      <p:cBhvr additive="base">
                                        <p:cTn id="204" dur="500" fill="hold"/>
                                        <p:tgtEl>
                                          <p:spTgt spid="1136784"/>
                                        </p:tgtEl>
                                        <p:attrNameLst>
                                          <p:attrName>ppt_y</p:attrName>
                                        </p:attrNameLst>
                                      </p:cBhvr>
                                      <p:tavLst>
                                        <p:tav tm="0">
                                          <p:val>
                                            <p:strVal val="1+#ppt_h/2"/>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 presetClass="entr" presetSubtype="4" fill="hold" grpId="0" nodeType="clickEffect">
                                  <p:stCondLst>
                                    <p:cond delay="0"/>
                                  </p:stCondLst>
                                  <p:childTnLst>
                                    <p:set>
                                      <p:cBhvr>
                                        <p:cTn id="208" dur="1" fill="hold">
                                          <p:stCondLst>
                                            <p:cond delay="0"/>
                                          </p:stCondLst>
                                        </p:cTn>
                                        <p:tgtEl>
                                          <p:spTgt spid="1136785"/>
                                        </p:tgtEl>
                                        <p:attrNameLst>
                                          <p:attrName>style.visibility</p:attrName>
                                        </p:attrNameLst>
                                      </p:cBhvr>
                                      <p:to>
                                        <p:strVal val="visible"/>
                                      </p:to>
                                    </p:set>
                                    <p:anim calcmode="lin" valueType="num">
                                      <p:cBhvr additive="base">
                                        <p:cTn id="209" dur="500" fill="hold"/>
                                        <p:tgtEl>
                                          <p:spTgt spid="1136785"/>
                                        </p:tgtEl>
                                        <p:attrNameLst>
                                          <p:attrName>ppt_x</p:attrName>
                                        </p:attrNameLst>
                                      </p:cBhvr>
                                      <p:tavLst>
                                        <p:tav tm="0">
                                          <p:val>
                                            <p:strVal val="#ppt_x"/>
                                          </p:val>
                                        </p:tav>
                                        <p:tav tm="100000">
                                          <p:val>
                                            <p:strVal val="#ppt_x"/>
                                          </p:val>
                                        </p:tav>
                                      </p:tavLst>
                                    </p:anim>
                                    <p:anim calcmode="lin" valueType="num">
                                      <p:cBhvr additive="base">
                                        <p:cTn id="210" dur="500" fill="hold"/>
                                        <p:tgtEl>
                                          <p:spTgt spid="1136785"/>
                                        </p:tgtEl>
                                        <p:attrNameLst>
                                          <p:attrName>ppt_y</p:attrName>
                                        </p:attrNameLst>
                                      </p:cBhvr>
                                      <p:tavLst>
                                        <p:tav tm="0">
                                          <p:val>
                                            <p:strVal val="1+#ppt_h/2"/>
                                          </p:val>
                                        </p:tav>
                                        <p:tav tm="100000">
                                          <p:val>
                                            <p:strVal val="#ppt_y"/>
                                          </p:val>
                                        </p:tav>
                                      </p:tavLst>
                                    </p:anim>
                                  </p:childTnLst>
                                </p:cTn>
                              </p:par>
                            </p:childTnLst>
                          </p:cTn>
                        </p:par>
                        <p:par>
                          <p:cTn id="211" fill="hold">
                            <p:stCondLst>
                              <p:cond delay="500"/>
                            </p:stCondLst>
                            <p:childTnLst>
                              <p:par>
                                <p:cTn id="212" presetID="2" presetClass="entr" presetSubtype="4" fill="hold" grpId="0" nodeType="afterEffect">
                                  <p:stCondLst>
                                    <p:cond delay="0"/>
                                  </p:stCondLst>
                                  <p:childTnLst>
                                    <p:set>
                                      <p:cBhvr>
                                        <p:cTn id="213" dur="1" fill="hold">
                                          <p:stCondLst>
                                            <p:cond delay="0"/>
                                          </p:stCondLst>
                                        </p:cTn>
                                        <p:tgtEl>
                                          <p:spTgt spid="1136786"/>
                                        </p:tgtEl>
                                        <p:attrNameLst>
                                          <p:attrName>style.visibility</p:attrName>
                                        </p:attrNameLst>
                                      </p:cBhvr>
                                      <p:to>
                                        <p:strVal val="visible"/>
                                      </p:to>
                                    </p:set>
                                    <p:anim calcmode="lin" valueType="num">
                                      <p:cBhvr additive="base">
                                        <p:cTn id="214" dur="500" fill="hold"/>
                                        <p:tgtEl>
                                          <p:spTgt spid="1136786"/>
                                        </p:tgtEl>
                                        <p:attrNameLst>
                                          <p:attrName>ppt_x</p:attrName>
                                        </p:attrNameLst>
                                      </p:cBhvr>
                                      <p:tavLst>
                                        <p:tav tm="0">
                                          <p:val>
                                            <p:strVal val="#ppt_x"/>
                                          </p:val>
                                        </p:tav>
                                        <p:tav tm="100000">
                                          <p:val>
                                            <p:strVal val="#ppt_x"/>
                                          </p:val>
                                        </p:tav>
                                      </p:tavLst>
                                    </p:anim>
                                    <p:anim calcmode="lin" valueType="num">
                                      <p:cBhvr additive="base">
                                        <p:cTn id="215" dur="500" fill="hold"/>
                                        <p:tgtEl>
                                          <p:spTgt spid="1136786"/>
                                        </p:tgtEl>
                                        <p:attrNameLst>
                                          <p:attrName>ppt_y</p:attrName>
                                        </p:attrNameLst>
                                      </p:cBhvr>
                                      <p:tavLst>
                                        <p:tav tm="0">
                                          <p:val>
                                            <p:strVal val="1+#ppt_h/2"/>
                                          </p:val>
                                        </p:tav>
                                        <p:tav tm="100000">
                                          <p:val>
                                            <p:strVal val="#ppt_y"/>
                                          </p:val>
                                        </p:tav>
                                      </p:tavLst>
                                    </p:anim>
                                  </p:childTnLst>
                                </p:cTn>
                              </p:par>
                            </p:childTnLst>
                          </p:cTn>
                        </p:par>
                      </p:childTnLst>
                    </p:cTn>
                  </p:par>
                  <p:par>
                    <p:cTn id="216" fill="hold">
                      <p:stCondLst>
                        <p:cond delay="indefinite"/>
                      </p:stCondLst>
                      <p:childTnLst>
                        <p:par>
                          <p:cTn id="217" fill="hold">
                            <p:stCondLst>
                              <p:cond delay="0"/>
                            </p:stCondLst>
                            <p:childTnLst>
                              <p:par>
                                <p:cTn id="218" presetID="22" presetClass="entr" presetSubtype="1" fill="hold" grpId="0" nodeType="clickEffect">
                                  <p:stCondLst>
                                    <p:cond delay="0"/>
                                  </p:stCondLst>
                                  <p:childTnLst>
                                    <p:set>
                                      <p:cBhvr>
                                        <p:cTn id="219" dur="1" fill="hold">
                                          <p:stCondLst>
                                            <p:cond delay="0"/>
                                          </p:stCondLst>
                                        </p:cTn>
                                        <p:tgtEl>
                                          <p:spTgt spid="1136787"/>
                                        </p:tgtEl>
                                        <p:attrNameLst>
                                          <p:attrName>style.visibility</p:attrName>
                                        </p:attrNameLst>
                                      </p:cBhvr>
                                      <p:to>
                                        <p:strVal val="visible"/>
                                      </p:to>
                                    </p:set>
                                    <p:animEffect transition="in" filter="wipe(up)">
                                      <p:cBhvr>
                                        <p:cTn id="220" dur="500"/>
                                        <p:tgtEl>
                                          <p:spTgt spid="1136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19" grpId="0" animBg="1" autoUpdateAnimBg="0"/>
      <p:bldP spid="1136720" grpId="0" animBg="1" autoUpdateAnimBg="0"/>
      <p:bldP spid="1136721" grpId="0" animBg="1" autoUpdateAnimBg="0"/>
      <p:bldP spid="1136722" grpId="0" animBg="1" autoUpdateAnimBg="0"/>
      <p:bldP spid="1136723" grpId="0" animBg="1" autoUpdateAnimBg="0"/>
      <p:bldP spid="1136724" grpId="0" animBg="1" autoUpdateAnimBg="0"/>
      <p:bldP spid="1136725" grpId="0" animBg="1" autoUpdateAnimBg="0"/>
      <p:bldP spid="1136726" grpId="0" animBg="1" autoUpdateAnimBg="0"/>
      <p:bldP spid="1136727" grpId="0" animBg="1" autoUpdateAnimBg="0"/>
      <p:bldP spid="1136728" grpId="0" animBg="1" autoUpdateAnimBg="0"/>
      <p:bldP spid="1136729" grpId="0" animBg="1" autoUpdateAnimBg="0"/>
      <p:bldP spid="1136730" grpId="0" animBg="1" autoUpdateAnimBg="0"/>
      <p:bldP spid="1136731" grpId="0" animBg="1" autoUpdateAnimBg="0"/>
      <p:bldP spid="1136732" grpId="0" animBg="1" autoUpdateAnimBg="0"/>
      <p:bldP spid="1136733" grpId="0" animBg="1" autoUpdateAnimBg="0"/>
      <p:bldP spid="1136734" grpId="0" animBg="1" autoUpdateAnimBg="0"/>
      <p:bldP spid="1136735" grpId="0" animBg="1" autoUpdateAnimBg="0"/>
      <p:bldP spid="1136736" grpId="0" animBg="1" autoUpdateAnimBg="0"/>
      <p:bldP spid="1136765" grpId="0" autoUpdateAnimBg="0"/>
      <p:bldP spid="1136766" grpId="0" autoUpdateAnimBg="0"/>
      <p:bldP spid="1136767" grpId="0" autoUpdateAnimBg="0"/>
      <p:bldP spid="1136768" grpId="0" autoUpdateAnimBg="0"/>
      <p:bldP spid="1136769" grpId="0" autoUpdateAnimBg="0"/>
      <p:bldP spid="1136770" grpId="0" autoUpdateAnimBg="0"/>
      <p:bldP spid="1136771" grpId="0" autoUpdateAnimBg="0"/>
      <p:bldP spid="1136772" grpId="0" autoUpdateAnimBg="0"/>
      <p:bldP spid="1136773" grpId="0" autoUpdateAnimBg="0"/>
      <p:bldP spid="1136774" grpId="0" autoUpdateAnimBg="0"/>
      <p:bldP spid="1136775" grpId="0" autoUpdateAnimBg="0"/>
      <p:bldP spid="1136776" grpId="0" autoUpdateAnimBg="0"/>
      <p:bldP spid="1136777" grpId="0" autoUpdateAnimBg="0"/>
      <p:bldP spid="1136778" grpId="0" autoUpdateAnimBg="0"/>
      <p:bldP spid="1136779" grpId="0" autoUpdateAnimBg="0"/>
      <p:bldP spid="1136780" grpId="0" autoUpdateAnimBg="0"/>
      <p:bldP spid="1136781" grpId="0" autoUpdateAnimBg="0"/>
      <p:bldP spid="1136782" grpId="0" autoUpdateAnimBg="0"/>
      <p:bldP spid="1136783" grpId="0" autoUpdateAnimBg="0"/>
      <p:bldP spid="1136784" grpId="0" autoUpdateAnimBg="0"/>
      <p:bldP spid="1136785" grpId="0" autoUpdateAnimBg="0"/>
      <p:bldP spid="1136786" grpId="0" autoUpdateAnimBg="0"/>
      <p:bldP spid="1136787"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42" name="Rectangle 2"/>
          <p:cNvSpPr>
            <a:spLocks noGrp="1" noChangeArrowheads="1"/>
          </p:cNvSpPr>
          <p:nvPr>
            <p:ph type="title"/>
          </p:nvPr>
        </p:nvSpPr>
        <p:spPr>
          <a:xfrm>
            <a:off x="495300" y="640558"/>
            <a:ext cx="8534400" cy="381000"/>
          </a:xfrm>
        </p:spPr>
        <p:txBody>
          <a:bodyPr/>
          <a:lstStyle/>
          <a:p>
            <a:r>
              <a:rPr lang="zh-CN" altLang="en-US" sz="3200" b="0" dirty="0"/>
              <a:t>基于时间片的轮转调度算法</a:t>
            </a:r>
          </a:p>
        </p:txBody>
      </p:sp>
      <p:graphicFrame>
        <p:nvGraphicFramePr>
          <p:cNvPr id="1136643" name="Group 3"/>
          <p:cNvGraphicFramePr>
            <a:graphicFrameLocks noGrp="1"/>
          </p:cNvGraphicFramePr>
          <p:nvPr/>
        </p:nvGraphicFramePr>
        <p:xfrm>
          <a:off x="1700243" y="1371600"/>
          <a:ext cx="8534400" cy="4230181"/>
        </p:xfrm>
        <a:graphic>
          <a:graphicData uri="http://schemas.openxmlformats.org/drawingml/2006/table">
            <a:tbl>
              <a:tblPr/>
              <a:tblGrid>
                <a:gridCol w="1220788">
                  <a:extLst>
                    <a:ext uri="{9D8B030D-6E8A-4147-A177-3AD203B41FA5}">
                      <a16:colId xmlns:a16="http://schemas.microsoft.com/office/drawing/2014/main" val="20000"/>
                    </a:ext>
                  </a:extLst>
                </a:gridCol>
                <a:gridCol w="1217612">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7613">
                  <a:extLst>
                    <a:ext uri="{9D8B030D-6E8A-4147-A177-3AD203B41FA5}">
                      <a16:colId xmlns:a16="http://schemas.microsoft.com/office/drawing/2014/main" val="20005"/>
                    </a:ext>
                  </a:extLst>
                </a:gridCol>
                <a:gridCol w="1220787">
                  <a:extLst>
                    <a:ext uri="{9D8B030D-6E8A-4147-A177-3AD203B41FA5}">
                      <a16:colId xmlns:a16="http://schemas.microsoft.com/office/drawing/2014/main" val="20006"/>
                    </a:ext>
                  </a:extLst>
                </a:gridCol>
              </a:tblGrid>
              <a:tr h="606425">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进程名</a:t>
                      </a:r>
                    </a:p>
                  </a:txBody>
                  <a:tcPr anchor="ct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到达时间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服务时间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开始时间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完成时间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周转时间</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带权周</a:t>
                      </a:r>
                    </a:p>
                    <a:p>
                      <a:pPr marL="0" marR="0" lvl="0" indent="0" algn="ctr" defTabSz="914400" rtl="0" eaLnBrk="0" fontAlgn="ctr"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a:ln>
                            <a:noFill/>
                          </a:ln>
                          <a:solidFill>
                            <a:schemeClr val="tx1"/>
                          </a:solidFill>
                          <a:effectLst/>
                          <a:latin typeface="Times New Roman" pitchFamily="18" charset="0"/>
                          <a:ea typeface="楷体_GB2312" pitchFamily="49" charset="-122"/>
                        </a:rPr>
                        <a:t>转时间</a:t>
                      </a:r>
                    </a:p>
                  </a:txBody>
                  <a:tcPr anchor="ct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ctr"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rPr>
                        <a:t>平均</a:t>
                      </a:r>
                    </a:p>
                  </a:txBody>
                  <a:tcPr anchor="ct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hlink"/>
                        </a:buClr>
                        <a:buSzPct val="8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endParaRPr>
                    </a:p>
                  </a:txBody>
                  <a:tcPr anchor="ct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6719" name="Rectangle 79"/>
          <p:cNvSpPr>
            <a:spLocks noChangeArrowheads="1"/>
          </p:cNvSpPr>
          <p:nvPr/>
        </p:nvSpPr>
        <p:spPr bwMode="auto">
          <a:xfrm>
            <a:off x="1857068" y="5646229"/>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sp>
        <p:nvSpPr>
          <p:cNvPr id="1136720" name="Rectangle 80"/>
          <p:cNvSpPr>
            <a:spLocks noChangeArrowheads="1"/>
          </p:cNvSpPr>
          <p:nvPr/>
        </p:nvSpPr>
        <p:spPr bwMode="auto">
          <a:xfrm>
            <a:off x="2619068" y="5644312"/>
            <a:ext cx="381000" cy="457200"/>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B</a:t>
            </a:r>
          </a:p>
        </p:txBody>
      </p:sp>
      <p:sp>
        <p:nvSpPr>
          <p:cNvPr id="1136721" name="Rectangle 81"/>
          <p:cNvSpPr>
            <a:spLocks noChangeArrowheads="1"/>
          </p:cNvSpPr>
          <p:nvPr/>
        </p:nvSpPr>
        <p:spPr bwMode="auto">
          <a:xfrm>
            <a:off x="3381068" y="5644312"/>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136722" name="Rectangle 82"/>
          <p:cNvSpPr>
            <a:spLocks noChangeArrowheads="1"/>
          </p:cNvSpPr>
          <p:nvPr/>
        </p:nvSpPr>
        <p:spPr bwMode="auto">
          <a:xfrm>
            <a:off x="4138890" y="5644312"/>
            <a:ext cx="381000" cy="457200"/>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D</a:t>
            </a:r>
          </a:p>
        </p:txBody>
      </p:sp>
      <p:sp>
        <p:nvSpPr>
          <p:cNvPr id="1136723" name="Rectangle 83"/>
          <p:cNvSpPr>
            <a:spLocks noChangeArrowheads="1"/>
          </p:cNvSpPr>
          <p:nvPr/>
        </p:nvSpPr>
        <p:spPr bwMode="auto">
          <a:xfrm>
            <a:off x="7203481" y="5655247"/>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136724" name="Rectangle 84"/>
          <p:cNvSpPr>
            <a:spLocks noChangeArrowheads="1"/>
          </p:cNvSpPr>
          <p:nvPr/>
        </p:nvSpPr>
        <p:spPr bwMode="auto">
          <a:xfrm>
            <a:off x="2238068" y="5648149"/>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sp>
        <p:nvSpPr>
          <p:cNvPr id="1136725" name="Rectangle 85"/>
          <p:cNvSpPr>
            <a:spLocks noChangeArrowheads="1"/>
          </p:cNvSpPr>
          <p:nvPr/>
        </p:nvSpPr>
        <p:spPr bwMode="auto">
          <a:xfrm>
            <a:off x="3765510" y="5644312"/>
            <a:ext cx="381000" cy="457200"/>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B</a:t>
            </a:r>
          </a:p>
        </p:txBody>
      </p:sp>
      <p:sp>
        <p:nvSpPr>
          <p:cNvPr id="1136726" name="Rectangle 86"/>
          <p:cNvSpPr>
            <a:spLocks noChangeArrowheads="1"/>
          </p:cNvSpPr>
          <p:nvPr/>
        </p:nvSpPr>
        <p:spPr bwMode="auto">
          <a:xfrm>
            <a:off x="5293688" y="5638030"/>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136727" name="Rectangle 87"/>
          <p:cNvSpPr>
            <a:spLocks noChangeArrowheads="1"/>
          </p:cNvSpPr>
          <p:nvPr/>
        </p:nvSpPr>
        <p:spPr bwMode="auto">
          <a:xfrm>
            <a:off x="6058822" y="5646935"/>
            <a:ext cx="381000" cy="457200"/>
          </a:xfrm>
          <a:prstGeom prst="rect">
            <a:avLst/>
          </a:prstGeom>
          <a:gradFill rotWithShape="0">
            <a:gsLst>
              <a:gs pos="0">
                <a:srgbClr val="D20000"/>
              </a:gs>
              <a:gs pos="50000">
                <a:srgbClr val="FFFFFF"/>
              </a:gs>
              <a:gs pos="100000">
                <a:srgbClr val="D20000"/>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D</a:t>
            </a:r>
          </a:p>
        </p:txBody>
      </p:sp>
      <p:sp>
        <p:nvSpPr>
          <p:cNvPr id="1136728" name="Rectangle 88"/>
          <p:cNvSpPr>
            <a:spLocks noChangeArrowheads="1"/>
          </p:cNvSpPr>
          <p:nvPr/>
        </p:nvSpPr>
        <p:spPr bwMode="auto">
          <a:xfrm>
            <a:off x="4901934" y="5644312"/>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136729" name="Rectangle 89"/>
          <p:cNvSpPr>
            <a:spLocks noChangeArrowheads="1"/>
          </p:cNvSpPr>
          <p:nvPr/>
        </p:nvSpPr>
        <p:spPr bwMode="auto">
          <a:xfrm>
            <a:off x="3000068" y="5644312"/>
            <a:ext cx="381000" cy="457200"/>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sp>
        <p:nvSpPr>
          <p:cNvPr id="1136730" name="Rectangle 90"/>
          <p:cNvSpPr>
            <a:spLocks noChangeArrowheads="1"/>
          </p:cNvSpPr>
          <p:nvPr/>
        </p:nvSpPr>
        <p:spPr bwMode="auto">
          <a:xfrm>
            <a:off x="5685442" y="5646229"/>
            <a:ext cx="381000" cy="457200"/>
          </a:xfrm>
          <a:prstGeom prst="rect">
            <a:avLst/>
          </a:prstGeom>
          <a:gradFill rotWithShape="0">
            <a:gsLst>
              <a:gs pos="0">
                <a:srgbClr val="FFCC00"/>
              </a:gs>
              <a:gs pos="50000">
                <a:srgbClr val="FFFFFF"/>
              </a:gs>
              <a:gs pos="100000">
                <a:srgbClr val="FFCC00"/>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B</a:t>
            </a:r>
          </a:p>
        </p:txBody>
      </p:sp>
      <p:sp>
        <p:nvSpPr>
          <p:cNvPr id="1136731" name="Rectangle 91"/>
          <p:cNvSpPr>
            <a:spLocks noChangeArrowheads="1"/>
          </p:cNvSpPr>
          <p:nvPr/>
        </p:nvSpPr>
        <p:spPr bwMode="auto">
          <a:xfrm>
            <a:off x="6828504" y="56523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136732" name="Rectangle 92"/>
          <p:cNvSpPr>
            <a:spLocks noChangeArrowheads="1"/>
          </p:cNvSpPr>
          <p:nvPr/>
        </p:nvSpPr>
        <p:spPr bwMode="auto">
          <a:xfrm>
            <a:off x="6456414" y="5646229"/>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136733" name="Rectangle 93"/>
          <p:cNvSpPr>
            <a:spLocks noChangeArrowheads="1"/>
          </p:cNvSpPr>
          <p:nvPr/>
        </p:nvSpPr>
        <p:spPr bwMode="auto">
          <a:xfrm>
            <a:off x="4521979" y="5644312"/>
            <a:ext cx="381000" cy="457200"/>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A</a:t>
            </a:r>
          </a:p>
        </p:txBody>
      </p:sp>
      <p:sp>
        <p:nvSpPr>
          <p:cNvPr id="1136734" name="Rectangle 94"/>
          <p:cNvSpPr>
            <a:spLocks noChangeArrowheads="1"/>
          </p:cNvSpPr>
          <p:nvPr/>
        </p:nvSpPr>
        <p:spPr bwMode="auto">
          <a:xfrm>
            <a:off x="7572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sp>
        <p:nvSpPr>
          <p:cNvPr id="1136735" name="Rectangle 95"/>
          <p:cNvSpPr>
            <a:spLocks noChangeArrowheads="1"/>
          </p:cNvSpPr>
          <p:nvPr/>
        </p:nvSpPr>
        <p:spPr bwMode="auto">
          <a:xfrm>
            <a:off x="7953068" y="5646229"/>
            <a:ext cx="381000" cy="457200"/>
          </a:xfrm>
          <a:prstGeom prst="rect">
            <a:avLst/>
          </a:prstGeom>
          <a:gradFill rotWithShape="0">
            <a:gsLst>
              <a:gs pos="0">
                <a:srgbClr val="153D1C"/>
              </a:gs>
              <a:gs pos="50000">
                <a:srgbClr val="FFFFFF"/>
              </a:gs>
              <a:gs pos="100000">
                <a:srgbClr val="153D1C"/>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E</a:t>
            </a:r>
          </a:p>
        </p:txBody>
      </p:sp>
      <p:sp>
        <p:nvSpPr>
          <p:cNvPr id="1136736" name="Rectangle 96"/>
          <p:cNvSpPr>
            <a:spLocks noChangeArrowheads="1"/>
          </p:cNvSpPr>
          <p:nvPr/>
        </p:nvSpPr>
        <p:spPr bwMode="auto">
          <a:xfrm>
            <a:off x="8334068" y="5646229"/>
            <a:ext cx="381000" cy="457200"/>
          </a:xfrm>
          <a:prstGeom prst="rect">
            <a:avLst/>
          </a:prstGeom>
          <a:gradFill rotWithShape="0">
            <a:gsLst>
              <a:gs pos="0">
                <a:schemeClr val="tx2"/>
              </a:gs>
              <a:gs pos="50000">
                <a:srgbClr val="FFFFFF"/>
              </a:gs>
              <a:gs pos="100000">
                <a:schemeClr val="tx2"/>
              </a:gs>
            </a:gsLst>
            <a:lin ang="5400000" scaled="1"/>
          </a:gradFill>
          <a:ln w="9525">
            <a:solidFill>
              <a:schemeClr val="tx1"/>
            </a:solidFill>
            <a:miter lim="800000"/>
            <a:headEnd/>
            <a:tailEnd/>
          </a:ln>
          <a:effectLst/>
        </p:spPr>
        <p:txBody>
          <a:bodyPr wrap="none" anchor="ctr"/>
          <a:lstStyle/>
          <a:p>
            <a:pPr algn="ctr"/>
            <a:r>
              <a:rPr kumimoji="1" lang="en-US" altLang="zh-CN" sz="2400" b="1" dirty="0">
                <a:latin typeface="Times New Roman" pitchFamily="18" charset="0"/>
              </a:rPr>
              <a:t>C</a:t>
            </a:r>
          </a:p>
        </p:txBody>
      </p:sp>
      <p:grpSp>
        <p:nvGrpSpPr>
          <p:cNvPr id="1136737" name="Group 97"/>
          <p:cNvGrpSpPr>
            <a:grpSpLocks/>
          </p:cNvGrpSpPr>
          <p:nvPr/>
        </p:nvGrpSpPr>
        <p:grpSpPr bwMode="auto">
          <a:xfrm>
            <a:off x="1704668" y="5874830"/>
            <a:ext cx="8305800" cy="701675"/>
            <a:chOff x="384" y="3648"/>
            <a:chExt cx="5232" cy="442"/>
          </a:xfrm>
        </p:grpSpPr>
        <p:sp>
          <p:nvSpPr>
            <p:cNvPr id="1136738" name="Line 98"/>
            <p:cNvSpPr>
              <a:spLocks noChangeShapeType="1"/>
            </p:cNvSpPr>
            <p:nvPr/>
          </p:nvSpPr>
          <p:spPr bwMode="auto">
            <a:xfrm>
              <a:off x="480" y="3792"/>
              <a:ext cx="4896" cy="0"/>
            </a:xfrm>
            <a:prstGeom prst="line">
              <a:avLst/>
            </a:prstGeom>
            <a:noFill/>
            <a:ln w="28575">
              <a:solidFill>
                <a:schemeClr val="tx1"/>
              </a:solidFill>
              <a:miter lim="800000"/>
              <a:headEnd/>
              <a:tailEnd type="stealth" w="sm" len="lg"/>
            </a:ln>
            <a:effectLst/>
          </p:spPr>
          <p:txBody>
            <a:bodyPr wrap="none"/>
            <a:lstStyle/>
            <a:p>
              <a:endParaRPr lang="zh-CN" altLang="en-US"/>
            </a:p>
          </p:txBody>
        </p:sp>
        <p:sp>
          <p:nvSpPr>
            <p:cNvPr id="1136739" name="Text Box 99"/>
            <p:cNvSpPr txBox="1">
              <a:spLocks noChangeArrowheads="1"/>
            </p:cNvSpPr>
            <p:nvPr/>
          </p:nvSpPr>
          <p:spPr bwMode="auto">
            <a:xfrm>
              <a:off x="3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0</a:t>
              </a:r>
            </a:p>
          </p:txBody>
        </p:sp>
        <p:sp>
          <p:nvSpPr>
            <p:cNvPr id="1136740" name="Text Box 100"/>
            <p:cNvSpPr txBox="1">
              <a:spLocks noChangeArrowheads="1"/>
            </p:cNvSpPr>
            <p:nvPr/>
          </p:nvSpPr>
          <p:spPr bwMode="auto">
            <a:xfrm>
              <a:off x="1584" y="3840"/>
              <a:ext cx="192" cy="250"/>
            </a:xfrm>
            <a:prstGeom prst="rect">
              <a:avLst/>
            </a:prstGeom>
            <a:noFill/>
            <a:ln w="9525">
              <a:noFill/>
              <a:miter lim="800000"/>
              <a:headEnd/>
              <a:tailEnd/>
            </a:ln>
            <a:effectLst/>
          </p:spPr>
          <p:txBody>
            <a:bodyPr>
              <a:spAutoFit/>
            </a:bodyPr>
            <a:lstStyle/>
            <a:p>
              <a:pPr>
                <a:spcBef>
                  <a:spcPct val="50000"/>
                </a:spcBef>
              </a:pPr>
              <a:r>
                <a:rPr kumimoji="1" lang="en-US" altLang="zh-CN" b="1" dirty="0">
                  <a:latin typeface="Times New Roman" pitchFamily="18" charset="0"/>
                </a:rPr>
                <a:t>5</a:t>
              </a:r>
            </a:p>
          </p:txBody>
        </p:sp>
        <p:sp>
          <p:nvSpPr>
            <p:cNvPr id="1136741" name="Text Box 101"/>
            <p:cNvSpPr txBox="1">
              <a:spLocks noChangeArrowheads="1"/>
            </p:cNvSpPr>
            <p:nvPr/>
          </p:nvSpPr>
          <p:spPr bwMode="auto">
            <a:xfrm>
              <a:off x="27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10</a:t>
              </a:r>
            </a:p>
          </p:txBody>
        </p:sp>
        <p:sp>
          <p:nvSpPr>
            <p:cNvPr id="1136742" name="Text Box 102"/>
            <p:cNvSpPr txBox="1">
              <a:spLocks noChangeArrowheads="1"/>
            </p:cNvSpPr>
            <p:nvPr/>
          </p:nvSpPr>
          <p:spPr bwMode="auto">
            <a:xfrm>
              <a:off x="393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15</a:t>
              </a:r>
            </a:p>
          </p:txBody>
        </p:sp>
        <p:sp>
          <p:nvSpPr>
            <p:cNvPr id="1136743" name="Text Box 103"/>
            <p:cNvSpPr txBox="1">
              <a:spLocks noChangeArrowheads="1"/>
            </p:cNvSpPr>
            <p:nvPr/>
          </p:nvSpPr>
          <p:spPr bwMode="auto">
            <a:xfrm>
              <a:off x="4656" y="3840"/>
              <a:ext cx="288" cy="250"/>
            </a:xfrm>
            <a:prstGeom prst="rect">
              <a:avLst/>
            </a:prstGeom>
            <a:noFill/>
            <a:ln w="9525">
              <a:noFill/>
              <a:miter lim="800000"/>
              <a:headEnd/>
              <a:tailEnd/>
            </a:ln>
            <a:effectLst/>
          </p:spPr>
          <p:txBody>
            <a:bodyPr>
              <a:spAutoFit/>
            </a:bodyPr>
            <a:lstStyle/>
            <a:p>
              <a:pPr>
                <a:spcBef>
                  <a:spcPct val="50000"/>
                </a:spcBef>
              </a:pPr>
              <a:r>
                <a:rPr kumimoji="1" lang="en-US" altLang="zh-CN" b="1">
                  <a:latin typeface="Times New Roman" pitchFamily="18" charset="0"/>
                </a:rPr>
                <a:t>18</a:t>
              </a:r>
            </a:p>
          </p:txBody>
        </p:sp>
        <p:sp>
          <p:nvSpPr>
            <p:cNvPr id="1136744" name="Text Box 104"/>
            <p:cNvSpPr txBox="1">
              <a:spLocks noChangeArrowheads="1"/>
            </p:cNvSpPr>
            <p:nvPr/>
          </p:nvSpPr>
          <p:spPr bwMode="auto">
            <a:xfrm>
              <a:off x="5424" y="3648"/>
              <a:ext cx="192" cy="288"/>
            </a:xfrm>
            <a:prstGeom prst="rect">
              <a:avLst/>
            </a:prstGeom>
            <a:noFill/>
            <a:ln w="9525">
              <a:noFill/>
              <a:miter lim="800000"/>
              <a:headEnd/>
              <a:tailEnd/>
            </a:ln>
            <a:effectLst/>
          </p:spPr>
          <p:txBody>
            <a:bodyPr>
              <a:spAutoFit/>
            </a:bodyPr>
            <a:lstStyle/>
            <a:p>
              <a:pPr>
                <a:spcBef>
                  <a:spcPct val="50000"/>
                </a:spcBef>
              </a:pPr>
              <a:r>
                <a:rPr kumimoji="1" lang="en-US" altLang="zh-CN" sz="2400" b="1">
                  <a:latin typeface="Times New Roman" pitchFamily="18" charset="0"/>
                </a:rPr>
                <a:t>t</a:t>
              </a:r>
            </a:p>
          </p:txBody>
        </p:sp>
      </p:grpSp>
      <p:grpSp>
        <p:nvGrpSpPr>
          <p:cNvPr id="1136745" name="Group 105"/>
          <p:cNvGrpSpPr>
            <a:grpSpLocks/>
          </p:cNvGrpSpPr>
          <p:nvPr/>
        </p:nvGrpSpPr>
        <p:grpSpPr bwMode="auto">
          <a:xfrm>
            <a:off x="2046338" y="2122668"/>
            <a:ext cx="2895600" cy="519113"/>
            <a:chOff x="384" y="1632"/>
            <a:chExt cx="1824" cy="327"/>
          </a:xfrm>
        </p:grpSpPr>
        <p:sp>
          <p:nvSpPr>
            <p:cNvPr id="1136746" name="Text Box 106"/>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solidFill>
                    <a:srgbClr val="990000"/>
                  </a:solidFill>
                  <a:latin typeface="Times New Roman" pitchFamily="18" charset="0"/>
                </a:rPr>
                <a:t>0</a:t>
              </a:r>
            </a:p>
          </p:txBody>
        </p:sp>
        <p:sp>
          <p:nvSpPr>
            <p:cNvPr id="1136747" name="Text Box 107"/>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6748" name="Text Box 108"/>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A</a:t>
              </a:r>
            </a:p>
          </p:txBody>
        </p:sp>
      </p:grpSp>
      <p:grpSp>
        <p:nvGrpSpPr>
          <p:cNvPr id="1136749" name="Group 109"/>
          <p:cNvGrpSpPr>
            <a:grpSpLocks/>
          </p:cNvGrpSpPr>
          <p:nvPr/>
        </p:nvGrpSpPr>
        <p:grpSpPr bwMode="auto">
          <a:xfrm>
            <a:off x="2046338" y="2732268"/>
            <a:ext cx="2895600" cy="519113"/>
            <a:chOff x="384" y="1632"/>
            <a:chExt cx="1824" cy="327"/>
          </a:xfrm>
        </p:grpSpPr>
        <p:sp>
          <p:nvSpPr>
            <p:cNvPr id="1136750" name="Text Box 110"/>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1</a:t>
              </a:r>
            </a:p>
          </p:txBody>
        </p:sp>
        <p:sp>
          <p:nvSpPr>
            <p:cNvPr id="1136751" name="Text Box 111"/>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3</a:t>
              </a:r>
            </a:p>
          </p:txBody>
        </p:sp>
        <p:sp>
          <p:nvSpPr>
            <p:cNvPr id="1136752" name="Text Box 112"/>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B</a:t>
              </a:r>
            </a:p>
          </p:txBody>
        </p:sp>
      </p:grpSp>
      <p:grpSp>
        <p:nvGrpSpPr>
          <p:cNvPr id="1136753" name="Group 113"/>
          <p:cNvGrpSpPr>
            <a:grpSpLocks/>
          </p:cNvGrpSpPr>
          <p:nvPr/>
        </p:nvGrpSpPr>
        <p:grpSpPr bwMode="auto">
          <a:xfrm>
            <a:off x="2046338" y="3341868"/>
            <a:ext cx="2895600" cy="519113"/>
            <a:chOff x="384" y="1632"/>
            <a:chExt cx="1824" cy="327"/>
          </a:xfrm>
        </p:grpSpPr>
        <p:sp>
          <p:nvSpPr>
            <p:cNvPr id="1136754" name="Text Box 114"/>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2</a:t>
              </a:r>
            </a:p>
          </p:txBody>
        </p:sp>
        <p:sp>
          <p:nvSpPr>
            <p:cNvPr id="1136755" name="Text Box 115"/>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5</a:t>
              </a:r>
            </a:p>
          </p:txBody>
        </p:sp>
        <p:sp>
          <p:nvSpPr>
            <p:cNvPr id="1136756" name="Text Box 116"/>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C</a:t>
              </a:r>
            </a:p>
          </p:txBody>
        </p:sp>
      </p:grpSp>
      <p:grpSp>
        <p:nvGrpSpPr>
          <p:cNvPr id="1136757" name="Group 117"/>
          <p:cNvGrpSpPr>
            <a:grpSpLocks/>
          </p:cNvGrpSpPr>
          <p:nvPr/>
        </p:nvGrpSpPr>
        <p:grpSpPr bwMode="auto">
          <a:xfrm>
            <a:off x="2046338" y="3875268"/>
            <a:ext cx="2895600" cy="519113"/>
            <a:chOff x="384" y="1632"/>
            <a:chExt cx="1824" cy="327"/>
          </a:xfrm>
        </p:grpSpPr>
        <p:sp>
          <p:nvSpPr>
            <p:cNvPr id="1136758" name="Text Box 118"/>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3</a:t>
              </a:r>
            </a:p>
          </p:txBody>
        </p:sp>
        <p:sp>
          <p:nvSpPr>
            <p:cNvPr id="1136759" name="Text Box 119"/>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2</a:t>
              </a:r>
            </a:p>
          </p:txBody>
        </p:sp>
        <p:sp>
          <p:nvSpPr>
            <p:cNvPr id="1136760" name="Text Box 120"/>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D</a:t>
              </a:r>
            </a:p>
          </p:txBody>
        </p:sp>
      </p:grpSp>
      <p:grpSp>
        <p:nvGrpSpPr>
          <p:cNvPr id="1136761" name="Group 121"/>
          <p:cNvGrpSpPr>
            <a:grpSpLocks/>
          </p:cNvGrpSpPr>
          <p:nvPr/>
        </p:nvGrpSpPr>
        <p:grpSpPr bwMode="auto">
          <a:xfrm>
            <a:off x="2046338" y="4484868"/>
            <a:ext cx="2895600" cy="519113"/>
            <a:chOff x="384" y="1632"/>
            <a:chExt cx="1824" cy="327"/>
          </a:xfrm>
        </p:grpSpPr>
        <p:sp>
          <p:nvSpPr>
            <p:cNvPr id="1136762" name="Text Box 122"/>
            <p:cNvSpPr txBox="1">
              <a:spLocks noChangeArrowheads="1"/>
            </p:cNvSpPr>
            <p:nvPr/>
          </p:nvSpPr>
          <p:spPr bwMode="auto">
            <a:xfrm>
              <a:off x="1152"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990000"/>
                  </a:solidFill>
                  <a:latin typeface="Times New Roman" pitchFamily="18" charset="0"/>
                </a:rPr>
                <a:t>4</a:t>
              </a:r>
            </a:p>
          </p:txBody>
        </p:sp>
        <p:sp>
          <p:nvSpPr>
            <p:cNvPr id="1136763" name="Text Box 123"/>
            <p:cNvSpPr txBox="1">
              <a:spLocks noChangeArrowheads="1"/>
            </p:cNvSpPr>
            <p:nvPr/>
          </p:nvSpPr>
          <p:spPr bwMode="auto">
            <a:xfrm>
              <a:off x="1968"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4</a:t>
              </a:r>
            </a:p>
          </p:txBody>
        </p:sp>
        <p:sp>
          <p:nvSpPr>
            <p:cNvPr id="1136764" name="Text Box 124"/>
            <p:cNvSpPr txBox="1">
              <a:spLocks noChangeArrowheads="1"/>
            </p:cNvSpPr>
            <p:nvPr/>
          </p:nvSpPr>
          <p:spPr bwMode="auto">
            <a:xfrm>
              <a:off x="384" y="1632"/>
              <a:ext cx="240" cy="327"/>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E</a:t>
              </a:r>
            </a:p>
          </p:txBody>
        </p:sp>
      </p:grpSp>
      <p:sp>
        <p:nvSpPr>
          <p:cNvPr id="1136765" name="Text Box 125"/>
          <p:cNvSpPr txBox="1">
            <a:spLocks noChangeArrowheads="1"/>
          </p:cNvSpPr>
          <p:nvPr/>
        </p:nvSpPr>
        <p:spPr bwMode="auto">
          <a:xfrm>
            <a:off x="5703938" y="21226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0</a:t>
            </a:r>
          </a:p>
        </p:txBody>
      </p:sp>
      <p:sp>
        <p:nvSpPr>
          <p:cNvPr id="1136766" name="Text Box 126"/>
          <p:cNvSpPr txBox="1">
            <a:spLocks noChangeArrowheads="1"/>
          </p:cNvSpPr>
          <p:nvPr/>
        </p:nvSpPr>
        <p:spPr bwMode="auto">
          <a:xfrm>
            <a:off x="5703938" y="27322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2</a:t>
            </a:r>
          </a:p>
        </p:txBody>
      </p:sp>
      <p:sp>
        <p:nvSpPr>
          <p:cNvPr id="1136767" name="Text Box 127"/>
          <p:cNvSpPr txBox="1">
            <a:spLocks noChangeArrowheads="1"/>
          </p:cNvSpPr>
          <p:nvPr/>
        </p:nvSpPr>
        <p:spPr bwMode="auto">
          <a:xfrm>
            <a:off x="5703938" y="33418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4</a:t>
            </a:r>
          </a:p>
        </p:txBody>
      </p:sp>
      <p:sp>
        <p:nvSpPr>
          <p:cNvPr id="1136768" name="Text Box 128"/>
          <p:cNvSpPr txBox="1">
            <a:spLocks noChangeArrowheads="1"/>
          </p:cNvSpPr>
          <p:nvPr/>
        </p:nvSpPr>
        <p:spPr bwMode="auto">
          <a:xfrm>
            <a:off x="5703938" y="38752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6</a:t>
            </a:r>
          </a:p>
        </p:txBody>
      </p:sp>
      <p:sp>
        <p:nvSpPr>
          <p:cNvPr id="1136769" name="Text Box 129"/>
          <p:cNvSpPr txBox="1">
            <a:spLocks noChangeArrowheads="1"/>
          </p:cNvSpPr>
          <p:nvPr/>
        </p:nvSpPr>
        <p:spPr bwMode="auto">
          <a:xfrm>
            <a:off x="5703938" y="4484868"/>
            <a:ext cx="4572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a:t>
            </a:r>
          </a:p>
        </p:txBody>
      </p:sp>
      <p:sp>
        <p:nvSpPr>
          <p:cNvPr id="1136770" name="Text Box 130"/>
          <p:cNvSpPr txBox="1">
            <a:spLocks noChangeArrowheads="1"/>
          </p:cNvSpPr>
          <p:nvPr/>
        </p:nvSpPr>
        <p:spPr bwMode="auto">
          <a:xfrm>
            <a:off x="6846938" y="3891764"/>
            <a:ext cx="609600" cy="523220"/>
          </a:xfrm>
          <a:prstGeom prst="rect">
            <a:avLst/>
          </a:prstGeom>
          <a:noFill/>
          <a:ln w="9525">
            <a:noFill/>
            <a:miter lim="800000"/>
            <a:headEnd/>
            <a:tailEnd/>
          </a:ln>
          <a:effectLst/>
        </p:spPr>
        <p:txBody>
          <a:bodyPr wrap="square">
            <a:spAutoFit/>
          </a:bodyPr>
          <a:lstStyle/>
          <a:p>
            <a:pPr algn="ctr">
              <a:spcBef>
                <a:spcPct val="50000"/>
              </a:spcBef>
            </a:pPr>
            <a:r>
              <a:rPr kumimoji="1" lang="en-US" altLang="zh-CN" sz="2800" b="1" dirty="0">
                <a:latin typeface="Times New Roman" pitchFamily="18" charset="0"/>
              </a:rPr>
              <a:t>12</a:t>
            </a:r>
          </a:p>
        </p:txBody>
      </p:sp>
      <p:sp>
        <p:nvSpPr>
          <p:cNvPr id="1136771" name="Text Box 131"/>
          <p:cNvSpPr txBox="1">
            <a:spLocks noChangeArrowheads="1"/>
          </p:cNvSpPr>
          <p:nvPr/>
        </p:nvSpPr>
        <p:spPr bwMode="auto">
          <a:xfrm>
            <a:off x="6846938" y="27322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11</a:t>
            </a:r>
          </a:p>
        </p:txBody>
      </p:sp>
      <p:sp>
        <p:nvSpPr>
          <p:cNvPr id="1136772" name="Text Box 132"/>
          <p:cNvSpPr txBox="1">
            <a:spLocks noChangeArrowheads="1"/>
          </p:cNvSpPr>
          <p:nvPr/>
        </p:nvSpPr>
        <p:spPr bwMode="auto">
          <a:xfrm>
            <a:off x="6846938" y="21226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a:t>
            </a:r>
          </a:p>
        </p:txBody>
      </p:sp>
      <p:sp>
        <p:nvSpPr>
          <p:cNvPr id="1136773" name="Text Box 133"/>
          <p:cNvSpPr txBox="1">
            <a:spLocks noChangeArrowheads="1"/>
          </p:cNvSpPr>
          <p:nvPr/>
        </p:nvSpPr>
        <p:spPr bwMode="auto">
          <a:xfrm>
            <a:off x="6846938" y="44848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17</a:t>
            </a:r>
          </a:p>
        </p:txBody>
      </p:sp>
      <p:sp>
        <p:nvSpPr>
          <p:cNvPr id="1136774" name="Text Box 134"/>
          <p:cNvSpPr txBox="1">
            <a:spLocks noChangeArrowheads="1"/>
          </p:cNvSpPr>
          <p:nvPr/>
        </p:nvSpPr>
        <p:spPr bwMode="auto">
          <a:xfrm>
            <a:off x="6846938" y="33418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a:latin typeface="Times New Roman" pitchFamily="18" charset="0"/>
              </a:rPr>
              <a:t>18</a:t>
            </a:r>
          </a:p>
        </p:txBody>
      </p:sp>
      <p:sp>
        <p:nvSpPr>
          <p:cNvPr id="1136775" name="Text Box 135"/>
          <p:cNvSpPr txBox="1">
            <a:spLocks noChangeArrowheads="1"/>
          </p:cNvSpPr>
          <p:nvPr/>
        </p:nvSpPr>
        <p:spPr bwMode="auto">
          <a:xfrm>
            <a:off x="8066138" y="2122668"/>
            <a:ext cx="6096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a:t>
            </a:r>
          </a:p>
        </p:txBody>
      </p:sp>
      <p:sp>
        <p:nvSpPr>
          <p:cNvPr id="1136776" name="Text Box 136"/>
          <p:cNvSpPr txBox="1">
            <a:spLocks noChangeArrowheads="1"/>
          </p:cNvSpPr>
          <p:nvPr/>
        </p:nvSpPr>
        <p:spPr bwMode="auto">
          <a:xfrm>
            <a:off x="9132938" y="21226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8/4</a:t>
            </a:r>
          </a:p>
        </p:txBody>
      </p:sp>
      <p:sp>
        <p:nvSpPr>
          <p:cNvPr id="1136777" name="Text Box 137"/>
          <p:cNvSpPr txBox="1">
            <a:spLocks noChangeArrowheads="1"/>
          </p:cNvSpPr>
          <p:nvPr/>
        </p:nvSpPr>
        <p:spPr bwMode="auto">
          <a:xfrm>
            <a:off x="7913738" y="2732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10</a:t>
            </a:r>
          </a:p>
        </p:txBody>
      </p:sp>
      <p:sp>
        <p:nvSpPr>
          <p:cNvPr id="1136778" name="Text Box 138"/>
          <p:cNvSpPr txBox="1">
            <a:spLocks noChangeArrowheads="1"/>
          </p:cNvSpPr>
          <p:nvPr/>
        </p:nvSpPr>
        <p:spPr bwMode="auto">
          <a:xfrm>
            <a:off x="9132938" y="2732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10/3</a:t>
            </a:r>
          </a:p>
        </p:txBody>
      </p:sp>
      <p:sp>
        <p:nvSpPr>
          <p:cNvPr id="1136779" name="Text Box 139"/>
          <p:cNvSpPr txBox="1">
            <a:spLocks noChangeArrowheads="1"/>
          </p:cNvSpPr>
          <p:nvPr/>
        </p:nvSpPr>
        <p:spPr bwMode="auto">
          <a:xfrm>
            <a:off x="7913738" y="3341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16</a:t>
            </a:r>
          </a:p>
        </p:txBody>
      </p:sp>
      <p:sp>
        <p:nvSpPr>
          <p:cNvPr id="1136780" name="Text Box 140"/>
          <p:cNvSpPr txBox="1">
            <a:spLocks noChangeArrowheads="1"/>
          </p:cNvSpPr>
          <p:nvPr/>
        </p:nvSpPr>
        <p:spPr bwMode="auto">
          <a:xfrm>
            <a:off x="9132938" y="3341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16/5</a:t>
            </a:r>
          </a:p>
        </p:txBody>
      </p:sp>
      <p:sp>
        <p:nvSpPr>
          <p:cNvPr id="1136781" name="Text Box 141"/>
          <p:cNvSpPr txBox="1">
            <a:spLocks noChangeArrowheads="1"/>
          </p:cNvSpPr>
          <p:nvPr/>
        </p:nvSpPr>
        <p:spPr bwMode="auto">
          <a:xfrm>
            <a:off x="7913738" y="3875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a:t>
            </a:r>
          </a:p>
        </p:txBody>
      </p:sp>
      <p:sp>
        <p:nvSpPr>
          <p:cNvPr id="1136782" name="Text Box 142"/>
          <p:cNvSpPr txBox="1">
            <a:spLocks noChangeArrowheads="1"/>
          </p:cNvSpPr>
          <p:nvPr/>
        </p:nvSpPr>
        <p:spPr bwMode="auto">
          <a:xfrm>
            <a:off x="9132938" y="38752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9/2</a:t>
            </a:r>
          </a:p>
        </p:txBody>
      </p:sp>
      <p:sp>
        <p:nvSpPr>
          <p:cNvPr id="1136783" name="Text Box 143"/>
          <p:cNvSpPr txBox="1">
            <a:spLocks noChangeArrowheads="1"/>
          </p:cNvSpPr>
          <p:nvPr/>
        </p:nvSpPr>
        <p:spPr bwMode="auto">
          <a:xfrm>
            <a:off x="7913738" y="4484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a:t>
            </a:r>
          </a:p>
        </p:txBody>
      </p:sp>
      <p:sp>
        <p:nvSpPr>
          <p:cNvPr id="1136784" name="Text Box 144"/>
          <p:cNvSpPr txBox="1">
            <a:spLocks noChangeArrowheads="1"/>
          </p:cNvSpPr>
          <p:nvPr/>
        </p:nvSpPr>
        <p:spPr bwMode="auto">
          <a:xfrm>
            <a:off x="9132938" y="4484868"/>
            <a:ext cx="9144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13/4</a:t>
            </a:r>
          </a:p>
        </p:txBody>
      </p:sp>
      <p:sp>
        <p:nvSpPr>
          <p:cNvPr id="1136785" name="Text Box 145"/>
          <p:cNvSpPr txBox="1">
            <a:spLocks noChangeArrowheads="1"/>
          </p:cNvSpPr>
          <p:nvPr/>
        </p:nvSpPr>
        <p:spPr bwMode="auto">
          <a:xfrm>
            <a:off x="7913738" y="5018268"/>
            <a:ext cx="914400" cy="523220"/>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11.2</a:t>
            </a:r>
          </a:p>
        </p:txBody>
      </p:sp>
      <p:sp>
        <p:nvSpPr>
          <p:cNvPr id="1136786" name="Text Box 146"/>
          <p:cNvSpPr txBox="1">
            <a:spLocks noChangeArrowheads="1"/>
          </p:cNvSpPr>
          <p:nvPr/>
        </p:nvSpPr>
        <p:spPr bwMode="auto">
          <a:xfrm>
            <a:off x="9056738" y="5018268"/>
            <a:ext cx="1143000" cy="519113"/>
          </a:xfrm>
          <a:prstGeom prst="rect">
            <a:avLst/>
          </a:prstGeom>
          <a:noFill/>
          <a:ln w="9525">
            <a:noFill/>
            <a:miter lim="800000"/>
            <a:headEnd/>
            <a:tailEnd/>
          </a:ln>
          <a:effectLst/>
        </p:spPr>
        <p:txBody>
          <a:bodyPr>
            <a:spAutoFit/>
          </a:bodyPr>
          <a:lstStyle/>
          <a:p>
            <a:pPr algn="ctr">
              <a:spcBef>
                <a:spcPct val="50000"/>
              </a:spcBef>
            </a:pPr>
            <a:r>
              <a:rPr kumimoji="1" lang="en-US" altLang="zh-CN" sz="2800" b="1" dirty="0">
                <a:latin typeface="Times New Roman" pitchFamily="18" charset="0"/>
              </a:rPr>
              <a:t>3.26</a:t>
            </a:r>
          </a:p>
        </p:txBody>
      </p:sp>
    </p:spTree>
    <p:extLst>
      <p:ext uri="{BB962C8B-B14F-4D97-AF65-F5344CB8AC3E}">
        <p14:creationId xmlns:p14="http://schemas.microsoft.com/office/powerpoint/2010/main" val="22809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6737"/>
                                        </p:tgtEl>
                                        <p:attrNameLst>
                                          <p:attrName>style.visibility</p:attrName>
                                        </p:attrNameLst>
                                      </p:cBhvr>
                                      <p:to>
                                        <p:strVal val="visible"/>
                                      </p:to>
                                    </p:set>
                                    <p:animEffect transition="in" filter="wipe(left)">
                                      <p:cBhvr>
                                        <p:cTn id="7" dur="500"/>
                                        <p:tgtEl>
                                          <p:spTgt spid="11367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36765"/>
                                        </p:tgtEl>
                                        <p:attrNameLst>
                                          <p:attrName>style.visibility</p:attrName>
                                        </p:attrNameLst>
                                      </p:cBhvr>
                                      <p:to>
                                        <p:strVal val="visible"/>
                                      </p:to>
                                    </p:set>
                                    <p:anim calcmode="lin" valueType="num">
                                      <p:cBhvr additive="base">
                                        <p:cTn id="12" dur="500" fill="hold"/>
                                        <p:tgtEl>
                                          <p:spTgt spid="1136765"/>
                                        </p:tgtEl>
                                        <p:attrNameLst>
                                          <p:attrName>ppt_x</p:attrName>
                                        </p:attrNameLst>
                                      </p:cBhvr>
                                      <p:tavLst>
                                        <p:tav tm="0">
                                          <p:val>
                                            <p:strVal val="#ppt_x"/>
                                          </p:val>
                                        </p:tav>
                                        <p:tav tm="100000">
                                          <p:val>
                                            <p:strVal val="#ppt_x"/>
                                          </p:val>
                                        </p:tav>
                                      </p:tavLst>
                                    </p:anim>
                                    <p:anim calcmode="lin" valueType="num">
                                      <p:cBhvr additive="base">
                                        <p:cTn id="13" dur="500" fill="hold"/>
                                        <p:tgtEl>
                                          <p:spTgt spid="113676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36766"/>
                                        </p:tgtEl>
                                        <p:attrNameLst>
                                          <p:attrName>style.visibility</p:attrName>
                                        </p:attrNameLst>
                                      </p:cBhvr>
                                      <p:to>
                                        <p:strVal val="visible"/>
                                      </p:to>
                                    </p:set>
                                    <p:anim calcmode="lin" valueType="num">
                                      <p:cBhvr additive="base">
                                        <p:cTn id="18" dur="500" fill="hold"/>
                                        <p:tgtEl>
                                          <p:spTgt spid="1136766"/>
                                        </p:tgtEl>
                                        <p:attrNameLst>
                                          <p:attrName>ppt_x</p:attrName>
                                        </p:attrNameLst>
                                      </p:cBhvr>
                                      <p:tavLst>
                                        <p:tav tm="0">
                                          <p:val>
                                            <p:strVal val="#ppt_x"/>
                                          </p:val>
                                        </p:tav>
                                        <p:tav tm="100000">
                                          <p:val>
                                            <p:strVal val="#ppt_x"/>
                                          </p:val>
                                        </p:tav>
                                      </p:tavLst>
                                    </p:anim>
                                    <p:anim calcmode="lin" valueType="num">
                                      <p:cBhvr additive="base">
                                        <p:cTn id="19" dur="500" fill="hold"/>
                                        <p:tgtEl>
                                          <p:spTgt spid="113676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36767"/>
                                        </p:tgtEl>
                                        <p:attrNameLst>
                                          <p:attrName>style.visibility</p:attrName>
                                        </p:attrNameLst>
                                      </p:cBhvr>
                                      <p:to>
                                        <p:strVal val="visible"/>
                                      </p:to>
                                    </p:set>
                                    <p:anim calcmode="lin" valueType="num">
                                      <p:cBhvr additive="base">
                                        <p:cTn id="24" dur="500" fill="hold"/>
                                        <p:tgtEl>
                                          <p:spTgt spid="1136767"/>
                                        </p:tgtEl>
                                        <p:attrNameLst>
                                          <p:attrName>ppt_x</p:attrName>
                                        </p:attrNameLst>
                                      </p:cBhvr>
                                      <p:tavLst>
                                        <p:tav tm="0">
                                          <p:val>
                                            <p:strVal val="#ppt_x"/>
                                          </p:val>
                                        </p:tav>
                                        <p:tav tm="100000">
                                          <p:val>
                                            <p:strVal val="#ppt_x"/>
                                          </p:val>
                                        </p:tav>
                                      </p:tavLst>
                                    </p:anim>
                                    <p:anim calcmode="lin" valueType="num">
                                      <p:cBhvr additive="base">
                                        <p:cTn id="25" dur="500" fill="hold"/>
                                        <p:tgtEl>
                                          <p:spTgt spid="113676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36768"/>
                                        </p:tgtEl>
                                        <p:attrNameLst>
                                          <p:attrName>style.visibility</p:attrName>
                                        </p:attrNameLst>
                                      </p:cBhvr>
                                      <p:to>
                                        <p:strVal val="visible"/>
                                      </p:to>
                                    </p:set>
                                    <p:anim calcmode="lin" valueType="num">
                                      <p:cBhvr additive="base">
                                        <p:cTn id="30" dur="500" fill="hold"/>
                                        <p:tgtEl>
                                          <p:spTgt spid="1136768"/>
                                        </p:tgtEl>
                                        <p:attrNameLst>
                                          <p:attrName>ppt_x</p:attrName>
                                        </p:attrNameLst>
                                      </p:cBhvr>
                                      <p:tavLst>
                                        <p:tav tm="0">
                                          <p:val>
                                            <p:strVal val="#ppt_x"/>
                                          </p:val>
                                        </p:tav>
                                        <p:tav tm="100000">
                                          <p:val>
                                            <p:strVal val="#ppt_x"/>
                                          </p:val>
                                        </p:tav>
                                      </p:tavLst>
                                    </p:anim>
                                    <p:anim calcmode="lin" valueType="num">
                                      <p:cBhvr additive="base">
                                        <p:cTn id="31" dur="500" fill="hold"/>
                                        <p:tgtEl>
                                          <p:spTgt spid="113676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136769"/>
                                        </p:tgtEl>
                                        <p:attrNameLst>
                                          <p:attrName>style.visibility</p:attrName>
                                        </p:attrNameLst>
                                      </p:cBhvr>
                                      <p:to>
                                        <p:strVal val="visible"/>
                                      </p:to>
                                    </p:set>
                                    <p:anim calcmode="lin" valueType="num">
                                      <p:cBhvr additive="base">
                                        <p:cTn id="36" dur="500" fill="hold"/>
                                        <p:tgtEl>
                                          <p:spTgt spid="1136769"/>
                                        </p:tgtEl>
                                        <p:attrNameLst>
                                          <p:attrName>ppt_x</p:attrName>
                                        </p:attrNameLst>
                                      </p:cBhvr>
                                      <p:tavLst>
                                        <p:tav tm="0">
                                          <p:val>
                                            <p:strVal val="#ppt_x"/>
                                          </p:val>
                                        </p:tav>
                                        <p:tav tm="100000">
                                          <p:val>
                                            <p:strVal val="#ppt_x"/>
                                          </p:val>
                                        </p:tav>
                                      </p:tavLst>
                                    </p:anim>
                                    <p:anim calcmode="lin" valueType="num">
                                      <p:cBhvr additive="base">
                                        <p:cTn id="37" dur="500" fill="hold"/>
                                        <p:tgtEl>
                                          <p:spTgt spid="113676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36719"/>
                                        </p:tgtEl>
                                        <p:attrNameLst>
                                          <p:attrName>style.visibility</p:attrName>
                                        </p:attrNameLst>
                                      </p:cBhvr>
                                      <p:to>
                                        <p:strVal val="visible"/>
                                      </p:to>
                                    </p:set>
                                    <p:animEffect transition="in" filter="wipe(left)">
                                      <p:cBhvr>
                                        <p:cTn id="42" dur="500"/>
                                        <p:tgtEl>
                                          <p:spTgt spid="11367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36724"/>
                                        </p:tgtEl>
                                        <p:attrNameLst>
                                          <p:attrName>style.visibility</p:attrName>
                                        </p:attrNameLst>
                                      </p:cBhvr>
                                      <p:to>
                                        <p:strVal val="visible"/>
                                      </p:to>
                                    </p:set>
                                    <p:animEffect transition="in" filter="wipe(left)">
                                      <p:cBhvr>
                                        <p:cTn id="47" dur="500"/>
                                        <p:tgtEl>
                                          <p:spTgt spid="11367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36720"/>
                                        </p:tgtEl>
                                        <p:attrNameLst>
                                          <p:attrName>style.visibility</p:attrName>
                                        </p:attrNameLst>
                                      </p:cBhvr>
                                      <p:to>
                                        <p:strVal val="visible"/>
                                      </p:to>
                                    </p:set>
                                    <p:animEffect transition="in" filter="wipe(left)">
                                      <p:cBhvr>
                                        <p:cTn id="52" dur="500"/>
                                        <p:tgtEl>
                                          <p:spTgt spid="11367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36729"/>
                                        </p:tgtEl>
                                        <p:attrNameLst>
                                          <p:attrName>style.visibility</p:attrName>
                                        </p:attrNameLst>
                                      </p:cBhvr>
                                      <p:to>
                                        <p:strVal val="visible"/>
                                      </p:to>
                                    </p:set>
                                    <p:animEffect transition="in" filter="wipe(left)">
                                      <p:cBhvr>
                                        <p:cTn id="57" dur="500"/>
                                        <p:tgtEl>
                                          <p:spTgt spid="11367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36721"/>
                                        </p:tgtEl>
                                        <p:attrNameLst>
                                          <p:attrName>style.visibility</p:attrName>
                                        </p:attrNameLst>
                                      </p:cBhvr>
                                      <p:to>
                                        <p:strVal val="visible"/>
                                      </p:to>
                                    </p:set>
                                    <p:animEffect transition="in" filter="wipe(left)">
                                      <p:cBhvr>
                                        <p:cTn id="62" dur="500"/>
                                        <p:tgtEl>
                                          <p:spTgt spid="11367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36725"/>
                                        </p:tgtEl>
                                        <p:attrNameLst>
                                          <p:attrName>style.visibility</p:attrName>
                                        </p:attrNameLst>
                                      </p:cBhvr>
                                      <p:to>
                                        <p:strVal val="visible"/>
                                      </p:to>
                                    </p:set>
                                    <p:animEffect transition="in" filter="wipe(left)">
                                      <p:cBhvr>
                                        <p:cTn id="67" dur="500"/>
                                        <p:tgtEl>
                                          <p:spTgt spid="113672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136722"/>
                                        </p:tgtEl>
                                        <p:attrNameLst>
                                          <p:attrName>style.visibility</p:attrName>
                                        </p:attrNameLst>
                                      </p:cBhvr>
                                      <p:to>
                                        <p:strVal val="visible"/>
                                      </p:to>
                                    </p:set>
                                    <p:animEffect transition="in" filter="wipe(left)">
                                      <p:cBhvr>
                                        <p:cTn id="72" dur="500"/>
                                        <p:tgtEl>
                                          <p:spTgt spid="11367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36733"/>
                                        </p:tgtEl>
                                        <p:attrNameLst>
                                          <p:attrName>style.visibility</p:attrName>
                                        </p:attrNameLst>
                                      </p:cBhvr>
                                      <p:to>
                                        <p:strVal val="visible"/>
                                      </p:to>
                                    </p:set>
                                    <p:animEffect transition="in" filter="wipe(left)">
                                      <p:cBhvr>
                                        <p:cTn id="77" dur="500"/>
                                        <p:tgtEl>
                                          <p:spTgt spid="113673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136728"/>
                                        </p:tgtEl>
                                        <p:attrNameLst>
                                          <p:attrName>style.visibility</p:attrName>
                                        </p:attrNameLst>
                                      </p:cBhvr>
                                      <p:to>
                                        <p:strVal val="visible"/>
                                      </p:to>
                                    </p:set>
                                    <p:animEffect transition="in" filter="wipe(left)">
                                      <p:cBhvr>
                                        <p:cTn id="82" dur="500"/>
                                        <p:tgtEl>
                                          <p:spTgt spid="113672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136726"/>
                                        </p:tgtEl>
                                        <p:attrNameLst>
                                          <p:attrName>style.visibility</p:attrName>
                                        </p:attrNameLst>
                                      </p:cBhvr>
                                      <p:to>
                                        <p:strVal val="visible"/>
                                      </p:to>
                                    </p:set>
                                    <p:animEffect transition="in" filter="wipe(left)">
                                      <p:cBhvr>
                                        <p:cTn id="87" dur="500"/>
                                        <p:tgtEl>
                                          <p:spTgt spid="113672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136730"/>
                                        </p:tgtEl>
                                        <p:attrNameLst>
                                          <p:attrName>style.visibility</p:attrName>
                                        </p:attrNameLst>
                                      </p:cBhvr>
                                      <p:to>
                                        <p:strVal val="visible"/>
                                      </p:to>
                                    </p:set>
                                    <p:animEffect transition="in" filter="wipe(left)">
                                      <p:cBhvr>
                                        <p:cTn id="92" dur="500"/>
                                        <p:tgtEl>
                                          <p:spTgt spid="113673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136727"/>
                                        </p:tgtEl>
                                        <p:attrNameLst>
                                          <p:attrName>style.visibility</p:attrName>
                                        </p:attrNameLst>
                                      </p:cBhvr>
                                      <p:to>
                                        <p:strVal val="visible"/>
                                      </p:to>
                                    </p:set>
                                    <p:animEffect transition="in" filter="wipe(left)">
                                      <p:cBhvr>
                                        <p:cTn id="97" dur="500"/>
                                        <p:tgtEl>
                                          <p:spTgt spid="1136727"/>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1136770"/>
                                        </p:tgtEl>
                                        <p:attrNameLst>
                                          <p:attrName>style.visibility</p:attrName>
                                        </p:attrNameLst>
                                      </p:cBhvr>
                                      <p:to>
                                        <p:strVal val="visible"/>
                                      </p:to>
                                    </p:set>
                                    <p:anim calcmode="lin" valueType="num">
                                      <p:cBhvr additive="base">
                                        <p:cTn id="102" dur="500" fill="hold"/>
                                        <p:tgtEl>
                                          <p:spTgt spid="1136770"/>
                                        </p:tgtEl>
                                        <p:attrNameLst>
                                          <p:attrName>ppt_x</p:attrName>
                                        </p:attrNameLst>
                                      </p:cBhvr>
                                      <p:tavLst>
                                        <p:tav tm="0">
                                          <p:val>
                                            <p:strVal val="#ppt_x"/>
                                          </p:val>
                                        </p:tav>
                                        <p:tav tm="100000">
                                          <p:val>
                                            <p:strVal val="#ppt_x"/>
                                          </p:val>
                                        </p:tav>
                                      </p:tavLst>
                                    </p:anim>
                                    <p:anim calcmode="lin" valueType="num">
                                      <p:cBhvr additive="base">
                                        <p:cTn id="103" dur="500" fill="hold"/>
                                        <p:tgtEl>
                                          <p:spTgt spid="1136770"/>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1136771"/>
                                        </p:tgtEl>
                                        <p:attrNameLst>
                                          <p:attrName>style.visibility</p:attrName>
                                        </p:attrNameLst>
                                      </p:cBhvr>
                                      <p:to>
                                        <p:strVal val="visible"/>
                                      </p:to>
                                    </p:set>
                                    <p:anim calcmode="lin" valueType="num">
                                      <p:cBhvr additive="base">
                                        <p:cTn id="108" dur="500" fill="hold"/>
                                        <p:tgtEl>
                                          <p:spTgt spid="1136771"/>
                                        </p:tgtEl>
                                        <p:attrNameLst>
                                          <p:attrName>ppt_x</p:attrName>
                                        </p:attrNameLst>
                                      </p:cBhvr>
                                      <p:tavLst>
                                        <p:tav tm="0">
                                          <p:val>
                                            <p:strVal val="#ppt_x"/>
                                          </p:val>
                                        </p:tav>
                                        <p:tav tm="100000">
                                          <p:val>
                                            <p:strVal val="#ppt_x"/>
                                          </p:val>
                                        </p:tav>
                                      </p:tavLst>
                                    </p:anim>
                                    <p:anim calcmode="lin" valueType="num">
                                      <p:cBhvr additive="base">
                                        <p:cTn id="109" dur="500" fill="hold"/>
                                        <p:tgtEl>
                                          <p:spTgt spid="1136771"/>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136732"/>
                                        </p:tgtEl>
                                        <p:attrNameLst>
                                          <p:attrName>style.visibility</p:attrName>
                                        </p:attrNameLst>
                                      </p:cBhvr>
                                      <p:to>
                                        <p:strVal val="visible"/>
                                      </p:to>
                                    </p:set>
                                    <p:animEffect transition="in" filter="wipe(left)">
                                      <p:cBhvr>
                                        <p:cTn id="114" dur="500"/>
                                        <p:tgtEl>
                                          <p:spTgt spid="113673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136731"/>
                                        </p:tgtEl>
                                        <p:attrNameLst>
                                          <p:attrName>style.visibility</p:attrName>
                                        </p:attrNameLst>
                                      </p:cBhvr>
                                      <p:to>
                                        <p:strVal val="visible"/>
                                      </p:to>
                                    </p:set>
                                    <p:animEffect transition="in" filter="wipe(left)">
                                      <p:cBhvr>
                                        <p:cTn id="119" dur="500"/>
                                        <p:tgtEl>
                                          <p:spTgt spid="1136731"/>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136772"/>
                                        </p:tgtEl>
                                        <p:attrNameLst>
                                          <p:attrName>style.visibility</p:attrName>
                                        </p:attrNameLst>
                                      </p:cBhvr>
                                      <p:to>
                                        <p:strVal val="visible"/>
                                      </p:to>
                                    </p:set>
                                    <p:anim calcmode="lin" valueType="num">
                                      <p:cBhvr additive="base">
                                        <p:cTn id="124" dur="500" fill="hold"/>
                                        <p:tgtEl>
                                          <p:spTgt spid="1136772"/>
                                        </p:tgtEl>
                                        <p:attrNameLst>
                                          <p:attrName>ppt_x</p:attrName>
                                        </p:attrNameLst>
                                      </p:cBhvr>
                                      <p:tavLst>
                                        <p:tav tm="0">
                                          <p:val>
                                            <p:strVal val="#ppt_x"/>
                                          </p:val>
                                        </p:tav>
                                        <p:tav tm="100000">
                                          <p:val>
                                            <p:strVal val="#ppt_x"/>
                                          </p:val>
                                        </p:tav>
                                      </p:tavLst>
                                    </p:anim>
                                    <p:anim calcmode="lin" valueType="num">
                                      <p:cBhvr additive="base">
                                        <p:cTn id="125" dur="500" fill="hold"/>
                                        <p:tgtEl>
                                          <p:spTgt spid="1136772"/>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grpId="0" nodeType="clickEffect">
                                  <p:stCondLst>
                                    <p:cond delay="0"/>
                                  </p:stCondLst>
                                  <p:childTnLst>
                                    <p:set>
                                      <p:cBhvr>
                                        <p:cTn id="129" dur="1" fill="hold">
                                          <p:stCondLst>
                                            <p:cond delay="0"/>
                                          </p:stCondLst>
                                        </p:cTn>
                                        <p:tgtEl>
                                          <p:spTgt spid="1136723"/>
                                        </p:tgtEl>
                                        <p:attrNameLst>
                                          <p:attrName>style.visibility</p:attrName>
                                        </p:attrNameLst>
                                      </p:cBhvr>
                                      <p:to>
                                        <p:strVal val="visible"/>
                                      </p:to>
                                    </p:set>
                                    <p:animEffect transition="in" filter="wipe(up)">
                                      <p:cBhvr>
                                        <p:cTn id="130" dur="500"/>
                                        <p:tgtEl>
                                          <p:spTgt spid="1136723"/>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136734"/>
                                        </p:tgtEl>
                                        <p:attrNameLst>
                                          <p:attrName>style.visibility</p:attrName>
                                        </p:attrNameLst>
                                      </p:cBhvr>
                                      <p:to>
                                        <p:strVal val="visible"/>
                                      </p:to>
                                    </p:set>
                                    <p:animEffect transition="in" filter="wipe(left)">
                                      <p:cBhvr>
                                        <p:cTn id="135" dur="500"/>
                                        <p:tgtEl>
                                          <p:spTgt spid="1136734"/>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136735"/>
                                        </p:tgtEl>
                                        <p:attrNameLst>
                                          <p:attrName>style.visibility</p:attrName>
                                        </p:attrNameLst>
                                      </p:cBhvr>
                                      <p:to>
                                        <p:strVal val="visible"/>
                                      </p:to>
                                    </p:set>
                                    <p:animEffect transition="in" filter="wipe(left)">
                                      <p:cBhvr>
                                        <p:cTn id="140" dur="500"/>
                                        <p:tgtEl>
                                          <p:spTgt spid="1136735"/>
                                        </p:tgtEl>
                                      </p:cBhvr>
                                    </p:animEffect>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1136773"/>
                                        </p:tgtEl>
                                        <p:attrNameLst>
                                          <p:attrName>style.visibility</p:attrName>
                                        </p:attrNameLst>
                                      </p:cBhvr>
                                      <p:to>
                                        <p:strVal val="visible"/>
                                      </p:to>
                                    </p:set>
                                    <p:anim calcmode="lin" valueType="num">
                                      <p:cBhvr additive="base">
                                        <p:cTn id="145" dur="500" fill="hold"/>
                                        <p:tgtEl>
                                          <p:spTgt spid="1136773"/>
                                        </p:tgtEl>
                                        <p:attrNameLst>
                                          <p:attrName>ppt_x</p:attrName>
                                        </p:attrNameLst>
                                      </p:cBhvr>
                                      <p:tavLst>
                                        <p:tav tm="0">
                                          <p:val>
                                            <p:strVal val="#ppt_x"/>
                                          </p:val>
                                        </p:tav>
                                        <p:tav tm="100000">
                                          <p:val>
                                            <p:strVal val="#ppt_x"/>
                                          </p:val>
                                        </p:tav>
                                      </p:tavLst>
                                    </p:anim>
                                    <p:anim calcmode="lin" valueType="num">
                                      <p:cBhvr additive="base">
                                        <p:cTn id="146" dur="500" fill="hold"/>
                                        <p:tgtEl>
                                          <p:spTgt spid="1136773"/>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1136736"/>
                                        </p:tgtEl>
                                        <p:attrNameLst>
                                          <p:attrName>style.visibility</p:attrName>
                                        </p:attrNameLst>
                                      </p:cBhvr>
                                      <p:to>
                                        <p:strVal val="visible"/>
                                      </p:to>
                                    </p:set>
                                    <p:animEffect transition="in" filter="wipe(left)">
                                      <p:cBhvr>
                                        <p:cTn id="151" dur="500"/>
                                        <p:tgtEl>
                                          <p:spTgt spid="1136736"/>
                                        </p:tgtEl>
                                      </p:cBhvr>
                                    </p:animEffect>
                                  </p:childTnLst>
                                </p:cTn>
                              </p:par>
                            </p:childTnLst>
                          </p:cTn>
                        </p:par>
                      </p:childTnLst>
                    </p:cTn>
                  </p:par>
                  <p:par>
                    <p:cTn id="152" fill="hold">
                      <p:stCondLst>
                        <p:cond delay="indefinite"/>
                      </p:stCondLst>
                      <p:childTnLst>
                        <p:par>
                          <p:cTn id="153" fill="hold">
                            <p:stCondLst>
                              <p:cond delay="0"/>
                            </p:stCondLst>
                            <p:childTnLst>
                              <p:par>
                                <p:cTn id="154" presetID="2" presetClass="entr" presetSubtype="4" fill="hold" grpId="0" nodeType="clickEffect">
                                  <p:stCondLst>
                                    <p:cond delay="0"/>
                                  </p:stCondLst>
                                  <p:childTnLst>
                                    <p:set>
                                      <p:cBhvr>
                                        <p:cTn id="155" dur="1" fill="hold">
                                          <p:stCondLst>
                                            <p:cond delay="0"/>
                                          </p:stCondLst>
                                        </p:cTn>
                                        <p:tgtEl>
                                          <p:spTgt spid="1136774"/>
                                        </p:tgtEl>
                                        <p:attrNameLst>
                                          <p:attrName>style.visibility</p:attrName>
                                        </p:attrNameLst>
                                      </p:cBhvr>
                                      <p:to>
                                        <p:strVal val="visible"/>
                                      </p:to>
                                    </p:set>
                                    <p:anim calcmode="lin" valueType="num">
                                      <p:cBhvr additive="base">
                                        <p:cTn id="156" dur="500" fill="hold"/>
                                        <p:tgtEl>
                                          <p:spTgt spid="1136774"/>
                                        </p:tgtEl>
                                        <p:attrNameLst>
                                          <p:attrName>ppt_x</p:attrName>
                                        </p:attrNameLst>
                                      </p:cBhvr>
                                      <p:tavLst>
                                        <p:tav tm="0">
                                          <p:val>
                                            <p:strVal val="#ppt_x"/>
                                          </p:val>
                                        </p:tav>
                                        <p:tav tm="100000">
                                          <p:val>
                                            <p:strVal val="#ppt_x"/>
                                          </p:val>
                                        </p:tav>
                                      </p:tavLst>
                                    </p:anim>
                                    <p:anim calcmode="lin" valueType="num">
                                      <p:cBhvr additive="base">
                                        <p:cTn id="157" dur="500" fill="hold"/>
                                        <p:tgtEl>
                                          <p:spTgt spid="1136774"/>
                                        </p:tgtEl>
                                        <p:attrNameLst>
                                          <p:attrName>ppt_y</p:attrName>
                                        </p:attrNameLst>
                                      </p:cBhvr>
                                      <p:tavLst>
                                        <p:tav tm="0">
                                          <p:val>
                                            <p:strVal val="1+#ppt_h/2"/>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grpId="0" nodeType="clickEffect">
                                  <p:stCondLst>
                                    <p:cond delay="0"/>
                                  </p:stCondLst>
                                  <p:childTnLst>
                                    <p:set>
                                      <p:cBhvr>
                                        <p:cTn id="161" dur="1" fill="hold">
                                          <p:stCondLst>
                                            <p:cond delay="0"/>
                                          </p:stCondLst>
                                        </p:cTn>
                                        <p:tgtEl>
                                          <p:spTgt spid="1136775"/>
                                        </p:tgtEl>
                                        <p:attrNameLst>
                                          <p:attrName>style.visibility</p:attrName>
                                        </p:attrNameLst>
                                      </p:cBhvr>
                                      <p:to>
                                        <p:strVal val="visible"/>
                                      </p:to>
                                    </p:set>
                                    <p:anim calcmode="lin" valueType="num">
                                      <p:cBhvr additive="base">
                                        <p:cTn id="162" dur="500" fill="hold"/>
                                        <p:tgtEl>
                                          <p:spTgt spid="1136775"/>
                                        </p:tgtEl>
                                        <p:attrNameLst>
                                          <p:attrName>ppt_x</p:attrName>
                                        </p:attrNameLst>
                                      </p:cBhvr>
                                      <p:tavLst>
                                        <p:tav tm="0">
                                          <p:val>
                                            <p:strVal val="#ppt_x"/>
                                          </p:val>
                                        </p:tav>
                                        <p:tav tm="100000">
                                          <p:val>
                                            <p:strVal val="#ppt_x"/>
                                          </p:val>
                                        </p:tav>
                                      </p:tavLst>
                                    </p:anim>
                                    <p:anim calcmode="lin" valueType="num">
                                      <p:cBhvr additive="base">
                                        <p:cTn id="163" dur="500" fill="hold"/>
                                        <p:tgtEl>
                                          <p:spTgt spid="1136775"/>
                                        </p:tgtEl>
                                        <p:attrNameLst>
                                          <p:attrName>ppt_y</p:attrName>
                                        </p:attrNameLst>
                                      </p:cBhvr>
                                      <p:tavLst>
                                        <p:tav tm="0">
                                          <p:val>
                                            <p:strVal val="1+#ppt_h/2"/>
                                          </p:val>
                                        </p:tav>
                                        <p:tav tm="100000">
                                          <p:val>
                                            <p:strVal val="#ppt_y"/>
                                          </p:val>
                                        </p:tav>
                                      </p:tavLst>
                                    </p:anim>
                                  </p:childTnLst>
                                </p:cTn>
                              </p:par>
                            </p:childTnLst>
                          </p:cTn>
                        </p:par>
                        <p:par>
                          <p:cTn id="164" fill="hold">
                            <p:stCondLst>
                              <p:cond delay="500"/>
                            </p:stCondLst>
                            <p:childTnLst>
                              <p:par>
                                <p:cTn id="165" presetID="2" presetClass="entr" presetSubtype="4" fill="hold" grpId="0" nodeType="afterEffect">
                                  <p:stCondLst>
                                    <p:cond delay="0"/>
                                  </p:stCondLst>
                                  <p:childTnLst>
                                    <p:set>
                                      <p:cBhvr>
                                        <p:cTn id="166" dur="1" fill="hold">
                                          <p:stCondLst>
                                            <p:cond delay="0"/>
                                          </p:stCondLst>
                                        </p:cTn>
                                        <p:tgtEl>
                                          <p:spTgt spid="1136777"/>
                                        </p:tgtEl>
                                        <p:attrNameLst>
                                          <p:attrName>style.visibility</p:attrName>
                                        </p:attrNameLst>
                                      </p:cBhvr>
                                      <p:to>
                                        <p:strVal val="visible"/>
                                      </p:to>
                                    </p:set>
                                    <p:anim calcmode="lin" valueType="num">
                                      <p:cBhvr additive="base">
                                        <p:cTn id="167" dur="500" fill="hold"/>
                                        <p:tgtEl>
                                          <p:spTgt spid="1136777"/>
                                        </p:tgtEl>
                                        <p:attrNameLst>
                                          <p:attrName>ppt_x</p:attrName>
                                        </p:attrNameLst>
                                      </p:cBhvr>
                                      <p:tavLst>
                                        <p:tav tm="0">
                                          <p:val>
                                            <p:strVal val="#ppt_x"/>
                                          </p:val>
                                        </p:tav>
                                        <p:tav tm="100000">
                                          <p:val>
                                            <p:strVal val="#ppt_x"/>
                                          </p:val>
                                        </p:tav>
                                      </p:tavLst>
                                    </p:anim>
                                    <p:anim calcmode="lin" valueType="num">
                                      <p:cBhvr additive="base">
                                        <p:cTn id="168" dur="500" fill="hold"/>
                                        <p:tgtEl>
                                          <p:spTgt spid="1136777"/>
                                        </p:tgtEl>
                                        <p:attrNameLst>
                                          <p:attrName>ppt_y</p:attrName>
                                        </p:attrNameLst>
                                      </p:cBhvr>
                                      <p:tavLst>
                                        <p:tav tm="0">
                                          <p:val>
                                            <p:strVal val="1+#ppt_h/2"/>
                                          </p:val>
                                        </p:tav>
                                        <p:tav tm="100000">
                                          <p:val>
                                            <p:strVal val="#ppt_y"/>
                                          </p:val>
                                        </p:tav>
                                      </p:tavLst>
                                    </p:anim>
                                  </p:childTnLst>
                                </p:cTn>
                              </p:par>
                            </p:childTnLst>
                          </p:cTn>
                        </p:par>
                        <p:par>
                          <p:cTn id="169" fill="hold">
                            <p:stCondLst>
                              <p:cond delay="1000"/>
                            </p:stCondLst>
                            <p:childTnLst>
                              <p:par>
                                <p:cTn id="170" presetID="2" presetClass="entr" presetSubtype="4" fill="hold" grpId="0" nodeType="afterEffect">
                                  <p:stCondLst>
                                    <p:cond delay="0"/>
                                  </p:stCondLst>
                                  <p:childTnLst>
                                    <p:set>
                                      <p:cBhvr>
                                        <p:cTn id="171" dur="1" fill="hold">
                                          <p:stCondLst>
                                            <p:cond delay="0"/>
                                          </p:stCondLst>
                                        </p:cTn>
                                        <p:tgtEl>
                                          <p:spTgt spid="1136779"/>
                                        </p:tgtEl>
                                        <p:attrNameLst>
                                          <p:attrName>style.visibility</p:attrName>
                                        </p:attrNameLst>
                                      </p:cBhvr>
                                      <p:to>
                                        <p:strVal val="visible"/>
                                      </p:to>
                                    </p:set>
                                    <p:anim calcmode="lin" valueType="num">
                                      <p:cBhvr additive="base">
                                        <p:cTn id="172" dur="500" fill="hold"/>
                                        <p:tgtEl>
                                          <p:spTgt spid="1136779"/>
                                        </p:tgtEl>
                                        <p:attrNameLst>
                                          <p:attrName>ppt_x</p:attrName>
                                        </p:attrNameLst>
                                      </p:cBhvr>
                                      <p:tavLst>
                                        <p:tav tm="0">
                                          <p:val>
                                            <p:strVal val="#ppt_x"/>
                                          </p:val>
                                        </p:tav>
                                        <p:tav tm="100000">
                                          <p:val>
                                            <p:strVal val="#ppt_x"/>
                                          </p:val>
                                        </p:tav>
                                      </p:tavLst>
                                    </p:anim>
                                    <p:anim calcmode="lin" valueType="num">
                                      <p:cBhvr additive="base">
                                        <p:cTn id="173" dur="500" fill="hold"/>
                                        <p:tgtEl>
                                          <p:spTgt spid="1136779"/>
                                        </p:tgtEl>
                                        <p:attrNameLst>
                                          <p:attrName>ppt_y</p:attrName>
                                        </p:attrNameLst>
                                      </p:cBhvr>
                                      <p:tavLst>
                                        <p:tav tm="0">
                                          <p:val>
                                            <p:strVal val="1+#ppt_h/2"/>
                                          </p:val>
                                        </p:tav>
                                        <p:tav tm="100000">
                                          <p:val>
                                            <p:strVal val="#ppt_y"/>
                                          </p:val>
                                        </p:tav>
                                      </p:tavLst>
                                    </p:anim>
                                  </p:childTnLst>
                                </p:cTn>
                              </p:par>
                            </p:childTnLst>
                          </p:cTn>
                        </p:par>
                        <p:par>
                          <p:cTn id="174" fill="hold">
                            <p:stCondLst>
                              <p:cond delay="1500"/>
                            </p:stCondLst>
                            <p:childTnLst>
                              <p:par>
                                <p:cTn id="175" presetID="2" presetClass="entr" presetSubtype="4" fill="hold" grpId="0" nodeType="afterEffect">
                                  <p:stCondLst>
                                    <p:cond delay="0"/>
                                  </p:stCondLst>
                                  <p:childTnLst>
                                    <p:set>
                                      <p:cBhvr>
                                        <p:cTn id="176" dur="1" fill="hold">
                                          <p:stCondLst>
                                            <p:cond delay="0"/>
                                          </p:stCondLst>
                                        </p:cTn>
                                        <p:tgtEl>
                                          <p:spTgt spid="1136781"/>
                                        </p:tgtEl>
                                        <p:attrNameLst>
                                          <p:attrName>style.visibility</p:attrName>
                                        </p:attrNameLst>
                                      </p:cBhvr>
                                      <p:to>
                                        <p:strVal val="visible"/>
                                      </p:to>
                                    </p:set>
                                    <p:anim calcmode="lin" valueType="num">
                                      <p:cBhvr additive="base">
                                        <p:cTn id="177" dur="500" fill="hold"/>
                                        <p:tgtEl>
                                          <p:spTgt spid="1136781"/>
                                        </p:tgtEl>
                                        <p:attrNameLst>
                                          <p:attrName>ppt_x</p:attrName>
                                        </p:attrNameLst>
                                      </p:cBhvr>
                                      <p:tavLst>
                                        <p:tav tm="0">
                                          <p:val>
                                            <p:strVal val="#ppt_x"/>
                                          </p:val>
                                        </p:tav>
                                        <p:tav tm="100000">
                                          <p:val>
                                            <p:strVal val="#ppt_x"/>
                                          </p:val>
                                        </p:tav>
                                      </p:tavLst>
                                    </p:anim>
                                    <p:anim calcmode="lin" valueType="num">
                                      <p:cBhvr additive="base">
                                        <p:cTn id="178" dur="500" fill="hold"/>
                                        <p:tgtEl>
                                          <p:spTgt spid="1136781"/>
                                        </p:tgtEl>
                                        <p:attrNameLst>
                                          <p:attrName>ppt_y</p:attrName>
                                        </p:attrNameLst>
                                      </p:cBhvr>
                                      <p:tavLst>
                                        <p:tav tm="0">
                                          <p:val>
                                            <p:strVal val="1+#ppt_h/2"/>
                                          </p:val>
                                        </p:tav>
                                        <p:tav tm="100000">
                                          <p:val>
                                            <p:strVal val="#ppt_y"/>
                                          </p:val>
                                        </p:tav>
                                      </p:tavLst>
                                    </p:anim>
                                  </p:childTnLst>
                                </p:cTn>
                              </p:par>
                            </p:childTnLst>
                          </p:cTn>
                        </p:par>
                        <p:par>
                          <p:cTn id="179" fill="hold">
                            <p:stCondLst>
                              <p:cond delay="2000"/>
                            </p:stCondLst>
                            <p:childTnLst>
                              <p:par>
                                <p:cTn id="180" presetID="2" presetClass="entr" presetSubtype="4" fill="hold" grpId="0" nodeType="afterEffect">
                                  <p:stCondLst>
                                    <p:cond delay="0"/>
                                  </p:stCondLst>
                                  <p:childTnLst>
                                    <p:set>
                                      <p:cBhvr>
                                        <p:cTn id="181" dur="1" fill="hold">
                                          <p:stCondLst>
                                            <p:cond delay="0"/>
                                          </p:stCondLst>
                                        </p:cTn>
                                        <p:tgtEl>
                                          <p:spTgt spid="1136783"/>
                                        </p:tgtEl>
                                        <p:attrNameLst>
                                          <p:attrName>style.visibility</p:attrName>
                                        </p:attrNameLst>
                                      </p:cBhvr>
                                      <p:to>
                                        <p:strVal val="visible"/>
                                      </p:to>
                                    </p:set>
                                    <p:anim calcmode="lin" valueType="num">
                                      <p:cBhvr additive="base">
                                        <p:cTn id="182" dur="500" fill="hold"/>
                                        <p:tgtEl>
                                          <p:spTgt spid="1136783"/>
                                        </p:tgtEl>
                                        <p:attrNameLst>
                                          <p:attrName>ppt_x</p:attrName>
                                        </p:attrNameLst>
                                      </p:cBhvr>
                                      <p:tavLst>
                                        <p:tav tm="0">
                                          <p:val>
                                            <p:strVal val="#ppt_x"/>
                                          </p:val>
                                        </p:tav>
                                        <p:tav tm="100000">
                                          <p:val>
                                            <p:strVal val="#ppt_x"/>
                                          </p:val>
                                        </p:tav>
                                      </p:tavLst>
                                    </p:anim>
                                    <p:anim calcmode="lin" valueType="num">
                                      <p:cBhvr additive="base">
                                        <p:cTn id="183" dur="500" fill="hold"/>
                                        <p:tgtEl>
                                          <p:spTgt spid="1136783"/>
                                        </p:tgtEl>
                                        <p:attrNameLst>
                                          <p:attrName>ppt_y</p:attrName>
                                        </p:attrNameLst>
                                      </p:cBhvr>
                                      <p:tavLst>
                                        <p:tav tm="0">
                                          <p:val>
                                            <p:strVal val="1+#ppt_h/2"/>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2" presetClass="entr" presetSubtype="4" fill="hold" grpId="0" nodeType="clickEffect">
                                  <p:stCondLst>
                                    <p:cond delay="0"/>
                                  </p:stCondLst>
                                  <p:childTnLst>
                                    <p:set>
                                      <p:cBhvr>
                                        <p:cTn id="187" dur="1" fill="hold">
                                          <p:stCondLst>
                                            <p:cond delay="0"/>
                                          </p:stCondLst>
                                        </p:cTn>
                                        <p:tgtEl>
                                          <p:spTgt spid="1136776"/>
                                        </p:tgtEl>
                                        <p:attrNameLst>
                                          <p:attrName>style.visibility</p:attrName>
                                        </p:attrNameLst>
                                      </p:cBhvr>
                                      <p:to>
                                        <p:strVal val="visible"/>
                                      </p:to>
                                    </p:set>
                                    <p:anim calcmode="lin" valueType="num">
                                      <p:cBhvr additive="base">
                                        <p:cTn id="188" dur="500" fill="hold"/>
                                        <p:tgtEl>
                                          <p:spTgt spid="1136776"/>
                                        </p:tgtEl>
                                        <p:attrNameLst>
                                          <p:attrName>ppt_x</p:attrName>
                                        </p:attrNameLst>
                                      </p:cBhvr>
                                      <p:tavLst>
                                        <p:tav tm="0">
                                          <p:val>
                                            <p:strVal val="#ppt_x"/>
                                          </p:val>
                                        </p:tav>
                                        <p:tav tm="100000">
                                          <p:val>
                                            <p:strVal val="#ppt_x"/>
                                          </p:val>
                                        </p:tav>
                                      </p:tavLst>
                                    </p:anim>
                                    <p:anim calcmode="lin" valueType="num">
                                      <p:cBhvr additive="base">
                                        <p:cTn id="189" dur="500" fill="hold"/>
                                        <p:tgtEl>
                                          <p:spTgt spid="1136776"/>
                                        </p:tgtEl>
                                        <p:attrNameLst>
                                          <p:attrName>ppt_y</p:attrName>
                                        </p:attrNameLst>
                                      </p:cBhvr>
                                      <p:tavLst>
                                        <p:tav tm="0">
                                          <p:val>
                                            <p:strVal val="1+#ppt_h/2"/>
                                          </p:val>
                                        </p:tav>
                                        <p:tav tm="100000">
                                          <p:val>
                                            <p:strVal val="#ppt_y"/>
                                          </p:val>
                                        </p:tav>
                                      </p:tavLst>
                                    </p:anim>
                                  </p:childTnLst>
                                </p:cTn>
                              </p:par>
                            </p:childTnLst>
                          </p:cTn>
                        </p:par>
                        <p:par>
                          <p:cTn id="190" fill="hold">
                            <p:stCondLst>
                              <p:cond delay="500"/>
                            </p:stCondLst>
                            <p:childTnLst>
                              <p:par>
                                <p:cTn id="191" presetID="2" presetClass="entr" presetSubtype="4" fill="hold" grpId="0" nodeType="afterEffect">
                                  <p:stCondLst>
                                    <p:cond delay="0"/>
                                  </p:stCondLst>
                                  <p:childTnLst>
                                    <p:set>
                                      <p:cBhvr>
                                        <p:cTn id="192" dur="1" fill="hold">
                                          <p:stCondLst>
                                            <p:cond delay="0"/>
                                          </p:stCondLst>
                                        </p:cTn>
                                        <p:tgtEl>
                                          <p:spTgt spid="1136778"/>
                                        </p:tgtEl>
                                        <p:attrNameLst>
                                          <p:attrName>style.visibility</p:attrName>
                                        </p:attrNameLst>
                                      </p:cBhvr>
                                      <p:to>
                                        <p:strVal val="visible"/>
                                      </p:to>
                                    </p:set>
                                    <p:anim calcmode="lin" valueType="num">
                                      <p:cBhvr additive="base">
                                        <p:cTn id="193" dur="500" fill="hold"/>
                                        <p:tgtEl>
                                          <p:spTgt spid="1136778"/>
                                        </p:tgtEl>
                                        <p:attrNameLst>
                                          <p:attrName>ppt_x</p:attrName>
                                        </p:attrNameLst>
                                      </p:cBhvr>
                                      <p:tavLst>
                                        <p:tav tm="0">
                                          <p:val>
                                            <p:strVal val="#ppt_x"/>
                                          </p:val>
                                        </p:tav>
                                        <p:tav tm="100000">
                                          <p:val>
                                            <p:strVal val="#ppt_x"/>
                                          </p:val>
                                        </p:tav>
                                      </p:tavLst>
                                    </p:anim>
                                    <p:anim calcmode="lin" valueType="num">
                                      <p:cBhvr additive="base">
                                        <p:cTn id="194" dur="500" fill="hold"/>
                                        <p:tgtEl>
                                          <p:spTgt spid="1136778"/>
                                        </p:tgtEl>
                                        <p:attrNameLst>
                                          <p:attrName>ppt_y</p:attrName>
                                        </p:attrNameLst>
                                      </p:cBhvr>
                                      <p:tavLst>
                                        <p:tav tm="0">
                                          <p:val>
                                            <p:strVal val="1+#ppt_h/2"/>
                                          </p:val>
                                        </p:tav>
                                        <p:tav tm="100000">
                                          <p:val>
                                            <p:strVal val="#ppt_y"/>
                                          </p:val>
                                        </p:tav>
                                      </p:tavLst>
                                    </p:anim>
                                  </p:childTnLst>
                                </p:cTn>
                              </p:par>
                            </p:childTnLst>
                          </p:cTn>
                        </p:par>
                        <p:par>
                          <p:cTn id="195" fill="hold">
                            <p:stCondLst>
                              <p:cond delay="1000"/>
                            </p:stCondLst>
                            <p:childTnLst>
                              <p:par>
                                <p:cTn id="196" presetID="2" presetClass="entr" presetSubtype="4" fill="hold" grpId="0" nodeType="afterEffect">
                                  <p:stCondLst>
                                    <p:cond delay="0"/>
                                  </p:stCondLst>
                                  <p:childTnLst>
                                    <p:set>
                                      <p:cBhvr>
                                        <p:cTn id="197" dur="1" fill="hold">
                                          <p:stCondLst>
                                            <p:cond delay="0"/>
                                          </p:stCondLst>
                                        </p:cTn>
                                        <p:tgtEl>
                                          <p:spTgt spid="1136780"/>
                                        </p:tgtEl>
                                        <p:attrNameLst>
                                          <p:attrName>style.visibility</p:attrName>
                                        </p:attrNameLst>
                                      </p:cBhvr>
                                      <p:to>
                                        <p:strVal val="visible"/>
                                      </p:to>
                                    </p:set>
                                    <p:anim calcmode="lin" valueType="num">
                                      <p:cBhvr additive="base">
                                        <p:cTn id="198" dur="500" fill="hold"/>
                                        <p:tgtEl>
                                          <p:spTgt spid="1136780"/>
                                        </p:tgtEl>
                                        <p:attrNameLst>
                                          <p:attrName>ppt_x</p:attrName>
                                        </p:attrNameLst>
                                      </p:cBhvr>
                                      <p:tavLst>
                                        <p:tav tm="0">
                                          <p:val>
                                            <p:strVal val="#ppt_x"/>
                                          </p:val>
                                        </p:tav>
                                        <p:tav tm="100000">
                                          <p:val>
                                            <p:strVal val="#ppt_x"/>
                                          </p:val>
                                        </p:tav>
                                      </p:tavLst>
                                    </p:anim>
                                    <p:anim calcmode="lin" valueType="num">
                                      <p:cBhvr additive="base">
                                        <p:cTn id="199" dur="500" fill="hold"/>
                                        <p:tgtEl>
                                          <p:spTgt spid="1136780"/>
                                        </p:tgtEl>
                                        <p:attrNameLst>
                                          <p:attrName>ppt_y</p:attrName>
                                        </p:attrNameLst>
                                      </p:cBhvr>
                                      <p:tavLst>
                                        <p:tav tm="0">
                                          <p:val>
                                            <p:strVal val="1+#ppt_h/2"/>
                                          </p:val>
                                        </p:tav>
                                        <p:tav tm="100000">
                                          <p:val>
                                            <p:strVal val="#ppt_y"/>
                                          </p:val>
                                        </p:tav>
                                      </p:tavLst>
                                    </p:anim>
                                  </p:childTnLst>
                                </p:cTn>
                              </p:par>
                            </p:childTnLst>
                          </p:cTn>
                        </p:par>
                        <p:par>
                          <p:cTn id="200" fill="hold">
                            <p:stCondLst>
                              <p:cond delay="1500"/>
                            </p:stCondLst>
                            <p:childTnLst>
                              <p:par>
                                <p:cTn id="201" presetID="2" presetClass="entr" presetSubtype="4" fill="hold" grpId="0" nodeType="afterEffect">
                                  <p:stCondLst>
                                    <p:cond delay="0"/>
                                  </p:stCondLst>
                                  <p:childTnLst>
                                    <p:set>
                                      <p:cBhvr>
                                        <p:cTn id="202" dur="1" fill="hold">
                                          <p:stCondLst>
                                            <p:cond delay="0"/>
                                          </p:stCondLst>
                                        </p:cTn>
                                        <p:tgtEl>
                                          <p:spTgt spid="1136782"/>
                                        </p:tgtEl>
                                        <p:attrNameLst>
                                          <p:attrName>style.visibility</p:attrName>
                                        </p:attrNameLst>
                                      </p:cBhvr>
                                      <p:to>
                                        <p:strVal val="visible"/>
                                      </p:to>
                                    </p:set>
                                    <p:anim calcmode="lin" valueType="num">
                                      <p:cBhvr additive="base">
                                        <p:cTn id="203" dur="500" fill="hold"/>
                                        <p:tgtEl>
                                          <p:spTgt spid="1136782"/>
                                        </p:tgtEl>
                                        <p:attrNameLst>
                                          <p:attrName>ppt_x</p:attrName>
                                        </p:attrNameLst>
                                      </p:cBhvr>
                                      <p:tavLst>
                                        <p:tav tm="0">
                                          <p:val>
                                            <p:strVal val="#ppt_x"/>
                                          </p:val>
                                        </p:tav>
                                        <p:tav tm="100000">
                                          <p:val>
                                            <p:strVal val="#ppt_x"/>
                                          </p:val>
                                        </p:tav>
                                      </p:tavLst>
                                    </p:anim>
                                    <p:anim calcmode="lin" valueType="num">
                                      <p:cBhvr additive="base">
                                        <p:cTn id="204" dur="500" fill="hold"/>
                                        <p:tgtEl>
                                          <p:spTgt spid="1136782"/>
                                        </p:tgtEl>
                                        <p:attrNameLst>
                                          <p:attrName>ppt_y</p:attrName>
                                        </p:attrNameLst>
                                      </p:cBhvr>
                                      <p:tavLst>
                                        <p:tav tm="0">
                                          <p:val>
                                            <p:strVal val="1+#ppt_h/2"/>
                                          </p:val>
                                        </p:tav>
                                        <p:tav tm="100000">
                                          <p:val>
                                            <p:strVal val="#ppt_y"/>
                                          </p:val>
                                        </p:tav>
                                      </p:tavLst>
                                    </p:anim>
                                  </p:childTnLst>
                                </p:cTn>
                              </p:par>
                            </p:childTnLst>
                          </p:cTn>
                        </p:par>
                        <p:par>
                          <p:cTn id="205" fill="hold">
                            <p:stCondLst>
                              <p:cond delay="2000"/>
                            </p:stCondLst>
                            <p:childTnLst>
                              <p:par>
                                <p:cTn id="206" presetID="2" presetClass="entr" presetSubtype="4" fill="hold" grpId="0" nodeType="afterEffect">
                                  <p:stCondLst>
                                    <p:cond delay="0"/>
                                  </p:stCondLst>
                                  <p:childTnLst>
                                    <p:set>
                                      <p:cBhvr>
                                        <p:cTn id="207" dur="1" fill="hold">
                                          <p:stCondLst>
                                            <p:cond delay="0"/>
                                          </p:stCondLst>
                                        </p:cTn>
                                        <p:tgtEl>
                                          <p:spTgt spid="1136784"/>
                                        </p:tgtEl>
                                        <p:attrNameLst>
                                          <p:attrName>style.visibility</p:attrName>
                                        </p:attrNameLst>
                                      </p:cBhvr>
                                      <p:to>
                                        <p:strVal val="visible"/>
                                      </p:to>
                                    </p:set>
                                    <p:anim calcmode="lin" valueType="num">
                                      <p:cBhvr additive="base">
                                        <p:cTn id="208" dur="500" fill="hold"/>
                                        <p:tgtEl>
                                          <p:spTgt spid="1136784"/>
                                        </p:tgtEl>
                                        <p:attrNameLst>
                                          <p:attrName>ppt_x</p:attrName>
                                        </p:attrNameLst>
                                      </p:cBhvr>
                                      <p:tavLst>
                                        <p:tav tm="0">
                                          <p:val>
                                            <p:strVal val="#ppt_x"/>
                                          </p:val>
                                        </p:tav>
                                        <p:tav tm="100000">
                                          <p:val>
                                            <p:strVal val="#ppt_x"/>
                                          </p:val>
                                        </p:tav>
                                      </p:tavLst>
                                    </p:anim>
                                    <p:anim calcmode="lin" valueType="num">
                                      <p:cBhvr additive="base">
                                        <p:cTn id="209" dur="500" fill="hold"/>
                                        <p:tgtEl>
                                          <p:spTgt spid="1136784"/>
                                        </p:tgtEl>
                                        <p:attrNameLst>
                                          <p:attrName>ppt_y</p:attrName>
                                        </p:attrNameLst>
                                      </p:cBhvr>
                                      <p:tavLst>
                                        <p:tav tm="0">
                                          <p:val>
                                            <p:strVal val="1+#ppt_h/2"/>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presetID="2" presetClass="entr" presetSubtype="4" fill="hold" grpId="0" nodeType="clickEffect">
                                  <p:stCondLst>
                                    <p:cond delay="0"/>
                                  </p:stCondLst>
                                  <p:childTnLst>
                                    <p:set>
                                      <p:cBhvr>
                                        <p:cTn id="213" dur="1" fill="hold">
                                          <p:stCondLst>
                                            <p:cond delay="0"/>
                                          </p:stCondLst>
                                        </p:cTn>
                                        <p:tgtEl>
                                          <p:spTgt spid="1136785"/>
                                        </p:tgtEl>
                                        <p:attrNameLst>
                                          <p:attrName>style.visibility</p:attrName>
                                        </p:attrNameLst>
                                      </p:cBhvr>
                                      <p:to>
                                        <p:strVal val="visible"/>
                                      </p:to>
                                    </p:set>
                                    <p:anim calcmode="lin" valueType="num">
                                      <p:cBhvr additive="base">
                                        <p:cTn id="214" dur="500" fill="hold"/>
                                        <p:tgtEl>
                                          <p:spTgt spid="1136785"/>
                                        </p:tgtEl>
                                        <p:attrNameLst>
                                          <p:attrName>ppt_x</p:attrName>
                                        </p:attrNameLst>
                                      </p:cBhvr>
                                      <p:tavLst>
                                        <p:tav tm="0">
                                          <p:val>
                                            <p:strVal val="#ppt_x"/>
                                          </p:val>
                                        </p:tav>
                                        <p:tav tm="100000">
                                          <p:val>
                                            <p:strVal val="#ppt_x"/>
                                          </p:val>
                                        </p:tav>
                                      </p:tavLst>
                                    </p:anim>
                                    <p:anim calcmode="lin" valueType="num">
                                      <p:cBhvr additive="base">
                                        <p:cTn id="215" dur="500" fill="hold"/>
                                        <p:tgtEl>
                                          <p:spTgt spid="1136785"/>
                                        </p:tgtEl>
                                        <p:attrNameLst>
                                          <p:attrName>ppt_y</p:attrName>
                                        </p:attrNameLst>
                                      </p:cBhvr>
                                      <p:tavLst>
                                        <p:tav tm="0">
                                          <p:val>
                                            <p:strVal val="1+#ppt_h/2"/>
                                          </p:val>
                                        </p:tav>
                                        <p:tav tm="100000">
                                          <p:val>
                                            <p:strVal val="#ppt_y"/>
                                          </p:val>
                                        </p:tav>
                                      </p:tavLst>
                                    </p:anim>
                                  </p:childTnLst>
                                </p:cTn>
                              </p:par>
                            </p:childTnLst>
                          </p:cTn>
                        </p:par>
                        <p:par>
                          <p:cTn id="216" fill="hold">
                            <p:stCondLst>
                              <p:cond delay="500"/>
                            </p:stCondLst>
                            <p:childTnLst>
                              <p:par>
                                <p:cTn id="217" presetID="2" presetClass="entr" presetSubtype="4" fill="hold" grpId="0" nodeType="afterEffect">
                                  <p:stCondLst>
                                    <p:cond delay="0"/>
                                  </p:stCondLst>
                                  <p:childTnLst>
                                    <p:set>
                                      <p:cBhvr>
                                        <p:cTn id="218" dur="1" fill="hold">
                                          <p:stCondLst>
                                            <p:cond delay="0"/>
                                          </p:stCondLst>
                                        </p:cTn>
                                        <p:tgtEl>
                                          <p:spTgt spid="1136786"/>
                                        </p:tgtEl>
                                        <p:attrNameLst>
                                          <p:attrName>style.visibility</p:attrName>
                                        </p:attrNameLst>
                                      </p:cBhvr>
                                      <p:to>
                                        <p:strVal val="visible"/>
                                      </p:to>
                                    </p:set>
                                    <p:anim calcmode="lin" valueType="num">
                                      <p:cBhvr additive="base">
                                        <p:cTn id="219" dur="500" fill="hold"/>
                                        <p:tgtEl>
                                          <p:spTgt spid="1136786"/>
                                        </p:tgtEl>
                                        <p:attrNameLst>
                                          <p:attrName>ppt_x</p:attrName>
                                        </p:attrNameLst>
                                      </p:cBhvr>
                                      <p:tavLst>
                                        <p:tav tm="0">
                                          <p:val>
                                            <p:strVal val="#ppt_x"/>
                                          </p:val>
                                        </p:tav>
                                        <p:tav tm="100000">
                                          <p:val>
                                            <p:strVal val="#ppt_x"/>
                                          </p:val>
                                        </p:tav>
                                      </p:tavLst>
                                    </p:anim>
                                    <p:anim calcmode="lin" valueType="num">
                                      <p:cBhvr additive="base">
                                        <p:cTn id="220" dur="500" fill="hold"/>
                                        <p:tgtEl>
                                          <p:spTgt spid="11367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19" grpId="0" animBg="1" autoUpdateAnimBg="0"/>
      <p:bldP spid="1136720" grpId="0" animBg="1" autoUpdateAnimBg="0"/>
      <p:bldP spid="1136721" grpId="0" animBg="1" autoUpdateAnimBg="0"/>
      <p:bldP spid="1136722" grpId="0" animBg="1" autoUpdateAnimBg="0"/>
      <p:bldP spid="1136723" grpId="0" animBg="1" autoUpdateAnimBg="0"/>
      <p:bldP spid="1136724" grpId="0" animBg="1" autoUpdateAnimBg="0"/>
      <p:bldP spid="1136725" grpId="0" animBg="1" autoUpdateAnimBg="0"/>
      <p:bldP spid="1136726" grpId="0" animBg="1" autoUpdateAnimBg="0"/>
      <p:bldP spid="1136727" grpId="0" animBg="1" autoUpdateAnimBg="0"/>
      <p:bldP spid="1136728" grpId="0" animBg="1" autoUpdateAnimBg="0"/>
      <p:bldP spid="1136729" grpId="0" animBg="1" autoUpdateAnimBg="0"/>
      <p:bldP spid="1136730" grpId="0" animBg="1" autoUpdateAnimBg="0"/>
      <p:bldP spid="1136731" grpId="0" animBg="1" autoUpdateAnimBg="0"/>
      <p:bldP spid="1136732" grpId="0" animBg="1" autoUpdateAnimBg="0"/>
      <p:bldP spid="1136733" grpId="0" animBg="1" autoUpdateAnimBg="0"/>
      <p:bldP spid="1136734" grpId="0" animBg="1" autoUpdateAnimBg="0"/>
      <p:bldP spid="1136735" grpId="0" animBg="1" autoUpdateAnimBg="0"/>
      <p:bldP spid="1136736" grpId="0" animBg="1" autoUpdateAnimBg="0"/>
      <p:bldP spid="1136765" grpId="0" autoUpdateAnimBg="0"/>
      <p:bldP spid="1136766" grpId="0" autoUpdateAnimBg="0"/>
      <p:bldP spid="1136767" grpId="0" autoUpdateAnimBg="0"/>
      <p:bldP spid="1136768" grpId="0" autoUpdateAnimBg="0"/>
      <p:bldP spid="1136769" grpId="0" autoUpdateAnimBg="0"/>
      <p:bldP spid="1136770" grpId="0" autoUpdateAnimBg="0"/>
      <p:bldP spid="1136771" grpId="0" autoUpdateAnimBg="0"/>
      <p:bldP spid="1136772" grpId="0" autoUpdateAnimBg="0"/>
      <p:bldP spid="1136773" grpId="0" autoUpdateAnimBg="0"/>
      <p:bldP spid="1136774" grpId="0" autoUpdateAnimBg="0"/>
      <p:bldP spid="1136775" grpId="0" autoUpdateAnimBg="0"/>
      <p:bldP spid="1136776" grpId="0" autoUpdateAnimBg="0"/>
      <p:bldP spid="1136777" grpId="0" autoUpdateAnimBg="0"/>
      <p:bldP spid="1136778" grpId="0" autoUpdateAnimBg="0"/>
      <p:bldP spid="1136779" grpId="0" autoUpdateAnimBg="0"/>
      <p:bldP spid="1136780" grpId="0" autoUpdateAnimBg="0"/>
      <p:bldP spid="1136781" grpId="0" autoUpdateAnimBg="0"/>
      <p:bldP spid="1136782" grpId="0" autoUpdateAnimBg="0"/>
      <p:bldP spid="1136783" grpId="0" autoUpdateAnimBg="0"/>
      <p:bldP spid="1136784" grpId="0" autoUpdateAnimBg="0"/>
      <p:bldP spid="1136785" grpId="0" autoUpdateAnimBg="0"/>
      <p:bldP spid="113678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7666" name="Rectangle 2"/>
          <p:cNvSpPr>
            <a:spLocks noGrp="1" noChangeArrowheads="1"/>
          </p:cNvSpPr>
          <p:nvPr>
            <p:ph type="title"/>
          </p:nvPr>
        </p:nvSpPr>
        <p:spPr/>
        <p:txBody>
          <a:bodyPr/>
          <a:lstStyle/>
          <a:p>
            <a:r>
              <a:rPr lang="zh-CN" altLang="en-US" sz="3200" b="0"/>
              <a:t>基于时间片的轮转调度算法</a:t>
            </a:r>
          </a:p>
        </p:txBody>
      </p:sp>
      <p:sp>
        <p:nvSpPr>
          <p:cNvPr id="1137667" name="Rectangle 3"/>
          <p:cNvSpPr>
            <a:spLocks noGrp="1" noChangeArrowheads="1"/>
          </p:cNvSpPr>
          <p:nvPr>
            <p:ph type="body" idx="1"/>
          </p:nvPr>
        </p:nvSpPr>
        <p:spPr>
          <a:xfrm>
            <a:off x="1828800" y="1371600"/>
            <a:ext cx="8534400" cy="5486400"/>
          </a:xfrm>
        </p:spPr>
        <p:txBody>
          <a:bodyPr/>
          <a:lstStyle/>
          <a:p>
            <a:pPr lvl="1"/>
            <a:r>
              <a:rPr lang="zh-CN" altLang="en-US" sz="3100" b="1" dirty="0">
                <a:latin typeface="楷体_GB2312" pitchFamily="49" charset="-122"/>
                <a:ea typeface="楷体_GB2312" pitchFamily="49" charset="-122"/>
              </a:rPr>
              <a:t>分时系统中常用时间片轮转法</a:t>
            </a:r>
          </a:p>
          <a:p>
            <a:pPr lvl="2"/>
            <a:r>
              <a:rPr lang="zh-CN" altLang="en-US" sz="3500" b="1" dirty="0">
                <a:solidFill>
                  <a:srgbClr val="D20000"/>
                </a:solidFill>
                <a:latin typeface="楷体_GB2312" pitchFamily="49" charset="-122"/>
                <a:ea typeface="楷体_GB2312" pitchFamily="49" charset="-122"/>
              </a:rPr>
              <a:t>时间片选择</a:t>
            </a:r>
            <a:r>
              <a:rPr lang="zh-CN" altLang="en-US" sz="3500" b="1" dirty="0">
                <a:latin typeface="楷体_GB2312" pitchFamily="49" charset="-122"/>
                <a:ea typeface="楷体_GB2312" pitchFamily="49" charset="-122"/>
              </a:rPr>
              <a:t>问题</a:t>
            </a:r>
          </a:p>
          <a:p>
            <a:pPr lvl="3"/>
            <a:r>
              <a:rPr lang="zh-CN" altLang="en-US" sz="2400" b="1" dirty="0">
                <a:latin typeface="楷体_GB2312" pitchFamily="49" charset="-122"/>
                <a:ea typeface="楷体_GB2312" pitchFamily="49" charset="-122"/>
              </a:rPr>
              <a:t>固定时间片</a:t>
            </a:r>
          </a:p>
          <a:p>
            <a:pPr lvl="3"/>
            <a:r>
              <a:rPr lang="zh-CN" altLang="en-US" sz="2400" b="1" dirty="0">
                <a:latin typeface="楷体_GB2312" pitchFamily="49" charset="-122"/>
                <a:ea typeface="楷体_GB2312" pitchFamily="49" charset="-122"/>
              </a:rPr>
              <a:t>可变时间片</a:t>
            </a:r>
          </a:p>
          <a:p>
            <a:pPr lvl="3"/>
            <a:r>
              <a:rPr lang="zh-CN" altLang="en-US" sz="2400" b="1" dirty="0">
                <a:latin typeface="楷体_GB2312" pitchFamily="49" charset="-122"/>
                <a:ea typeface="楷体_GB2312" pitchFamily="49" charset="-122"/>
              </a:rPr>
              <a:t>时间片大小</a:t>
            </a:r>
          </a:p>
          <a:p>
            <a:pPr lvl="2"/>
            <a:r>
              <a:rPr lang="zh-CN" altLang="en-US" sz="3500" b="1" dirty="0">
                <a:latin typeface="楷体_GB2312" pitchFamily="49" charset="-122"/>
                <a:ea typeface="楷体_GB2312" pitchFamily="49" charset="-122"/>
              </a:rPr>
              <a:t>与</a:t>
            </a:r>
            <a:r>
              <a:rPr lang="zh-CN" altLang="en-US" sz="3500" b="1" dirty="0">
                <a:solidFill>
                  <a:srgbClr val="D20000"/>
                </a:solidFill>
                <a:latin typeface="楷体_GB2312" pitchFamily="49" charset="-122"/>
                <a:ea typeface="楷体_GB2312" pitchFamily="49" charset="-122"/>
              </a:rPr>
              <a:t>时间片大小</a:t>
            </a:r>
            <a:r>
              <a:rPr lang="zh-CN" altLang="en-US" sz="3500" b="1" dirty="0">
                <a:latin typeface="楷体_GB2312" pitchFamily="49" charset="-122"/>
                <a:ea typeface="楷体_GB2312" pitchFamily="49" charset="-122"/>
              </a:rPr>
              <a:t>有关的因素</a:t>
            </a:r>
          </a:p>
          <a:p>
            <a:pPr lvl="3"/>
            <a:r>
              <a:rPr lang="zh-CN" altLang="en-US" sz="2400" b="1" dirty="0">
                <a:latin typeface="楷体_GB2312" pitchFamily="49" charset="-122"/>
                <a:ea typeface="楷体_GB2312" pitchFamily="49" charset="-122"/>
              </a:rPr>
              <a:t>系统响应时间</a:t>
            </a:r>
          </a:p>
          <a:p>
            <a:pPr lvl="3"/>
            <a:r>
              <a:rPr lang="zh-CN" altLang="en-US" sz="2400" b="1" dirty="0">
                <a:latin typeface="楷体_GB2312" pitchFamily="49" charset="-122"/>
                <a:ea typeface="楷体_GB2312" pitchFamily="49" charset="-122"/>
              </a:rPr>
              <a:t>就绪进程个数</a:t>
            </a:r>
          </a:p>
          <a:p>
            <a:pPr lvl="3"/>
            <a:r>
              <a:rPr lang="en-US" altLang="zh-CN" sz="2400" b="1" dirty="0">
                <a:latin typeface="楷体_GB2312" pitchFamily="49" charset="-122"/>
                <a:ea typeface="楷体_GB2312" pitchFamily="49" charset="-122"/>
              </a:rPr>
              <a:t>CPU</a:t>
            </a:r>
            <a:r>
              <a:rPr lang="zh-CN" altLang="en-US" sz="2400" b="1" dirty="0">
                <a:latin typeface="楷体_GB2312" pitchFamily="49" charset="-122"/>
                <a:ea typeface="楷体_GB2312" pitchFamily="49" charset="-122"/>
              </a:rPr>
              <a:t>能力</a:t>
            </a:r>
            <a:r>
              <a:rPr lang="zh-CN" altLang="en-US" sz="1600" b="1" dirty="0">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37667">
                                            <p:txEl>
                                              <p:pRg st="0" end="0"/>
                                            </p:txEl>
                                          </p:spTgt>
                                        </p:tgtEl>
                                        <p:attrNameLst>
                                          <p:attrName>style.visibility</p:attrName>
                                        </p:attrNameLst>
                                      </p:cBhvr>
                                      <p:to>
                                        <p:strVal val="visible"/>
                                      </p:to>
                                    </p:set>
                                    <p:animEffect transition="in" filter="wipe(up)">
                                      <p:cBhvr>
                                        <p:cTn id="7" dur="500"/>
                                        <p:tgtEl>
                                          <p:spTgt spid="1137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37667">
                                            <p:txEl>
                                              <p:pRg st="1" end="1"/>
                                            </p:txEl>
                                          </p:spTgt>
                                        </p:tgtEl>
                                        <p:attrNameLst>
                                          <p:attrName>style.visibility</p:attrName>
                                        </p:attrNameLst>
                                      </p:cBhvr>
                                      <p:to>
                                        <p:strVal val="visible"/>
                                      </p:to>
                                    </p:set>
                                    <p:animEffect transition="in" filter="wipe(up)">
                                      <p:cBhvr>
                                        <p:cTn id="12" dur="500"/>
                                        <p:tgtEl>
                                          <p:spTgt spid="1137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37667">
                                            <p:txEl>
                                              <p:pRg st="2" end="2"/>
                                            </p:txEl>
                                          </p:spTgt>
                                        </p:tgtEl>
                                        <p:attrNameLst>
                                          <p:attrName>style.visibility</p:attrName>
                                        </p:attrNameLst>
                                      </p:cBhvr>
                                      <p:to>
                                        <p:strVal val="visible"/>
                                      </p:to>
                                    </p:set>
                                    <p:animEffect transition="in" filter="wipe(up)">
                                      <p:cBhvr>
                                        <p:cTn id="17" dur="500"/>
                                        <p:tgtEl>
                                          <p:spTgt spid="11376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37667">
                                            <p:txEl>
                                              <p:pRg st="3" end="3"/>
                                            </p:txEl>
                                          </p:spTgt>
                                        </p:tgtEl>
                                        <p:attrNameLst>
                                          <p:attrName>style.visibility</p:attrName>
                                        </p:attrNameLst>
                                      </p:cBhvr>
                                      <p:to>
                                        <p:strVal val="visible"/>
                                      </p:to>
                                    </p:set>
                                    <p:animEffect transition="in" filter="wipe(up)">
                                      <p:cBhvr>
                                        <p:cTn id="22" dur="500"/>
                                        <p:tgtEl>
                                          <p:spTgt spid="11376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37667">
                                            <p:txEl>
                                              <p:pRg st="4" end="4"/>
                                            </p:txEl>
                                          </p:spTgt>
                                        </p:tgtEl>
                                        <p:attrNameLst>
                                          <p:attrName>style.visibility</p:attrName>
                                        </p:attrNameLst>
                                      </p:cBhvr>
                                      <p:to>
                                        <p:strVal val="visible"/>
                                      </p:to>
                                    </p:set>
                                    <p:animEffect transition="in" filter="wipe(up)">
                                      <p:cBhvr>
                                        <p:cTn id="27" dur="500"/>
                                        <p:tgtEl>
                                          <p:spTgt spid="11376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37667">
                                            <p:txEl>
                                              <p:pRg st="5" end="5"/>
                                            </p:txEl>
                                          </p:spTgt>
                                        </p:tgtEl>
                                        <p:attrNameLst>
                                          <p:attrName>style.visibility</p:attrName>
                                        </p:attrNameLst>
                                      </p:cBhvr>
                                      <p:to>
                                        <p:strVal val="visible"/>
                                      </p:to>
                                    </p:set>
                                    <p:animEffect transition="in" filter="wipe(up)">
                                      <p:cBhvr>
                                        <p:cTn id="32" dur="500"/>
                                        <p:tgtEl>
                                          <p:spTgt spid="11376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37667">
                                            <p:txEl>
                                              <p:pRg st="6" end="6"/>
                                            </p:txEl>
                                          </p:spTgt>
                                        </p:tgtEl>
                                        <p:attrNameLst>
                                          <p:attrName>style.visibility</p:attrName>
                                        </p:attrNameLst>
                                      </p:cBhvr>
                                      <p:to>
                                        <p:strVal val="visible"/>
                                      </p:to>
                                    </p:set>
                                    <p:animEffect transition="in" filter="wipe(up)">
                                      <p:cBhvr>
                                        <p:cTn id="37" dur="500"/>
                                        <p:tgtEl>
                                          <p:spTgt spid="11376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137667">
                                            <p:txEl>
                                              <p:pRg st="7" end="7"/>
                                            </p:txEl>
                                          </p:spTgt>
                                        </p:tgtEl>
                                        <p:attrNameLst>
                                          <p:attrName>style.visibility</p:attrName>
                                        </p:attrNameLst>
                                      </p:cBhvr>
                                      <p:to>
                                        <p:strVal val="visible"/>
                                      </p:to>
                                    </p:set>
                                    <p:animEffect transition="in" filter="wipe(up)">
                                      <p:cBhvr>
                                        <p:cTn id="42" dur="500"/>
                                        <p:tgtEl>
                                          <p:spTgt spid="113766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137667">
                                            <p:txEl>
                                              <p:pRg st="8" end="8"/>
                                            </p:txEl>
                                          </p:spTgt>
                                        </p:tgtEl>
                                        <p:attrNameLst>
                                          <p:attrName>style.visibility</p:attrName>
                                        </p:attrNameLst>
                                      </p:cBhvr>
                                      <p:to>
                                        <p:strVal val="visible"/>
                                      </p:to>
                                    </p:set>
                                    <p:animEffect transition="in" filter="wipe(up)">
                                      <p:cBhvr>
                                        <p:cTn id="47" dur="500"/>
                                        <p:tgtEl>
                                          <p:spTgt spid="11376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667" grpId="0" build="p" bldLvl="5"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38691" name="Text Box 3"/>
          <p:cNvSpPr txBox="1">
            <a:spLocks noChangeArrowheads="1"/>
          </p:cNvSpPr>
          <p:nvPr/>
        </p:nvSpPr>
        <p:spPr bwMode="auto">
          <a:xfrm>
            <a:off x="2019300" y="1368303"/>
            <a:ext cx="8153400" cy="4770537"/>
          </a:xfrm>
          <a:prstGeom prst="rect">
            <a:avLst/>
          </a:prstGeom>
          <a:noFill/>
          <a:ln w="9525">
            <a:noFill/>
            <a:miter lim="800000"/>
            <a:headEnd/>
            <a:tailEnd/>
          </a:ln>
          <a:effectLst/>
        </p:spPr>
        <p:txBody>
          <a:bodyPr>
            <a:spAutoFit/>
          </a:bodyPr>
          <a:lstStyle/>
          <a:p>
            <a:pPr algn="just">
              <a:lnSpc>
                <a:spcPct val="150000"/>
              </a:lnSpc>
              <a:spcBef>
                <a:spcPct val="50000"/>
              </a:spcBef>
            </a:pPr>
            <a:r>
              <a:rPr kumimoji="1" lang="en-US" altLang="zh-CN" sz="2400" b="1" dirty="0">
                <a:latin typeface="Times New Roman" pitchFamily="18" charset="0"/>
              </a:rPr>
              <a:t>1 </a:t>
            </a:r>
            <a:r>
              <a:rPr kumimoji="1" lang="en-US" altLang="zh-CN" b="1" dirty="0"/>
              <a:t>.</a:t>
            </a:r>
            <a:r>
              <a:rPr kumimoji="1" lang="zh-CN" altLang="en-US" sz="2400" b="1" dirty="0">
                <a:latin typeface="Times New Roman" pitchFamily="18" charset="0"/>
              </a:rPr>
              <a:t>时间片大小的确定</a:t>
            </a:r>
          </a:p>
          <a:p>
            <a:r>
              <a:rPr kumimoji="1" lang="zh-CN" altLang="en-US" sz="2400" b="1" dirty="0">
                <a:solidFill>
                  <a:schemeClr val="accent2"/>
                </a:solidFill>
                <a:latin typeface="Times New Roman" pitchFamily="18" charset="0"/>
              </a:rPr>
              <a:t>（</a:t>
            </a:r>
            <a:r>
              <a:rPr kumimoji="1" lang="en-US" altLang="zh-CN" sz="2400" b="1" dirty="0">
                <a:solidFill>
                  <a:schemeClr val="accent2"/>
                </a:solidFill>
                <a:latin typeface="Times New Roman" pitchFamily="18" charset="0"/>
              </a:rPr>
              <a:t>1</a:t>
            </a:r>
            <a:r>
              <a:rPr kumimoji="1" lang="zh-CN" altLang="en-US" sz="2400" b="1" dirty="0">
                <a:solidFill>
                  <a:schemeClr val="accent2"/>
                </a:solidFill>
                <a:latin typeface="Times New Roman" pitchFamily="18" charset="0"/>
              </a:rPr>
              <a:t>）系统对响应时间的要求</a:t>
            </a:r>
          </a:p>
          <a:p>
            <a:r>
              <a:rPr kumimoji="1" lang="zh-CN" altLang="en-US" sz="2400" dirty="0">
                <a:latin typeface="Times New Roman" pitchFamily="18" charset="0"/>
              </a:rPr>
              <a:t>        </a:t>
            </a:r>
            <a:r>
              <a:rPr kumimoji="1" lang="zh-CN" altLang="en-US" dirty="0">
                <a:latin typeface="Times New Roman" pitchFamily="18" charset="0"/>
              </a:rPr>
              <a:t>数目</a:t>
            </a:r>
            <a:r>
              <a:rPr kumimoji="1" lang="en-US" altLang="zh-CN" dirty="0">
                <a:latin typeface="Times New Roman" pitchFamily="18" charset="0"/>
              </a:rPr>
              <a:t>N</a:t>
            </a:r>
            <a:r>
              <a:rPr kumimoji="1" lang="zh-CN" altLang="en-US" dirty="0">
                <a:latin typeface="Times New Roman" pitchFamily="18" charset="0"/>
              </a:rPr>
              <a:t>和时间片</a:t>
            </a:r>
            <a:r>
              <a:rPr kumimoji="1" lang="en-US" altLang="zh-CN" dirty="0">
                <a:latin typeface="Times New Roman" pitchFamily="18" charset="0"/>
              </a:rPr>
              <a:t>q</a:t>
            </a:r>
            <a:r>
              <a:rPr kumimoji="1" lang="zh-CN" altLang="en-US" dirty="0">
                <a:latin typeface="Times New Roman" pitchFamily="18" charset="0"/>
              </a:rPr>
              <a:t>成反比，即</a:t>
            </a:r>
            <a:r>
              <a:rPr kumimoji="1" lang="en-US" altLang="zh-CN" dirty="0">
                <a:latin typeface="Times New Roman" pitchFamily="18" charset="0"/>
              </a:rPr>
              <a:t>T=</a:t>
            </a:r>
            <a:r>
              <a:rPr kumimoji="1" lang="en-US" altLang="zh-CN" dirty="0" err="1">
                <a:latin typeface="Times New Roman" pitchFamily="18" charset="0"/>
              </a:rPr>
              <a:t>Nq</a:t>
            </a:r>
            <a:r>
              <a:rPr kumimoji="1" lang="zh-CN" altLang="en-US" dirty="0">
                <a:latin typeface="Times New Roman" pitchFamily="18" charset="0"/>
              </a:rPr>
              <a:t>，因此在进程数一定时，作为分时系统首先就是必须满足系统对响应时间的要求。时间片的长短将正比于系统所要求的响应时间。</a:t>
            </a:r>
          </a:p>
          <a:p>
            <a:r>
              <a:rPr kumimoji="1" lang="zh-CN" altLang="en-US" sz="2400" b="1" dirty="0">
                <a:solidFill>
                  <a:schemeClr val="accent2"/>
                </a:solidFill>
                <a:latin typeface="Times New Roman" pitchFamily="18" charset="0"/>
              </a:rPr>
              <a:t>（</a:t>
            </a:r>
            <a:r>
              <a:rPr kumimoji="1" lang="en-US" altLang="zh-CN" sz="2400" b="1" dirty="0">
                <a:solidFill>
                  <a:schemeClr val="accent2"/>
                </a:solidFill>
                <a:latin typeface="Times New Roman" pitchFamily="18" charset="0"/>
              </a:rPr>
              <a:t>2</a:t>
            </a:r>
            <a:r>
              <a:rPr kumimoji="1" lang="zh-CN" altLang="en-US" sz="2400" b="1" dirty="0">
                <a:solidFill>
                  <a:schemeClr val="accent2"/>
                </a:solidFill>
                <a:latin typeface="Times New Roman" pitchFamily="18" charset="0"/>
              </a:rPr>
              <a:t>）就绪队列中进程的数目</a:t>
            </a:r>
          </a:p>
          <a:p>
            <a:r>
              <a:rPr kumimoji="1" lang="zh-CN" altLang="en-US" sz="2400" dirty="0">
                <a:latin typeface="Times New Roman" pitchFamily="18" charset="0"/>
              </a:rPr>
              <a:t>        </a:t>
            </a:r>
            <a:r>
              <a:rPr kumimoji="1" lang="zh-CN" altLang="en-US" dirty="0">
                <a:latin typeface="Times New Roman" pitchFamily="18" charset="0"/>
              </a:rPr>
              <a:t>在分时系统中，就绪队列上所有的进程数，是随着在终端上机的用户数目而改变的，但系统应保证，当所有终端用户上机时，获得较好的响应时间。</a:t>
            </a:r>
          </a:p>
          <a:p>
            <a:r>
              <a:rPr kumimoji="1" lang="zh-CN" altLang="en-US" sz="2400" b="1" dirty="0">
                <a:solidFill>
                  <a:schemeClr val="accent2"/>
                </a:solidFill>
                <a:latin typeface="Times New Roman" pitchFamily="18" charset="0"/>
              </a:rPr>
              <a:t>（</a:t>
            </a:r>
            <a:r>
              <a:rPr kumimoji="1" lang="en-US" altLang="zh-CN" sz="2400" b="1" dirty="0">
                <a:solidFill>
                  <a:schemeClr val="accent2"/>
                </a:solidFill>
                <a:latin typeface="Times New Roman" pitchFamily="18" charset="0"/>
              </a:rPr>
              <a:t>3</a:t>
            </a:r>
            <a:r>
              <a:rPr kumimoji="1" lang="zh-CN" altLang="en-US" sz="2400" b="1" dirty="0">
                <a:solidFill>
                  <a:schemeClr val="accent2"/>
                </a:solidFill>
                <a:latin typeface="Times New Roman" pitchFamily="18" charset="0"/>
              </a:rPr>
              <a:t>）系统的处理能力</a:t>
            </a:r>
          </a:p>
          <a:p>
            <a:r>
              <a:rPr kumimoji="1" lang="zh-CN" altLang="en-US" sz="2400" dirty="0">
                <a:latin typeface="Times New Roman" pitchFamily="18" charset="0"/>
              </a:rPr>
              <a:t>        </a:t>
            </a:r>
            <a:r>
              <a:rPr kumimoji="1" lang="zh-CN" altLang="en-US" dirty="0">
                <a:latin typeface="Times New Roman" pitchFamily="18" charset="0"/>
              </a:rPr>
              <a:t>系统的处理能力是必须保证用户键入的常用命令能在一个时间片内处理完毕，否则将无法保证得到满意的响应时间，而且会使平均周转时间及带权周转时间都很长。</a:t>
            </a:r>
            <a:r>
              <a:rPr kumimoji="1" lang="zh-CN" altLang="en-US" sz="2400" dirty="0">
                <a:latin typeface="Times New Roman" pitchFamily="18" charset="0"/>
              </a:rPr>
              <a:t> </a:t>
            </a:r>
          </a:p>
        </p:txBody>
      </p:sp>
      <p:sp>
        <p:nvSpPr>
          <p:cNvPr id="1138692" name="Rectangle 4"/>
          <p:cNvSpPr>
            <a:spLocks noChangeArrowheads="1"/>
          </p:cNvSpPr>
          <p:nvPr/>
        </p:nvSpPr>
        <p:spPr bwMode="gray">
          <a:xfrm>
            <a:off x="685800" y="699987"/>
            <a:ext cx="8534400" cy="381000"/>
          </a:xfrm>
          <a:prstGeom prst="rect">
            <a:avLst/>
          </a:prstGeom>
          <a:noFill/>
          <a:ln w="9525">
            <a:noFill/>
            <a:miter lim="800000"/>
            <a:headEnd/>
            <a:tailEnd/>
          </a:ln>
        </p:spPr>
        <p:txBody>
          <a:bodyPr lIns="0" tIns="0" rIns="0" bIns="0"/>
          <a:lstStyle/>
          <a:p>
            <a:pPr eaLnBrk="0" hangingPunct="0">
              <a:lnSpc>
                <a:spcPct val="85000"/>
              </a:lnSpc>
            </a:pPr>
            <a:r>
              <a:rPr lang="zh-CN" altLang="en-US" sz="3200">
                <a:solidFill>
                  <a:schemeClr val="tx2"/>
                </a:solidFill>
                <a:latin typeface="Times New Roman" pitchFamily="18" charset="0"/>
                <a:ea typeface="仿宋_GB2312" pitchFamily="49" charset="-122"/>
              </a:rPr>
              <a:t>基于时间片的轮转调度算法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38691">
                                            <p:txEl>
                                              <p:pRg st="2" end="2"/>
                                            </p:txEl>
                                          </p:spTgt>
                                        </p:tgtEl>
                                        <p:attrNameLst>
                                          <p:attrName>style.visibility</p:attrName>
                                        </p:attrNameLst>
                                      </p:cBhvr>
                                      <p:to>
                                        <p:strVal val="visible"/>
                                      </p:to>
                                    </p:set>
                                    <p:animEffect transition="in" filter="blinds(horizontal)">
                                      <p:cBhvr>
                                        <p:cTn id="7" dur="500"/>
                                        <p:tgtEl>
                                          <p:spTgt spid="1138691">
                                            <p:txEl>
                                              <p:pRg st="2" end="2"/>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38691">
                                            <p:txEl>
                                              <p:pRg st="4" end="4"/>
                                            </p:txEl>
                                          </p:spTgt>
                                        </p:tgtEl>
                                        <p:attrNameLst>
                                          <p:attrName>style.visibility</p:attrName>
                                        </p:attrNameLst>
                                      </p:cBhvr>
                                      <p:to>
                                        <p:strVal val="visible"/>
                                      </p:to>
                                    </p:set>
                                    <p:animEffect transition="in" filter="blinds(horizontal)">
                                      <p:cBhvr>
                                        <p:cTn id="11" dur="500"/>
                                        <p:tgtEl>
                                          <p:spTgt spid="1138691">
                                            <p:txEl>
                                              <p:pRg st="4" end="4"/>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38691">
                                            <p:txEl>
                                              <p:pRg st="6" end="6"/>
                                            </p:txEl>
                                          </p:spTgt>
                                        </p:tgtEl>
                                        <p:attrNameLst>
                                          <p:attrName>style.visibility</p:attrName>
                                        </p:attrNameLst>
                                      </p:cBhvr>
                                      <p:to>
                                        <p:strVal val="visible"/>
                                      </p:to>
                                    </p:set>
                                    <p:animEffect transition="in" filter="blinds(horizontal)">
                                      <p:cBhvr>
                                        <p:cTn id="15" dur="500"/>
                                        <p:tgtEl>
                                          <p:spTgt spid="11386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714" name="Text Box 2"/>
          <p:cNvSpPr txBox="1">
            <a:spLocks noChangeArrowheads="1"/>
          </p:cNvSpPr>
          <p:nvPr/>
        </p:nvSpPr>
        <p:spPr bwMode="auto">
          <a:xfrm>
            <a:off x="2057400" y="1219200"/>
            <a:ext cx="8382000" cy="1569660"/>
          </a:xfrm>
          <a:prstGeom prst="rect">
            <a:avLst/>
          </a:prstGeom>
          <a:noFill/>
          <a:ln w="9525">
            <a:noFill/>
            <a:miter lim="800000"/>
            <a:headEnd/>
            <a:tailEnd/>
          </a:ln>
          <a:effectLst/>
        </p:spPr>
        <p:txBody>
          <a:bodyPr wrap="square">
            <a:spAutoFit/>
          </a:bodyPr>
          <a:lstStyle/>
          <a:p>
            <a:pPr>
              <a:lnSpc>
                <a:spcPct val="150000"/>
              </a:lnSpc>
            </a:pPr>
            <a:r>
              <a:rPr kumimoji="1" lang="zh-CN" altLang="en-US" sz="2400" dirty="0">
                <a:latin typeface="Times New Roman" pitchFamily="18" charset="0"/>
              </a:rPr>
              <a:t>在系统中设置多个就绪队列，将不同类型或性质的进程固定分配到不同的就绪队列。每个队列可实施不同的调度算法。</a:t>
            </a:r>
            <a:endParaRPr kumimoji="1" lang="en-US" altLang="zh-CN" sz="2400" dirty="0">
              <a:latin typeface="Times New Roman" pitchFamily="18" charset="0"/>
            </a:endParaRPr>
          </a:p>
          <a:p>
            <a:endParaRPr kumimoji="1" lang="zh-CN" altLang="en-US" sz="2400" b="1" dirty="0">
              <a:latin typeface="Times New Roman" pitchFamily="18" charset="0"/>
            </a:endParaRPr>
          </a:p>
        </p:txBody>
      </p:sp>
      <p:sp>
        <p:nvSpPr>
          <p:cNvPr id="1139715" name="Text Box 3"/>
          <p:cNvSpPr txBox="1">
            <a:spLocks noChangeArrowheads="1"/>
          </p:cNvSpPr>
          <p:nvPr/>
        </p:nvSpPr>
        <p:spPr bwMode="auto">
          <a:xfrm>
            <a:off x="2209800" y="2362200"/>
            <a:ext cx="8001000" cy="4084901"/>
          </a:xfrm>
          <a:prstGeom prst="rect">
            <a:avLst/>
          </a:prstGeom>
          <a:noFill/>
          <a:ln w="9525">
            <a:noFill/>
            <a:miter lim="800000"/>
            <a:headEnd/>
            <a:tailEnd/>
          </a:ln>
          <a:effectLst/>
        </p:spPr>
        <p:txBody>
          <a:bodyPr>
            <a:spAutoFit/>
          </a:bodyPr>
          <a:lstStyle/>
          <a:p>
            <a:pPr algn="just">
              <a:lnSpc>
                <a:spcPct val="150000"/>
              </a:lnSpc>
              <a:spcBef>
                <a:spcPct val="50000"/>
              </a:spcBef>
            </a:pPr>
            <a:r>
              <a:rPr kumimoji="1" lang="zh-CN" altLang="en-US" sz="2400" b="1" dirty="0">
                <a:solidFill>
                  <a:schemeClr val="accent2"/>
                </a:solidFill>
                <a:latin typeface="Times New Roman" pitchFamily="18" charset="0"/>
              </a:rPr>
              <a:t>前台</a:t>
            </a:r>
            <a:r>
              <a:rPr kumimoji="1" lang="zh-CN" altLang="en-US" sz="2400" dirty="0">
                <a:latin typeface="Times New Roman" pitchFamily="18" charset="0"/>
              </a:rPr>
              <a:t>的就绪队列是交互性作业的进程，采用时间片轮转。</a:t>
            </a:r>
          </a:p>
          <a:p>
            <a:pPr algn="just">
              <a:lnSpc>
                <a:spcPct val="150000"/>
              </a:lnSpc>
              <a:spcBef>
                <a:spcPct val="50000"/>
              </a:spcBef>
            </a:pPr>
            <a:r>
              <a:rPr kumimoji="1" lang="zh-CN" altLang="en-US" sz="2400" b="1" dirty="0">
                <a:solidFill>
                  <a:schemeClr val="accent2"/>
                </a:solidFill>
                <a:latin typeface="Times New Roman" pitchFamily="18" charset="0"/>
              </a:rPr>
              <a:t>后台</a:t>
            </a:r>
            <a:r>
              <a:rPr kumimoji="1" lang="zh-CN" altLang="en-US" sz="2400" dirty="0">
                <a:latin typeface="Times New Roman" pitchFamily="18" charset="0"/>
              </a:rPr>
              <a:t>的就绪队列是批处理作业的进程，采用优先权或短作业优先算法。</a:t>
            </a:r>
          </a:p>
          <a:p>
            <a:pPr algn="just">
              <a:lnSpc>
                <a:spcPct val="150000"/>
              </a:lnSpc>
              <a:spcBef>
                <a:spcPct val="50000"/>
              </a:spcBef>
            </a:pPr>
            <a:r>
              <a:rPr kumimoji="1" lang="zh-CN" altLang="en-US" sz="2400" dirty="0">
                <a:latin typeface="Times New Roman" pitchFamily="18" charset="0"/>
              </a:rPr>
              <a:t>调度方式有两种：（不同队列本身也可设置不同的优先级）</a:t>
            </a:r>
          </a:p>
          <a:p>
            <a:pPr algn="just">
              <a:lnSpc>
                <a:spcPct val="150000"/>
              </a:lnSpc>
              <a:spcBef>
                <a:spcPct val="50000"/>
              </a:spcBef>
            </a:pPr>
            <a:r>
              <a:rPr lang="en-US" altLang="zh-CN" sz="2400" dirty="0">
                <a:latin typeface="Times New Roman" pitchFamily="18" charset="0"/>
              </a:rPr>
              <a:t>(1) </a:t>
            </a:r>
            <a:r>
              <a:rPr lang="zh-CN" altLang="en-US" sz="2400" dirty="0">
                <a:latin typeface="Times New Roman" pitchFamily="18" charset="0"/>
              </a:rPr>
              <a:t>优先调度前台，若前台无可运行进程，才调度后台。</a:t>
            </a:r>
          </a:p>
          <a:p>
            <a:pPr algn="just">
              <a:lnSpc>
                <a:spcPct val="150000"/>
              </a:lnSpc>
              <a:spcBef>
                <a:spcPct val="50000"/>
              </a:spcBef>
            </a:pPr>
            <a:r>
              <a:rPr lang="en-US" altLang="zh-CN" sz="2400" dirty="0">
                <a:latin typeface="Times New Roman" pitchFamily="18" charset="0"/>
              </a:rPr>
              <a:t>(2) </a:t>
            </a:r>
            <a:r>
              <a:rPr lang="zh-CN" altLang="en-US" sz="2400" dirty="0">
                <a:latin typeface="Times New Roman" pitchFamily="18" charset="0"/>
              </a:rPr>
              <a:t>分配占用</a:t>
            </a:r>
            <a:r>
              <a:rPr lang="en-US" altLang="zh-CN" sz="2400" dirty="0">
                <a:latin typeface="Times New Roman" pitchFamily="18" charset="0"/>
              </a:rPr>
              <a:t>CPU</a:t>
            </a:r>
            <a:r>
              <a:rPr lang="zh-CN" altLang="en-US" sz="2400" dirty="0">
                <a:latin typeface="Times New Roman" pitchFamily="18" charset="0"/>
              </a:rPr>
              <a:t>的时间比例，如：前台</a:t>
            </a:r>
            <a:r>
              <a:rPr lang="en-US" altLang="zh-CN" sz="2400" dirty="0">
                <a:latin typeface="Times New Roman" pitchFamily="18" charset="0"/>
              </a:rPr>
              <a:t>80%</a:t>
            </a:r>
            <a:r>
              <a:rPr lang="zh-CN" altLang="en-US" sz="2400" dirty="0">
                <a:latin typeface="Times New Roman" pitchFamily="18" charset="0"/>
              </a:rPr>
              <a:t>，后台</a:t>
            </a:r>
            <a:r>
              <a:rPr lang="en-US" altLang="zh-CN" sz="2400" dirty="0">
                <a:latin typeface="Times New Roman" pitchFamily="18" charset="0"/>
              </a:rPr>
              <a:t>20%</a:t>
            </a:r>
            <a:r>
              <a:rPr lang="zh-CN" altLang="en-US" sz="2400" dirty="0">
                <a:latin typeface="Times New Roman" pitchFamily="18" charset="0"/>
              </a:rPr>
              <a:t>。</a:t>
            </a:r>
          </a:p>
        </p:txBody>
      </p:sp>
      <p:sp>
        <p:nvSpPr>
          <p:cNvPr id="1139717" name="Rectangle 5"/>
          <p:cNvSpPr>
            <a:spLocks noChangeArrowheads="1"/>
          </p:cNvSpPr>
          <p:nvPr/>
        </p:nvSpPr>
        <p:spPr bwMode="auto">
          <a:xfrm>
            <a:off x="4038600" y="649175"/>
            <a:ext cx="494046" cy="461665"/>
          </a:xfrm>
          <a:prstGeom prst="rect">
            <a:avLst/>
          </a:prstGeom>
          <a:noFill/>
          <a:ln w="9525">
            <a:noFill/>
            <a:miter lim="800000"/>
            <a:headEnd/>
            <a:tailEnd/>
          </a:ln>
          <a:effectLst/>
        </p:spPr>
        <p:txBody>
          <a:bodyPr wrap="none">
            <a:spAutoFit/>
          </a:bodyPr>
          <a:lstStyle/>
          <a:p>
            <a:r>
              <a:rPr kumimoji="1" lang="zh-CN" altLang="en-US" sz="2400" b="1" dirty="0">
                <a:solidFill>
                  <a:srgbClr val="FF0066"/>
                </a:solidFill>
                <a:latin typeface="Times New Roman" pitchFamily="18" charset="0"/>
              </a:rPr>
              <a:t>⑥</a:t>
            </a:r>
          </a:p>
        </p:txBody>
      </p:sp>
      <p:sp>
        <p:nvSpPr>
          <p:cNvPr id="1139718" name="Rectangle 6"/>
          <p:cNvSpPr>
            <a:spLocks noChangeArrowheads="1"/>
          </p:cNvSpPr>
          <p:nvPr/>
        </p:nvSpPr>
        <p:spPr bwMode="gray">
          <a:xfrm>
            <a:off x="650876" y="689508"/>
            <a:ext cx="8534400" cy="381000"/>
          </a:xfrm>
          <a:prstGeom prst="rect">
            <a:avLst/>
          </a:prstGeom>
          <a:noFill/>
          <a:ln w="9525">
            <a:noFill/>
            <a:miter lim="800000"/>
            <a:headEnd/>
            <a:tailEnd/>
          </a:ln>
        </p:spPr>
        <p:txBody>
          <a:bodyPr lIns="0" tIns="0" rIns="0" bIns="0"/>
          <a:lstStyle/>
          <a:p>
            <a:pPr eaLnBrk="0" hangingPunct="0">
              <a:lnSpc>
                <a:spcPct val="85000"/>
              </a:lnSpc>
            </a:pPr>
            <a:r>
              <a:rPr lang="zh-CN" altLang="en-US" sz="3200" dirty="0">
                <a:solidFill>
                  <a:schemeClr val="tx2"/>
                </a:solidFill>
                <a:latin typeface="Times New Roman" pitchFamily="18" charset="0"/>
                <a:ea typeface="仿宋_GB2312" pitchFamily="49" charset="-122"/>
              </a:rPr>
              <a:t>多级队列调度算法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39717"/>
                                        </p:tgtEl>
                                        <p:attrNameLst>
                                          <p:attrName>style.visibility</p:attrName>
                                        </p:attrNameLst>
                                      </p:cBhvr>
                                      <p:to>
                                        <p:strVal val="visible"/>
                                      </p:to>
                                    </p:set>
                                    <p:anim calcmode="lin" valueType="num">
                                      <p:cBhvr>
                                        <p:cTn id="7" dur="1000" fill="hold"/>
                                        <p:tgtEl>
                                          <p:spTgt spid="1139717"/>
                                        </p:tgtEl>
                                        <p:attrNameLst>
                                          <p:attrName>ppt_w</p:attrName>
                                        </p:attrNameLst>
                                      </p:cBhvr>
                                      <p:tavLst>
                                        <p:tav tm="0">
                                          <p:val>
                                            <p:fltVal val="0"/>
                                          </p:val>
                                        </p:tav>
                                        <p:tav tm="100000">
                                          <p:val>
                                            <p:strVal val="#ppt_w"/>
                                          </p:val>
                                        </p:tav>
                                      </p:tavLst>
                                    </p:anim>
                                    <p:anim calcmode="lin" valueType="num">
                                      <p:cBhvr>
                                        <p:cTn id="8" dur="1000" fill="hold"/>
                                        <p:tgtEl>
                                          <p:spTgt spid="1139717"/>
                                        </p:tgtEl>
                                        <p:attrNameLst>
                                          <p:attrName>ppt_h</p:attrName>
                                        </p:attrNameLst>
                                      </p:cBhvr>
                                      <p:tavLst>
                                        <p:tav tm="0">
                                          <p:val>
                                            <p:fltVal val="0"/>
                                          </p:val>
                                        </p:tav>
                                        <p:tav tm="100000">
                                          <p:val>
                                            <p:strVal val="#ppt_h"/>
                                          </p:val>
                                        </p:tav>
                                      </p:tavLst>
                                    </p:anim>
                                    <p:anim calcmode="lin" valueType="num">
                                      <p:cBhvr>
                                        <p:cTn id="9" dur="1000" fill="hold"/>
                                        <p:tgtEl>
                                          <p:spTgt spid="113971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397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39715">
                                            <p:txEl>
                                              <p:pRg st="0" end="0"/>
                                            </p:txEl>
                                          </p:spTgt>
                                        </p:tgtEl>
                                        <p:attrNameLst>
                                          <p:attrName>style.visibility</p:attrName>
                                        </p:attrNameLst>
                                      </p:cBhvr>
                                      <p:to>
                                        <p:strVal val="visible"/>
                                      </p:to>
                                    </p:set>
                                    <p:animEffect transition="in" filter="blinds(horizontal)">
                                      <p:cBhvr>
                                        <p:cTn id="15" dur="500"/>
                                        <p:tgtEl>
                                          <p:spTgt spid="1139715">
                                            <p:txEl>
                                              <p:pRg st="0" end="0"/>
                                            </p:txEl>
                                          </p:spTgt>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1139715">
                                            <p:txEl>
                                              <p:pRg st="1" end="1"/>
                                            </p:txEl>
                                          </p:spTgt>
                                        </p:tgtEl>
                                        <p:attrNameLst>
                                          <p:attrName>style.visibility</p:attrName>
                                        </p:attrNameLst>
                                      </p:cBhvr>
                                      <p:to>
                                        <p:strVal val="visible"/>
                                      </p:to>
                                    </p:set>
                                    <p:animEffect transition="in" filter="blinds(horizontal)">
                                      <p:cBhvr>
                                        <p:cTn id="19" dur="500"/>
                                        <p:tgtEl>
                                          <p:spTgt spid="113971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139715">
                                            <p:txEl>
                                              <p:pRg st="2" end="2"/>
                                            </p:txEl>
                                          </p:spTgt>
                                        </p:tgtEl>
                                        <p:attrNameLst>
                                          <p:attrName>style.visibility</p:attrName>
                                        </p:attrNameLst>
                                      </p:cBhvr>
                                      <p:to>
                                        <p:strVal val="visible"/>
                                      </p:to>
                                    </p:set>
                                    <p:animEffect transition="in" filter="blinds(horizontal)">
                                      <p:cBhvr>
                                        <p:cTn id="24" dur="500"/>
                                        <p:tgtEl>
                                          <p:spTgt spid="1139715">
                                            <p:txEl>
                                              <p:pRg st="2" end="2"/>
                                            </p:txEl>
                                          </p:spTgt>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1139715">
                                            <p:txEl>
                                              <p:pRg st="3" end="3"/>
                                            </p:txEl>
                                          </p:spTgt>
                                        </p:tgtEl>
                                        <p:attrNameLst>
                                          <p:attrName>style.visibility</p:attrName>
                                        </p:attrNameLst>
                                      </p:cBhvr>
                                      <p:to>
                                        <p:strVal val="visible"/>
                                      </p:to>
                                    </p:set>
                                    <p:animEffect transition="in" filter="blinds(horizontal)">
                                      <p:cBhvr>
                                        <p:cTn id="28" dur="500"/>
                                        <p:tgtEl>
                                          <p:spTgt spid="1139715">
                                            <p:txEl>
                                              <p:pRg st="3" end="3"/>
                                            </p:txEl>
                                          </p:spTgt>
                                        </p:tgtEl>
                                      </p:cBhvr>
                                    </p:animEffect>
                                  </p:childTnLst>
                                </p:cTn>
                              </p:par>
                            </p:childTnLst>
                          </p:cTn>
                        </p:par>
                        <p:par>
                          <p:cTn id="29" fill="hold">
                            <p:stCondLst>
                              <p:cond delay="1000"/>
                            </p:stCondLst>
                            <p:childTnLst>
                              <p:par>
                                <p:cTn id="30" presetID="3" presetClass="entr" presetSubtype="10" fill="hold" nodeType="afterEffect">
                                  <p:stCondLst>
                                    <p:cond delay="0"/>
                                  </p:stCondLst>
                                  <p:childTnLst>
                                    <p:set>
                                      <p:cBhvr>
                                        <p:cTn id="31" dur="1" fill="hold">
                                          <p:stCondLst>
                                            <p:cond delay="0"/>
                                          </p:stCondLst>
                                        </p:cTn>
                                        <p:tgtEl>
                                          <p:spTgt spid="1139715">
                                            <p:txEl>
                                              <p:pRg st="4" end="4"/>
                                            </p:txEl>
                                          </p:spTgt>
                                        </p:tgtEl>
                                        <p:attrNameLst>
                                          <p:attrName>style.visibility</p:attrName>
                                        </p:attrNameLst>
                                      </p:cBhvr>
                                      <p:to>
                                        <p:strVal val="visible"/>
                                      </p:to>
                                    </p:set>
                                    <p:animEffect transition="in" filter="blinds(horizontal)">
                                      <p:cBhvr>
                                        <p:cTn id="32" dur="500"/>
                                        <p:tgtEl>
                                          <p:spTgt spid="11397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97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0738" name="Rectangle 2"/>
          <p:cNvSpPr>
            <a:spLocks noGrp="1" noChangeArrowheads="1"/>
          </p:cNvSpPr>
          <p:nvPr>
            <p:ph type="title"/>
          </p:nvPr>
        </p:nvSpPr>
        <p:spPr/>
        <p:txBody>
          <a:bodyPr/>
          <a:lstStyle/>
          <a:p>
            <a:r>
              <a:rPr lang="zh-CN" altLang="en-US" b="0" dirty="0"/>
              <a:t>多级反馈队列调度算法</a:t>
            </a:r>
          </a:p>
        </p:txBody>
      </p:sp>
      <p:sp>
        <p:nvSpPr>
          <p:cNvPr id="1140739" name="Rectangle 3"/>
          <p:cNvSpPr>
            <a:spLocks noGrp="1" noChangeArrowheads="1"/>
          </p:cNvSpPr>
          <p:nvPr>
            <p:ph type="body" idx="1"/>
          </p:nvPr>
        </p:nvSpPr>
        <p:spPr>
          <a:xfrm>
            <a:off x="1828800" y="1456649"/>
            <a:ext cx="8534400" cy="5410200"/>
          </a:xfrm>
        </p:spPr>
        <p:txBody>
          <a:bodyPr/>
          <a:lstStyle/>
          <a:p>
            <a:r>
              <a:rPr lang="zh-CN" altLang="en-US" sz="2400" b="1" dirty="0">
                <a:latin typeface="楷体_GB2312" pitchFamily="49" charset="-122"/>
                <a:ea typeface="楷体_GB2312" pitchFamily="49" charset="-122"/>
              </a:rPr>
              <a:t>多级反馈队列调度算法 </a:t>
            </a:r>
          </a:p>
          <a:p>
            <a:pPr lvl="1"/>
            <a:r>
              <a:rPr lang="zh-CN" altLang="en-US" sz="2800" b="1" dirty="0">
                <a:latin typeface="楷体_GB2312" pitchFamily="49" charset="-122"/>
                <a:ea typeface="楷体_GB2312" pitchFamily="49" charset="-122"/>
              </a:rPr>
              <a:t>设置</a:t>
            </a:r>
            <a:r>
              <a:rPr lang="zh-CN" altLang="en-US" sz="2800" b="1" dirty="0">
                <a:solidFill>
                  <a:srgbClr val="D20000"/>
                </a:solidFill>
                <a:latin typeface="楷体_GB2312" pitchFamily="49" charset="-122"/>
                <a:ea typeface="楷体_GB2312" pitchFamily="49" charset="-122"/>
              </a:rPr>
              <a:t>多个就绪队列</a:t>
            </a:r>
            <a:r>
              <a:rPr lang="zh-CN" altLang="en-US" sz="2800" b="1" dirty="0">
                <a:latin typeface="楷体_GB2312" pitchFamily="49" charset="-122"/>
                <a:ea typeface="楷体_GB2312" pitchFamily="49" charset="-122"/>
              </a:rPr>
              <a:t>，并为各个队列赋予</a:t>
            </a:r>
            <a:r>
              <a:rPr lang="zh-CN" altLang="en-US" sz="2800" b="1" dirty="0">
                <a:solidFill>
                  <a:srgbClr val="D20000"/>
                </a:solidFill>
                <a:latin typeface="楷体_GB2312" pitchFamily="49" charset="-122"/>
                <a:ea typeface="楷体_GB2312" pitchFamily="49" charset="-122"/>
              </a:rPr>
              <a:t>不同的优先级</a:t>
            </a:r>
          </a:p>
          <a:p>
            <a:pPr lvl="2"/>
            <a:r>
              <a:rPr lang="zh-CN" altLang="en-US" sz="2600" b="1" dirty="0">
                <a:latin typeface="楷体_GB2312" pitchFamily="49" charset="-122"/>
                <a:ea typeface="楷体_GB2312" pitchFamily="49" charset="-122"/>
              </a:rPr>
              <a:t>第一个队列的优先级最高，第二个队列次之，其余各队列的优先权逐个降低</a:t>
            </a:r>
          </a:p>
          <a:p>
            <a:pPr lvl="2"/>
            <a:r>
              <a:rPr lang="zh-CN" altLang="en-US" sz="2600" b="1" dirty="0">
                <a:latin typeface="楷体_GB2312" pitchFamily="49" charset="-122"/>
                <a:ea typeface="楷体_GB2312" pitchFamily="49" charset="-122"/>
              </a:rPr>
              <a:t>该算法赋予各个队列中进程执行</a:t>
            </a:r>
            <a:r>
              <a:rPr lang="zh-CN" altLang="en-US" sz="2600" b="1" dirty="0">
                <a:solidFill>
                  <a:schemeClr val="tx2"/>
                </a:solidFill>
                <a:latin typeface="楷体_GB2312" pitchFamily="49" charset="-122"/>
                <a:ea typeface="楷体_GB2312" pitchFamily="49" charset="-122"/>
              </a:rPr>
              <a:t>时间片的大小也各不相同</a:t>
            </a:r>
            <a:r>
              <a:rPr lang="zh-CN" altLang="en-US" sz="2600" b="1" dirty="0">
                <a:latin typeface="楷体_GB2312" pitchFamily="49" charset="-122"/>
                <a:ea typeface="楷体_GB2312" pitchFamily="49" charset="-122"/>
              </a:rPr>
              <a:t>，在</a:t>
            </a:r>
            <a:r>
              <a:rPr lang="zh-CN" altLang="en-US" sz="2600" b="1" dirty="0">
                <a:solidFill>
                  <a:srgbClr val="990000"/>
                </a:solidFill>
                <a:latin typeface="楷体_GB2312" pitchFamily="49" charset="-122"/>
                <a:ea typeface="楷体_GB2312" pitchFamily="49" charset="-122"/>
              </a:rPr>
              <a:t>优先权愈高</a:t>
            </a:r>
            <a:r>
              <a:rPr lang="zh-CN" altLang="en-US" sz="2600" b="1" dirty="0">
                <a:latin typeface="楷体_GB2312" pitchFamily="49" charset="-122"/>
                <a:ea typeface="楷体_GB2312" pitchFamily="49" charset="-122"/>
              </a:rPr>
              <a:t>的队列中，为每个进程所规定的执行</a:t>
            </a:r>
            <a:r>
              <a:rPr lang="zh-CN" altLang="en-US" sz="2600" b="1" dirty="0">
                <a:solidFill>
                  <a:srgbClr val="990000"/>
                </a:solidFill>
                <a:latin typeface="楷体_GB2312" pitchFamily="49" charset="-122"/>
                <a:ea typeface="楷体_GB2312" pitchFamily="49" charset="-122"/>
              </a:rPr>
              <a:t>时间片就愈小</a:t>
            </a:r>
            <a:r>
              <a:rPr lang="zh-CN" altLang="en-US" sz="2600" b="1" dirty="0">
                <a:latin typeface="楷体_GB2312" pitchFamily="49" charset="-122"/>
                <a:ea typeface="楷体_GB2312" pitchFamily="49" charset="-122"/>
              </a:rPr>
              <a:t>。例如，</a:t>
            </a:r>
            <a:r>
              <a:rPr lang="zh-CN" altLang="en-US" sz="2600" b="1" dirty="0">
                <a:solidFill>
                  <a:srgbClr val="990000"/>
                </a:solidFill>
                <a:latin typeface="楷体_GB2312" pitchFamily="49" charset="-122"/>
                <a:ea typeface="楷体_GB2312" pitchFamily="49" charset="-122"/>
              </a:rPr>
              <a:t>第二个</a:t>
            </a:r>
            <a:r>
              <a:rPr lang="zh-CN" altLang="en-US" sz="2600" b="1" dirty="0">
                <a:latin typeface="楷体_GB2312" pitchFamily="49" charset="-122"/>
                <a:ea typeface="楷体_GB2312" pitchFamily="49" charset="-122"/>
              </a:rPr>
              <a:t>队列的时间片要</a:t>
            </a:r>
            <a:r>
              <a:rPr lang="zh-CN" altLang="en-US" sz="2600" b="1" dirty="0">
                <a:solidFill>
                  <a:srgbClr val="990000"/>
                </a:solidFill>
                <a:latin typeface="楷体_GB2312" pitchFamily="49" charset="-122"/>
                <a:ea typeface="楷体_GB2312" pitchFamily="49" charset="-122"/>
              </a:rPr>
              <a:t>比第一个</a:t>
            </a:r>
            <a:r>
              <a:rPr lang="zh-CN" altLang="en-US" sz="2600" b="1" dirty="0">
                <a:latin typeface="楷体_GB2312" pitchFamily="49" charset="-122"/>
                <a:ea typeface="楷体_GB2312" pitchFamily="49" charset="-122"/>
              </a:rPr>
              <a:t>队列的时间片</a:t>
            </a:r>
            <a:r>
              <a:rPr lang="zh-CN" altLang="en-US" sz="2600" b="1" dirty="0">
                <a:solidFill>
                  <a:srgbClr val="990000"/>
                </a:solidFill>
                <a:latin typeface="楷体_GB2312" pitchFamily="49" charset="-122"/>
                <a:ea typeface="楷体_GB2312" pitchFamily="49" charset="-122"/>
              </a:rPr>
              <a:t>长一倍</a:t>
            </a:r>
            <a:r>
              <a:rPr lang="zh-CN" altLang="en-US" sz="2600" b="1" dirty="0">
                <a:latin typeface="楷体_GB2312" pitchFamily="49" charset="-122"/>
                <a:ea typeface="楷体_GB2312" pitchFamily="49" charset="-122"/>
              </a:rPr>
              <a:t>，</a:t>
            </a:r>
            <a:r>
              <a:rPr lang="en-US" altLang="zh-CN" sz="2600" b="1" dirty="0">
                <a:latin typeface="Courier New"/>
                <a:ea typeface="楷体_GB2312" pitchFamily="49" charset="-122"/>
              </a:rPr>
              <a:t>……</a:t>
            </a:r>
            <a:r>
              <a:rPr lang="zh-CN" altLang="en-US" sz="2600" b="1" dirty="0">
                <a:latin typeface="楷体_GB2312" pitchFamily="49" charset="-122"/>
                <a:ea typeface="楷体_GB2312" pitchFamily="49" charset="-122"/>
              </a:rPr>
              <a:t>，第</a:t>
            </a:r>
            <a:r>
              <a:rPr lang="en-US" altLang="zh-CN" sz="2600" b="1" i="1" dirty="0">
                <a:latin typeface="楷体_GB2312" pitchFamily="49" charset="-122"/>
                <a:ea typeface="楷体_GB2312" pitchFamily="49" charset="-122"/>
              </a:rPr>
              <a:t>i</a:t>
            </a:r>
            <a:r>
              <a:rPr lang="en-US" altLang="zh-CN" sz="2600" b="1" dirty="0">
                <a:latin typeface="楷体_GB2312" pitchFamily="49" charset="-122"/>
                <a:ea typeface="楷体_GB2312" pitchFamily="49" charset="-122"/>
              </a:rPr>
              <a:t>+1</a:t>
            </a:r>
            <a:r>
              <a:rPr lang="zh-CN" altLang="en-US" sz="2600" b="1" dirty="0">
                <a:latin typeface="楷体_GB2312" pitchFamily="49" charset="-122"/>
                <a:ea typeface="楷体_GB2312" pitchFamily="49" charset="-122"/>
              </a:rPr>
              <a:t>个队列的时间片要比第</a:t>
            </a:r>
            <a:r>
              <a:rPr lang="en-US" altLang="zh-CN" sz="2600" b="1" dirty="0" err="1">
                <a:latin typeface="楷体_GB2312" pitchFamily="49" charset="-122"/>
                <a:ea typeface="楷体_GB2312" pitchFamily="49" charset="-122"/>
              </a:rPr>
              <a:t>i</a:t>
            </a:r>
            <a:r>
              <a:rPr lang="zh-CN" altLang="en-US" sz="2600" b="1" dirty="0">
                <a:latin typeface="楷体_GB2312" pitchFamily="49" charset="-122"/>
                <a:ea typeface="楷体_GB2312" pitchFamily="49" charset="-122"/>
              </a:rPr>
              <a:t>个队列的时间片长一倍</a:t>
            </a:r>
          </a:p>
        </p:txBody>
      </p:sp>
      <p:sp>
        <p:nvSpPr>
          <p:cNvPr id="1140740" name="Rectangle 4"/>
          <p:cNvSpPr>
            <a:spLocks noChangeArrowheads="1"/>
          </p:cNvSpPr>
          <p:nvPr/>
        </p:nvSpPr>
        <p:spPr bwMode="auto">
          <a:xfrm>
            <a:off x="3962400" y="681335"/>
            <a:ext cx="494046" cy="461665"/>
          </a:xfrm>
          <a:prstGeom prst="rect">
            <a:avLst/>
          </a:prstGeom>
          <a:noFill/>
          <a:ln w="9525">
            <a:noFill/>
            <a:miter lim="800000"/>
            <a:headEnd/>
            <a:tailEnd/>
          </a:ln>
          <a:effectLst/>
        </p:spPr>
        <p:txBody>
          <a:bodyPr wrap="none">
            <a:spAutoFit/>
          </a:bodyPr>
          <a:lstStyle/>
          <a:p>
            <a:r>
              <a:rPr kumimoji="1" lang="zh-CN" altLang="en-US" sz="2400" b="1" dirty="0">
                <a:solidFill>
                  <a:srgbClr val="FF0066"/>
                </a:solidFill>
                <a:latin typeface="Times New Roman" pitchFamily="18" charset="0"/>
              </a:rPr>
              <a:t>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40740"/>
                                        </p:tgtEl>
                                        <p:attrNameLst>
                                          <p:attrName>style.visibility</p:attrName>
                                        </p:attrNameLst>
                                      </p:cBhvr>
                                      <p:to>
                                        <p:strVal val="visible"/>
                                      </p:to>
                                    </p:set>
                                    <p:anim calcmode="lin" valueType="num">
                                      <p:cBhvr>
                                        <p:cTn id="7" dur="1000" fill="hold"/>
                                        <p:tgtEl>
                                          <p:spTgt spid="1140740"/>
                                        </p:tgtEl>
                                        <p:attrNameLst>
                                          <p:attrName>ppt_w</p:attrName>
                                        </p:attrNameLst>
                                      </p:cBhvr>
                                      <p:tavLst>
                                        <p:tav tm="0">
                                          <p:val>
                                            <p:fltVal val="0"/>
                                          </p:val>
                                        </p:tav>
                                        <p:tav tm="100000">
                                          <p:val>
                                            <p:strVal val="#ppt_w"/>
                                          </p:val>
                                        </p:tav>
                                      </p:tavLst>
                                    </p:anim>
                                    <p:anim calcmode="lin" valueType="num">
                                      <p:cBhvr>
                                        <p:cTn id="8" dur="1000" fill="hold"/>
                                        <p:tgtEl>
                                          <p:spTgt spid="1140740"/>
                                        </p:tgtEl>
                                        <p:attrNameLst>
                                          <p:attrName>ppt_h</p:attrName>
                                        </p:attrNameLst>
                                      </p:cBhvr>
                                      <p:tavLst>
                                        <p:tav tm="0">
                                          <p:val>
                                            <p:fltVal val="0"/>
                                          </p:val>
                                        </p:tav>
                                        <p:tav tm="100000">
                                          <p:val>
                                            <p:strVal val="#ppt_h"/>
                                          </p:val>
                                        </p:tav>
                                      </p:tavLst>
                                    </p:anim>
                                    <p:anim calcmode="lin" valueType="num">
                                      <p:cBhvr>
                                        <p:cTn id="9" dur="1000" fill="hold"/>
                                        <p:tgtEl>
                                          <p:spTgt spid="114074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4074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40739">
                                            <p:txEl>
                                              <p:pRg st="1" end="1"/>
                                            </p:txEl>
                                          </p:spTgt>
                                        </p:tgtEl>
                                        <p:attrNameLst>
                                          <p:attrName>style.visibility</p:attrName>
                                        </p:attrNameLst>
                                      </p:cBhvr>
                                      <p:to>
                                        <p:strVal val="visible"/>
                                      </p:to>
                                    </p:set>
                                    <p:animEffect transition="in" filter="blinds(horizontal)">
                                      <p:cBhvr>
                                        <p:cTn id="15" dur="500"/>
                                        <p:tgtEl>
                                          <p:spTgt spid="114073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40739">
                                            <p:txEl>
                                              <p:pRg st="2" end="2"/>
                                            </p:txEl>
                                          </p:spTgt>
                                        </p:tgtEl>
                                        <p:attrNameLst>
                                          <p:attrName>style.visibility</p:attrName>
                                        </p:attrNameLst>
                                      </p:cBhvr>
                                      <p:to>
                                        <p:strVal val="visible"/>
                                      </p:to>
                                    </p:set>
                                    <p:animEffect transition="in" filter="blinds(horizontal)">
                                      <p:cBhvr>
                                        <p:cTn id="20" dur="500"/>
                                        <p:tgtEl>
                                          <p:spTgt spid="114073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40739">
                                            <p:txEl>
                                              <p:pRg st="3" end="3"/>
                                            </p:txEl>
                                          </p:spTgt>
                                        </p:tgtEl>
                                        <p:attrNameLst>
                                          <p:attrName>style.visibility</p:attrName>
                                        </p:attrNameLst>
                                      </p:cBhvr>
                                      <p:to>
                                        <p:strVal val="visible"/>
                                      </p:to>
                                    </p:set>
                                    <p:animEffect transition="in" filter="blinds(horizontal)">
                                      <p:cBhvr>
                                        <p:cTn id="25" dur="500"/>
                                        <p:tgtEl>
                                          <p:spTgt spid="11407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4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762" name="Rectangle 2"/>
          <p:cNvSpPr>
            <a:spLocks noChangeArrowheads="1"/>
          </p:cNvSpPr>
          <p:nvPr/>
        </p:nvSpPr>
        <p:spPr bwMode="auto">
          <a:xfrm>
            <a:off x="4060825" y="1912939"/>
            <a:ext cx="2374900" cy="498475"/>
          </a:xfrm>
          <a:prstGeom prst="rect">
            <a:avLst/>
          </a:prstGeom>
          <a:gradFill rotWithShape="0">
            <a:gsLst>
              <a:gs pos="0">
                <a:schemeClr val="tx2"/>
              </a:gs>
              <a:gs pos="50000">
                <a:srgbClr val="FFFFFF"/>
              </a:gs>
              <a:gs pos="100000">
                <a:schemeClr val="tx2"/>
              </a:gs>
            </a:gsLst>
            <a:lin ang="5400000" scaled="1"/>
          </a:gradFill>
          <a:ln w="20638">
            <a:solidFill>
              <a:srgbClr val="000000"/>
            </a:solidFill>
            <a:miter lim="800000"/>
            <a:headEnd/>
            <a:tailEnd/>
          </a:ln>
        </p:spPr>
        <p:txBody>
          <a:bodyPr/>
          <a:lstStyle/>
          <a:p>
            <a:pPr algn="ctr"/>
            <a:r>
              <a:rPr kumimoji="1" lang="zh-CN" altLang="en-US" sz="2100" b="1">
                <a:solidFill>
                  <a:srgbClr val="000000"/>
                </a:solidFill>
                <a:latin typeface="宋体" pitchFamily="2" charset="-122"/>
              </a:rPr>
              <a:t>就绪队列</a:t>
            </a:r>
            <a:r>
              <a:rPr kumimoji="1" lang="en-US" altLang="zh-CN" sz="2100" b="1">
                <a:solidFill>
                  <a:srgbClr val="000000"/>
                </a:solidFill>
                <a:latin typeface="宋体" pitchFamily="2" charset="-122"/>
              </a:rPr>
              <a:t>1</a:t>
            </a:r>
          </a:p>
        </p:txBody>
      </p:sp>
      <p:sp>
        <p:nvSpPr>
          <p:cNvPr id="1141763" name="Rectangle 3"/>
          <p:cNvSpPr>
            <a:spLocks noGrp="1" noChangeArrowheads="1"/>
          </p:cNvSpPr>
          <p:nvPr>
            <p:ph type="title"/>
          </p:nvPr>
        </p:nvSpPr>
        <p:spPr/>
        <p:txBody>
          <a:bodyPr/>
          <a:lstStyle/>
          <a:p>
            <a:r>
              <a:rPr lang="zh-CN" altLang="en-US" sz="3200" b="0" dirty="0"/>
              <a:t>多级反馈队列调度算法</a:t>
            </a:r>
          </a:p>
        </p:txBody>
      </p:sp>
      <p:sp>
        <p:nvSpPr>
          <p:cNvPr id="1141764" name="Rectangle 4"/>
          <p:cNvSpPr>
            <a:spLocks noChangeArrowheads="1"/>
          </p:cNvSpPr>
          <p:nvPr/>
        </p:nvSpPr>
        <p:spPr bwMode="auto">
          <a:xfrm>
            <a:off x="4645026" y="2016125"/>
            <a:ext cx="65" cy="369332"/>
          </a:xfrm>
          <a:prstGeom prst="rect">
            <a:avLst/>
          </a:prstGeom>
          <a:gradFill rotWithShape="0">
            <a:gsLst>
              <a:gs pos="0">
                <a:schemeClr val="tx2"/>
              </a:gs>
              <a:gs pos="50000">
                <a:srgbClr val="FFFFFF"/>
              </a:gs>
              <a:gs pos="100000">
                <a:schemeClr val="tx2"/>
              </a:gs>
            </a:gsLst>
            <a:lin ang="5400000" scaled="1"/>
          </a:gradFill>
          <a:ln w="9525">
            <a:noFill/>
            <a:miter lim="800000"/>
            <a:headEnd/>
            <a:tailEnd/>
          </a:ln>
        </p:spPr>
        <p:txBody>
          <a:bodyPr wrap="none" lIns="0" tIns="0" rIns="0" bIns="0">
            <a:spAutoFit/>
          </a:bodyPr>
          <a:lstStyle/>
          <a:p>
            <a:endParaRPr kumimoji="1" lang="zh-CN" altLang="en-US" sz="2400" b="1">
              <a:latin typeface="Tahoma" pitchFamily="34" charset="0"/>
            </a:endParaRPr>
          </a:p>
        </p:txBody>
      </p:sp>
      <p:sp>
        <p:nvSpPr>
          <p:cNvPr id="1141765" name="Line 5"/>
          <p:cNvSpPr>
            <a:spLocks noChangeShapeType="1"/>
          </p:cNvSpPr>
          <p:nvPr/>
        </p:nvSpPr>
        <p:spPr bwMode="auto">
          <a:xfrm>
            <a:off x="6435726" y="2308225"/>
            <a:ext cx="582613" cy="1588"/>
          </a:xfrm>
          <a:prstGeom prst="line">
            <a:avLst/>
          </a:prstGeom>
          <a:noFill/>
          <a:ln w="20638">
            <a:solidFill>
              <a:srgbClr val="000000"/>
            </a:solidFill>
            <a:round/>
            <a:headEnd/>
            <a:tailEnd/>
          </a:ln>
        </p:spPr>
        <p:txBody>
          <a:bodyPr/>
          <a:lstStyle/>
          <a:p>
            <a:endParaRPr lang="zh-CN" altLang="en-US"/>
          </a:p>
        </p:txBody>
      </p:sp>
      <p:sp>
        <p:nvSpPr>
          <p:cNvPr id="1141766" name="Line 6"/>
          <p:cNvSpPr>
            <a:spLocks noChangeShapeType="1"/>
          </p:cNvSpPr>
          <p:nvPr/>
        </p:nvSpPr>
        <p:spPr bwMode="auto">
          <a:xfrm>
            <a:off x="7018339" y="2308225"/>
            <a:ext cx="1587" cy="395288"/>
          </a:xfrm>
          <a:prstGeom prst="line">
            <a:avLst/>
          </a:prstGeom>
          <a:noFill/>
          <a:ln w="20638">
            <a:solidFill>
              <a:srgbClr val="000000"/>
            </a:solidFill>
            <a:round/>
            <a:headEnd/>
            <a:tailEnd/>
          </a:ln>
        </p:spPr>
        <p:txBody>
          <a:bodyPr/>
          <a:lstStyle/>
          <a:p>
            <a:endParaRPr lang="zh-CN" altLang="en-US"/>
          </a:p>
        </p:txBody>
      </p:sp>
      <p:sp>
        <p:nvSpPr>
          <p:cNvPr id="1141767" name="Line 7"/>
          <p:cNvSpPr>
            <a:spLocks noChangeShapeType="1"/>
          </p:cNvSpPr>
          <p:nvPr/>
        </p:nvSpPr>
        <p:spPr bwMode="auto">
          <a:xfrm>
            <a:off x="3478214" y="2703514"/>
            <a:ext cx="3540125" cy="1587"/>
          </a:xfrm>
          <a:prstGeom prst="line">
            <a:avLst/>
          </a:prstGeom>
          <a:noFill/>
          <a:ln w="20638">
            <a:solidFill>
              <a:srgbClr val="000000"/>
            </a:solidFill>
            <a:round/>
            <a:headEnd/>
            <a:tailEnd/>
          </a:ln>
        </p:spPr>
        <p:txBody>
          <a:bodyPr/>
          <a:lstStyle/>
          <a:p>
            <a:endParaRPr lang="zh-CN" altLang="en-US"/>
          </a:p>
        </p:txBody>
      </p:sp>
      <p:sp>
        <p:nvSpPr>
          <p:cNvPr id="1141768" name="Line 8"/>
          <p:cNvSpPr>
            <a:spLocks noChangeShapeType="1"/>
          </p:cNvSpPr>
          <p:nvPr/>
        </p:nvSpPr>
        <p:spPr bwMode="auto">
          <a:xfrm>
            <a:off x="3478214" y="2703513"/>
            <a:ext cx="1587" cy="436562"/>
          </a:xfrm>
          <a:prstGeom prst="line">
            <a:avLst/>
          </a:prstGeom>
          <a:noFill/>
          <a:ln w="20638">
            <a:solidFill>
              <a:srgbClr val="000000"/>
            </a:solidFill>
            <a:round/>
            <a:headEnd/>
            <a:tailEnd/>
          </a:ln>
        </p:spPr>
        <p:txBody>
          <a:bodyPr/>
          <a:lstStyle/>
          <a:p>
            <a:endParaRPr lang="zh-CN" altLang="en-US"/>
          </a:p>
        </p:txBody>
      </p:sp>
      <p:sp>
        <p:nvSpPr>
          <p:cNvPr id="1141769" name="Rectangle 9"/>
          <p:cNvSpPr>
            <a:spLocks noChangeArrowheads="1"/>
          </p:cNvSpPr>
          <p:nvPr/>
        </p:nvSpPr>
        <p:spPr bwMode="auto">
          <a:xfrm>
            <a:off x="4060825" y="2890838"/>
            <a:ext cx="2374900" cy="500062"/>
          </a:xfrm>
          <a:prstGeom prst="rect">
            <a:avLst/>
          </a:prstGeom>
          <a:gradFill rotWithShape="0">
            <a:gsLst>
              <a:gs pos="0">
                <a:schemeClr val="tx2"/>
              </a:gs>
              <a:gs pos="50000">
                <a:srgbClr val="FFFFFF"/>
              </a:gs>
              <a:gs pos="100000">
                <a:schemeClr val="tx2"/>
              </a:gs>
            </a:gsLst>
            <a:lin ang="5400000" scaled="1"/>
          </a:gradFill>
          <a:ln w="20638">
            <a:solidFill>
              <a:srgbClr val="000000"/>
            </a:solidFill>
            <a:miter lim="800000"/>
            <a:headEnd/>
            <a:tailEnd/>
          </a:ln>
        </p:spPr>
        <p:txBody>
          <a:bodyPr/>
          <a:lstStyle/>
          <a:p>
            <a:pPr algn="ctr"/>
            <a:r>
              <a:rPr kumimoji="1" lang="zh-CN" altLang="en-US" sz="2100" b="1">
                <a:solidFill>
                  <a:srgbClr val="000000"/>
                </a:solidFill>
                <a:latin typeface="宋体" pitchFamily="2" charset="-122"/>
              </a:rPr>
              <a:t>就绪队列</a:t>
            </a:r>
            <a:r>
              <a:rPr kumimoji="1" lang="en-US" altLang="zh-CN" sz="2100" b="1">
                <a:solidFill>
                  <a:srgbClr val="000000"/>
                </a:solidFill>
                <a:latin typeface="宋体" pitchFamily="2" charset="-122"/>
              </a:rPr>
              <a:t>2</a:t>
            </a:r>
          </a:p>
        </p:txBody>
      </p:sp>
      <p:sp>
        <p:nvSpPr>
          <p:cNvPr id="1141770" name="Line 10"/>
          <p:cNvSpPr>
            <a:spLocks noChangeShapeType="1"/>
          </p:cNvSpPr>
          <p:nvPr/>
        </p:nvSpPr>
        <p:spPr bwMode="auto">
          <a:xfrm>
            <a:off x="6435726" y="3286125"/>
            <a:ext cx="582613" cy="1588"/>
          </a:xfrm>
          <a:prstGeom prst="line">
            <a:avLst/>
          </a:prstGeom>
          <a:noFill/>
          <a:ln w="20638">
            <a:solidFill>
              <a:srgbClr val="000000"/>
            </a:solidFill>
            <a:round/>
            <a:headEnd/>
            <a:tailEnd/>
          </a:ln>
        </p:spPr>
        <p:txBody>
          <a:bodyPr/>
          <a:lstStyle/>
          <a:p>
            <a:endParaRPr lang="zh-CN" altLang="en-US"/>
          </a:p>
        </p:txBody>
      </p:sp>
      <p:sp>
        <p:nvSpPr>
          <p:cNvPr id="1141771" name="Line 11"/>
          <p:cNvSpPr>
            <a:spLocks noChangeShapeType="1"/>
          </p:cNvSpPr>
          <p:nvPr/>
        </p:nvSpPr>
        <p:spPr bwMode="auto">
          <a:xfrm>
            <a:off x="7018339" y="3286125"/>
            <a:ext cx="1587" cy="395288"/>
          </a:xfrm>
          <a:prstGeom prst="line">
            <a:avLst/>
          </a:prstGeom>
          <a:noFill/>
          <a:ln w="20638">
            <a:solidFill>
              <a:srgbClr val="000000"/>
            </a:solidFill>
            <a:round/>
            <a:headEnd/>
            <a:tailEnd/>
          </a:ln>
        </p:spPr>
        <p:txBody>
          <a:bodyPr/>
          <a:lstStyle/>
          <a:p>
            <a:endParaRPr lang="zh-CN" altLang="en-US"/>
          </a:p>
        </p:txBody>
      </p:sp>
      <p:sp>
        <p:nvSpPr>
          <p:cNvPr id="1141772" name="Line 12"/>
          <p:cNvSpPr>
            <a:spLocks noChangeShapeType="1"/>
          </p:cNvSpPr>
          <p:nvPr/>
        </p:nvSpPr>
        <p:spPr bwMode="auto">
          <a:xfrm>
            <a:off x="3478214" y="3681414"/>
            <a:ext cx="3540125" cy="1587"/>
          </a:xfrm>
          <a:prstGeom prst="line">
            <a:avLst/>
          </a:prstGeom>
          <a:noFill/>
          <a:ln w="20638">
            <a:solidFill>
              <a:srgbClr val="000000"/>
            </a:solidFill>
            <a:round/>
            <a:headEnd/>
            <a:tailEnd/>
          </a:ln>
        </p:spPr>
        <p:txBody>
          <a:bodyPr/>
          <a:lstStyle/>
          <a:p>
            <a:endParaRPr lang="zh-CN" altLang="en-US"/>
          </a:p>
        </p:txBody>
      </p:sp>
      <p:sp>
        <p:nvSpPr>
          <p:cNvPr id="1141773" name="Line 13"/>
          <p:cNvSpPr>
            <a:spLocks noChangeShapeType="1"/>
          </p:cNvSpPr>
          <p:nvPr/>
        </p:nvSpPr>
        <p:spPr bwMode="auto">
          <a:xfrm>
            <a:off x="3478214" y="3681413"/>
            <a:ext cx="1587" cy="438150"/>
          </a:xfrm>
          <a:prstGeom prst="line">
            <a:avLst/>
          </a:prstGeom>
          <a:noFill/>
          <a:ln w="20638">
            <a:solidFill>
              <a:srgbClr val="000000"/>
            </a:solidFill>
            <a:round/>
            <a:headEnd/>
            <a:tailEnd/>
          </a:ln>
        </p:spPr>
        <p:txBody>
          <a:bodyPr/>
          <a:lstStyle/>
          <a:p>
            <a:endParaRPr lang="zh-CN" altLang="en-US"/>
          </a:p>
        </p:txBody>
      </p:sp>
      <p:sp>
        <p:nvSpPr>
          <p:cNvPr id="1141774" name="Rectangle 14"/>
          <p:cNvSpPr>
            <a:spLocks noChangeArrowheads="1"/>
          </p:cNvSpPr>
          <p:nvPr/>
        </p:nvSpPr>
        <p:spPr bwMode="auto">
          <a:xfrm>
            <a:off x="4060825" y="3890964"/>
            <a:ext cx="2374900" cy="477837"/>
          </a:xfrm>
          <a:prstGeom prst="rect">
            <a:avLst/>
          </a:prstGeom>
          <a:gradFill rotWithShape="0">
            <a:gsLst>
              <a:gs pos="0">
                <a:schemeClr val="tx2"/>
              </a:gs>
              <a:gs pos="50000">
                <a:srgbClr val="FFFFFF"/>
              </a:gs>
              <a:gs pos="100000">
                <a:schemeClr val="tx2"/>
              </a:gs>
            </a:gsLst>
            <a:lin ang="5400000" scaled="1"/>
          </a:gradFill>
          <a:ln w="20638">
            <a:solidFill>
              <a:srgbClr val="000000"/>
            </a:solidFill>
            <a:miter lim="800000"/>
            <a:headEnd/>
            <a:tailEnd/>
          </a:ln>
        </p:spPr>
        <p:txBody>
          <a:bodyPr/>
          <a:lstStyle/>
          <a:p>
            <a:pPr algn="ctr"/>
            <a:r>
              <a:rPr kumimoji="1" lang="zh-CN" altLang="en-US" sz="2100" b="1">
                <a:solidFill>
                  <a:srgbClr val="000000"/>
                </a:solidFill>
                <a:latin typeface="宋体" pitchFamily="2" charset="-122"/>
              </a:rPr>
              <a:t>就绪队列</a:t>
            </a:r>
            <a:r>
              <a:rPr kumimoji="1" lang="en-US" altLang="zh-CN" sz="2100" b="1">
                <a:solidFill>
                  <a:srgbClr val="000000"/>
                </a:solidFill>
                <a:latin typeface="宋体" pitchFamily="2" charset="-122"/>
              </a:rPr>
              <a:t>3</a:t>
            </a:r>
          </a:p>
        </p:txBody>
      </p:sp>
      <p:grpSp>
        <p:nvGrpSpPr>
          <p:cNvPr id="1141775" name="Group 15"/>
          <p:cNvGrpSpPr>
            <a:grpSpLocks/>
          </p:cNvGrpSpPr>
          <p:nvPr/>
        </p:nvGrpSpPr>
        <p:grpSpPr bwMode="auto">
          <a:xfrm>
            <a:off x="6435725" y="4286250"/>
            <a:ext cx="584200" cy="82550"/>
            <a:chOff x="3094" y="2700"/>
            <a:chExt cx="368" cy="52"/>
          </a:xfrm>
        </p:grpSpPr>
        <p:sp>
          <p:nvSpPr>
            <p:cNvPr id="1141776" name="Line 16"/>
            <p:cNvSpPr>
              <a:spLocks noChangeShapeType="1"/>
            </p:cNvSpPr>
            <p:nvPr/>
          </p:nvSpPr>
          <p:spPr bwMode="auto">
            <a:xfrm>
              <a:off x="3094" y="2700"/>
              <a:ext cx="52" cy="1"/>
            </a:xfrm>
            <a:prstGeom prst="line">
              <a:avLst/>
            </a:prstGeom>
            <a:noFill/>
            <a:ln w="20638">
              <a:solidFill>
                <a:srgbClr val="000000"/>
              </a:solidFill>
              <a:round/>
              <a:headEnd/>
              <a:tailEnd/>
            </a:ln>
          </p:spPr>
          <p:txBody>
            <a:bodyPr/>
            <a:lstStyle/>
            <a:p>
              <a:endParaRPr lang="zh-CN" altLang="en-US"/>
            </a:p>
          </p:txBody>
        </p:sp>
        <p:sp>
          <p:nvSpPr>
            <p:cNvPr id="1141777" name="Line 17"/>
            <p:cNvSpPr>
              <a:spLocks noChangeShapeType="1"/>
            </p:cNvSpPr>
            <p:nvPr/>
          </p:nvSpPr>
          <p:spPr bwMode="auto">
            <a:xfrm>
              <a:off x="3199" y="2700"/>
              <a:ext cx="52" cy="1"/>
            </a:xfrm>
            <a:prstGeom prst="line">
              <a:avLst/>
            </a:prstGeom>
            <a:noFill/>
            <a:ln w="20638">
              <a:solidFill>
                <a:srgbClr val="000000"/>
              </a:solidFill>
              <a:round/>
              <a:headEnd/>
              <a:tailEnd/>
            </a:ln>
          </p:spPr>
          <p:txBody>
            <a:bodyPr/>
            <a:lstStyle/>
            <a:p>
              <a:endParaRPr lang="zh-CN" altLang="en-US"/>
            </a:p>
          </p:txBody>
        </p:sp>
        <p:sp>
          <p:nvSpPr>
            <p:cNvPr id="1141778" name="Line 18"/>
            <p:cNvSpPr>
              <a:spLocks noChangeShapeType="1"/>
            </p:cNvSpPr>
            <p:nvPr/>
          </p:nvSpPr>
          <p:spPr bwMode="auto">
            <a:xfrm>
              <a:off x="3304" y="2700"/>
              <a:ext cx="52" cy="1"/>
            </a:xfrm>
            <a:prstGeom prst="line">
              <a:avLst/>
            </a:prstGeom>
            <a:noFill/>
            <a:ln w="20638">
              <a:solidFill>
                <a:srgbClr val="000000"/>
              </a:solidFill>
              <a:round/>
              <a:headEnd/>
              <a:tailEnd/>
            </a:ln>
          </p:spPr>
          <p:txBody>
            <a:bodyPr/>
            <a:lstStyle/>
            <a:p>
              <a:endParaRPr lang="zh-CN" altLang="en-US"/>
            </a:p>
          </p:txBody>
        </p:sp>
        <p:sp>
          <p:nvSpPr>
            <p:cNvPr id="1141779" name="Line 19"/>
            <p:cNvSpPr>
              <a:spLocks noChangeShapeType="1"/>
            </p:cNvSpPr>
            <p:nvPr/>
          </p:nvSpPr>
          <p:spPr bwMode="auto">
            <a:xfrm>
              <a:off x="3409" y="2700"/>
              <a:ext cx="52" cy="1"/>
            </a:xfrm>
            <a:prstGeom prst="line">
              <a:avLst/>
            </a:prstGeom>
            <a:noFill/>
            <a:ln w="20638">
              <a:solidFill>
                <a:srgbClr val="000000"/>
              </a:solidFill>
              <a:round/>
              <a:headEnd/>
              <a:tailEnd/>
            </a:ln>
          </p:spPr>
          <p:txBody>
            <a:bodyPr/>
            <a:lstStyle/>
            <a:p>
              <a:endParaRPr lang="zh-CN" altLang="en-US"/>
            </a:p>
          </p:txBody>
        </p:sp>
        <p:sp>
          <p:nvSpPr>
            <p:cNvPr id="1141780" name="Line 20"/>
            <p:cNvSpPr>
              <a:spLocks noChangeShapeType="1"/>
            </p:cNvSpPr>
            <p:nvPr/>
          </p:nvSpPr>
          <p:spPr bwMode="auto">
            <a:xfrm>
              <a:off x="3461" y="2700"/>
              <a:ext cx="1" cy="52"/>
            </a:xfrm>
            <a:prstGeom prst="line">
              <a:avLst/>
            </a:prstGeom>
            <a:noFill/>
            <a:ln w="20638">
              <a:solidFill>
                <a:srgbClr val="000000"/>
              </a:solidFill>
              <a:round/>
              <a:headEnd/>
              <a:tailEnd/>
            </a:ln>
          </p:spPr>
          <p:txBody>
            <a:bodyPr/>
            <a:lstStyle/>
            <a:p>
              <a:endParaRPr lang="zh-CN" altLang="en-US"/>
            </a:p>
          </p:txBody>
        </p:sp>
      </p:grpSp>
      <p:grpSp>
        <p:nvGrpSpPr>
          <p:cNvPr id="1141781" name="Group 21"/>
          <p:cNvGrpSpPr>
            <a:grpSpLocks/>
          </p:cNvGrpSpPr>
          <p:nvPr/>
        </p:nvGrpSpPr>
        <p:grpSpPr bwMode="auto">
          <a:xfrm>
            <a:off x="3478213" y="4660900"/>
            <a:ext cx="3416300" cy="1588"/>
            <a:chOff x="1231" y="2936"/>
            <a:chExt cx="2152" cy="1"/>
          </a:xfrm>
        </p:grpSpPr>
        <p:sp>
          <p:nvSpPr>
            <p:cNvPr id="1141782" name="Line 22"/>
            <p:cNvSpPr>
              <a:spLocks noChangeShapeType="1"/>
            </p:cNvSpPr>
            <p:nvPr/>
          </p:nvSpPr>
          <p:spPr bwMode="auto">
            <a:xfrm>
              <a:off x="1231" y="2936"/>
              <a:ext cx="53" cy="1"/>
            </a:xfrm>
            <a:prstGeom prst="line">
              <a:avLst/>
            </a:prstGeom>
            <a:noFill/>
            <a:ln w="20638">
              <a:solidFill>
                <a:srgbClr val="000000"/>
              </a:solidFill>
              <a:round/>
              <a:headEnd/>
              <a:tailEnd/>
            </a:ln>
          </p:spPr>
          <p:txBody>
            <a:bodyPr/>
            <a:lstStyle/>
            <a:p>
              <a:endParaRPr lang="zh-CN" altLang="en-US"/>
            </a:p>
          </p:txBody>
        </p:sp>
        <p:sp>
          <p:nvSpPr>
            <p:cNvPr id="1141783" name="Line 23"/>
            <p:cNvSpPr>
              <a:spLocks noChangeShapeType="1"/>
            </p:cNvSpPr>
            <p:nvPr/>
          </p:nvSpPr>
          <p:spPr bwMode="auto">
            <a:xfrm>
              <a:off x="1336" y="2936"/>
              <a:ext cx="53" cy="1"/>
            </a:xfrm>
            <a:prstGeom prst="line">
              <a:avLst/>
            </a:prstGeom>
            <a:noFill/>
            <a:ln w="20638">
              <a:solidFill>
                <a:srgbClr val="000000"/>
              </a:solidFill>
              <a:round/>
              <a:headEnd/>
              <a:tailEnd/>
            </a:ln>
          </p:spPr>
          <p:txBody>
            <a:bodyPr/>
            <a:lstStyle/>
            <a:p>
              <a:endParaRPr lang="zh-CN" altLang="en-US"/>
            </a:p>
          </p:txBody>
        </p:sp>
        <p:sp>
          <p:nvSpPr>
            <p:cNvPr id="1141784" name="Line 24"/>
            <p:cNvSpPr>
              <a:spLocks noChangeShapeType="1"/>
            </p:cNvSpPr>
            <p:nvPr/>
          </p:nvSpPr>
          <p:spPr bwMode="auto">
            <a:xfrm>
              <a:off x="1441" y="2936"/>
              <a:ext cx="53" cy="1"/>
            </a:xfrm>
            <a:prstGeom prst="line">
              <a:avLst/>
            </a:prstGeom>
            <a:noFill/>
            <a:ln w="20638">
              <a:solidFill>
                <a:srgbClr val="000000"/>
              </a:solidFill>
              <a:round/>
              <a:headEnd/>
              <a:tailEnd/>
            </a:ln>
          </p:spPr>
          <p:txBody>
            <a:bodyPr/>
            <a:lstStyle/>
            <a:p>
              <a:endParaRPr lang="zh-CN" altLang="en-US"/>
            </a:p>
          </p:txBody>
        </p:sp>
        <p:sp>
          <p:nvSpPr>
            <p:cNvPr id="1141785" name="Line 25"/>
            <p:cNvSpPr>
              <a:spLocks noChangeShapeType="1"/>
            </p:cNvSpPr>
            <p:nvPr/>
          </p:nvSpPr>
          <p:spPr bwMode="auto">
            <a:xfrm>
              <a:off x="1546" y="2936"/>
              <a:ext cx="52" cy="1"/>
            </a:xfrm>
            <a:prstGeom prst="line">
              <a:avLst/>
            </a:prstGeom>
            <a:noFill/>
            <a:ln w="20638">
              <a:solidFill>
                <a:srgbClr val="000000"/>
              </a:solidFill>
              <a:round/>
              <a:headEnd/>
              <a:tailEnd/>
            </a:ln>
          </p:spPr>
          <p:txBody>
            <a:bodyPr/>
            <a:lstStyle/>
            <a:p>
              <a:endParaRPr lang="zh-CN" altLang="en-US"/>
            </a:p>
          </p:txBody>
        </p:sp>
        <p:sp>
          <p:nvSpPr>
            <p:cNvPr id="1141786" name="Line 26"/>
            <p:cNvSpPr>
              <a:spLocks noChangeShapeType="1"/>
            </p:cNvSpPr>
            <p:nvPr/>
          </p:nvSpPr>
          <p:spPr bwMode="auto">
            <a:xfrm>
              <a:off x="1651" y="2936"/>
              <a:ext cx="52" cy="1"/>
            </a:xfrm>
            <a:prstGeom prst="line">
              <a:avLst/>
            </a:prstGeom>
            <a:noFill/>
            <a:ln w="20638">
              <a:solidFill>
                <a:srgbClr val="000000"/>
              </a:solidFill>
              <a:round/>
              <a:headEnd/>
              <a:tailEnd/>
            </a:ln>
          </p:spPr>
          <p:txBody>
            <a:bodyPr/>
            <a:lstStyle/>
            <a:p>
              <a:endParaRPr lang="zh-CN" altLang="en-US"/>
            </a:p>
          </p:txBody>
        </p:sp>
        <p:sp>
          <p:nvSpPr>
            <p:cNvPr id="1141787" name="Line 27"/>
            <p:cNvSpPr>
              <a:spLocks noChangeShapeType="1"/>
            </p:cNvSpPr>
            <p:nvPr/>
          </p:nvSpPr>
          <p:spPr bwMode="auto">
            <a:xfrm>
              <a:off x="1756" y="2936"/>
              <a:ext cx="52" cy="1"/>
            </a:xfrm>
            <a:prstGeom prst="line">
              <a:avLst/>
            </a:prstGeom>
            <a:noFill/>
            <a:ln w="20638">
              <a:solidFill>
                <a:srgbClr val="000000"/>
              </a:solidFill>
              <a:round/>
              <a:headEnd/>
              <a:tailEnd/>
            </a:ln>
          </p:spPr>
          <p:txBody>
            <a:bodyPr/>
            <a:lstStyle/>
            <a:p>
              <a:endParaRPr lang="zh-CN" altLang="en-US"/>
            </a:p>
          </p:txBody>
        </p:sp>
        <p:sp>
          <p:nvSpPr>
            <p:cNvPr id="1141788" name="Line 28"/>
            <p:cNvSpPr>
              <a:spLocks noChangeShapeType="1"/>
            </p:cNvSpPr>
            <p:nvPr/>
          </p:nvSpPr>
          <p:spPr bwMode="auto">
            <a:xfrm>
              <a:off x="1861" y="2936"/>
              <a:ext cx="52" cy="1"/>
            </a:xfrm>
            <a:prstGeom prst="line">
              <a:avLst/>
            </a:prstGeom>
            <a:noFill/>
            <a:ln w="20638">
              <a:solidFill>
                <a:srgbClr val="000000"/>
              </a:solidFill>
              <a:round/>
              <a:headEnd/>
              <a:tailEnd/>
            </a:ln>
          </p:spPr>
          <p:txBody>
            <a:bodyPr/>
            <a:lstStyle/>
            <a:p>
              <a:endParaRPr lang="zh-CN" altLang="en-US"/>
            </a:p>
          </p:txBody>
        </p:sp>
        <p:sp>
          <p:nvSpPr>
            <p:cNvPr id="1141789" name="Line 29"/>
            <p:cNvSpPr>
              <a:spLocks noChangeShapeType="1"/>
            </p:cNvSpPr>
            <p:nvPr/>
          </p:nvSpPr>
          <p:spPr bwMode="auto">
            <a:xfrm>
              <a:off x="1966" y="2936"/>
              <a:ext cx="52" cy="1"/>
            </a:xfrm>
            <a:prstGeom prst="line">
              <a:avLst/>
            </a:prstGeom>
            <a:noFill/>
            <a:ln w="20638">
              <a:solidFill>
                <a:srgbClr val="000000"/>
              </a:solidFill>
              <a:round/>
              <a:headEnd/>
              <a:tailEnd/>
            </a:ln>
          </p:spPr>
          <p:txBody>
            <a:bodyPr/>
            <a:lstStyle/>
            <a:p>
              <a:endParaRPr lang="zh-CN" altLang="en-US"/>
            </a:p>
          </p:txBody>
        </p:sp>
        <p:sp>
          <p:nvSpPr>
            <p:cNvPr id="1141790" name="Line 30"/>
            <p:cNvSpPr>
              <a:spLocks noChangeShapeType="1"/>
            </p:cNvSpPr>
            <p:nvPr/>
          </p:nvSpPr>
          <p:spPr bwMode="auto">
            <a:xfrm>
              <a:off x="2071" y="2936"/>
              <a:ext cx="52" cy="1"/>
            </a:xfrm>
            <a:prstGeom prst="line">
              <a:avLst/>
            </a:prstGeom>
            <a:noFill/>
            <a:ln w="20638">
              <a:solidFill>
                <a:srgbClr val="000000"/>
              </a:solidFill>
              <a:round/>
              <a:headEnd/>
              <a:tailEnd/>
            </a:ln>
          </p:spPr>
          <p:txBody>
            <a:bodyPr/>
            <a:lstStyle/>
            <a:p>
              <a:endParaRPr lang="zh-CN" altLang="en-US"/>
            </a:p>
          </p:txBody>
        </p:sp>
        <p:sp>
          <p:nvSpPr>
            <p:cNvPr id="1141791" name="Line 31"/>
            <p:cNvSpPr>
              <a:spLocks noChangeShapeType="1"/>
            </p:cNvSpPr>
            <p:nvPr/>
          </p:nvSpPr>
          <p:spPr bwMode="auto">
            <a:xfrm>
              <a:off x="2176" y="2936"/>
              <a:ext cx="52" cy="1"/>
            </a:xfrm>
            <a:prstGeom prst="line">
              <a:avLst/>
            </a:prstGeom>
            <a:noFill/>
            <a:ln w="20638">
              <a:solidFill>
                <a:srgbClr val="000000"/>
              </a:solidFill>
              <a:round/>
              <a:headEnd/>
              <a:tailEnd/>
            </a:ln>
          </p:spPr>
          <p:txBody>
            <a:bodyPr/>
            <a:lstStyle/>
            <a:p>
              <a:endParaRPr lang="zh-CN" altLang="en-US"/>
            </a:p>
          </p:txBody>
        </p:sp>
        <p:sp>
          <p:nvSpPr>
            <p:cNvPr id="1141792" name="Line 32"/>
            <p:cNvSpPr>
              <a:spLocks noChangeShapeType="1"/>
            </p:cNvSpPr>
            <p:nvPr/>
          </p:nvSpPr>
          <p:spPr bwMode="auto">
            <a:xfrm>
              <a:off x="2281" y="2936"/>
              <a:ext cx="52" cy="1"/>
            </a:xfrm>
            <a:prstGeom prst="line">
              <a:avLst/>
            </a:prstGeom>
            <a:noFill/>
            <a:ln w="20638">
              <a:solidFill>
                <a:srgbClr val="000000"/>
              </a:solidFill>
              <a:round/>
              <a:headEnd/>
              <a:tailEnd/>
            </a:ln>
          </p:spPr>
          <p:txBody>
            <a:bodyPr/>
            <a:lstStyle/>
            <a:p>
              <a:endParaRPr lang="zh-CN" altLang="en-US"/>
            </a:p>
          </p:txBody>
        </p:sp>
        <p:sp>
          <p:nvSpPr>
            <p:cNvPr id="1141793" name="Line 33"/>
            <p:cNvSpPr>
              <a:spLocks noChangeShapeType="1"/>
            </p:cNvSpPr>
            <p:nvPr/>
          </p:nvSpPr>
          <p:spPr bwMode="auto">
            <a:xfrm>
              <a:off x="2386" y="2936"/>
              <a:ext cx="52" cy="1"/>
            </a:xfrm>
            <a:prstGeom prst="line">
              <a:avLst/>
            </a:prstGeom>
            <a:noFill/>
            <a:ln w="20638">
              <a:solidFill>
                <a:srgbClr val="000000"/>
              </a:solidFill>
              <a:round/>
              <a:headEnd/>
              <a:tailEnd/>
            </a:ln>
          </p:spPr>
          <p:txBody>
            <a:bodyPr/>
            <a:lstStyle/>
            <a:p>
              <a:endParaRPr lang="zh-CN" altLang="en-US"/>
            </a:p>
          </p:txBody>
        </p:sp>
        <p:sp>
          <p:nvSpPr>
            <p:cNvPr id="1141794" name="Line 34"/>
            <p:cNvSpPr>
              <a:spLocks noChangeShapeType="1"/>
            </p:cNvSpPr>
            <p:nvPr/>
          </p:nvSpPr>
          <p:spPr bwMode="auto">
            <a:xfrm>
              <a:off x="2491" y="2936"/>
              <a:ext cx="52" cy="1"/>
            </a:xfrm>
            <a:prstGeom prst="line">
              <a:avLst/>
            </a:prstGeom>
            <a:noFill/>
            <a:ln w="20638">
              <a:solidFill>
                <a:srgbClr val="000000"/>
              </a:solidFill>
              <a:round/>
              <a:headEnd/>
              <a:tailEnd/>
            </a:ln>
          </p:spPr>
          <p:txBody>
            <a:bodyPr/>
            <a:lstStyle/>
            <a:p>
              <a:endParaRPr lang="zh-CN" altLang="en-US"/>
            </a:p>
          </p:txBody>
        </p:sp>
        <p:sp>
          <p:nvSpPr>
            <p:cNvPr id="1141795" name="Line 35"/>
            <p:cNvSpPr>
              <a:spLocks noChangeShapeType="1"/>
            </p:cNvSpPr>
            <p:nvPr/>
          </p:nvSpPr>
          <p:spPr bwMode="auto">
            <a:xfrm>
              <a:off x="2595" y="2936"/>
              <a:ext cx="53" cy="1"/>
            </a:xfrm>
            <a:prstGeom prst="line">
              <a:avLst/>
            </a:prstGeom>
            <a:noFill/>
            <a:ln w="20638">
              <a:solidFill>
                <a:srgbClr val="000000"/>
              </a:solidFill>
              <a:round/>
              <a:headEnd/>
              <a:tailEnd/>
            </a:ln>
          </p:spPr>
          <p:txBody>
            <a:bodyPr/>
            <a:lstStyle/>
            <a:p>
              <a:endParaRPr lang="zh-CN" altLang="en-US"/>
            </a:p>
          </p:txBody>
        </p:sp>
        <p:sp>
          <p:nvSpPr>
            <p:cNvPr id="1141796" name="Line 36"/>
            <p:cNvSpPr>
              <a:spLocks noChangeShapeType="1"/>
            </p:cNvSpPr>
            <p:nvPr/>
          </p:nvSpPr>
          <p:spPr bwMode="auto">
            <a:xfrm>
              <a:off x="2700" y="2936"/>
              <a:ext cx="53" cy="1"/>
            </a:xfrm>
            <a:prstGeom prst="line">
              <a:avLst/>
            </a:prstGeom>
            <a:noFill/>
            <a:ln w="20638">
              <a:solidFill>
                <a:srgbClr val="000000"/>
              </a:solidFill>
              <a:round/>
              <a:headEnd/>
              <a:tailEnd/>
            </a:ln>
          </p:spPr>
          <p:txBody>
            <a:bodyPr/>
            <a:lstStyle/>
            <a:p>
              <a:endParaRPr lang="zh-CN" altLang="en-US"/>
            </a:p>
          </p:txBody>
        </p:sp>
        <p:sp>
          <p:nvSpPr>
            <p:cNvPr id="1141797" name="Line 37"/>
            <p:cNvSpPr>
              <a:spLocks noChangeShapeType="1"/>
            </p:cNvSpPr>
            <p:nvPr/>
          </p:nvSpPr>
          <p:spPr bwMode="auto">
            <a:xfrm>
              <a:off x="2805" y="2936"/>
              <a:ext cx="53" cy="1"/>
            </a:xfrm>
            <a:prstGeom prst="line">
              <a:avLst/>
            </a:prstGeom>
            <a:noFill/>
            <a:ln w="20638">
              <a:solidFill>
                <a:srgbClr val="000000"/>
              </a:solidFill>
              <a:round/>
              <a:headEnd/>
              <a:tailEnd/>
            </a:ln>
          </p:spPr>
          <p:txBody>
            <a:bodyPr/>
            <a:lstStyle/>
            <a:p>
              <a:endParaRPr lang="zh-CN" altLang="en-US"/>
            </a:p>
          </p:txBody>
        </p:sp>
        <p:sp>
          <p:nvSpPr>
            <p:cNvPr id="1141798" name="Line 38"/>
            <p:cNvSpPr>
              <a:spLocks noChangeShapeType="1"/>
            </p:cNvSpPr>
            <p:nvPr/>
          </p:nvSpPr>
          <p:spPr bwMode="auto">
            <a:xfrm>
              <a:off x="2910" y="2936"/>
              <a:ext cx="53" cy="1"/>
            </a:xfrm>
            <a:prstGeom prst="line">
              <a:avLst/>
            </a:prstGeom>
            <a:noFill/>
            <a:ln w="20638">
              <a:solidFill>
                <a:srgbClr val="000000"/>
              </a:solidFill>
              <a:round/>
              <a:headEnd/>
              <a:tailEnd/>
            </a:ln>
          </p:spPr>
          <p:txBody>
            <a:bodyPr/>
            <a:lstStyle/>
            <a:p>
              <a:endParaRPr lang="zh-CN" altLang="en-US"/>
            </a:p>
          </p:txBody>
        </p:sp>
        <p:sp>
          <p:nvSpPr>
            <p:cNvPr id="1141799" name="Line 39"/>
            <p:cNvSpPr>
              <a:spLocks noChangeShapeType="1"/>
            </p:cNvSpPr>
            <p:nvPr/>
          </p:nvSpPr>
          <p:spPr bwMode="auto">
            <a:xfrm>
              <a:off x="3015" y="2936"/>
              <a:ext cx="53" cy="1"/>
            </a:xfrm>
            <a:prstGeom prst="line">
              <a:avLst/>
            </a:prstGeom>
            <a:noFill/>
            <a:ln w="20638">
              <a:solidFill>
                <a:srgbClr val="000000"/>
              </a:solidFill>
              <a:round/>
              <a:headEnd/>
              <a:tailEnd/>
            </a:ln>
          </p:spPr>
          <p:txBody>
            <a:bodyPr/>
            <a:lstStyle/>
            <a:p>
              <a:endParaRPr lang="zh-CN" altLang="en-US"/>
            </a:p>
          </p:txBody>
        </p:sp>
        <p:sp>
          <p:nvSpPr>
            <p:cNvPr id="1141800" name="Line 40"/>
            <p:cNvSpPr>
              <a:spLocks noChangeShapeType="1"/>
            </p:cNvSpPr>
            <p:nvPr/>
          </p:nvSpPr>
          <p:spPr bwMode="auto">
            <a:xfrm>
              <a:off x="3120" y="2936"/>
              <a:ext cx="53" cy="1"/>
            </a:xfrm>
            <a:prstGeom prst="line">
              <a:avLst/>
            </a:prstGeom>
            <a:noFill/>
            <a:ln w="20638">
              <a:solidFill>
                <a:srgbClr val="000000"/>
              </a:solidFill>
              <a:round/>
              <a:headEnd/>
              <a:tailEnd/>
            </a:ln>
          </p:spPr>
          <p:txBody>
            <a:bodyPr/>
            <a:lstStyle/>
            <a:p>
              <a:endParaRPr lang="zh-CN" altLang="en-US"/>
            </a:p>
          </p:txBody>
        </p:sp>
        <p:sp>
          <p:nvSpPr>
            <p:cNvPr id="1141801" name="Line 41"/>
            <p:cNvSpPr>
              <a:spLocks noChangeShapeType="1"/>
            </p:cNvSpPr>
            <p:nvPr/>
          </p:nvSpPr>
          <p:spPr bwMode="auto">
            <a:xfrm>
              <a:off x="3225" y="2936"/>
              <a:ext cx="53" cy="1"/>
            </a:xfrm>
            <a:prstGeom prst="line">
              <a:avLst/>
            </a:prstGeom>
            <a:noFill/>
            <a:ln w="20638">
              <a:solidFill>
                <a:srgbClr val="000000"/>
              </a:solidFill>
              <a:round/>
              <a:headEnd/>
              <a:tailEnd/>
            </a:ln>
          </p:spPr>
          <p:txBody>
            <a:bodyPr/>
            <a:lstStyle/>
            <a:p>
              <a:endParaRPr lang="zh-CN" altLang="en-US"/>
            </a:p>
          </p:txBody>
        </p:sp>
        <p:sp>
          <p:nvSpPr>
            <p:cNvPr id="1141802" name="Line 42"/>
            <p:cNvSpPr>
              <a:spLocks noChangeShapeType="1"/>
            </p:cNvSpPr>
            <p:nvPr/>
          </p:nvSpPr>
          <p:spPr bwMode="auto">
            <a:xfrm>
              <a:off x="3330" y="2936"/>
              <a:ext cx="53" cy="1"/>
            </a:xfrm>
            <a:prstGeom prst="line">
              <a:avLst/>
            </a:prstGeom>
            <a:noFill/>
            <a:ln w="20638">
              <a:solidFill>
                <a:srgbClr val="000000"/>
              </a:solidFill>
              <a:round/>
              <a:headEnd/>
              <a:tailEnd/>
            </a:ln>
          </p:spPr>
          <p:txBody>
            <a:bodyPr/>
            <a:lstStyle/>
            <a:p>
              <a:endParaRPr lang="zh-CN" altLang="en-US"/>
            </a:p>
          </p:txBody>
        </p:sp>
      </p:grpSp>
      <p:grpSp>
        <p:nvGrpSpPr>
          <p:cNvPr id="1141803" name="Group 43"/>
          <p:cNvGrpSpPr>
            <a:grpSpLocks/>
          </p:cNvGrpSpPr>
          <p:nvPr/>
        </p:nvGrpSpPr>
        <p:grpSpPr bwMode="auto">
          <a:xfrm>
            <a:off x="6977063" y="4452938"/>
            <a:ext cx="42862" cy="209550"/>
            <a:chOff x="3435" y="2805"/>
            <a:chExt cx="27" cy="132"/>
          </a:xfrm>
        </p:grpSpPr>
        <p:sp>
          <p:nvSpPr>
            <p:cNvPr id="1141804" name="Line 44"/>
            <p:cNvSpPr>
              <a:spLocks noChangeShapeType="1"/>
            </p:cNvSpPr>
            <p:nvPr/>
          </p:nvSpPr>
          <p:spPr bwMode="auto">
            <a:xfrm>
              <a:off x="3461" y="2805"/>
              <a:ext cx="1" cy="52"/>
            </a:xfrm>
            <a:prstGeom prst="line">
              <a:avLst/>
            </a:prstGeom>
            <a:noFill/>
            <a:ln w="20638">
              <a:solidFill>
                <a:srgbClr val="000000"/>
              </a:solidFill>
              <a:round/>
              <a:headEnd/>
              <a:tailEnd/>
            </a:ln>
          </p:spPr>
          <p:txBody>
            <a:bodyPr/>
            <a:lstStyle/>
            <a:p>
              <a:endParaRPr lang="zh-CN" altLang="en-US"/>
            </a:p>
          </p:txBody>
        </p:sp>
        <p:sp>
          <p:nvSpPr>
            <p:cNvPr id="1141805" name="Line 45"/>
            <p:cNvSpPr>
              <a:spLocks noChangeShapeType="1"/>
            </p:cNvSpPr>
            <p:nvPr/>
          </p:nvSpPr>
          <p:spPr bwMode="auto">
            <a:xfrm>
              <a:off x="3461" y="2910"/>
              <a:ext cx="1" cy="26"/>
            </a:xfrm>
            <a:prstGeom prst="line">
              <a:avLst/>
            </a:prstGeom>
            <a:noFill/>
            <a:ln w="20638">
              <a:solidFill>
                <a:srgbClr val="000000"/>
              </a:solidFill>
              <a:round/>
              <a:headEnd/>
              <a:tailEnd/>
            </a:ln>
          </p:spPr>
          <p:txBody>
            <a:bodyPr/>
            <a:lstStyle/>
            <a:p>
              <a:endParaRPr lang="zh-CN" altLang="en-US"/>
            </a:p>
          </p:txBody>
        </p:sp>
        <p:sp>
          <p:nvSpPr>
            <p:cNvPr id="1141806" name="Line 46"/>
            <p:cNvSpPr>
              <a:spLocks noChangeShapeType="1"/>
            </p:cNvSpPr>
            <p:nvPr/>
          </p:nvSpPr>
          <p:spPr bwMode="auto">
            <a:xfrm>
              <a:off x="3435" y="2936"/>
              <a:ext cx="26" cy="1"/>
            </a:xfrm>
            <a:prstGeom prst="line">
              <a:avLst/>
            </a:prstGeom>
            <a:noFill/>
            <a:ln w="20638">
              <a:solidFill>
                <a:srgbClr val="000000"/>
              </a:solidFill>
              <a:round/>
              <a:headEnd/>
              <a:tailEnd/>
            </a:ln>
          </p:spPr>
          <p:txBody>
            <a:bodyPr/>
            <a:lstStyle/>
            <a:p>
              <a:endParaRPr lang="zh-CN" altLang="en-US"/>
            </a:p>
          </p:txBody>
        </p:sp>
      </p:grpSp>
      <p:grpSp>
        <p:nvGrpSpPr>
          <p:cNvPr id="1141807" name="Group 47"/>
          <p:cNvGrpSpPr>
            <a:grpSpLocks/>
          </p:cNvGrpSpPr>
          <p:nvPr/>
        </p:nvGrpSpPr>
        <p:grpSpPr bwMode="auto">
          <a:xfrm>
            <a:off x="3478214" y="4660900"/>
            <a:ext cx="1587" cy="249238"/>
            <a:chOff x="1231" y="2936"/>
            <a:chExt cx="1" cy="157"/>
          </a:xfrm>
        </p:grpSpPr>
        <p:sp>
          <p:nvSpPr>
            <p:cNvPr id="1141808" name="Line 48"/>
            <p:cNvSpPr>
              <a:spLocks noChangeShapeType="1"/>
            </p:cNvSpPr>
            <p:nvPr/>
          </p:nvSpPr>
          <p:spPr bwMode="auto">
            <a:xfrm>
              <a:off x="1231" y="2936"/>
              <a:ext cx="1" cy="52"/>
            </a:xfrm>
            <a:prstGeom prst="line">
              <a:avLst/>
            </a:prstGeom>
            <a:noFill/>
            <a:ln w="20638">
              <a:solidFill>
                <a:srgbClr val="000000"/>
              </a:solidFill>
              <a:round/>
              <a:headEnd/>
              <a:tailEnd/>
            </a:ln>
          </p:spPr>
          <p:txBody>
            <a:bodyPr/>
            <a:lstStyle/>
            <a:p>
              <a:endParaRPr lang="zh-CN" altLang="en-US"/>
            </a:p>
          </p:txBody>
        </p:sp>
        <p:sp>
          <p:nvSpPr>
            <p:cNvPr id="1141809" name="Line 49"/>
            <p:cNvSpPr>
              <a:spLocks noChangeShapeType="1"/>
            </p:cNvSpPr>
            <p:nvPr/>
          </p:nvSpPr>
          <p:spPr bwMode="auto">
            <a:xfrm>
              <a:off x="1231" y="3041"/>
              <a:ext cx="1" cy="52"/>
            </a:xfrm>
            <a:prstGeom prst="line">
              <a:avLst/>
            </a:prstGeom>
            <a:noFill/>
            <a:ln w="20638">
              <a:solidFill>
                <a:srgbClr val="000000"/>
              </a:solidFill>
              <a:round/>
              <a:headEnd/>
              <a:tailEnd/>
            </a:ln>
          </p:spPr>
          <p:txBody>
            <a:bodyPr/>
            <a:lstStyle/>
            <a:p>
              <a:endParaRPr lang="zh-CN" altLang="en-US"/>
            </a:p>
          </p:txBody>
        </p:sp>
      </p:grpSp>
      <p:sp>
        <p:nvSpPr>
          <p:cNvPr id="1141810" name="Rectangle 50"/>
          <p:cNvSpPr>
            <a:spLocks noChangeArrowheads="1"/>
          </p:cNvSpPr>
          <p:nvPr/>
        </p:nvSpPr>
        <p:spPr bwMode="auto">
          <a:xfrm>
            <a:off x="4060825" y="4868863"/>
            <a:ext cx="2374900" cy="500062"/>
          </a:xfrm>
          <a:prstGeom prst="rect">
            <a:avLst/>
          </a:prstGeom>
          <a:gradFill rotWithShape="0">
            <a:gsLst>
              <a:gs pos="0">
                <a:schemeClr val="tx2"/>
              </a:gs>
              <a:gs pos="50000">
                <a:srgbClr val="FFFFFF"/>
              </a:gs>
              <a:gs pos="100000">
                <a:schemeClr val="tx2"/>
              </a:gs>
            </a:gsLst>
            <a:lin ang="5400000" scaled="1"/>
          </a:gradFill>
          <a:ln w="20638">
            <a:solidFill>
              <a:srgbClr val="000000"/>
            </a:solidFill>
            <a:miter lim="800000"/>
            <a:headEnd/>
            <a:tailEnd/>
          </a:ln>
        </p:spPr>
        <p:txBody>
          <a:bodyPr/>
          <a:lstStyle/>
          <a:p>
            <a:pPr algn="ctr"/>
            <a:r>
              <a:rPr kumimoji="1" lang="zh-CN" altLang="en-US" sz="2100" b="1">
                <a:solidFill>
                  <a:srgbClr val="000000"/>
                </a:solidFill>
                <a:latin typeface="宋体" pitchFamily="2" charset="-122"/>
              </a:rPr>
              <a:t>就绪队列</a:t>
            </a:r>
            <a:r>
              <a:rPr kumimoji="1" lang="en-US" altLang="zh-CN" sz="2100" b="1">
                <a:solidFill>
                  <a:srgbClr val="000000"/>
                </a:solidFill>
                <a:latin typeface="宋体" pitchFamily="2" charset="-122"/>
              </a:rPr>
              <a:t>n</a:t>
            </a:r>
          </a:p>
        </p:txBody>
      </p:sp>
      <p:grpSp>
        <p:nvGrpSpPr>
          <p:cNvPr id="1141811" name="Group 51"/>
          <p:cNvGrpSpPr>
            <a:grpSpLocks/>
          </p:cNvGrpSpPr>
          <p:nvPr/>
        </p:nvGrpSpPr>
        <p:grpSpPr bwMode="auto">
          <a:xfrm>
            <a:off x="3478213" y="3098801"/>
            <a:ext cx="582612" cy="104775"/>
            <a:chOff x="1231" y="1952"/>
            <a:chExt cx="367" cy="66"/>
          </a:xfrm>
        </p:grpSpPr>
        <p:sp>
          <p:nvSpPr>
            <p:cNvPr id="1141812" name="Line 52"/>
            <p:cNvSpPr>
              <a:spLocks noChangeShapeType="1"/>
            </p:cNvSpPr>
            <p:nvPr/>
          </p:nvSpPr>
          <p:spPr bwMode="auto">
            <a:xfrm>
              <a:off x="1231" y="1978"/>
              <a:ext cx="367" cy="1"/>
            </a:xfrm>
            <a:prstGeom prst="line">
              <a:avLst/>
            </a:prstGeom>
            <a:noFill/>
            <a:ln w="20638">
              <a:solidFill>
                <a:srgbClr val="000000"/>
              </a:solidFill>
              <a:round/>
              <a:headEnd/>
              <a:tailEnd/>
            </a:ln>
          </p:spPr>
          <p:txBody>
            <a:bodyPr/>
            <a:lstStyle/>
            <a:p>
              <a:endParaRPr lang="zh-CN" altLang="en-US"/>
            </a:p>
          </p:txBody>
        </p:sp>
        <p:sp>
          <p:nvSpPr>
            <p:cNvPr id="1141813" name="Freeform 53"/>
            <p:cNvSpPr>
              <a:spLocks/>
            </p:cNvSpPr>
            <p:nvPr/>
          </p:nvSpPr>
          <p:spPr bwMode="auto">
            <a:xfrm>
              <a:off x="1441" y="1952"/>
              <a:ext cx="157" cy="66"/>
            </a:xfrm>
            <a:custGeom>
              <a:avLst/>
              <a:gdLst/>
              <a:ahLst/>
              <a:cxnLst>
                <a:cxn ang="0">
                  <a:pos x="0" y="0"/>
                </a:cxn>
                <a:cxn ang="0">
                  <a:pos x="26" y="26"/>
                </a:cxn>
                <a:cxn ang="0">
                  <a:pos x="0" y="66"/>
                </a:cxn>
                <a:cxn ang="0">
                  <a:pos x="157" y="26"/>
                </a:cxn>
                <a:cxn ang="0">
                  <a:pos x="0" y="0"/>
                </a:cxn>
              </a:cxnLst>
              <a:rect l="0" t="0" r="r" b="b"/>
              <a:pathLst>
                <a:path w="157" h="66">
                  <a:moveTo>
                    <a:pt x="0" y="0"/>
                  </a:moveTo>
                  <a:lnTo>
                    <a:pt x="26" y="26"/>
                  </a:lnTo>
                  <a:lnTo>
                    <a:pt x="0" y="66"/>
                  </a:lnTo>
                  <a:lnTo>
                    <a:pt x="157" y="26"/>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14" name="Group 54"/>
          <p:cNvGrpSpPr>
            <a:grpSpLocks/>
          </p:cNvGrpSpPr>
          <p:nvPr/>
        </p:nvGrpSpPr>
        <p:grpSpPr bwMode="auto">
          <a:xfrm>
            <a:off x="2895601" y="2120900"/>
            <a:ext cx="1165225" cy="82550"/>
            <a:chOff x="864" y="1336"/>
            <a:chExt cx="734" cy="52"/>
          </a:xfrm>
        </p:grpSpPr>
        <p:sp>
          <p:nvSpPr>
            <p:cNvPr id="1141815" name="Line 55"/>
            <p:cNvSpPr>
              <a:spLocks noChangeShapeType="1"/>
            </p:cNvSpPr>
            <p:nvPr/>
          </p:nvSpPr>
          <p:spPr bwMode="auto">
            <a:xfrm>
              <a:off x="864" y="1362"/>
              <a:ext cx="734" cy="1"/>
            </a:xfrm>
            <a:prstGeom prst="line">
              <a:avLst/>
            </a:prstGeom>
            <a:noFill/>
            <a:ln w="20638">
              <a:solidFill>
                <a:srgbClr val="000000"/>
              </a:solidFill>
              <a:round/>
              <a:headEnd/>
              <a:tailEnd/>
            </a:ln>
          </p:spPr>
          <p:txBody>
            <a:bodyPr/>
            <a:lstStyle/>
            <a:p>
              <a:endParaRPr lang="zh-CN" altLang="en-US"/>
            </a:p>
          </p:txBody>
        </p:sp>
        <p:sp>
          <p:nvSpPr>
            <p:cNvPr id="1141816" name="Freeform 56"/>
            <p:cNvSpPr>
              <a:spLocks/>
            </p:cNvSpPr>
            <p:nvPr/>
          </p:nvSpPr>
          <p:spPr bwMode="auto">
            <a:xfrm>
              <a:off x="1441" y="1336"/>
              <a:ext cx="157" cy="52"/>
            </a:xfrm>
            <a:custGeom>
              <a:avLst/>
              <a:gdLst/>
              <a:ahLst/>
              <a:cxnLst>
                <a:cxn ang="0">
                  <a:pos x="0" y="0"/>
                </a:cxn>
                <a:cxn ang="0">
                  <a:pos x="26" y="26"/>
                </a:cxn>
                <a:cxn ang="0">
                  <a:pos x="0" y="52"/>
                </a:cxn>
                <a:cxn ang="0">
                  <a:pos x="157" y="26"/>
                </a:cxn>
                <a:cxn ang="0">
                  <a:pos x="0" y="0"/>
                </a:cxn>
              </a:cxnLst>
              <a:rect l="0" t="0" r="r" b="b"/>
              <a:pathLst>
                <a:path w="157" h="52">
                  <a:moveTo>
                    <a:pt x="0" y="0"/>
                  </a:moveTo>
                  <a:lnTo>
                    <a:pt x="26" y="26"/>
                  </a:lnTo>
                  <a:lnTo>
                    <a:pt x="0" y="52"/>
                  </a:lnTo>
                  <a:lnTo>
                    <a:pt x="157" y="26"/>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17" name="Group 57"/>
          <p:cNvGrpSpPr>
            <a:grpSpLocks/>
          </p:cNvGrpSpPr>
          <p:nvPr/>
        </p:nvGrpSpPr>
        <p:grpSpPr bwMode="auto">
          <a:xfrm>
            <a:off x="3478213" y="4078289"/>
            <a:ext cx="582612" cy="103187"/>
            <a:chOff x="1231" y="2569"/>
            <a:chExt cx="367" cy="65"/>
          </a:xfrm>
        </p:grpSpPr>
        <p:sp>
          <p:nvSpPr>
            <p:cNvPr id="1141818" name="Line 58"/>
            <p:cNvSpPr>
              <a:spLocks noChangeShapeType="1"/>
            </p:cNvSpPr>
            <p:nvPr/>
          </p:nvSpPr>
          <p:spPr bwMode="auto">
            <a:xfrm>
              <a:off x="1231" y="2595"/>
              <a:ext cx="367" cy="1"/>
            </a:xfrm>
            <a:prstGeom prst="line">
              <a:avLst/>
            </a:prstGeom>
            <a:noFill/>
            <a:ln w="20638">
              <a:solidFill>
                <a:srgbClr val="000000"/>
              </a:solidFill>
              <a:round/>
              <a:headEnd/>
              <a:tailEnd/>
            </a:ln>
          </p:spPr>
          <p:txBody>
            <a:bodyPr/>
            <a:lstStyle/>
            <a:p>
              <a:endParaRPr lang="zh-CN" altLang="en-US"/>
            </a:p>
          </p:txBody>
        </p:sp>
        <p:sp>
          <p:nvSpPr>
            <p:cNvPr id="1141819" name="Freeform 59"/>
            <p:cNvSpPr>
              <a:spLocks/>
            </p:cNvSpPr>
            <p:nvPr/>
          </p:nvSpPr>
          <p:spPr bwMode="auto">
            <a:xfrm>
              <a:off x="1441" y="2569"/>
              <a:ext cx="157" cy="65"/>
            </a:xfrm>
            <a:custGeom>
              <a:avLst/>
              <a:gdLst/>
              <a:ahLst/>
              <a:cxnLst>
                <a:cxn ang="0">
                  <a:pos x="0" y="0"/>
                </a:cxn>
                <a:cxn ang="0">
                  <a:pos x="26" y="26"/>
                </a:cxn>
                <a:cxn ang="0">
                  <a:pos x="0" y="65"/>
                </a:cxn>
                <a:cxn ang="0">
                  <a:pos x="157" y="26"/>
                </a:cxn>
                <a:cxn ang="0">
                  <a:pos x="0" y="0"/>
                </a:cxn>
              </a:cxnLst>
              <a:rect l="0" t="0" r="r" b="b"/>
              <a:pathLst>
                <a:path w="157" h="65">
                  <a:moveTo>
                    <a:pt x="0" y="0"/>
                  </a:moveTo>
                  <a:lnTo>
                    <a:pt x="26" y="26"/>
                  </a:lnTo>
                  <a:lnTo>
                    <a:pt x="0" y="65"/>
                  </a:lnTo>
                  <a:lnTo>
                    <a:pt x="157" y="26"/>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20" name="Group 60"/>
          <p:cNvGrpSpPr>
            <a:grpSpLocks/>
          </p:cNvGrpSpPr>
          <p:nvPr/>
        </p:nvGrpSpPr>
        <p:grpSpPr bwMode="auto">
          <a:xfrm>
            <a:off x="3478213" y="4910139"/>
            <a:ext cx="582612" cy="104775"/>
            <a:chOff x="1231" y="3093"/>
            <a:chExt cx="367" cy="66"/>
          </a:xfrm>
        </p:grpSpPr>
        <p:sp>
          <p:nvSpPr>
            <p:cNvPr id="1141821" name="Line 61"/>
            <p:cNvSpPr>
              <a:spLocks noChangeShapeType="1"/>
            </p:cNvSpPr>
            <p:nvPr/>
          </p:nvSpPr>
          <p:spPr bwMode="auto">
            <a:xfrm>
              <a:off x="1231" y="3132"/>
              <a:ext cx="53" cy="1"/>
            </a:xfrm>
            <a:prstGeom prst="line">
              <a:avLst/>
            </a:prstGeom>
            <a:noFill/>
            <a:ln w="20638">
              <a:solidFill>
                <a:srgbClr val="000000"/>
              </a:solidFill>
              <a:round/>
              <a:headEnd/>
              <a:tailEnd/>
            </a:ln>
          </p:spPr>
          <p:txBody>
            <a:bodyPr/>
            <a:lstStyle/>
            <a:p>
              <a:endParaRPr lang="zh-CN" altLang="en-US"/>
            </a:p>
          </p:txBody>
        </p:sp>
        <p:sp>
          <p:nvSpPr>
            <p:cNvPr id="1141822" name="Line 62"/>
            <p:cNvSpPr>
              <a:spLocks noChangeShapeType="1"/>
            </p:cNvSpPr>
            <p:nvPr/>
          </p:nvSpPr>
          <p:spPr bwMode="auto">
            <a:xfrm>
              <a:off x="1441" y="3132"/>
              <a:ext cx="53" cy="1"/>
            </a:xfrm>
            <a:prstGeom prst="line">
              <a:avLst/>
            </a:prstGeom>
            <a:noFill/>
            <a:ln w="20638">
              <a:solidFill>
                <a:srgbClr val="000000"/>
              </a:solidFill>
              <a:round/>
              <a:headEnd/>
              <a:tailEnd/>
            </a:ln>
          </p:spPr>
          <p:txBody>
            <a:bodyPr/>
            <a:lstStyle/>
            <a:p>
              <a:endParaRPr lang="zh-CN" altLang="en-US"/>
            </a:p>
          </p:txBody>
        </p:sp>
        <p:grpSp>
          <p:nvGrpSpPr>
            <p:cNvPr id="1141823" name="Group 63"/>
            <p:cNvGrpSpPr>
              <a:grpSpLocks/>
            </p:cNvGrpSpPr>
            <p:nvPr/>
          </p:nvGrpSpPr>
          <p:grpSpPr bwMode="auto">
            <a:xfrm>
              <a:off x="1336" y="3093"/>
              <a:ext cx="262" cy="66"/>
              <a:chOff x="1336" y="3093"/>
              <a:chExt cx="262" cy="66"/>
            </a:xfrm>
          </p:grpSpPr>
          <p:sp>
            <p:nvSpPr>
              <p:cNvPr id="1141824" name="Line 64"/>
              <p:cNvSpPr>
                <a:spLocks noChangeShapeType="1"/>
              </p:cNvSpPr>
              <p:nvPr/>
            </p:nvSpPr>
            <p:spPr bwMode="auto">
              <a:xfrm>
                <a:off x="1336" y="3132"/>
                <a:ext cx="53" cy="1"/>
              </a:xfrm>
              <a:prstGeom prst="line">
                <a:avLst/>
              </a:prstGeom>
              <a:noFill/>
              <a:ln w="20638">
                <a:solidFill>
                  <a:srgbClr val="000000"/>
                </a:solidFill>
                <a:round/>
                <a:headEnd/>
                <a:tailEnd/>
              </a:ln>
            </p:spPr>
            <p:txBody>
              <a:bodyPr/>
              <a:lstStyle/>
              <a:p>
                <a:endParaRPr lang="zh-CN" altLang="en-US"/>
              </a:p>
            </p:txBody>
          </p:sp>
          <p:sp>
            <p:nvSpPr>
              <p:cNvPr id="1141825" name="Freeform 65"/>
              <p:cNvSpPr>
                <a:spLocks/>
              </p:cNvSpPr>
              <p:nvPr/>
            </p:nvSpPr>
            <p:spPr bwMode="auto">
              <a:xfrm>
                <a:off x="1441" y="3093"/>
                <a:ext cx="157" cy="66"/>
              </a:xfrm>
              <a:custGeom>
                <a:avLst/>
                <a:gdLst/>
                <a:ahLst/>
                <a:cxnLst>
                  <a:cxn ang="0">
                    <a:pos x="0" y="0"/>
                  </a:cxn>
                  <a:cxn ang="0">
                    <a:pos x="26" y="39"/>
                  </a:cxn>
                  <a:cxn ang="0">
                    <a:pos x="0" y="66"/>
                  </a:cxn>
                  <a:cxn ang="0">
                    <a:pos x="157" y="39"/>
                  </a:cxn>
                  <a:cxn ang="0">
                    <a:pos x="0" y="0"/>
                  </a:cxn>
                </a:cxnLst>
                <a:rect l="0" t="0" r="r" b="b"/>
                <a:pathLst>
                  <a:path w="157" h="66">
                    <a:moveTo>
                      <a:pt x="0" y="0"/>
                    </a:moveTo>
                    <a:lnTo>
                      <a:pt x="26" y="39"/>
                    </a:lnTo>
                    <a:lnTo>
                      <a:pt x="0" y="66"/>
                    </a:lnTo>
                    <a:lnTo>
                      <a:pt x="157" y="39"/>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grpSp>
        <p:nvGrpSpPr>
          <p:cNvPr id="1141826" name="Group 66"/>
          <p:cNvGrpSpPr>
            <a:grpSpLocks/>
          </p:cNvGrpSpPr>
          <p:nvPr/>
        </p:nvGrpSpPr>
        <p:grpSpPr bwMode="auto">
          <a:xfrm>
            <a:off x="3478213" y="5202239"/>
            <a:ext cx="582612" cy="103187"/>
            <a:chOff x="1231" y="3277"/>
            <a:chExt cx="367" cy="65"/>
          </a:xfrm>
        </p:grpSpPr>
        <p:sp>
          <p:nvSpPr>
            <p:cNvPr id="1141827" name="Line 67"/>
            <p:cNvSpPr>
              <a:spLocks noChangeShapeType="1"/>
            </p:cNvSpPr>
            <p:nvPr/>
          </p:nvSpPr>
          <p:spPr bwMode="auto">
            <a:xfrm>
              <a:off x="1231" y="3316"/>
              <a:ext cx="367" cy="1"/>
            </a:xfrm>
            <a:prstGeom prst="line">
              <a:avLst/>
            </a:prstGeom>
            <a:noFill/>
            <a:ln w="20638">
              <a:solidFill>
                <a:srgbClr val="000000"/>
              </a:solidFill>
              <a:round/>
              <a:headEnd/>
              <a:tailEnd/>
            </a:ln>
          </p:spPr>
          <p:txBody>
            <a:bodyPr/>
            <a:lstStyle/>
            <a:p>
              <a:endParaRPr lang="zh-CN" altLang="en-US"/>
            </a:p>
          </p:txBody>
        </p:sp>
        <p:sp>
          <p:nvSpPr>
            <p:cNvPr id="1141828" name="Freeform 68"/>
            <p:cNvSpPr>
              <a:spLocks/>
            </p:cNvSpPr>
            <p:nvPr/>
          </p:nvSpPr>
          <p:spPr bwMode="auto">
            <a:xfrm>
              <a:off x="1441" y="3277"/>
              <a:ext cx="157" cy="65"/>
            </a:xfrm>
            <a:custGeom>
              <a:avLst/>
              <a:gdLst/>
              <a:ahLst/>
              <a:cxnLst>
                <a:cxn ang="0">
                  <a:pos x="0" y="0"/>
                </a:cxn>
                <a:cxn ang="0">
                  <a:pos x="26" y="39"/>
                </a:cxn>
                <a:cxn ang="0">
                  <a:pos x="0" y="65"/>
                </a:cxn>
                <a:cxn ang="0">
                  <a:pos x="157" y="39"/>
                </a:cxn>
                <a:cxn ang="0">
                  <a:pos x="0" y="0"/>
                </a:cxn>
              </a:cxnLst>
              <a:rect l="0" t="0" r="r" b="b"/>
              <a:pathLst>
                <a:path w="157" h="65">
                  <a:moveTo>
                    <a:pt x="0" y="0"/>
                  </a:moveTo>
                  <a:lnTo>
                    <a:pt x="26" y="39"/>
                  </a:lnTo>
                  <a:lnTo>
                    <a:pt x="0" y="65"/>
                  </a:lnTo>
                  <a:lnTo>
                    <a:pt x="157" y="39"/>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sp>
        <p:nvSpPr>
          <p:cNvPr id="1141829" name="Line 69"/>
          <p:cNvSpPr>
            <a:spLocks noChangeShapeType="1"/>
          </p:cNvSpPr>
          <p:nvPr/>
        </p:nvSpPr>
        <p:spPr bwMode="auto">
          <a:xfrm>
            <a:off x="3478214" y="5264150"/>
            <a:ext cx="1587" cy="395288"/>
          </a:xfrm>
          <a:prstGeom prst="line">
            <a:avLst/>
          </a:prstGeom>
          <a:noFill/>
          <a:ln w="20638">
            <a:solidFill>
              <a:srgbClr val="000000"/>
            </a:solidFill>
            <a:round/>
            <a:headEnd/>
            <a:tailEnd/>
          </a:ln>
        </p:spPr>
        <p:txBody>
          <a:bodyPr/>
          <a:lstStyle/>
          <a:p>
            <a:endParaRPr lang="zh-CN" altLang="en-US"/>
          </a:p>
        </p:txBody>
      </p:sp>
      <p:sp>
        <p:nvSpPr>
          <p:cNvPr id="1141830" name="Line 70"/>
          <p:cNvSpPr>
            <a:spLocks noChangeShapeType="1"/>
          </p:cNvSpPr>
          <p:nvPr/>
        </p:nvSpPr>
        <p:spPr bwMode="auto">
          <a:xfrm>
            <a:off x="3478214" y="5659439"/>
            <a:ext cx="3540125" cy="1587"/>
          </a:xfrm>
          <a:prstGeom prst="line">
            <a:avLst/>
          </a:prstGeom>
          <a:noFill/>
          <a:ln w="20638">
            <a:solidFill>
              <a:srgbClr val="000000"/>
            </a:solidFill>
            <a:round/>
            <a:headEnd/>
            <a:tailEnd/>
          </a:ln>
        </p:spPr>
        <p:txBody>
          <a:bodyPr/>
          <a:lstStyle/>
          <a:p>
            <a:endParaRPr lang="zh-CN" altLang="en-US"/>
          </a:p>
        </p:txBody>
      </p:sp>
      <p:sp>
        <p:nvSpPr>
          <p:cNvPr id="1141831" name="Line 71"/>
          <p:cNvSpPr>
            <a:spLocks noChangeShapeType="1"/>
          </p:cNvSpPr>
          <p:nvPr/>
        </p:nvSpPr>
        <p:spPr bwMode="auto">
          <a:xfrm>
            <a:off x="7018339" y="5264150"/>
            <a:ext cx="1587" cy="395288"/>
          </a:xfrm>
          <a:prstGeom prst="line">
            <a:avLst/>
          </a:prstGeom>
          <a:noFill/>
          <a:ln w="20638">
            <a:solidFill>
              <a:srgbClr val="000000"/>
            </a:solidFill>
            <a:round/>
            <a:headEnd/>
            <a:tailEnd/>
          </a:ln>
        </p:spPr>
        <p:txBody>
          <a:bodyPr/>
          <a:lstStyle/>
          <a:p>
            <a:endParaRPr lang="zh-CN" altLang="en-US"/>
          </a:p>
        </p:txBody>
      </p:sp>
      <p:sp>
        <p:nvSpPr>
          <p:cNvPr id="1141832" name="Line 72"/>
          <p:cNvSpPr>
            <a:spLocks noChangeShapeType="1"/>
          </p:cNvSpPr>
          <p:nvPr/>
        </p:nvSpPr>
        <p:spPr bwMode="auto">
          <a:xfrm>
            <a:off x="6435726" y="5264150"/>
            <a:ext cx="582613" cy="1588"/>
          </a:xfrm>
          <a:prstGeom prst="line">
            <a:avLst/>
          </a:prstGeom>
          <a:noFill/>
          <a:ln w="20638">
            <a:solidFill>
              <a:srgbClr val="000000"/>
            </a:solidFill>
            <a:round/>
            <a:headEnd/>
            <a:tailEnd/>
          </a:ln>
        </p:spPr>
        <p:txBody>
          <a:bodyPr/>
          <a:lstStyle/>
          <a:p>
            <a:endParaRPr lang="zh-CN" altLang="en-US"/>
          </a:p>
        </p:txBody>
      </p:sp>
      <p:grpSp>
        <p:nvGrpSpPr>
          <p:cNvPr id="1141833" name="Group 73"/>
          <p:cNvGrpSpPr>
            <a:grpSpLocks/>
          </p:cNvGrpSpPr>
          <p:nvPr/>
        </p:nvGrpSpPr>
        <p:grpSpPr bwMode="auto">
          <a:xfrm>
            <a:off x="6456363" y="1974850"/>
            <a:ext cx="1541462" cy="82550"/>
            <a:chOff x="3107" y="1244"/>
            <a:chExt cx="971" cy="52"/>
          </a:xfrm>
        </p:grpSpPr>
        <p:sp>
          <p:nvSpPr>
            <p:cNvPr id="1141834" name="Freeform 74"/>
            <p:cNvSpPr>
              <a:spLocks/>
            </p:cNvSpPr>
            <p:nvPr/>
          </p:nvSpPr>
          <p:spPr bwMode="auto">
            <a:xfrm>
              <a:off x="3107" y="1271"/>
              <a:ext cx="971" cy="4"/>
            </a:xfrm>
            <a:custGeom>
              <a:avLst/>
              <a:gdLst/>
              <a:ahLst/>
              <a:cxnLst>
                <a:cxn ang="0">
                  <a:pos x="0" y="4"/>
                </a:cxn>
                <a:cxn ang="0">
                  <a:pos x="971" y="0"/>
                </a:cxn>
              </a:cxnLst>
              <a:rect l="0" t="0" r="r" b="b"/>
              <a:pathLst>
                <a:path w="971" h="4">
                  <a:moveTo>
                    <a:pt x="0" y="4"/>
                  </a:moveTo>
                  <a:lnTo>
                    <a:pt x="971" y="0"/>
                  </a:lnTo>
                </a:path>
              </a:pathLst>
            </a:custGeom>
            <a:solidFill>
              <a:srgbClr val="FFFFFF"/>
            </a:solidFill>
            <a:ln w="20638">
              <a:solidFill>
                <a:srgbClr val="000000"/>
              </a:solidFill>
              <a:prstDash val="solid"/>
              <a:round/>
              <a:headEnd/>
              <a:tailEnd/>
            </a:ln>
          </p:spPr>
          <p:txBody>
            <a:bodyPr/>
            <a:lstStyle/>
            <a:p>
              <a:endParaRPr lang="zh-CN" altLang="en-US"/>
            </a:p>
          </p:txBody>
        </p:sp>
        <p:sp>
          <p:nvSpPr>
            <p:cNvPr id="1141835" name="Freeform 75"/>
            <p:cNvSpPr>
              <a:spLocks/>
            </p:cNvSpPr>
            <p:nvPr/>
          </p:nvSpPr>
          <p:spPr bwMode="auto">
            <a:xfrm>
              <a:off x="3920" y="1244"/>
              <a:ext cx="158" cy="52"/>
            </a:xfrm>
            <a:custGeom>
              <a:avLst/>
              <a:gdLst/>
              <a:ahLst/>
              <a:cxnLst>
                <a:cxn ang="0">
                  <a:pos x="0" y="0"/>
                </a:cxn>
                <a:cxn ang="0">
                  <a:pos x="27" y="26"/>
                </a:cxn>
                <a:cxn ang="0">
                  <a:pos x="0" y="52"/>
                </a:cxn>
                <a:cxn ang="0">
                  <a:pos x="158" y="26"/>
                </a:cxn>
                <a:cxn ang="0">
                  <a:pos x="0" y="0"/>
                </a:cxn>
              </a:cxnLst>
              <a:rect l="0" t="0" r="r" b="b"/>
              <a:pathLst>
                <a:path w="158" h="52">
                  <a:moveTo>
                    <a:pt x="0" y="0"/>
                  </a:moveTo>
                  <a:lnTo>
                    <a:pt x="27" y="26"/>
                  </a:lnTo>
                  <a:lnTo>
                    <a:pt x="0" y="52"/>
                  </a:lnTo>
                  <a:lnTo>
                    <a:pt x="158" y="26"/>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36" name="Group 76"/>
          <p:cNvGrpSpPr>
            <a:grpSpLocks/>
          </p:cNvGrpSpPr>
          <p:nvPr/>
        </p:nvGrpSpPr>
        <p:grpSpPr bwMode="auto">
          <a:xfrm>
            <a:off x="6435725" y="2952751"/>
            <a:ext cx="1562100" cy="104775"/>
            <a:chOff x="3094" y="1860"/>
            <a:chExt cx="984" cy="66"/>
          </a:xfrm>
        </p:grpSpPr>
        <p:sp>
          <p:nvSpPr>
            <p:cNvPr id="1141837" name="Line 77"/>
            <p:cNvSpPr>
              <a:spLocks noChangeShapeType="1"/>
            </p:cNvSpPr>
            <p:nvPr/>
          </p:nvSpPr>
          <p:spPr bwMode="auto">
            <a:xfrm>
              <a:off x="3094" y="1887"/>
              <a:ext cx="984" cy="1"/>
            </a:xfrm>
            <a:prstGeom prst="line">
              <a:avLst/>
            </a:prstGeom>
            <a:noFill/>
            <a:ln w="20638">
              <a:solidFill>
                <a:srgbClr val="000000"/>
              </a:solidFill>
              <a:round/>
              <a:headEnd/>
              <a:tailEnd/>
            </a:ln>
          </p:spPr>
          <p:txBody>
            <a:bodyPr/>
            <a:lstStyle/>
            <a:p>
              <a:endParaRPr lang="zh-CN" altLang="en-US"/>
            </a:p>
          </p:txBody>
        </p:sp>
        <p:sp>
          <p:nvSpPr>
            <p:cNvPr id="1141838" name="Freeform 78"/>
            <p:cNvSpPr>
              <a:spLocks/>
            </p:cNvSpPr>
            <p:nvPr/>
          </p:nvSpPr>
          <p:spPr bwMode="auto">
            <a:xfrm>
              <a:off x="3920" y="1860"/>
              <a:ext cx="158" cy="66"/>
            </a:xfrm>
            <a:custGeom>
              <a:avLst/>
              <a:gdLst/>
              <a:ahLst/>
              <a:cxnLst>
                <a:cxn ang="0">
                  <a:pos x="0" y="0"/>
                </a:cxn>
                <a:cxn ang="0">
                  <a:pos x="27" y="27"/>
                </a:cxn>
                <a:cxn ang="0">
                  <a:pos x="0" y="66"/>
                </a:cxn>
                <a:cxn ang="0">
                  <a:pos x="158" y="27"/>
                </a:cxn>
                <a:cxn ang="0">
                  <a:pos x="0" y="0"/>
                </a:cxn>
              </a:cxnLst>
              <a:rect l="0" t="0" r="r" b="b"/>
              <a:pathLst>
                <a:path w="158" h="66">
                  <a:moveTo>
                    <a:pt x="0" y="0"/>
                  </a:moveTo>
                  <a:lnTo>
                    <a:pt x="27" y="27"/>
                  </a:lnTo>
                  <a:lnTo>
                    <a:pt x="0" y="66"/>
                  </a:lnTo>
                  <a:lnTo>
                    <a:pt x="158" y="27"/>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39" name="Group 79"/>
          <p:cNvGrpSpPr>
            <a:grpSpLocks/>
          </p:cNvGrpSpPr>
          <p:nvPr/>
        </p:nvGrpSpPr>
        <p:grpSpPr bwMode="auto">
          <a:xfrm>
            <a:off x="6435725" y="3932239"/>
            <a:ext cx="1562100" cy="103187"/>
            <a:chOff x="3094" y="2477"/>
            <a:chExt cx="984" cy="65"/>
          </a:xfrm>
        </p:grpSpPr>
        <p:sp>
          <p:nvSpPr>
            <p:cNvPr id="1141840" name="Line 80"/>
            <p:cNvSpPr>
              <a:spLocks noChangeShapeType="1"/>
            </p:cNvSpPr>
            <p:nvPr/>
          </p:nvSpPr>
          <p:spPr bwMode="auto">
            <a:xfrm>
              <a:off x="3094" y="2503"/>
              <a:ext cx="984" cy="1"/>
            </a:xfrm>
            <a:prstGeom prst="line">
              <a:avLst/>
            </a:prstGeom>
            <a:noFill/>
            <a:ln w="20638">
              <a:solidFill>
                <a:srgbClr val="000000"/>
              </a:solidFill>
              <a:round/>
              <a:headEnd/>
              <a:tailEnd/>
            </a:ln>
          </p:spPr>
          <p:txBody>
            <a:bodyPr/>
            <a:lstStyle/>
            <a:p>
              <a:endParaRPr lang="zh-CN" altLang="en-US"/>
            </a:p>
          </p:txBody>
        </p:sp>
        <p:sp>
          <p:nvSpPr>
            <p:cNvPr id="1141841" name="Freeform 81"/>
            <p:cNvSpPr>
              <a:spLocks/>
            </p:cNvSpPr>
            <p:nvPr/>
          </p:nvSpPr>
          <p:spPr bwMode="auto">
            <a:xfrm>
              <a:off x="3920" y="2477"/>
              <a:ext cx="158" cy="65"/>
            </a:xfrm>
            <a:custGeom>
              <a:avLst/>
              <a:gdLst/>
              <a:ahLst/>
              <a:cxnLst>
                <a:cxn ang="0">
                  <a:pos x="0" y="0"/>
                </a:cxn>
                <a:cxn ang="0">
                  <a:pos x="27" y="26"/>
                </a:cxn>
                <a:cxn ang="0">
                  <a:pos x="0" y="65"/>
                </a:cxn>
                <a:cxn ang="0">
                  <a:pos x="158" y="26"/>
                </a:cxn>
                <a:cxn ang="0">
                  <a:pos x="0" y="0"/>
                </a:cxn>
              </a:cxnLst>
              <a:rect l="0" t="0" r="r" b="b"/>
              <a:pathLst>
                <a:path w="158" h="65">
                  <a:moveTo>
                    <a:pt x="0" y="0"/>
                  </a:moveTo>
                  <a:lnTo>
                    <a:pt x="27" y="26"/>
                  </a:lnTo>
                  <a:lnTo>
                    <a:pt x="0" y="65"/>
                  </a:lnTo>
                  <a:lnTo>
                    <a:pt x="158" y="26"/>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42" name="Group 82"/>
          <p:cNvGrpSpPr>
            <a:grpSpLocks/>
          </p:cNvGrpSpPr>
          <p:nvPr/>
        </p:nvGrpSpPr>
        <p:grpSpPr bwMode="auto">
          <a:xfrm>
            <a:off x="6435725" y="4910139"/>
            <a:ext cx="1562100" cy="104775"/>
            <a:chOff x="3094" y="3093"/>
            <a:chExt cx="984" cy="66"/>
          </a:xfrm>
        </p:grpSpPr>
        <p:sp>
          <p:nvSpPr>
            <p:cNvPr id="1141843" name="Line 83"/>
            <p:cNvSpPr>
              <a:spLocks noChangeShapeType="1"/>
            </p:cNvSpPr>
            <p:nvPr/>
          </p:nvSpPr>
          <p:spPr bwMode="auto">
            <a:xfrm>
              <a:off x="3094" y="3132"/>
              <a:ext cx="984" cy="1"/>
            </a:xfrm>
            <a:prstGeom prst="line">
              <a:avLst/>
            </a:prstGeom>
            <a:noFill/>
            <a:ln w="20638">
              <a:solidFill>
                <a:srgbClr val="000000"/>
              </a:solidFill>
              <a:round/>
              <a:headEnd/>
              <a:tailEnd/>
            </a:ln>
          </p:spPr>
          <p:txBody>
            <a:bodyPr/>
            <a:lstStyle/>
            <a:p>
              <a:endParaRPr lang="zh-CN" altLang="en-US"/>
            </a:p>
          </p:txBody>
        </p:sp>
        <p:sp>
          <p:nvSpPr>
            <p:cNvPr id="1141844" name="Freeform 84"/>
            <p:cNvSpPr>
              <a:spLocks/>
            </p:cNvSpPr>
            <p:nvPr/>
          </p:nvSpPr>
          <p:spPr bwMode="auto">
            <a:xfrm>
              <a:off x="3920" y="3093"/>
              <a:ext cx="158" cy="66"/>
            </a:xfrm>
            <a:custGeom>
              <a:avLst/>
              <a:gdLst/>
              <a:ahLst/>
              <a:cxnLst>
                <a:cxn ang="0">
                  <a:pos x="0" y="0"/>
                </a:cxn>
                <a:cxn ang="0">
                  <a:pos x="27" y="39"/>
                </a:cxn>
                <a:cxn ang="0">
                  <a:pos x="0" y="66"/>
                </a:cxn>
                <a:cxn ang="0">
                  <a:pos x="158" y="39"/>
                </a:cxn>
                <a:cxn ang="0">
                  <a:pos x="0" y="0"/>
                </a:cxn>
              </a:cxnLst>
              <a:rect l="0" t="0" r="r" b="b"/>
              <a:pathLst>
                <a:path w="158" h="66">
                  <a:moveTo>
                    <a:pt x="0" y="0"/>
                  </a:moveTo>
                  <a:lnTo>
                    <a:pt x="27" y="39"/>
                  </a:lnTo>
                  <a:lnTo>
                    <a:pt x="0" y="66"/>
                  </a:lnTo>
                  <a:lnTo>
                    <a:pt x="158" y="39"/>
                  </a:lnTo>
                  <a:lnTo>
                    <a:pt x="0" y="0"/>
                  </a:lnTo>
                  <a:close/>
                </a:path>
              </a:pathLst>
            </a:custGeom>
            <a:solidFill>
              <a:srgbClr val="000000"/>
            </a:solidFill>
            <a:ln w="20638">
              <a:solidFill>
                <a:srgbClr val="000000"/>
              </a:solidFill>
              <a:prstDash val="solid"/>
              <a:round/>
              <a:headEnd/>
              <a:tailEnd/>
            </a:ln>
          </p:spPr>
          <p:txBody>
            <a:bodyPr/>
            <a:lstStyle/>
            <a:p>
              <a:endParaRPr lang="zh-CN" altLang="en-US"/>
            </a:p>
          </p:txBody>
        </p:sp>
      </p:grpSp>
      <p:grpSp>
        <p:nvGrpSpPr>
          <p:cNvPr id="1141845" name="Group 85"/>
          <p:cNvGrpSpPr>
            <a:grpSpLocks/>
          </p:cNvGrpSpPr>
          <p:nvPr/>
        </p:nvGrpSpPr>
        <p:grpSpPr bwMode="auto">
          <a:xfrm>
            <a:off x="7185025" y="1600200"/>
            <a:ext cx="241300" cy="374650"/>
            <a:chOff x="3566" y="1008"/>
            <a:chExt cx="152" cy="236"/>
          </a:xfrm>
        </p:grpSpPr>
        <p:sp>
          <p:nvSpPr>
            <p:cNvPr id="1141846" name="Rectangle 86"/>
            <p:cNvSpPr>
              <a:spLocks noChangeArrowheads="1"/>
            </p:cNvSpPr>
            <p:nvPr/>
          </p:nvSpPr>
          <p:spPr bwMode="auto">
            <a:xfrm>
              <a:off x="3566" y="1008"/>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47" name="Rectangle 87"/>
            <p:cNvSpPr>
              <a:spLocks noChangeArrowheads="1"/>
            </p:cNvSpPr>
            <p:nvPr/>
          </p:nvSpPr>
          <p:spPr bwMode="auto">
            <a:xfrm>
              <a:off x="3658" y="1100"/>
              <a:ext cx="60"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charset="0"/>
                </a:rPr>
                <a:t>1</a:t>
              </a:r>
              <a:endParaRPr kumimoji="1" lang="en-US" altLang="zh-CN" sz="2400" b="1">
                <a:latin typeface="Tahoma" pitchFamily="34" charset="0"/>
              </a:endParaRPr>
            </a:p>
          </p:txBody>
        </p:sp>
      </p:grpSp>
      <p:grpSp>
        <p:nvGrpSpPr>
          <p:cNvPr id="1141848" name="Group 88"/>
          <p:cNvGrpSpPr>
            <a:grpSpLocks/>
          </p:cNvGrpSpPr>
          <p:nvPr/>
        </p:nvGrpSpPr>
        <p:grpSpPr bwMode="auto">
          <a:xfrm>
            <a:off x="7185025" y="2579688"/>
            <a:ext cx="241300" cy="373062"/>
            <a:chOff x="3566" y="1625"/>
            <a:chExt cx="152" cy="235"/>
          </a:xfrm>
        </p:grpSpPr>
        <p:sp>
          <p:nvSpPr>
            <p:cNvPr id="1141849" name="Rectangle 89"/>
            <p:cNvSpPr>
              <a:spLocks noChangeArrowheads="1"/>
            </p:cNvSpPr>
            <p:nvPr/>
          </p:nvSpPr>
          <p:spPr bwMode="auto">
            <a:xfrm>
              <a:off x="3566" y="1625"/>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50" name="Rectangle 90"/>
            <p:cNvSpPr>
              <a:spLocks noChangeArrowheads="1"/>
            </p:cNvSpPr>
            <p:nvPr/>
          </p:nvSpPr>
          <p:spPr bwMode="auto">
            <a:xfrm>
              <a:off x="3658" y="1716"/>
              <a:ext cx="60"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charset="0"/>
                </a:rPr>
                <a:t>2</a:t>
              </a:r>
              <a:endParaRPr kumimoji="1" lang="en-US" altLang="zh-CN" sz="2400" b="1">
                <a:latin typeface="Tahoma" pitchFamily="34" charset="0"/>
              </a:endParaRPr>
            </a:p>
          </p:txBody>
        </p:sp>
      </p:grpSp>
      <p:grpSp>
        <p:nvGrpSpPr>
          <p:cNvPr id="1141851" name="Group 91"/>
          <p:cNvGrpSpPr>
            <a:grpSpLocks/>
          </p:cNvGrpSpPr>
          <p:nvPr/>
        </p:nvGrpSpPr>
        <p:grpSpPr bwMode="auto">
          <a:xfrm>
            <a:off x="7185025" y="3578226"/>
            <a:ext cx="241300" cy="354013"/>
            <a:chOff x="3566" y="2254"/>
            <a:chExt cx="152" cy="223"/>
          </a:xfrm>
        </p:grpSpPr>
        <p:sp>
          <p:nvSpPr>
            <p:cNvPr id="1141852" name="Rectangle 92"/>
            <p:cNvSpPr>
              <a:spLocks noChangeArrowheads="1"/>
            </p:cNvSpPr>
            <p:nvPr/>
          </p:nvSpPr>
          <p:spPr bwMode="auto">
            <a:xfrm>
              <a:off x="3566" y="2254"/>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53" name="Rectangle 93"/>
            <p:cNvSpPr>
              <a:spLocks noChangeArrowheads="1"/>
            </p:cNvSpPr>
            <p:nvPr/>
          </p:nvSpPr>
          <p:spPr bwMode="auto">
            <a:xfrm>
              <a:off x="3658" y="2333"/>
              <a:ext cx="60"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charset="0"/>
                </a:rPr>
                <a:t>3</a:t>
              </a:r>
              <a:endParaRPr kumimoji="1" lang="en-US" altLang="zh-CN" sz="2400" b="1">
                <a:latin typeface="Tahoma" pitchFamily="34" charset="0"/>
              </a:endParaRPr>
            </a:p>
          </p:txBody>
        </p:sp>
      </p:grpSp>
      <p:grpSp>
        <p:nvGrpSpPr>
          <p:cNvPr id="1141854" name="Group 94"/>
          <p:cNvGrpSpPr>
            <a:grpSpLocks/>
          </p:cNvGrpSpPr>
          <p:nvPr/>
        </p:nvGrpSpPr>
        <p:grpSpPr bwMode="auto">
          <a:xfrm>
            <a:off x="8101013" y="1871664"/>
            <a:ext cx="819150" cy="320675"/>
            <a:chOff x="4143" y="1179"/>
            <a:chExt cx="516" cy="202"/>
          </a:xfrm>
        </p:grpSpPr>
        <p:sp>
          <p:nvSpPr>
            <p:cNvPr id="1141855" name="Rectangle 95"/>
            <p:cNvSpPr>
              <a:spLocks noChangeArrowheads="1"/>
            </p:cNvSpPr>
            <p:nvPr/>
          </p:nvSpPr>
          <p:spPr bwMode="auto">
            <a:xfrm>
              <a:off x="4143" y="1179"/>
              <a:ext cx="169" cy="202"/>
            </a:xfrm>
            <a:prstGeom prst="rect">
              <a:avLst/>
            </a:prstGeom>
            <a:noFill/>
            <a:ln w="9525">
              <a:noFill/>
              <a:miter lim="800000"/>
              <a:headEnd/>
              <a:tailEnd/>
            </a:ln>
          </p:spPr>
          <p:txBody>
            <a:bodyPr wrap="none" lIns="0" tIns="0" rIns="0" bIns="0">
              <a:spAutoFit/>
            </a:bodyPr>
            <a:lstStyle/>
            <a:p>
              <a:r>
                <a:rPr kumimoji="1" lang="zh-CN" altLang="en-US" sz="2100" b="1">
                  <a:solidFill>
                    <a:srgbClr val="000000"/>
                  </a:solidFill>
                  <a:latin typeface="宋体" pitchFamily="2" charset="-122"/>
                </a:rPr>
                <a:t>至</a:t>
              </a:r>
              <a:endParaRPr kumimoji="1" lang="zh-CN" altLang="en-US" sz="2400" b="1">
                <a:latin typeface="Tahoma" pitchFamily="34" charset="0"/>
              </a:endParaRPr>
            </a:p>
          </p:txBody>
        </p:sp>
        <p:sp>
          <p:nvSpPr>
            <p:cNvPr id="1141856" name="Rectangle 96"/>
            <p:cNvSpPr>
              <a:spLocks noChangeArrowheads="1"/>
            </p:cNvSpPr>
            <p:nvPr/>
          </p:nvSpPr>
          <p:spPr bwMode="auto">
            <a:xfrm>
              <a:off x="4314" y="1179"/>
              <a:ext cx="345"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CPU</a:t>
              </a:r>
              <a:endParaRPr kumimoji="1" lang="en-US" altLang="zh-CN" sz="2400" b="1">
                <a:latin typeface="Tahoma" pitchFamily="34" charset="0"/>
              </a:endParaRPr>
            </a:p>
          </p:txBody>
        </p:sp>
      </p:grpSp>
      <p:grpSp>
        <p:nvGrpSpPr>
          <p:cNvPr id="1141857" name="Group 97"/>
          <p:cNvGrpSpPr>
            <a:grpSpLocks/>
          </p:cNvGrpSpPr>
          <p:nvPr/>
        </p:nvGrpSpPr>
        <p:grpSpPr bwMode="auto">
          <a:xfrm>
            <a:off x="8101013" y="2849564"/>
            <a:ext cx="819150" cy="320675"/>
            <a:chOff x="4143" y="1795"/>
            <a:chExt cx="516" cy="202"/>
          </a:xfrm>
        </p:grpSpPr>
        <p:sp>
          <p:nvSpPr>
            <p:cNvPr id="1141858" name="Rectangle 98"/>
            <p:cNvSpPr>
              <a:spLocks noChangeArrowheads="1"/>
            </p:cNvSpPr>
            <p:nvPr/>
          </p:nvSpPr>
          <p:spPr bwMode="auto">
            <a:xfrm>
              <a:off x="4143" y="1795"/>
              <a:ext cx="169" cy="202"/>
            </a:xfrm>
            <a:prstGeom prst="rect">
              <a:avLst/>
            </a:prstGeom>
            <a:noFill/>
            <a:ln w="9525">
              <a:noFill/>
              <a:miter lim="800000"/>
              <a:headEnd/>
              <a:tailEnd/>
            </a:ln>
          </p:spPr>
          <p:txBody>
            <a:bodyPr wrap="none" lIns="0" tIns="0" rIns="0" bIns="0">
              <a:spAutoFit/>
            </a:bodyPr>
            <a:lstStyle/>
            <a:p>
              <a:r>
                <a:rPr kumimoji="1" lang="zh-CN" altLang="en-US" sz="2100" b="1">
                  <a:solidFill>
                    <a:srgbClr val="000000"/>
                  </a:solidFill>
                  <a:latin typeface="宋体" pitchFamily="2" charset="-122"/>
                </a:rPr>
                <a:t>至</a:t>
              </a:r>
              <a:endParaRPr kumimoji="1" lang="zh-CN" altLang="en-US" sz="2400" b="1">
                <a:latin typeface="Tahoma" pitchFamily="34" charset="0"/>
              </a:endParaRPr>
            </a:p>
          </p:txBody>
        </p:sp>
        <p:sp>
          <p:nvSpPr>
            <p:cNvPr id="1141859" name="Rectangle 99"/>
            <p:cNvSpPr>
              <a:spLocks noChangeArrowheads="1"/>
            </p:cNvSpPr>
            <p:nvPr/>
          </p:nvSpPr>
          <p:spPr bwMode="auto">
            <a:xfrm>
              <a:off x="4314" y="1795"/>
              <a:ext cx="345"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CPU</a:t>
              </a:r>
              <a:endParaRPr kumimoji="1" lang="en-US" altLang="zh-CN" sz="2400" b="1">
                <a:latin typeface="Tahoma" pitchFamily="34" charset="0"/>
              </a:endParaRPr>
            </a:p>
          </p:txBody>
        </p:sp>
      </p:grpSp>
      <p:grpSp>
        <p:nvGrpSpPr>
          <p:cNvPr id="1141860" name="Group 100"/>
          <p:cNvGrpSpPr>
            <a:grpSpLocks/>
          </p:cNvGrpSpPr>
          <p:nvPr/>
        </p:nvGrpSpPr>
        <p:grpSpPr bwMode="auto">
          <a:xfrm>
            <a:off x="8101013" y="3827464"/>
            <a:ext cx="819150" cy="320675"/>
            <a:chOff x="4143" y="2411"/>
            <a:chExt cx="516" cy="202"/>
          </a:xfrm>
        </p:grpSpPr>
        <p:sp>
          <p:nvSpPr>
            <p:cNvPr id="1141861" name="Rectangle 101"/>
            <p:cNvSpPr>
              <a:spLocks noChangeArrowheads="1"/>
            </p:cNvSpPr>
            <p:nvPr/>
          </p:nvSpPr>
          <p:spPr bwMode="auto">
            <a:xfrm>
              <a:off x="4143" y="2411"/>
              <a:ext cx="169" cy="202"/>
            </a:xfrm>
            <a:prstGeom prst="rect">
              <a:avLst/>
            </a:prstGeom>
            <a:noFill/>
            <a:ln w="9525">
              <a:noFill/>
              <a:miter lim="800000"/>
              <a:headEnd/>
              <a:tailEnd/>
            </a:ln>
          </p:spPr>
          <p:txBody>
            <a:bodyPr wrap="none" lIns="0" tIns="0" rIns="0" bIns="0">
              <a:spAutoFit/>
            </a:bodyPr>
            <a:lstStyle/>
            <a:p>
              <a:r>
                <a:rPr kumimoji="1" lang="zh-CN" altLang="en-US" sz="2100" b="1">
                  <a:solidFill>
                    <a:srgbClr val="000000"/>
                  </a:solidFill>
                  <a:latin typeface="宋体" pitchFamily="2" charset="-122"/>
                </a:rPr>
                <a:t>至</a:t>
              </a:r>
              <a:endParaRPr kumimoji="1" lang="zh-CN" altLang="en-US" sz="2400" b="1">
                <a:latin typeface="Tahoma" pitchFamily="34" charset="0"/>
              </a:endParaRPr>
            </a:p>
          </p:txBody>
        </p:sp>
        <p:sp>
          <p:nvSpPr>
            <p:cNvPr id="1141862" name="Rectangle 102"/>
            <p:cNvSpPr>
              <a:spLocks noChangeArrowheads="1"/>
            </p:cNvSpPr>
            <p:nvPr/>
          </p:nvSpPr>
          <p:spPr bwMode="auto">
            <a:xfrm>
              <a:off x="4314" y="2411"/>
              <a:ext cx="345"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CPU</a:t>
              </a:r>
              <a:endParaRPr kumimoji="1" lang="en-US" altLang="zh-CN" sz="2400" b="1">
                <a:latin typeface="Tahoma" pitchFamily="34" charset="0"/>
              </a:endParaRPr>
            </a:p>
          </p:txBody>
        </p:sp>
      </p:grpSp>
      <p:grpSp>
        <p:nvGrpSpPr>
          <p:cNvPr id="1141863" name="Group 103"/>
          <p:cNvGrpSpPr>
            <a:grpSpLocks/>
          </p:cNvGrpSpPr>
          <p:nvPr/>
        </p:nvGrpSpPr>
        <p:grpSpPr bwMode="auto">
          <a:xfrm>
            <a:off x="8101013" y="4827589"/>
            <a:ext cx="819150" cy="320675"/>
            <a:chOff x="4143" y="3041"/>
            <a:chExt cx="516" cy="202"/>
          </a:xfrm>
        </p:grpSpPr>
        <p:sp>
          <p:nvSpPr>
            <p:cNvPr id="1141864" name="Rectangle 104"/>
            <p:cNvSpPr>
              <a:spLocks noChangeArrowheads="1"/>
            </p:cNvSpPr>
            <p:nvPr/>
          </p:nvSpPr>
          <p:spPr bwMode="auto">
            <a:xfrm>
              <a:off x="4143" y="3041"/>
              <a:ext cx="169" cy="202"/>
            </a:xfrm>
            <a:prstGeom prst="rect">
              <a:avLst/>
            </a:prstGeom>
            <a:noFill/>
            <a:ln w="9525">
              <a:noFill/>
              <a:miter lim="800000"/>
              <a:headEnd/>
              <a:tailEnd/>
            </a:ln>
          </p:spPr>
          <p:txBody>
            <a:bodyPr wrap="none" lIns="0" tIns="0" rIns="0" bIns="0">
              <a:spAutoFit/>
            </a:bodyPr>
            <a:lstStyle/>
            <a:p>
              <a:r>
                <a:rPr kumimoji="1" lang="zh-CN" altLang="en-US" sz="2100" b="1">
                  <a:solidFill>
                    <a:srgbClr val="000000"/>
                  </a:solidFill>
                  <a:latin typeface="宋体" pitchFamily="2" charset="-122"/>
                </a:rPr>
                <a:t>至</a:t>
              </a:r>
              <a:endParaRPr kumimoji="1" lang="zh-CN" altLang="en-US" sz="2400" b="1">
                <a:latin typeface="Tahoma" pitchFamily="34" charset="0"/>
              </a:endParaRPr>
            </a:p>
          </p:txBody>
        </p:sp>
        <p:sp>
          <p:nvSpPr>
            <p:cNvPr id="1141865" name="Rectangle 105"/>
            <p:cNvSpPr>
              <a:spLocks noChangeArrowheads="1"/>
            </p:cNvSpPr>
            <p:nvPr/>
          </p:nvSpPr>
          <p:spPr bwMode="auto">
            <a:xfrm>
              <a:off x="4314" y="3041"/>
              <a:ext cx="345"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CPU</a:t>
              </a:r>
              <a:endParaRPr kumimoji="1" lang="en-US" altLang="zh-CN" sz="2400" b="1">
                <a:latin typeface="Tahoma" pitchFamily="34" charset="0"/>
              </a:endParaRPr>
            </a:p>
          </p:txBody>
        </p:sp>
      </p:grpSp>
      <p:grpSp>
        <p:nvGrpSpPr>
          <p:cNvPr id="1141866" name="Group 106"/>
          <p:cNvGrpSpPr>
            <a:grpSpLocks/>
          </p:cNvGrpSpPr>
          <p:nvPr/>
        </p:nvGrpSpPr>
        <p:grpSpPr bwMode="auto">
          <a:xfrm>
            <a:off x="4083051" y="5889626"/>
            <a:ext cx="2487613" cy="352425"/>
            <a:chOff x="1612" y="3710"/>
            <a:chExt cx="1567" cy="222"/>
          </a:xfrm>
        </p:grpSpPr>
        <p:sp>
          <p:nvSpPr>
            <p:cNvPr id="1141867" name="Rectangle 107"/>
            <p:cNvSpPr>
              <a:spLocks noChangeArrowheads="1"/>
            </p:cNvSpPr>
            <p:nvPr/>
          </p:nvSpPr>
          <p:spPr bwMode="auto">
            <a:xfrm>
              <a:off x="1612" y="3723"/>
              <a:ext cx="761"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宋体" pitchFamily="2" charset="-122"/>
                </a:rPr>
                <a:t>(</a:t>
              </a:r>
              <a:r>
                <a:rPr kumimoji="1" lang="zh-CN" altLang="en-US" sz="2100" b="1">
                  <a:solidFill>
                    <a:srgbClr val="000000"/>
                  </a:solidFill>
                  <a:latin typeface="宋体" pitchFamily="2" charset="-122"/>
                </a:rPr>
                <a:t>时间片：</a:t>
              </a:r>
              <a:endParaRPr kumimoji="1" lang="zh-CN" altLang="en-US" sz="2400" b="1">
                <a:latin typeface="Tahoma" pitchFamily="34" charset="0"/>
              </a:endParaRPr>
            </a:p>
          </p:txBody>
        </p:sp>
        <p:sp>
          <p:nvSpPr>
            <p:cNvPr id="1141868" name="Rectangle 108"/>
            <p:cNvSpPr>
              <a:spLocks noChangeArrowheads="1"/>
            </p:cNvSpPr>
            <p:nvPr/>
          </p:nvSpPr>
          <p:spPr bwMode="auto">
            <a:xfrm>
              <a:off x="2386" y="3710"/>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69" name="Rectangle 109"/>
            <p:cNvSpPr>
              <a:spLocks noChangeArrowheads="1"/>
            </p:cNvSpPr>
            <p:nvPr/>
          </p:nvSpPr>
          <p:spPr bwMode="auto">
            <a:xfrm>
              <a:off x="2477" y="3788"/>
              <a:ext cx="60"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charset="0"/>
                </a:rPr>
                <a:t>1</a:t>
              </a:r>
              <a:endParaRPr kumimoji="1" lang="en-US" altLang="zh-CN" sz="2400" b="1">
                <a:latin typeface="Tahoma" pitchFamily="34" charset="0"/>
              </a:endParaRPr>
            </a:p>
          </p:txBody>
        </p:sp>
        <p:sp>
          <p:nvSpPr>
            <p:cNvPr id="1141870" name="Rectangle 110"/>
            <p:cNvSpPr>
              <a:spLocks noChangeArrowheads="1"/>
            </p:cNvSpPr>
            <p:nvPr/>
          </p:nvSpPr>
          <p:spPr bwMode="auto">
            <a:xfrm>
              <a:off x="2543" y="3710"/>
              <a:ext cx="169" cy="202"/>
            </a:xfrm>
            <a:prstGeom prst="rect">
              <a:avLst/>
            </a:prstGeom>
            <a:noFill/>
            <a:ln w="9525">
              <a:noFill/>
              <a:miter lim="800000"/>
              <a:headEnd/>
              <a:tailEnd/>
            </a:ln>
          </p:spPr>
          <p:txBody>
            <a:bodyPr wrap="none" lIns="0" tIns="0" rIns="0" bIns="0">
              <a:spAutoFit/>
            </a:bodyPr>
            <a:lstStyle/>
            <a:p>
              <a:r>
                <a:rPr kumimoji="1" lang="zh-CN" altLang="en-US" sz="2100" b="1">
                  <a:solidFill>
                    <a:srgbClr val="000000"/>
                  </a:solidFill>
                  <a:latin typeface="Times" charset="0"/>
                </a:rPr>
                <a:t>＜</a:t>
              </a:r>
              <a:endParaRPr kumimoji="1" lang="zh-CN" altLang="en-US" sz="2400" b="1">
                <a:latin typeface="Tahoma" pitchFamily="34" charset="0"/>
              </a:endParaRPr>
            </a:p>
          </p:txBody>
        </p:sp>
        <p:sp>
          <p:nvSpPr>
            <p:cNvPr id="1141871" name="Rectangle 111"/>
            <p:cNvSpPr>
              <a:spLocks noChangeArrowheads="1"/>
            </p:cNvSpPr>
            <p:nvPr/>
          </p:nvSpPr>
          <p:spPr bwMode="auto">
            <a:xfrm>
              <a:off x="2661" y="3710"/>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72" name="Rectangle 112"/>
            <p:cNvSpPr>
              <a:spLocks noChangeArrowheads="1"/>
            </p:cNvSpPr>
            <p:nvPr/>
          </p:nvSpPr>
          <p:spPr bwMode="auto">
            <a:xfrm>
              <a:off x="2753" y="3788"/>
              <a:ext cx="60"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charset="0"/>
                </a:rPr>
                <a:t>2</a:t>
              </a:r>
              <a:endParaRPr kumimoji="1" lang="en-US" altLang="zh-CN" sz="2400" b="1">
                <a:latin typeface="Tahoma" pitchFamily="34" charset="0"/>
              </a:endParaRPr>
            </a:p>
          </p:txBody>
        </p:sp>
        <p:sp>
          <p:nvSpPr>
            <p:cNvPr id="1141873" name="Rectangle 113"/>
            <p:cNvSpPr>
              <a:spLocks noChangeArrowheads="1"/>
            </p:cNvSpPr>
            <p:nvPr/>
          </p:nvSpPr>
          <p:spPr bwMode="auto">
            <a:xfrm>
              <a:off x="2818" y="3710"/>
              <a:ext cx="169" cy="202"/>
            </a:xfrm>
            <a:prstGeom prst="rect">
              <a:avLst/>
            </a:prstGeom>
            <a:noFill/>
            <a:ln w="9525">
              <a:noFill/>
              <a:miter lim="800000"/>
              <a:headEnd/>
              <a:tailEnd/>
            </a:ln>
          </p:spPr>
          <p:txBody>
            <a:bodyPr wrap="none" lIns="0" tIns="0" rIns="0" bIns="0">
              <a:spAutoFit/>
            </a:bodyPr>
            <a:lstStyle/>
            <a:p>
              <a:r>
                <a:rPr kumimoji="1" lang="zh-CN" altLang="en-US" sz="2100" b="1">
                  <a:solidFill>
                    <a:srgbClr val="000000"/>
                  </a:solidFill>
                  <a:latin typeface="Times" charset="0"/>
                </a:rPr>
                <a:t>＜</a:t>
              </a:r>
              <a:endParaRPr kumimoji="1" lang="zh-CN" altLang="en-US" sz="2400" b="1">
                <a:latin typeface="Tahoma" pitchFamily="34" charset="0"/>
              </a:endParaRPr>
            </a:p>
          </p:txBody>
        </p:sp>
        <p:sp>
          <p:nvSpPr>
            <p:cNvPr id="1141874" name="Rectangle 114"/>
            <p:cNvSpPr>
              <a:spLocks noChangeArrowheads="1"/>
            </p:cNvSpPr>
            <p:nvPr/>
          </p:nvSpPr>
          <p:spPr bwMode="auto">
            <a:xfrm>
              <a:off x="2937" y="3710"/>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75" name="Rectangle 115"/>
            <p:cNvSpPr>
              <a:spLocks noChangeArrowheads="1"/>
            </p:cNvSpPr>
            <p:nvPr/>
          </p:nvSpPr>
          <p:spPr bwMode="auto">
            <a:xfrm>
              <a:off x="3028" y="3788"/>
              <a:ext cx="60"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charset="0"/>
                </a:rPr>
                <a:t>3</a:t>
              </a:r>
              <a:endParaRPr kumimoji="1" lang="en-US" altLang="zh-CN" sz="2400" b="1">
                <a:latin typeface="Tahoma" pitchFamily="34" charset="0"/>
              </a:endParaRPr>
            </a:p>
          </p:txBody>
        </p:sp>
        <p:sp>
          <p:nvSpPr>
            <p:cNvPr id="1141876" name="Rectangle 116"/>
            <p:cNvSpPr>
              <a:spLocks noChangeArrowheads="1"/>
            </p:cNvSpPr>
            <p:nvPr/>
          </p:nvSpPr>
          <p:spPr bwMode="auto">
            <a:xfrm>
              <a:off x="3094" y="3723"/>
              <a:ext cx="85"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宋体" pitchFamily="2" charset="-122"/>
                </a:rPr>
                <a:t>)</a:t>
              </a:r>
              <a:endParaRPr kumimoji="1" lang="en-US" altLang="zh-CN" sz="2400" b="1">
                <a:latin typeface="Tahoma" pitchFamily="34" charset="0"/>
              </a:endParaRPr>
            </a:p>
          </p:txBody>
        </p:sp>
      </p:grpSp>
      <p:sp>
        <p:nvSpPr>
          <p:cNvPr id="1141877" name="Text Box 117"/>
          <p:cNvSpPr txBox="1">
            <a:spLocks noChangeArrowheads="1"/>
          </p:cNvSpPr>
          <p:nvPr/>
        </p:nvSpPr>
        <p:spPr bwMode="auto">
          <a:xfrm>
            <a:off x="2286000" y="1143000"/>
            <a:ext cx="8305800" cy="579438"/>
          </a:xfrm>
          <a:prstGeom prst="rect">
            <a:avLst/>
          </a:prstGeom>
          <a:noFill/>
          <a:ln w="9525">
            <a:noFill/>
            <a:miter lim="800000"/>
            <a:headEnd/>
            <a:tailEnd/>
          </a:ln>
          <a:effectLst/>
        </p:spPr>
        <p:txBody>
          <a:bodyPr>
            <a:spAutoFit/>
          </a:bodyPr>
          <a:lstStyle/>
          <a:p>
            <a:pPr>
              <a:spcBef>
                <a:spcPct val="50000"/>
              </a:spcBef>
              <a:buClr>
                <a:srgbClr val="D20000"/>
              </a:buClr>
              <a:buFont typeface="Wingdings" pitchFamily="2" charset="2"/>
              <a:buChar char="v"/>
            </a:pPr>
            <a:r>
              <a:rPr kumimoji="1" lang="zh-CN" altLang="en-US" sz="3200" b="1">
                <a:latin typeface="楷体_GB2312" pitchFamily="49" charset="-122"/>
                <a:ea typeface="楷体_GB2312" pitchFamily="49" charset="-122"/>
              </a:rPr>
              <a:t>调度方式</a:t>
            </a:r>
          </a:p>
        </p:txBody>
      </p:sp>
      <p:grpSp>
        <p:nvGrpSpPr>
          <p:cNvPr id="1141878" name="Group 118"/>
          <p:cNvGrpSpPr>
            <a:grpSpLocks/>
          </p:cNvGrpSpPr>
          <p:nvPr/>
        </p:nvGrpSpPr>
        <p:grpSpPr bwMode="auto">
          <a:xfrm>
            <a:off x="1828800" y="1828800"/>
            <a:ext cx="990600" cy="3581400"/>
            <a:chOff x="192" y="1152"/>
            <a:chExt cx="624" cy="2256"/>
          </a:xfrm>
        </p:grpSpPr>
        <p:sp>
          <p:nvSpPr>
            <p:cNvPr id="1141879" name="Line 119"/>
            <p:cNvSpPr>
              <a:spLocks noChangeShapeType="1"/>
            </p:cNvSpPr>
            <p:nvPr/>
          </p:nvSpPr>
          <p:spPr bwMode="auto">
            <a:xfrm>
              <a:off x="480" y="3264"/>
              <a:ext cx="0" cy="144"/>
            </a:xfrm>
            <a:prstGeom prst="line">
              <a:avLst/>
            </a:prstGeom>
            <a:noFill/>
            <a:ln w="50800">
              <a:solidFill>
                <a:schemeClr val="tx1"/>
              </a:solidFill>
              <a:miter lim="800000"/>
              <a:headEnd/>
              <a:tailEnd type="stealth" w="sm" len="lg"/>
            </a:ln>
            <a:effectLst/>
          </p:spPr>
          <p:txBody>
            <a:bodyPr wrap="none"/>
            <a:lstStyle/>
            <a:p>
              <a:endParaRPr lang="zh-CN" altLang="en-US"/>
            </a:p>
          </p:txBody>
        </p:sp>
        <p:sp>
          <p:nvSpPr>
            <p:cNvPr id="1141880" name="Line 120"/>
            <p:cNvSpPr>
              <a:spLocks noChangeShapeType="1"/>
            </p:cNvSpPr>
            <p:nvPr/>
          </p:nvSpPr>
          <p:spPr bwMode="auto">
            <a:xfrm>
              <a:off x="480" y="1440"/>
              <a:ext cx="0" cy="1824"/>
            </a:xfrm>
            <a:prstGeom prst="line">
              <a:avLst/>
            </a:prstGeom>
            <a:noFill/>
            <a:ln w="25400">
              <a:solidFill>
                <a:schemeClr val="tx1"/>
              </a:solidFill>
              <a:miter lim="800000"/>
              <a:headEnd/>
              <a:tailEnd/>
            </a:ln>
            <a:effectLst/>
          </p:spPr>
          <p:txBody>
            <a:bodyPr wrap="none"/>
            <a:lstStyle/>
            <a:p>
              <a:endParaRPr lang="zh-CN" altLang="en-US"/>
            </a:p>
          </p:txBody>
        </p:sp>
        <p:sp>
          <p:nvSpPr>
            <p:cNvPr id="1141881" name="Text Box 121"/>
            <p:cNvSpPr txBox="1">
              <a:spLocks noChangeArrowheads="1"/>
            </p:cNvSpPr>
            <p:nvPr/>
          </p:nvSpPr>
          <p:spPr bwMode="auto">
            <a:xfrm>
              <a:off x="192" y="1382"/>
              <a:ext cx="336" cy="250"/>
            </a:xfrm>
            <a:prstGeom prst="rect">
              <a:avLst/>
            </a:prstGeom>
            <a:noFill/>
            <a:ln w="9525">
              <a:noFill/>
              <a:miter lim="800000"/>
              <a:headEnd/>
              <a:tailEnd/>
            </a:ln>
            <a:effectLst/>
          </p:spPr>
          <p:txBody>
            <a:bodyPr>
              <a:spAutoFit/>
            </a:bodyPr>
            <a:lstStyle/>
            <a:p>
              <a:pPr>
                <a:spcBef>
                  <a:spcPct val="50000"/>
                </a:spcBef>
              </a:pPr>
              <a:r>
                <a:rPr kumimoji="1" lang="zh-CN" altLang="en-US" b="1">
                  <a:latin typeface="Tahoma" pitchFamily="34" charset="0"/>
                </a:rPr>
                <a:t>高</a:t>
              </a:r>
            </a:p>
          </p:txBody>
        </p:sp>
        <p:sp>
          <p:nvSpPr>
            <p:cNvPr id="1141882" name="Text Box 122"/>
            <p:cNvSpPr txBox="1">
              <a:spLocks noChangeArrowheads="1"/>
            </p:cNvSpPr>
            <p:nvPr/>
          </p:nvSpPr>
          <p:spPr bwMode="auto">
            <a:xfrm>
              <a:off x="192" y="3158"/>
              <a:ext cx="336" cy="250"/>
            </a:xfrm>
            <a:prstGeom prst="rect">
              <a:avLst/>
            </a:prstGeom>
            <a:noFill/>
            <a:ln w="9525">
              <a:noFill/>
              <a:miter lim="800000"/>
              <a:headEnd/>
              <a:tailEnd/>
            </a:ln>
            <a:effectLst/>
          </p:spPr>
          <p:txBody>
            <a:bodyPr>
              <a:spAutoFit/>
            </a:bodyPr>
            <a:lstStyle/>
            <a:p>
              <a:pPr>
                <a:spcBef>
                  <a:spcPct val="50000"/>
                </a:spcBef>
              </a:pPr>
              <a:r>
                <a:rPr kumimoji="1" lang="zh-CN" altLang="en-US" b="1">
                  <a:latin typeface="Tahoma" pitchFamily="34" charset="0"/>
                </a:rPr>
                <a:t>低</a:t>
              </a:r>
            </a:p>
          </p:txBody>
        </p:sp>
        <p:sp>
          <p:nvSpPr>
            <p:cNvPr id="1141883" name="Text Box 123"/>
            <p:cNvSpPr txBox="1">
              <a:spLocks noChangeArrowheads="1"/>
            </p:cNvSpPr>
            <p:nvPr/>
          </p:nvSpPr>
          <p:spPr bwMode="auto">
            <a:xfrm>
              <a:off x="192" y="1152"/>
              <a:ext cx="624" cy="250"/>
            </a:xfrm>
            <a:prstGeom prst="rect">
              <a:avLst/>
            </a:prstGeom>
            <a:noFill/>
            <a:ln w="9525">
              <a:noFill/>
              <a:miter lim="800000"/>
              <a:headEnd/>
              <a:tailEnd/>
            </a:ln>
            <a:effectLst/>
          </p:spPr>
          <p:txBody>
            <a:bodyPr>
              <a:spAutoFit/>
            </a:bodyPr>
            <a:lstStyle/>
            <a:p>
              <a:pPr>
                <a:spcBef>
                  <a:spcPct val="50000"/>
                </a:spcBef>
              </a:pPr>
              <a:r>
                <a:rPr kumimoji="1" lang="zh-CN" altLang="en-US" b="1">
                  <a:latin typeface="Tahoma" pitchFamily="34" charset="0"/>
                </a:rPr>
                <a:t>优先级</a:t>
              </a:r>
            </a:p>
          </p:txBody>
        </p:sp>
      </p:grpSp>
      <p:grpSp>
        <p:nvGrpSpPr>
          <p:cNvPr id="1141884" name="Group 124"/>
          <p:cNvGrpSpPr>
            <a:grpSpLocks/>
          </p:cNvGrpSpPr>
          <p:nvPr/>
        </p:nvGrpSpPr>
        <p:grpSpPr bwMode="auto">
          <a:xfrm>
            <a:off x="9067800" y="2133600"/>
            <a:ext cx="990600" cy="3581400"/>
            <a:chOff x="4800" y="1392"/>
            <a:chExt cx="624" cy="2256"/>
          </a:xfrm>
        </p:grpSpPr>
        <p:sp>
          <p:nvSpPr>
            <p:cNvPr id="1141885" name="Line 125"/>
            <p:cNvSpPr>
              <a:spLocks noChangeShapeType="1"/>
            </p:cNvSpPr>
            <p:nvPr/>
          </p:nvSpPr>
          <p:spPr bwMode="auto">
            <a:xfrm>
              <a:off x="5087" y="1392"/>
              <a:ext cx="1" cy="144"/>
            </a:xfrm>
            <a:prstGeom prst="line">
              <a:avLst/>
            </a:prstGeom>
            <a:noFill/>
            <a:ln w="50800">
              <a:solidFill>
                <a:schemeClr val="tx1"/>
              </a:solidFill>
              <a:miter lim="800000"/>
              <a:headEnd type="stealth" w="sm" len="lg"/>
              <a:tailEnd type="none" w="sm" len="lg"/>
            </a:ln>
            <a:effectLst/>
          </p:spPr>
          <p:txBody>
            <a:bodyPr wrap="none"/>
            <a:lstStyle/>
            <a:p>
              <a:endParaRPr lang="zh-CN" altLang="en-US"/>
            </a:p>
          </p:txBody>
        </p:sp>
        <p:sp>
          <p:nvSpPr>
            <p:cNvPr id="1141886" name="Line 126"/>
            <p:cNvSpPr>
              <a:spLocks noChangeShapeType="1"/>
            </p:cNvSpPr>
            <p:nvPr/>
          </p:nvSpPr>
          <p:spPr bwMode="auto">
            <a:xfrm>
              <a:off x="5088" y="1536"/>
              <a:ext cx="0" cy="1824"/>
            </a:xfrm>
            <a:prstGeom prst="line">
              <a:avLst/>
            </a:prstGeom>
            <a:noFill/>
            <a:ln w="25400">
              <a:solidFill>
                <a:schemeClr val="tx1"/>
              </a:solidFill>
              <a:miter lim="800000"/>
              <a:headEnd/>
              <a:tailEnd/>
            </a:ln>
            <a:effectLst/>
          </p:spPr>
          <p:txBody>
            <a:bodyPr wrap="none"/>
            <a:lstStyle/>
            <a:p>
              <a:endParaRPr lang="zh-CN" altLang="en-US"/>
            </a:p>
          </p:txBody>
        </p:sp>
        <p:sp>
          <p:nvSpPr>
            <p:cNvPr id="1141887" name="Text Box 127"/>
            <p:cNvSpPr txBox="1">
              <a:spLocks noChangeArrowheads="1"/>
            </p:cNvSpPr>
            <p:nvPr/>
          </p:nvSpPr>
          <p:spPr bwMode="auto">
            <a:xfrm>
              <a:off x="4800" y="3398"/>
              <a:ext cx="624" cy="250"/>
            </a:xfrm>
            <a:prstGeom prst="rect">
              <a:avLst/>
            </a:prstGeom>
            <a:noFill/>
            <a:ln w="9525">
              <a:noFill/>
              <a:miter lim="800000"/>
              <a:headEnd/>
              <a:tailEnd/>
            </a:ln>
            <a:effectLst/>
          </p:spPr>
          <p:txBody>
            <a:bodyPr>
              <a:spAutoFit/>
            </a:bodyPr>
            <a:lstStyle/>
            <a:p>
              <a:pPr>
                <a:spcBef>
                  <a:spcPct val="50000"/>
                </a:spcBef>
              </a:pPr>
              <a:r>
                <a:rPr kumimoji="1" lang="zh-CN" altLang="en-US" b="1">
                  <a:latin typeface="Tahoma" pitchFamily="34" charset="0"/>
                </a:rPr>
                <a:t>时间片</a:t>
              </a:r>
            </a:p>
          </p:txBody>
        </p:sp>
        <p:sp>
          <p:nvSpPr>
            <p:cNvPr id="1141888" name="Text Box 128"/>
            <p:cNvSpPr txBox="1">
              <a:spLocks noChangeArrowheads="1"/>
            </p:cNvSpPr>
            <p:nvPr/>
          </p:nvSpPr>
          <p:spPr bwMode="auto">
            <a:xfrm>
              <a:off x="5136" y="1440"/>
              <a:ext cx="288" cy="250"/>
            </a:xfrm>
            <a:prstGeom prst="rect">
              <a:avLst/>
            </a:prstGeom>
            <a:noFill/>
            <a:ln w="9525">
              <a:noFill/>
              <a:miter lim="800000"/>
              <a:headEnd/>
              <a:tailEnd/>
            </a:ln>
            <a:effectLst/>
          </p:spPr>
          <p:txBody>
            <a:bodyPr>
              <a:spAutoFit/>
            </a:bodyPr>
            <a:lstStyle/>
            <a:p>
              <a:pPr>
                <a:spcBef>
                  <a:spcPct val="50000"/>
                </a:spcBef>
              </a:pPr>
              <a:r>
                <a:rPr kumimoji="1" lang="zh-CN" altLang="en-US" b="1">
                  <a:latin typeface="Tahoma" pitchFamily="34" charset="0"/>
                </a:rPr>
                <a:t>小</a:t>
              </a:r>
            </a:p>
          </p:txBody>
        </p:sp>
        <p:sp>
          <p:nvSpPr>
            <p:cNvPr id="1141889" name="Text Box 129"/>
            <p:cNvSpPr txBox="1">
              <a:spLocks noChangeArrowheads="1"/>
            </p:cNvSpPr>
            <p:nvPr/>
          </p:nvSpPr>
          <p:spPr bwMode="auto">
            <a:xfrm>
              <a:off x="5088" y="3110"/>
              <a:ext cx="288" cy="250"/>
            </a:xfrm>
            <a:prstGeom prst="rect">
              <a:avLst/>
            </a:prstGeom>
            <a:noFill/>
            <a:ln w="9525">
              <a:noFill/>
              <a:miter lim="800000"/>
              <a:headEnd/>
              <a:tailEnd/>
            </a:ln>
            <a:effectLst/>
          </p:spPr>
          <p:txBody>
            <a:bodyPr>
              <a:spAutoFit/>
            </a:bodyPr>
            <a:lstStyle/>
            <a:p>
              <a:pPr>
                <a:spcBef>
                  <a:spcPct val="50000"/>
                </a:spcBef>
              </a:pPr>
              <a:r>
                <a:rPr kumimoji="1" lang="zh-CN" altLang="en-US" b="1">
                  <a:latin typeface="Tahoma" pitchFamily="34" charset="0"/>
                </a:rPr>
                <a:t>大</a:t>
              </a:r>
            </a:p>
          </p:txBody>
        </p:sp>
      </p:grpSp>
      <p:grpSp>
        <p:nvGrpSpPr>
          <p:cNvPr id="1141890" name="Group 130"/>
          <p:cNvGrpSpPr>
            <a:grpSpLocks/>
          </p:cNvGrpSpPr>
          <p:nvPr/>
        </p:nvGrpSpPr>
        <p:grpSpPr bwMode="auto">
          <a:xfrm>
            <a:off x="7226301" y="4598988"/>
            <a:ext cx="252413" cy="354012"/>
            <a:chOff x="3566" y="2254"/>
            <a:chExt cx="159" cy="223"/>
          </a:xfrm>
        </p:grpSpPr>
        <p:sp>
          <p:nvSpPr>
            <p:cNvPr id="1141891" name="Rectangle 131"/>
            <p:cNvSpPr>
              <a:spLocks noChangeArrowheads="1"/>
            </p:cNvSpPr>
            <p:nvPr/>
          </p:nvSpPr>
          <p:spPr bwMode="auto">
            <a:xfrm>
              <a:off x="3566" y="2254"/>
              <a:ext cx="93" cy="202"/>
            </a:xfrm>
            <a:prstGeom prst="rect">
              <a:avLst/>
            </a:prstGeom>
            <a:noFill/>
            <a:ln w="9525">
              <a:noFill/>
              <a:miter lim="800000"/>
              <a:headEnd/>
              <a:tailEnd/>
            </a:ln>
          </p:spPr>
          <p:txBody>
            <a:bodyPr wrap="none" lIns="0" tIns="0" rIns="0" bIns="0">
              <a:spAutoFit/>
            </a:bodyPr>
            <a:lstStyle/>
            <a:p>
              <a:r>
                <a:rPr kumimoji="1" lang="en-US" altLang="zh-CN" sz="2100" b="1">
                  <a:solidFill>
                    <a:srgbClr val="000000"/>
                  </a:solidFill>
                  <a:latin typeface="Times" charset="0"/>
                </a:rPr>
                <a:t>S</a:t>
              </a:r>
              <a:endParaRPr kumimoji="1" lang="en-US" altLang="zh-CN" sz="2400" b="1">
                <a:latin typeface="Tahoma" pitchFamily="34" charset="0"/>
              </a:endParaRPr>
            </a:p>
          </p:txBody>
        </p:sp>
        <p:sp>
          <p:nvSpPr>
            <p:cNvPr id="1141892" name="Rectangle 132"/>
            <p:cNvSpPr>
              <a:spLocks noChangeArrowheads="1"/>
            </p:cNvSpPr>
            <p:nvPr/>
          </p:nvSpPr>
          <p:spPr bwMode="auto">
            <a:xfrm>
              <a:off x="3658" y="2333"/>
              <a:ext cx="67" cy="144"/>
            </a:xfrm>
            <a:prstGeom prst="rect">
              <a:avLst/>
            </a:prstGeom>
            <a:noFill/>
            <a:ln w="9525">
              <a:noFill/>
              <a:miter lim="800000"/>
              <a:headEnd/>
              <a:tailEnd/>
            </a:ln>
          </p:spPr>
          <p:txBody>
            <a:bodyPr wrap="none" lIns="0" tIns="0" rIns="0" bIns="0">
              <a:spAutoFit/>
            </a:bodyPr>
            <a:lstStyle/>
            <a:p>
              <a:r>
                <a:rPr kumimoji="1" lang="en-US" altLang="zh-CN" sz="1500" b="1">
                  <a:solidFill>
                    <a:srgbClr val="000000"/>
                  </a:solidFill>
                  <a:latin typeface="Times New Roman" pitchFamily="18" charset="0"/>
                </a:rPr>
                <a:t>n</a:t>
              </a:r>
              <a:endParaRPr kumimoji="1" lang="en-US" altLang="zh-CN" sz="2400" b="1">
                <a:latin typeface="Times New Roman" pitchFamily="18" charset="0"/>
              </a:endParaRPr>
            </a:p>
          </p:txBody>
        </p:sp>
      </p:grpSp>
      <p:sp>
        <p:nvSpPr>
          <p:cNvPr id="1141893" name="AutoShape 133"/>
          <p:cNvSpPr>
            <a:spLocks noChangeArrowheads="1"/>
          </p:cNvSpPr>
          <p:nvPr/>
        </p:nvSpPr>
        <p:spPr bwMode="auto">
          <a:xfrm>
            <a:off x="1905000" y="304800"/>
            <a:ext cx="2819400" cy="990600"/>
          </a:xfrm>
          <a:prstGeom prst="cloudCallout">
            <a:avLst>
              <a:gd name="adj1" fmla="val 10537"/>
              <a:gd name="adj2" fmla="val 129005"/>
            </a:avLst>
          </a:prstGeom>
          <a:solidFill>
            <a:srgbClr val="FFFFCC"/>
          </a:solidFill>
          <a:ln w="9525">
            <a:solidFill>
              <a:schemeClr val="tx1"/>
            </a:solidFill>
            <a:miter lim="800000"/>
            <a:headEnd/>
            <a:tailEnd/>
          </a:ln>
          <a:effectLst/>
        </p:spPr>
        <p:txBody>
          <a:bodyPr/>
          <a:lstStyle/>
          <a:p>
            <a:r>
              <a:rPr kumimoji="1" lang="zh-CN" altLang="en-US" b="1" dirty="0">
                <a:latin typeface="Times New Roman" pitchFamily="18" charset="0"/>
              </a:rPr>
              <a:t>按</a:t>
            </a:r>
            <a:r>
              <a:rPr kumimoji="1" lang="en-US" altLang="zh-CN" b="1" dirty="0">
                <a:latin typeface="Times New Roman" pitchFamily="18" charset="0"/>
              </a:rPr>
              <a:t>FCFS</a:t>
            </a:r>
            <a:r>
              <a:rPr kumimoji="1" lang="zh-CN" altLang="en-US" b="1" dirty="0">
                <a:latin typeface="Times New Roman" pitchFamily="18" charset="0"/>
              </a:rPr>
              <a:t>原则排队等待调度</a:t>
            </a:r>
          </a:p>
        </p:txBody>
      </p:sp>
      <p:sp>
        <p:nvSpPr>
          <p:cNvPr id="1141894" name="AutoShape 134"/>
          <p:cNvSpPr>
            <a:spLocks noChangeArrowheads="1"/>
          </p:cNvSpPr>
          <p:nvPr/>
        </p:nvSpPr>
        <p:spPr bwMode="auto">
          <a:xfrm>
            <a:off x="6934200" y="228600"/>
            <a:ext cx="3733800" cy="1524000"/>
          </a:xfrm>
          <a:prstGeom prst="cloudCallout">
            <a:avLst>
              <a:gd name="adj1" fmla="val -49273"/>
              <a:gd name="adj2" fmla="val 86042"/>
            </a:avLst>
          </a:prstGeom>
          <a:solidFill>
            <a:srgbClr val="FFFFCC"/>
          </a:solidFill>
          <a:ln w="9525">
            <a:solidFill>
              <a:schemeClr val="tx1"/>
            </a:solidFill>
            <a:miter lim="800000"/>
            <a:headEnd/>
            <a:tailEnd/>
          </a:ln>
          <a:effectLst/>
        </p:spPr>
        <p:txBody>
          <a:bodyPr/>
          <a:lstStyle/>
          <a:p>
            <a:pPr algn="ctr"/>
            <a:r>
              <a:rPr kumimoji="1" lang="zh-CN" altLang="en-US" b="1" dirty="0">
                <a:latin typeface="Times New Roman" pitchFamily="18" charset="0"/>
              </a:rPr>
              <a:t>尚未完成转入第二队列的末尾，按</a:t>
            </a:r>
            <a:r>
              <a:rPr kumimoji="1" lang="en-US" altLang="zh-CN" b="1" dirty="0">
                <a:latin typeface="Times New Roman" pitchFamily="18" charset="0"/>
              </a:rPr>
              <a:t>FCFS</a:t>
            </a:r>
            <a:r>
              <a:rPr kumimoji="1" lang="zh-CN" altLang="en-US" b="1" dirty="0">
                <a:latin typeface="Times New Roman" pitchFamily="18" charset="0"/>
              </a:rPr>
              <a:t>原则等待调度</a:t>
            </a:r>
          </a:p>
        </p:txBody>
      </p:sp>
      <p:sp>
        <p:nvSpPr>
          <p:cNvPr id="1141895" name="AutoShape 135"/>
          <p:cNvSpPr>
            <a:spLocks noChangeArrowheads="1"/>
          </p:cNvSpPr>
          <p:nvPr/>
        </p:nvSpPr>
        <p:spPr bwMode="auto">
          <a:xfrm>
            <a:off x="6934200" y="5943600"/>
            <a:ext cx="3124200" cy="914400"/>
          </a:xfrm>
          <a:prstGeom prst="cloudCallout">
            <a:avLst>
              <a:gd name="adj1" fmla="val -75102"/>
              <a:gd name="adj2" fmla="val -123440"/>
            </a:avLst>
          </a:prstGeom>
          <a:solidFill>
            <a:srgbClr val="FFFFCC"/>
          </a:solidFill>
          <a:ln w="9525">
            <a:solidFill>
              <a:schemeClr val="tx1"/>
            </a:solidFill>
            <a:miter lim="800000"/>
            <a:headEnd/>
            <a:tailEnd/>
          </a:ln>
          <a:effectLst/>
        </p:spPr>
        <p:txBody>
          <a:bodyPr/>
          <a:lstStyle/>
          <a:p>
            <a:pPr algn="ctr"/>
            <a:r>
              <a:rPr kumimoji="1" lang="zh-CN" altLang="en-US" b="1">
                <a:latin typeface="Times New Roman" pitchFamily="18" charset="0"/>
              </a:rPr>
              <a:t>采取按时间片轮转的方式运行</a:t>
            </a:r>
          </a:p>
        </p:txBody>
      </p:sp>
      <p:sp>
        <p:nvSpPr>
          <p:cNvPr id="1141896" name="AutoShape 136"/>
          <p:cNvSpPr>
            <a:spLocks noChangeArrowheads="1"/>
          </p:cNvSpPr>
          <p:nvPr/>
        </p:nvSpPr>
        <p:spPr bwMode="auto">
          <a:xfrm>
            <a:off x="1600200" y="5105400"/>
            <a:ext cx="4038600" cy="1524000"/>
          </a:xfrm>
          <a:prstGeom prst="cloudCallout">
            <a:avLst>
              <a:gd name="adj1" fmla="val 26574"/>
              <a:gd name="adj2" fmla="val -165523"/>
            </a:avLst>
          </a:prstGeom>
          <a:solidFill>
            <a:srgbClr val="FFFFCC"/>
          </a:solidFill>
          <a:ln w="9525">
            <a:solidFill>
              <a:schemeClr val="tx1"/>
            </a:solidFill>
            <a:miter lim="800000"/>
            <a:headEnd/>
            <a:tailEnd/>
          </a:ln>
          <a:effectLst/>
        </p:spPr>
        <p:txBody>
          <a:bodyPr/>
          <a:lstStyle/>
          <a:p>
            <a:pPr algn="ctr"/>
            <a:r>
              <a:rPr kumimoji="1" lang="zh-CN" altLang="en-US" sz="1800" b="1" dirty="0">
                <a:latin typeface="Times New Roman" pitchFamily="18" charset="0"/>
              </a:rPr>
              <a:t>因等待而放弃</a:t>
            </a:r>
            <a:r>
              <a:rPr kumimoji="1" lang="en-US" altLang="zh-CN" sz="1800" b="1" dirty="0">
                <a:latin typeface="Times New Roman" pitchFamily="18" charset="0"/>
              </a:rPr>
              <a:t>CPU</a:t>
            </a:r>
            <a:r>
              <a:rPr kumimoji="1" lang="zh-CN" altLang="en-US" sz="1800" b="1" dirty="0">
                <a:latin typeface="Times New Roman" pitchFamily="18" charset="0"/>
              </a:rPr>
              <a:t>后，进入阻塞队列，一旦等待的事件发生，则回到原来的就绪队列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41762"/>
                                        </p:tgtEl>
                                        <p:attrNameLst>
                                          <p:attrName>style.visibility</p:attrName>
                                        </p:attrNameLst>
                                      </p:cBhvr>
                                      <p:to>
                                        <p:strVal val="visible"/>
                                      </p:to>
                                    </p:set>
                                    <p:animEffect transition="in" filter="wipe(up)">
                                      <p:cBhvr>
                                        <p:cTn id="7" dur="500"/>
                                        <p:tgtEl>
                                          <p:spTgt spid="114176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41769"/>
                                        </p:tgtEl>
                                        <p:attrNameLst>
                                          <p:attrName>style.visibility</p:attrName>
                                        </p:attrNameLst>
                                      </p:cBhvr>
                                      <p:to>
                                        <p:strVal val="visible"/>
                                      </p:to>
                                    </p:set>
                                    <p:animEffect transition="in" filter="wipe(up)">
                                      <p:cBhvr>
                                        <p:cTn id="11" dur="500"/>
                                        <p:tgtEl>
                                          <p:spTgt spid="1141769"/>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141774"/>
                                        </p:tgtEl>
                                        <p:attrNameLst>
                                          <p:attrName>style.visibility</p:attrName>
                                        </p:attrNameLst>
                                      </p:cBhvr>
                                      <p:to>
                                        <p:strVal val="visible"/>
                                      </p:to>
                                    </p:set>
                                    <p:animEffect transition="in" filter="wipe(up)">
                                      <p:cBhvr>
                                        <p:cTn id="15" dur="500"/>
                                        <p:tgtEl>
                                          <p:spTgt spid="114177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141810"/>
                                        </p:tgtEl>
                                        <p:attrNameLst>
                                          <p:attrName>style.visibility</p:attrName>
                                        </p:attrNameLst>
                                      </p:cBhvr>
                                      <p:to>
                                        <p:strVal val="visible"/>
                                      </p:to>
                                    </p:set>
                                    <p:animEffect transition="in" filter="wipe(up)">
                                      <p:cBhvr>
                                        <p:cTn id="19" dur="500"/>
                                        <p:tgtEl>
                                          <p:spTgt spid="11418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141878"/>
                                        </p:tgtEl>
                                        <p:attrNameLst>
                                          <p:attrName>style.visibility</p:attrName>
                                        </p:attrNameLst>
                                      </p:cBhvr>
                                      <p:to>
                                        <p:strVal val="visible"/>
                                      </p:to>
                                    </p:set>
                                    <p:animEffect transition="in" filter="wipe(up)">
                                      <p:cBhvr>
                                        <p:cTn id="24" dur="500"/>
                                        <p:tgtEl>
                                          <p:spTgt spid="114187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141884"/>
                                        </p:tgtEl>
                                        <p:attrNameLst>
                                          <p:attrName>style.visibility</p:attrName>
                                        </p:attrNameLst>
                                      </p:cBhvr>
                                      <p:to>
                                        <p:strVal val="visible"/>
                                      </p:to>
                                    </p:set>
                                    <p:animEffect transition="in" filter="wipe(up)">
                                      <p:cBhvr>
                                        <p:cTn id="29" dur="500"/>
                                        <p:tgtEl>
                                          <p:spTgt spid="114188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141814"/>
                                        </p:tgtEl>
                                        <p:attrNameLst>
                                          <p:attrName>style.visibility</p:attrName>
                                        </p:attrNameLst>
                                      </p:cBhvr>
                                      <p:to>
                                        <p:strVal val="visible"/>
                                      </p:to>
                                    </p:set>
                                    <p:animEffect transition="in" filter="wipe(left)">
                                      <p:cBhvr>
                                        <p:cTn id="34" dur="500"/>
                                        <p:tgtEl>
                                          <p:spTgt spid="1141814"/>
                                        </p:tgtEl>
                                      </p:cBhvr>
                                    </p:animEffect>
                                  </p:childTnLst>
                                  <p:subTnLst>
                                    <p:animClr clrSpc="rgb" dir="cw">
                                      <p:cBhvr override="childStyle">
                                        <p:cTn dur="1" fill="hold" display="0" masterRel="nextClick" afterEffect="1"/>
                                        <p:tgtEl>
                                          <p:spTgt spid="1141814"/>
                                        </p:tgtEl>
                                        <p:attrNameLst>
                                          <p:attrName>ppt_c</p:attrName>
                                        </p:attrNameLst>
                                      </p:cBhvr>
                                      <p:to>
                                        <a:srgbClr val="D20000"/>
                                      </p:to>
                                    </p:animClr>
                                  </p:sub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141893"/>
                                        </p:tgtEl>
                                        <p:attrNameLst>
                                          <p:attrName>style.visibility</p:attrName>
                                        </p:attrNameLst>
                                      </p:cBhvr>
                                      <p:to>
                                        <p:strVal val="visible"/>
                                      </p:to>
                                    </p:set>
                                    <p:animEffect transition="in" filter="wipe(up)">
                                      <p:cBhvr>
                                        <p:cTn id="39" dur="500"/>
                                        <p:tgtEl>
                                          <p:spTgt spid="1141893"/>
                                        </p:tgtEl>
                                      </p:cBhvr>
                                    </p:animEffect>
                                  </p:childTnLst>
                                  <p:subTnLst>
                                    <p:set>
                                      <p:cBhvr override="childStyle">
                                        <p:cTn dur="1" fill="hold" display="0" masterRel="nextClick" afterEffect="1"/>
                                        <p:tgtEl>
                                          <p:spTgt spid="1141893"/>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141845"/>
                                        </p:tgtEl>
                                        <p:attrNameLst>
                                          <p:attrName>style.visibility</p:attrName>
                                        </p:attrNameLst>
                                      </p:cBhvr>
                                      <p:to>
                                        <p:strVal val="visible"/>
                                      </p:to>
                                    </p:set>
                                    <p:anim calcmode="lin" valueType="num">
                                      <p:cBhvr additive="base">
                                        <p:cTn id="44" dur="500" fill="hold"/>
                                        <p:tgtEl>
                                          <p:spTgt spid="1141845"/>
                                        </p:tgtEl>
                                        <p:attrNameLst>
                                          <p:attrName>ppt_x</p:attrName>
                                        </p:attrNameLst>
                                      </p:cBhvr>
                                      <p:tavLst>
                                        <p:tav tm="0">
                                          <p:val>
                                            <p:strVal val="#ppt_x"/>
                                          </p:val>
                                        </p:tav>
                                        <p:tav tm="100000">
                                          <p:val>
                                            <p:strVal val="#ppt_x"/>
                                          </p:val>
                                        </p:tav>
                                      </p:tavLst>
                                    </p:anim>
                                    <p:anim calcmode="lin" valueType="num">
                                      <p:cBhvr additive="base">
                                        <p:cTn id="45" dur="500" fill="hold"/>
                                        <p:tgtEl>
                                          <p:spTgt spid="1141845"/>
                                        </p:tgtEl>
                                        <p:attrNameLst>
                                          <p:attrName>ppt_y</p:attrName>
                                        </p:attrNameLst>
                                      </p:cBhvr>
                                      <p:tavLst>
                                        <p:tav tm="0">
                                          <p:val>
                                            <p:strVal val="1+#ppt_h/2"/>
                                          </p:val>
                                        </p:tav>
                                        <p:tav tm="100000">
                                          <p:val>
                                            <p:strVal val="#ppt_y"/>
                                          </p:val>
                                        </p:tav>
                                      </p:tavLst>
                                    </p:anim>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141833"/>
                                        </p:tgtEl>
                                        <p:attrNameLst>
                                          <p:attrName>style.visibility</p:attrName>
                                        </p:attrNameLst>
                                      </p:cBhvr>
                                      <p:to>
                                        <p:strVal val="visible"/>
                                      </p:to>
                                    </p:set>
                                    <p:animEffect transition="in" filter="wipe(left)">
                                      <p:cBhvr>
                                        <p:cTn id="49" dur="500"/>
                                        <p:tgtEl>
                                          <p:spTgt spid="1141833"/>
                                        </p:tgtEl>
                                      </p:cBhvr>
                                    </p:animEffect>
                                  </p:childTnLst>
                                  <p:subTnLst>
                                    <p:animClr clrSpc="rgb" dir="cw">
                                      <p:cBhvr override="childStyle">
                                        <p:cTn dur="1" fill="hold" display="0" masterRel="nextClick" afterEffect="1"/>
                                        <p:tgtEl>
                                          <p:spTgt spid="1141833"/>
                                        </p:tgtEl>
                                        <p:attrNameLst>
                                          <p:attrName>ppt_c</p:attrName>
                                        </p:attrNameLst>
                                      </p:cBhvr>
                                      <p:to>
                                        <a:schemeClr val="hlink"/>
                                      </p:to>
                                    </p:animClr>
                                  </p:sub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1141854"/>
                                        </p:tgtEl>
                                        <p:attrNameLst>
                                          <p:attrName>style.visibility</p:attrName>
                                        </p:attrNameLst>
                                      </p:cBhvr>
                                      <p:to>
                                        <p:strVal val="visible"/>
                                      </p:to>
                                    </p:set>
                                    <p:animEffect transition="in" filter="wipe(left)">
                                      <p:cBhvr>
                                        <p:cTn id="53" dur="500"/>
                                        <p:tgtEl>
                                          <p:spTgt spid="114185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141894"/>
                                        </p:tgtEl>
                                        <p:attrNameLst>
                                          <p:attrName>style.visibility</p:attrName>
                                        </p:attrNameLst>
                                      </p:cBhvr>
                                      <p:to>
                                        <p:strVal val="visible"/>
                                      </p:to>
                                    </p:set>
                                    <p:animEffect transition="in" filter="wipe(up)">
                                      <p:cBhvr>
                                        <p:cTn id="58" dur="500"/>
                                        <p:tgtEl>
                                          <p:spTgt spid="1141894"/>
                                        </p:tgtEl>
                                      </p:cBhvr>
                                    </p:animEffect>
                                  </p:childTnLst>
                                  <p:subTnLst>
                                    <p:set>
                                      <p:cBhvr override="childStyle">
                                        <p:cTn dur="1" fill="hold" display="0" masterRel="nextClick" afterEffect="1"/>
                                        <p:tgtEl>
                                          <p:spTgt spid="1141894"/>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141765"/>
                                        </p:tgtEl>
                                        <p:attrNameLst>
                                          <p:attrName>style.visibility</p:attrName>
                                        </p:attrNameLst>
                                      </p:cBhvr>
                                      <p:to>
                                        <p:strVal val="visible"/>
                                      </p:to>
                                    </p:set>
                                    <p:animEffect transition="in" filter="wipe(left)">
                                      <p:cBhvr>
                                        <p:cTn id="63" dur="500"/>
                                        <p:tgtEl>
                                          <p:spTgt spid="1141765"/>
                                        </p:tgtEl>
                                      </p:cBhvr>
                                    </p:animEffect>
                                  </p:childTnLst>
                                  <p:subTnLst>
                                    <p:animClr clrSpc="rgb" dir="cw">
                                      <p:cBhvr override="childStyle">
                                        <p:cTn dur="1" fill="hold" display="0" masterRel="nextClick" afterEffect="1"/>
                                        <p:tgtEl>
                                          <p:spTgt spid="1141765"/>
                                        </p:tgtEl>
                                        <p:attrNameLst>
                                          <p:attrName>ppt_c</p:attrName>
                                        </p:attrNameLst>
                                      </p:cBhvr>
                                      <p:to>
                                        <a:schemeClr val="hlink"/>
                                      </p:to>
                                    </p:animClr>
                                  </p:subTnLst>
                                </p:cTn>
                              </p:par>
                            </p:childTnLst>
                          </p:cTn>
                        </p:par>
                        <p:par>
                          <p:cTn id="64" fill="hold">
                            <p:stCondLst>
                              <p:cond delay="500"/>
                            </p:stCondLst>
                            <p:childTnLst>
                              <p:par>
                                <p:cTn id="65" presetID="22" presetClass="entr" presetSubtype="1" fill="hold" grpId="0" nodeType="afterEffect">
                                  <p:stCondLst>
                                    <p:cond delay="0"/>
                                  </p:stCondLst>
                                  <p:childTnLst>
                                    <p:set>
                                      <p:cBhvr>
                                        <p:cTn id="66" dur="1" fill="hold">
                                          <p:stCondLst>
                                            <p:cond delay="0"/>
                                          </p:stCondLst>
                                        </p:cTn>
                                        <p:tgtEl>
                                          <p:spTgt spid="1141766"/>
                                        </p:tgtEl>
                                        <p:attrNameLst>
                                          <p:attrName>style.visibility</p:attrName>
                                        </p:attrNameLst>
                                      </p:cBhvr>
                                      <p:to>
                                        <p:strVal val="visible"/>
                                      </p:to>
                                    </p:set>
                                    <p:animEffect transition="in" filter="wipe(up)">
                                      <p:cBhvr>
                                        <p:cTn id="67" dur="500"/>
                                        <p:tgtEl>
                                          <p:spTgt spid="1141766"/>
                                        </p:tgtEl>
                                      </p:cBhvr>
                                    </p:animEffect>
                                  </p:childTnLst>
                                  <p:subTnLst>
                                    <p:animClr clrSpc="rgb" dir="cw">
                                      <p:cBhvr override="childStyle">
                                        <p:cTn dur="1" fill="hold" display="0" masterRel="nextClick" afterEffect="1"/>
                                        <p:tgtEl>
                                          <p:spTgt spid="1141766"/>
                                        </p:tgtEl>
                                        <p:attrNameLst>
                                          <p:attrName>ppt_c</p:attrName>
                                        </p:attrNameLst>
                                      </p:cBhvr>
                                      <p:to>
                                        <a:schemeClr val="hlink"/>
                                      </p:to>
                                    </p:animClr>
                                  </p:subTnLst>
                                </p:cTn>
                              </p:par>
                            </p:childTnLst>
                          </p:cTn>
                        </p:par>
                        <p:par>
                          <p:cTn id="68" fill="hold">
                            <p:stCondLst>
                              <p:cond delay="1000"/>
                            </p:stCondLst>
                            <p:childTnLst>
                              <p:par>
                                <p:cTn id="69" presetID="22" presetClass="entr" presetSubtype="2" fill="hold" grpId="0" nodeType="afterEffect">
                                  <p:stCondLst>
                                    <p:cond delay="0"/>
                                  </p:stCondLst>
                                  <p:childTnLst>
                                    <p:set>
                                      <p:cBhvr>
                                        <p:cTn id="70" dur="1" fill="hold">
                                          <p:stCondLst>
                                            <p:cond delay="0"/>
                                          </p:stCondLst>
                                        </p:cTn>
                                        <p:tgtEl>
                                          <p:spTgt spid="1141767"/>
                                        </p:tgtEl>
                                        <p:attrNameLst>
                                          <p:attrName>style.visibility</p:attrName>
                                        </p:attrNameLst>
                                      </p:cBhvr>
                                      <p:to>
                                        <p:strVal val="visible"/>
                                      </p:to>
                                    </p:set>
                                    <p:animEffect transition="in" filter="wipe(right)">
                                      <p:cBhvr>
                                        <p:cTn id="71" dur="500"/>
                                        <p:tgtEl>
                                          <p:spTgt spid="1141767"/>
                                        </p:tgtEl>
                                      </p:cBhvr>
                                    </p:animEffect>
                                  </p:childTnLst>
                                  <p:subTnLst>
                                    <p:animClr clrSpc="rgb" dir="cw">
                                      <p:cBhvr override="childStyle">
                                        <p:cTn dur="1" fill="hold" display="0" masterRel="nextClick" afterEffect="1"/>
                                        <p:tgtEl>
                                          <p:spTgt spid="1141767"/>
                                        </p:tgtEl>
                                        <p:attrNameLst>
                                          <p:attrName>ppt_c</p:attrName>
                                        </p:attrNameLst>
                                      </p:cBhvr>
                                      <p:to>
                                        <a:schemeClr val="hlink"/>
                                      </p:to>
                                    </p:animClr>
                                  </p:subTnLst>
                                </p:cTn>
                              </p:par>
                            </p:childTnLst>
                          </p:cTn>
                        </p:par>
                        <p:par>
                          <p:cTn id="72" fill="hold">
                            <p:stCondLst>
                              <p:cond delay="1500"/>
                            </p:stCondLst>
                            <p:childTnLst>
                              <p:par>
                                <p:cTn id="73" presetID="22" presetClass="entr" presetSubtype="1" fill="hold" grpId="0" nodeType="afterEffect">
                                  <p:stCondLst>
                                    <p:cond delay="0"/>
                                  </p:stCondLst>
                                  <p:childTnLst>
                                    <p:set>
                                      <p:cBhvr>
                                        <p:cTn id="74" dur="1" fill="hold">
                                          <p:stCondLst>
                                            <p:cond delay="0"/>
                                          </p:stCondLst>
                                        </p:cTn>
                                        <p:tgtEl>
                                          <p:spTgt spid="1141768"/>
                                        </p:tgtEl>
                                        <p:attrNameLst>
                                          <p:attrName>style.visibility</p:attrName>
                                        </p:attrNameLst>
                                      </p:cBhvr>
                                      <p:to>
                                        <p:strVal val="visible"/>
                                      </p:to>
                                    </p:set>
                                    <p:animEffect transition="in" filter="wipe(up)">
                                      <p:cBhvr>
                                        <p:cTn id="75" dur="500"/>
                                        <p:tgtEl>
                                          <p:spTgt spid="1141768"/>
                                        </p:tgtEl>
                                      </p:cBhvr>
                                    </p:animEffect>
                                  </p:childTnLst>
                                  <p:subTnLst>
                                    <p:animClr clrSpc="rgb" dir="cw">
                                      <p:cBhvr override="childStyle">
                                        <p:cTn dur="1" fill="hold" display="0" masterRel="nextClick" afterEffect="1"/>
                                        <p:tgtEl>
                                          <p:spTgt spid="1141768"/>
                                        </p:tgtEl>
                                        <p:attrNameLst>
                                          <p:attrName>ppt_c</p:attrName>
                                        </p:attrNameLst>
                                      </p:cBhvr>
                                      <p:to>
                                        <a:schemeClr val="hlink"/>
                                      </p:to>
                                    </p:animClr>
                                  </p:subTnLst>
                                </p:cTn>
                              </p:par>
                            </p:childTnLst>
                          </p:cTn>
                        </p:par>
                        <p:par>
                          <p:cTn id="76" fill="hold">
                            <p:stCondLst>
                              <p:cond delay="2000"/>
                            </p:stCondLst>
                            <p:childTnLst>
                              <p:par>
                                <p:cTn id="77" presetID="22" presetClass="entr" presetSubtype="8" fill="hold" nodeType="afterEffect">
                                  <p:stCondLst>
                                    <p:cond delay="0"/>
                                  </p:stCondLst>
                                  <p:childTnLst>
                                    <p:set>
                                      <p:cBhvr>
                                        <p:cTn id="78" dur="1" fill="hold">
                                          <p:stCondLst>
                                            <p:cond delay="0"/>
                                          </p:stCondLst>
                                        </p:cTn>
                                        <p:tgtEl>
                                          <p:spTgt spid="1141811"/>
                                        </p:tgtEl>
                                        <p:attrNameLst>
                                          <p:attrName>style.visibility</p:attrName>
                                        </p:attrNameLst>
                                      </p:cBhvr>
                                      <p:to>
                                        <p:strVal val="visible"/>
                                      </p:to>
                                    </p:set>
                                    <p:animEffect transition="in" filter="wipe(left)">
                                      <p:cBhvr>
                                        <p:cTn id="79" dur="500"/>
                                        <p:tgtEl>
                                          <p:spTgt spid="1141811"/>
                                        </p:tgtEl>
                                      </p:cBhvr>
                                    </p:animEffect>
                                  </p:childTnLst>
                                  <p:subTnLst>
                                    <p:animClr clrSpc="rgb" dir="cw">
                                      <p:cBhvr override="childStyle">
                                        <p:cTn dur="1" fill="hold" display="0" masterRel="nextClick" afterEffect="1"/>
                                        <p:tgtEl>
                                          <p:spTgt spid="1141811"/>
                                        </p:tgtEl>
                                        <p:attrNameLst>
                                          <p:attrName>ppt_c</p:attrName>
                                        </p:attrNameLst>
                                      </p:cBhvr>
                                      <p:to>
                                        <a:schemeClr val="hlink"/>
                                      </p:to>
                                    </p:animClr>
                                  </p:sub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1141848"/>
                                        </p:tgtEl>
                                        <p:attrNameLst>
                                          <p:attrName>style.visibility</p:attrName>
                                        </p:attrNameLst>
                                      </p:cBhvr>
                                      <p:to>
                                        <p:strVal val="visible"/>
                                      </p:to>
                                    </p:set>
                                    <p:anim calcmode="lin" valueType="num">
                                      <p:cBhvr additive="base">
                                        <p:cTn id="84" dur="500" fill="hold"/>
                                        <p:tgtEl>
                                          <p:spTgt spid="1141848"/>
                                        </p:tgtEl>
                                        <p:attrNameLst>
                                          <p:attrName>ppt_x</p:attrName>
                                        </p:attrNameLst>
                                      </p:cBhvr>
                                      <p:tavLst>
                                        <p:tav tm="0">
                                          <p:val>
                                            <p:strVal val="#ppt_x"/>
                                          </p:val>
                                        </p:tav>
                                        <p:tav tm="100000">
                                          <p:val>
                                            <p:strVal val="#ppt_x"/>
                                          </p:val>
                                        </p:tav>
                                      </p:tavLst>
                                    </p:anim>
                                    <p:anim calcmode="lin" valueType="num">
                                      <p:cBhvr additive="base">
                                        <p:cTn id="85" dur="500" fill="hold"/>
                                        <p:tgtEl>
                                          <p:spTgt spid="1141848"/>
                                        </p:tgtEl>
                                        <p:attrNameLst>
                                          <p:attrName>ppt_y</p:attrName>
                                        </p:attrNameLst>
                                      </p:cBhvr>
                                      <p:tavLst>
                                        <p:tav tm="0">
                                          <p:val>
                                            <p:strVal val="1+#ppt_h/2"/>
                                          </p:val>
                                        </p:tav>
                                        <p:tav tm="100000">
                                          <p:val>
                                            <p:strVal val="#ppt_y"/>
                                          </p:val>
                                        </p:tav>
                                      </p:tavLst>
                                    </p:anim>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1141836"/>
                                        </p:tgtEl>
                                        <p:attrNameLst>
                                          <p:attrName>style.visibility</p:attrName>
                                        </p:attrNameLst>
                                      </p:cBhvr>
                                      <p:to>
                                        <p:strVal val="visible"/>
                                      </p:to>
                                    </p:set>
                                    <p:animEffect transition="in" filter="wipe(left)">
                                      <p:cBhvr>
                                        <p:cTn id="89" dur="500"/>
                                        <p:tgtEl>
                                          <p:spTgt spid="1141836"/>
                                        </p:tgtEl>
                                      </p:cBhvr>
                                    </p:animEffect>
                                  </p:childTnLst>
                                  <p:subTnLst>
                                    <p:animClr clrSpc="rgb" dir="cw">
                                      <p:cBhvr override="childStyle">
                                        <p:cTn dur="1" fill="hold" display="0" masterRel="nextClick" afterEffect="1"/>
                                        <p:tgtEl>
                                          <p:spTgt spid="1141836"/>
                                        </p:tgtEl>
                                        <p:attrNameLst>
                                          <p:attrName>ppt_c</p:attrName>
                                        </p:attrNameLst>
                                      </p:cBhvr>
                                      <p:to>
                                        <a:schemeClr val="hlink"/>
                                      </p:to>
                                    </p:animClr>
                                  </p:subTnLst>
                                </p:cTn>
                              </p:par>
                            </p:childTnLst>
                          </p:cTn>
                        </p:par>
                        <p:par>
                          <p:cTn id="90" fill="hold">
                            <p:stCondLst>
                              <p:cond delay="1000"/>
                            </p:stCondLst>
                            <p:childTnLst>
                              <p:par>
                                <p:cTn id="91" presetID="22" presetClass="entr" presetSubtype="8" fill="hold" nodeType="afterEffect">
                                  <p:stCondLst>
                                    <p:cond delay="0"/>
                                  </p:stCondLst>
                                  <p:childTnLst>
                                    <p:set>
                                      <p:cBhvr>
                                        <p:cTn id="92" dur="1" fill="hold">
                                          <p:stCondLst>
                                            <p:cond delay="0"/>
                                          </p:stCondLst>
                                        </p:cTn>
                                        <p:tgtEl>
                                          <p:spTgt spid="1141857"/>
                                        </p:tgtEl>
                                        <p:attrNameLst>
                                          <p:attrName>style.visibility</p:attrName>
                                        </p:attrNameLst>
                                      </p:cBhvr>
                                      <p:to>
                                        <p:strVal val="visible"/>
                                      </p:to>
                                    </p:set>
                                    <p:animEffect transition="in" filter="wipe(left)">
                                      <p:cBhvr>
                                        <p:cTn id="93" dur="500"/>
                                        <p:tgtEl>
                                          <p:spTgt spid="1141857"/>
                                        </p:tgtEl>
                                      </p:cBhvr>
                                    </p:animEffect>
                                  </p:childTnLst>
                                  <p:subTnLst>
                                    <p:animClr clrSpc="rgb" dir="cw">
                                      <p:cBhvr override="childStyle">
                                        <p:cTn dur="1" fill="hold" display="0" masterRel="nextClick" afterEffect="1"/>
                                        <p:tgtEl>
                                          <p:spTgt spid="1141857"/>
                                        </p:tgtEl>
                                        <p:attrNameLst>
                                          <p:attrName>ppt_c</p:attrName>
                                        </p:attrNameLst>
                                      </p:cBhvr>
                                      <p:to>
                                        <a:schemeClr val="hlink"/>
                                      </p:to>
                                    </p:animClr>
                                  </p:sub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41770"/>
                                        </p:tgtEl>
                                        <p:attrNameLst>
                                          <p:attrName>style.visibility</p:attrName>
                                        </p:attrNameLst>
                                      </p:cBhvr>
                                      <p:to>
                                        <p:strVal val="visible"/>
                                      </p:to>
                                    </p:set>
                                    <p:animEffect transition="in" filter="wipe(left)">
                                      <p:cBhvr>
                                        <p:cTn id="98" dur="500"/>
                                        <p:tgtEl>
                                          <p:spTgt spid="1141770"/>
                                        </p:tgtEl>
                                      </p:cBhvr>
                                    </p:animEffect>
                                  </p:childTnLst>
                                  <p:subTnLst>
                                    <p:animClr clrSpc="rgb" dir="cw">
                                      <p:cBhvr override="childStyle">
                                        <p:cTn dur="1" fill="hold" display="0" masterRel="nextClick" afterEffect="1"/>
                                        <p:tgtEl>
                                          <p:spTgt spid="1141770"/>
                                        </p:tgtEl>
                                        <p:attrNameLst>
                                          <p:attrName>ppt_c</p:attrName>
                                        </p:attrNameLst>
                                      </p:cBhvr>
                                      <p:to>
                                        <a:schemeClr val="hlink"/>
                                      </p:to>
                                    </p:animClr>
                                  </p:subTnLst>
                                </p:cTn>
                              </p:par>
                            </p:childTnLst>
                          </p:cTn>
                        </p:par>
                        <p:par>
                          <p:cTn id="99" fill="hold">
                            <p:stCondLst>
                              <p:cond delay="500"/>
                            </p:stCondLst>
                            <p:childTnLst>
                              <p:par>
                                <p:cTn id="100" presetID="22" presetClass="entr" presetSubtype="1" fill="hold" grpId="0" nodeType="afterEffect">
                                  <p:stCondLst>
                                    <p:cond delay="0"/>
                                  </p:stCondLst>
                                  <p:childTnLst>
                                    <p:set>
                                      <p:cBhvr>
                                        <p:cTn id="101" dur="1" fill="hold">
                                          <p:stCondLst>
                                            <p:cond delay="0"/>
                                          </p:stCondLst>
                                        </p:cTn>
                                        <p:tgtEl>
                                          <p:spTgt spid="1141771"/>
                                        </p:tgtEl>
                                        <p:attrNameLst>
                                          <p:attrName>style.visibility</p:attrName>
                                        </p:attrNameLst>
                                      </p:cBhvr>
                                      <p:to>
                                        <p:strVal val="visible"/>
                                      </p:to>
                                    </p:set>
                                    <p:animEffect transition="in" filter="wipe(up)">
                                      <p:cBhvr>
                                        <p:cTn id="102" dur="500"/>
                                        <p:tgtEl>
                                          <p:spTgt spid="1141771"/>
                                        </p:tgtEl>
                                      </p:cBhvr>
                                    </p:animEffect>
                                  </p:childTnLst>
                                  <p:subTnLst>
                                    <p:animClr clrSpc="rgb" dir="cw">
                                      <p:cBhvr override="childStyle">
                                        <p:cTn dur="1" fill="hold" display="0" masterRel="nextClick" afterEffect="1"/>
                                        <p:tgtEl>
                                          <p:spTgt spid="1141771"/>
                                        </p:tgtEl>
                                        <p:attrNameLst>
                                          <p:attrName>ppt_c</p:attrName>
                                        </p:attrNameLst>
                                      </p:cBhvr>
                                      <p:to>
                                        <a:schemeClr val="hlink"/>
                                      </p:to>
                                    </p:animClr>
                                  </p:subTnLst>
                                </p:cTn>
                              </p:par>
                            </p:childTnLst>
                          </p:cTn>
                        </p:par>
                        <p:par>
                          <p:cTn id="103" fill="hold">
                            <p:stCondLst>
                              <p:cond delay="1000"/>
                            </p:stCondLst>
                            <p:childTnLst>
                              <p:par>
                                <p:cTn id="104" presetID="22" presetClass="entr" presetSubtype="2" fill="hold" grpId="0" nodeType="afterEffect">
                                  <p:stCondLst>
                                    <p:cond delay="0"/>
                                  </p:stCondLst>
                                  <p:childTnLst>
                                    <p:set>
                                      <p:cBhvr>
                                        <p:cTn id="105" dur="1" fill="hold">
                                          <p:stCondLst>
                                            <p:cond delay="0"/>
                                          </p:stCondLst>
                                        </p:cTn>
                                        <p:tgtEl>
                                          <p:spTgt spid="1141772"/>
                                        </p:tgtEl>
                                        <p:attrNameLst>
                                          <p:attrName>style.visibility</p:attrName>
                                        </p:attrNameLst>
                                      </p:cBhvr>
                                      <p:to>
                                        <p:strVal val="visible"/>
                                      </p:to>
                                    </p:set>
                                    <p:animEffect transition="in" filter="wipe(right)">
                                      <p:cBhvr>
                                        <p:cTn id="106" dur="500"/>
                                        <p:tgtEl>
                                          <p:spTgt spid="1141772"/>
                                        </p:tgtEl>
                                      </p:cBhvr>
                                    </p:animEffect>
                                  </p:childTnLst>
                                  <p:subTnLst>
                                    <p:animClr clrSpc="rgb" dir="cw">
                                      <p:cBhvr override="childStyle">
                                        <p:cTn dur="1" fill="hold" display="0" masterRel="nextClick" afterEffect="1"/>
                                        <p:tgtEl>
                                          <p:spTgt spid="1141772"/>
                                        </p:tgtEl>
                                        <p:attrNameLst>
                                          <p:attrName>ppt_c</p:attrName>
                                        </p:attrNameLst>
                                      </p:cBhvr>
                                      <p:to>
                                        <a:schemeClr val="hlink"/>
                                      </p:to>
                                    </p:animClr>
                                  </p:subTnLst>
                                </p:cTn>
                              </p:par>
                            </p:childTnLst>
                          </p:cTn>
                        </p:par>
                        <p:par>
                          <p:cTn id="107" fill="hold">
                            <p:stCondLst>
                              <p:cond delay="1500"/>
                            </p:stCondLst>
                            <p:childTnLst>
                              <p:par>
                                <p:cTn id="108" presetID="22" presetClass="entr" presetSubtype="1" fill="hold" grpId="0" nodeType="afterEffect">
                                  <p:stCondLst>
                                    <p:cond delay="0"/>
                                  </p:stCondLst>
                                  <p:childTnLst>
                                    <p:set>
                                      <p:cBhvr>
                                        <p:cTn id="109" dur="1" fill="hold">
                                          <p:stCondLst>
                                            <p:cond delay="0"/>
                                          </p:stCondLst>
                                        </p:cTn>
                                        <p:tgtEl>
                                          <p:spTgt spid="1141773"/>
                                        </p:tgtEl>
                                        <p:attrNameLst>
                                          <p:attrName>style.visibility</p:attrName>
                                        </p:attrNameLst>
                                      </p:cBhvr>
                                      <p:to>
                                        <p:strVal val="visible"/>
                                      </p:to>
                                    </p:set>
                                    <p:animEffect transition="in" filter="wipe(up)">
                                      <p:cBhvr>
                                        <p:cTn id="110" dur="500"/>
                                        <p:tgtEl>
                                          <p:spTgt spid="1141773"/>
                                        </p:tgtEl>
                                      </p:cBhvr>
                                    </p:animEffect>
                                  </p:childTnLst>
                                  <p:subTnLst>
                                    <p:animClr clrSpc="rgb" dir="cw">
                                      <p:cBhvr override="childStyle">
                                        <p:cTn dur="1" fill="hold" display="0" masterRel="nextClick" afterEffect="1"/>
                                        <p:tgtEl>
                                          <p:spTgt spid="1141773"/>
                                        </p:tgtEl>
                                        <p:attrNameLst>
                                          <p:attrName>ppt_c</p:attrName>
                                        </p:attrNameLst>
                                      </p:cBhvr>
                                      <p:to>
                                        <a:schemeClr val="hlink"/>
                                      </p:to>
                                    </p:animClr>
                                  </p:subTnLst>
                                </p:cTn>
                              </p:par>
                            </p:childTnLst>
                          </p:cTn>
                        </p:par>
                        <p:par>
                          <p:cTn id="111" fill="hold">
                            <p:stCondLst>
                              <p:cond delay="2000"/>
                            </p:stCondLst>
                            <p:childTnLst>
                              <p:par>
                                <p:cTn id="112" presetID="22" presetClass="entr" presetSubtype="8" fill="hold" nodeType="afterEffect">
                                  <p:stCondLst>
                                    <p:cond delay="0"/>
                                  </p:stCondLst>
                                  <p:childTnLst>
                                    <p:set>
                                      <p:cBhvr>
                                        <p:cTn id="113" dur="1" fill="hold">
                                          <p:stCondLst>
                                            <p:cond delay="0"/>
                                          </p:stCondLst>
                                        </p:cTn>
                                        <p:tgtEl>
                                          <p:spTgt spid="1141817"/>
                                        </p:tgtEl>
                                        <p:attrNameLst>
                                          <p:attrName>style.visibility</p:attrName>
                                        </p:attrNameLst>
                                      </p:cBhvr>
                                      <p:to>
                                        <p:strVal val="visible"/>
                                      </p:to>
                                    </p:set>
                                    <p:animEffect transition="in" filter="wipe(left)">
                                      <p:cBhvr>
                                        <p:cTn id="114" dur="500"/>
                                        <p:tgtEl>
                                          <p:spTgt spid="1141817"/>
                                        </p:tgtEl>
                                      </p:cBhvr>
                                    </p:animEffect>
                                  </p:childTnLst>
                                  <p:subTnLst>
                                    <p:animClr clrSpc="rgb" dir="cw">
                                      <p:cBhvr override="childStyle">
                                        <p:cTn dur="1" fill="hold" display="0" masterRel="nextClick" afterEffect="1"/>
                                        <p:tgtEl>
                                          <p:spTgt spid="1141817"/>
                                        </p:tgtEl>
                                        <p:attrNameLst>
                                          <p:attrName>ppt_c</p:attrName>
                                        </p:attrNameLst>
                                      </p:cBhvr>
                                      <p:to>
                                        <a:schemeClr val="hlink"/>
                                      </p:to>
                                    </p:animClr>
                                  </p:sub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1141851"/>
                                        </p:tgtEl>
                                        <p:attrNameLst>
                                          <p:attrName>style.visibility</p:attrName>
                                        </p:attrNameLst>
                                      </p:cBhvr>
                                      <p:to>
                                        <p:strVal val="visible"/>
                                      </p:to>
                                    </p:set>
                                    <p:anim calcmode="lin" valueType="num">
                                      <p:cBhvr additive="base">
                                        <p:cTn id="119" dur="500" fill="hold"/>
                                        <p:tgtEl>
                                          <p:spTgt spid="1141851"/>
                                        </p:tgtEl>
                                        <p:attrNameLst>
                                          <p:attrName>ppt_x</p:attrName>
                                        </p:attrNameLst>
                                      </p:cBhvr>
                                      <p:tavLst>
                                        <p:tav tm="0">
                                          <p:val>
                                            <p:strVal val="#ppt_x"/>
                                          </p:val>
                                        </p:tav>
                                        <p:tav tm="100000">
                                          <p:val>
                                            <p:strVal val="#ppt_x"/>
                                          </p:val>
                                        </p:tav>
                                      </p:tavLst>
                                    </p:anim>
                                    <p:anim calcmode="lin" valueType="num">
                                      <p:cBhvr additive="base">
                                        <p:cTn id="120" dur="500" fill="hold"/>
                                        <p:tgtEl>
                                          <p:spTgt spid="1141851"/>
                                        </p:tgtEl>
                                        <p:attrNameLst>
                                          <p:attrName>ppt_y</p:attrName>
                                        </p:attrNameLst>
                                      </p:cBhvr>
                                      <p:tavLst>
                                        <p:tav tm="0">
                                          <p:val>
                                            <p:strVal val="1+#ppt_h/2"/>
                                          </p:val>
                                        </p:tav>
                                        <p:tav tm="100000">
                                          <p:val>
                                            <p:strVal val="#ppt_y"/>
                                          </p:val>
                                        </p:tav>
                                      </p:tavLst>
                                    </p:anim>
                                  </p:childTnLst>
                                </p:cTn>
                              </p:par>
                            </p:childTnLst>
                          </p:cTn>
                        </p:par>
                        <p:par>
                          <p:cTn id="121" fill="hold">
                            <p:stCondLst>
                              <p:cond delay="500"/>
                            </p:stCondLst>
                            <p:childTnLst>
                              <p:par>
                                <p:cTn id="122" presetID="22" presetClass="entr" presetSubtype="8" fill="hold" nodeType="afterEffect">
                                  <p:stCondLst>
                                    <p:cond delay="0"/>
                                  </p:stCondLst>
                                  <p:childTnLst>
                                    <p:set>
                                      <p:cBhvr>
                                        <p:cTn id="123" dur="1" fill="hold">
                                          <p:stCondLst>
                                            <p:cond delay="0"/>
                                          </p:stCondLst>
                                        </p:cTn>
                                        <p:tgtEl>
                                          <p:spTgt spid="1141839"/>
                                        </p:tgtEl>
                                        <p:attrNameLst>
                                          <p:attrName>style.visibility</p:attrName>
                                        </p:attrNameLst>
                                      </p:cBhvr>
                                      <p:to>
                                        <p:strVal val="visible"/>
                                      </p:to>
                                    </p:set>
                                    <p:animEffect transition="in" filter="wipe(left)">
                                      <p:cBhvr>
                                        <p:cTn id="124" dur="500"/>
                                        <p:tgtEl>
                                          <p:spTgt spid="1141839"/>
                                        </p:tgtEl>
                                      </p:cBhvr>
                                    </p:animEffect>
                                  </p:childTnLst>
                                  <p:subTnLst>
                                    <p:animClr clrSpc="rgb" dir="cw">
                                      <p:cBhvr override="childStyle">
                                        <p:cTn dur="1" fill="hold" display="0" masterRel="nextClick" afterEffect="1"/>
                                        <p:tgtEl>
                                          <p:spTgt spid="1141839"/>
                                        </p:tgtEl>
                                        <p:attrNameLst>
                                          <p:attrName>ppt_c</p:attrName>
                                        </p:attrNameLst>
                                      </p:cBhvr>
                                      <p:to>
                                        <a:schemeClr val="hlink"/>
                                      </p:to>
                                    </p:animClr>
                                  </p:subTnLst>
                                </p:cTn>
                              </p:par>
                            </p:childTnLst>
                          </p:cTn>
                        </p:par>
                        <p:par>
                          <p:cTn id="125" fill="hold">
                            <p:stCondLst>
                              <p:cond delay="1000"/>
                            </p:stCondLst>
                            <p:childTnLst>
                              <p:par>
                                <p:cTn id="126" presetID="22" presetClass="entr" presetSubtype="8" fill="hold" nodeType="afterEffect">
                                  <p:stCondLst>
                                    <p:cond delay="0"/>
                                  </p:stCondLst>
                                  <p:childTnLst>
                                    <p:set>
                                      <p:cBhvr>
                                        <p:cTn id="127" dur="1" fill="hold">
                                          <p:stCondLst>
                                            <p:cond delay="0"/>
                                          </p:stCondLst>
                                        </p:cTn>
                                        <p:tgtEl>
                                          <p:spTgt spid="1141860"/>
                                        </p:tgtEl>
                                        <p:attrNameLst>
                                          <p:attrName>style.visibility</p:attrName>
                                        </p:attrNameLst>
                                      </p:cBhvr>
                                      <p:to>
                                        <p:strVal val="visible"/>
                                      </p:to>
                                    </p:set>
                                    <p:animEffect transition="in" filter="wipe(left)">
                                      <p:cBhvr>
                                        <p:cTn id="128" dur="500"/>
                                        <p:tgtEl>
                                          <p:spTgt spid="1141860"/>
                                        </p:tgtEl>
                                      </p:cBhvr>
                                    </p:animEffect>
                                  </p:childTnLst>
                                  <p:subTnLst>
                                    <p:animClr clrSpc="rgb" dir="cw">
                                      <p:cBhvr override="childStyle">
                                        <p:cTn dur="1" fill="hold" display="0" masterRel="nextClick" afterEffect="1"/>
                                        <p:tgtEl>
                                          <p:spTgt spid="1141860"/>
                                        </p:tgtEl>
                                        <p:attrNameLst>
                                          <p:attrName>ppt_c</p:attrName>
                                        </p:attrNameLst>
                                      </p:cBhvr>
                                      <p:to>
                                        <a:schemeClr val="hlink"/>
                                      </p:to>
                                    </p:animClr>
                                  </p:sub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1141775"/>
                                        </p:tgtEl>
                                        <p:attrNameLst>
                                          <p:attrName>style.visibility</p:attrName>
                                        </p:attrNameLst>
                                      </p:cBhvr>
                                      <p:to>
                                        <p:strVal val="visible"/>
                                      </p:to>
                                    </p:set>
                                    <p:animEffect transition="in" filter="wipe(left)">
                                      <p:cBhvr>
                                        <p:cTn id="133" dur="500"/>
                                        <p:tgtEl>
                                          <p:spTgt spid="1141775"/>
                                        </p:tgtEl>
                                      </p:cBhvr>
                                    </p:animEffect>
                                  </p:childTnLst>
                                  <p:subTnLst>
                                    <p:animClr clrSpc="rgb" dir="cw">
                                      <p:cBhvr override="childStyle">
                                        <p:cTn dur="1" fill="hold" display="0" masterRel="nextClick" afterEffect="1"/>
                                        <p:tgtEl>
                                          <p:spTgt spid="1141775"/>
                                        </p:tgtEl>
                                        <p:attrNameLst>
                                          <p:attrName>ppt_c</p:attrName>
                                        </p:attrNameLst>
                                      </p:cBhvr>
                                      <p:to>
                                        <a:schemeClr val="hlink"/>
                                      </p:to>
                                    </p:animClr>
                                  </p:subTnLst>
                                </p:cTn>
                              </p:par>
                            </p:childTnLst>
                          </p:cTn>
                        </p:par>
                        <p:par>
                          <p:cTn id="134" fill="hold">
                            <p:stCondLst>
                              <p:cond delay="500"/>
                            </p:stCondLst>
                            <p:childTnLst>
                              <p:par>
                                <p:cTn id="135" presetID="22" presetClass="entr" presetSubtype="1" fill="hold" nodeType="afterEffect">
                                  <p:stCondLst>
                                    <p:cond delay="0"/>
                                  </p:stCondLst>
                                  <p:childTnLst>
                                    <p:set>
                                      <p:cBhvr>
                                        <p:cTn id="136" dur="1" fill="hold">
                                          <p:stCondLst>
                                            <p:cond delay="0"/>
                                          </p:stCondLst>
                                        </p:cTn>
                                        <p:tgtEl>
                                          <p:spTgt spid="1141803"/>
                                        </p:tgtEl>
                                        <p:attrNameLst>
                                          <p:attrName>style.visibility</p:attrName>
                                        </p:attrNameLst>
                                      </p:cBhvr>
                                      <p:to>
                                        <p:strVal val="visible"/>
                                      </p:to>
                                    </p:set>
                                    <p:animEffect transition="in" filter="wipe(up)">
                                      <p:cBhvr>
                                        <p:cTn id="137" dur="500"/>
                                        <p:tgtEl>
                                          <p:spTgt spid="1141803"/>
                                        </p:tgtEl>
                                      </p:cBhvr>
                                    </p:animEffect>
                                  </p:childTnLst>
                                  <p:subTnLst>
                                    <p:animClr clrSpc="rgb" dir="cw">
                                      <p:cBhvr override="childStyle">
                                        <p:cTn dur="1" fill="hold" display="0" masterRel="nextClick" afterEffect="1"/>
                                        <p:tgtEl>
                                          <p:spTgt spid="1141803"/>
                                        </p:tgtEl>
                                        <p:attrNameLst>
                                          <p:attrName>ppt_c</p:attrName>
                                        </p:attrNameLst>
                                      </p:cBhvr>
                                      <p:to>
                                        <a:schemeClr val="hlink"/>
                                      </p:to>
                                    </p:animClr>
                                  </p:subTnLst>
                                </p:cTn>
                              </p:par>
                            </p:childTnLst>
                          </p:cTn>
                        </p:par>
                        <p:par>
                          <p:cTn id="138" fill="hold">
                            <p:stCondLst>
                              <p:cond delay="1000"/>
                            </p:stCondLst>
                            <p:childTnLst>
                              <p:par>
                                <p:cTn id="139" presetID="22" presetClass="entr" presetSubtype="2" fill="hold" nodeType="afterEffect">
                                  <p:stCondLst>
                                    <p:cond delay="0"/>
                                  </p:stCondLst>
                                  <p:childTnLst>
                                    <p:set>
                                      <p:cBhvr>
                                        <p:cTn id="140" dur="1" fill="hold">
                                          <p:stCondLst>
                                            <p:cond delay="0"/>
                                          </p:stCondLst>
                                        </p:cTn>
                                        <p:tgtEl>
                                          <p:spTgt spid="1141781"/>
                                        </p:tgtEl>
                                        <p:attrNameLst>
                                          <p:attrName>style.visibility</p:attrName>
                                        </p:attrNameLst>
                                      </p:cBhvr>
                                      <p:to>
                                        <p:strVal val="visible"/>
                                      </p:to>
                                    </p:set>
                                    <p:animEffect transition="in" filter="wipe(right)">
                                      <p:cBhvr>
                                        <p:cTn id="141" dur="500"/>
                                        <p:tgtEl>
                                          <p:spTgt spid="1141781"/>
                                        </p:tgtEl>
                                      </p:cBhvr>
                                    </p:animEffect>
                                  </p:childTnLst>
                                  <p:subTnLst>
                                    <p:animClr clrSpc="rgb" dir="cw">
                                      <p:cBhvr override="childStyle">
                                        <p:cTn dur="1" fill="hold" display="0" masterRel="nextClick" afterEffect="1"/>
                                        <p:tgtEl>
                                          <p:spTgt spid="1141781"/>
                                        </p:tgtEl>
                                        <p:attrNameLst>
                                          <p:attrName>ppt_c</p:attrName>
                                        </p:attrNameLst>
                                      </p:cBhvr>
                                      <p:to>
                                        <a:schemeClr val="hlink"/>
                                      </p:to>
                                    </p:animClr>
                                  </p:subTnLst>
                                </p:cTn>
                              </p:par>
                            </p:childTnLst>
                          </p:cTn>
                        </p:par>
                        <p:par>
                          <p:cTn id="142" fill="hold">
                            <p:stCondLst>
                              <p:cond delay="1500"/>
                            </p:stCondLst>
                            <p:childTnLst>
                              <p:par>
                                <p:cTn id="143" presetID="22" presetClass="entr" presetSubtype="1" fill="hold" nodeType="afterEffect">
                                  <p:stCondLst>
                                    <p:cond delay="0"/>
                                  </p:stCondLst>
                                  <p:childTnLst>
                                    <p:set>
                                      <p:cBhvr>
                                        <p:cTn id="144" dur="1" fill="hold">
                                          <p:stCondLst>
                                            <p:cond delay="0"/>
                                          </p:stCondLst>
                                        </p:cTn>
                                        <p:tgtEl>
                                          <p:spTgt spid="1141807"/>
                                        </p:tgtEl>
                                        <p:attrNameLst>
                                          <p:attrName>style.visibility</p:attrName>
                                        </p:attrNameLst>
                                      </p:cBhvr>
                                      <p:to>
                                        <p:strVal val="visible"/>
                                      </p:to>
                                    </p:set>
                                    <p:animEffect transition="in" filter="wipe(up)">
                                      <p:cBhvr>
                                        <p:cTn id="145" dur="500"/>
                                        <p:tgtEl>
                                          <p:spTgt spid="1141807"/>
                                        </p:tgtEl>
                                      </p:cBhvr>
                                    </p:animEffect>
                                  </p:childTnLst>
                                  <p:subTnLst>
                                    <p:animClr clrSpc="rgb" dir="cw">
                                      <p:cBhvr override="childStyle">
                                        <p:cTn dur="1" fill="hold" display="0" masterRel="nextClick" afterEffect="1"/>
                                        <p:tgtEl>
                                          <p:spTgt spid="1141807"/>
                                        </p:tgtEl>
                                        <p:attrNameLst>
                                          <p:attrName>ppt_c</p:attrName>
                                        </p:attrNameLst>
                                      </p:cBhvr>
                                      <p:to>
                                        <a:schemeClr val="hlink"/>
                                      </p:to>
                                    </p:animClr>
                                  </p:subTnLst>
                                </p:cTn>
                              </p:par>
                            </p:childTnLst>
                          </p:cTn>
                        </p:par>
                        <p:par>
                          <p:cTn id="146" fill="hold">
                            <p:stCondLst>
                              <p:cond delay="2000"/>
                            </p:stCondLst>
                            <p:childTnLst>
                              <p:par>
                                <p:cTn id="147" presetID="22" presetClass="entr" presetSubtype="8" fill="hold" nodeType="afterEffect">
                                  <p:stCondLst>
                                    <p:cond delay="0"/>
                                  </p:stCondLst>
                                  <p:childTnLst>
                                    <p:set>
                                      <p:cBhvr>
                                        <p:cTn id="148" dur="1" fill="hold">
                                          <p:stCondLst>
                                            <p:cond delay="0"/>
                                          </p:stCondLst>
                                        </p:cTn>
                                        <p:tgtEl>
                                          <p:spTgt spid="1141820"/>
                                        </p:tgtEl>
                                        <p:attrNameLst>
                                          <p:attrName>style.visibility</p:attrName>
                                        </p:attrNameLst>
                                      </p:cBhvr>
                                      <p:to>
                                        <p:strVal val="visible"/>
                                      </p:to>
                                    </p:set>
                                    <p:animEffect transition="in" filter="wipe(left)">
                                      <p:cBhvr>
                                        <p:cTn id="149" dur="500"/>
                                        <p:tgtEl>
                                          <p:spTgt spid="1141820"/>
                                        </p:tgtEl>
                                      </p:cBhvr>
                                    </p:animEffect>
                                  </p:childTnLst>
                                  <p:subTnLst>
                                    <p:animClr clrSpc="rgb" dir="cw">
                                      <p:cBhvr override="childStyle">
                                        <p:cTn dur="1" fill="hold" display="0" masterRel="nextClick" afterEffect="1"/>
                                        <p:tgtEl>
                                          <p:spTgt spid="1141820"/>
                                        </p:tgtEl>
                                        <p:attrNameLst>
                                          <p:attrName>ppt_c</p:attrName>
                                        </p:attrNameLst>
                                      </p:cBhvr>
                                      <p:to>
                                        <a:schemeClr val="hlink"/>
                                      </p:to>
                                    </p:animClr>
                                  </p:subTnLst>
                                </p:cTn>
                              </p:par>
                            </p:childTnLst>
                          </p:cTn>
                        </p:par>
                      </p:childTnLst>
                    </p:cTn>
                  </p:par>
                  <p:par>
                    <p:cTn id="150" fill="hold">
                      <p:stCondLst>
                        <p:cond delay="indefinite"/>
                      </p:stCondLst>
                      <p:childTnLst>
                        <p:par>
                          <p:cTn id="151" fill="hold">
                            <p:stCondLst>
                              <p:cond delay="0"/>
                            </p:stCondLst>
                            <p:childTnLst>
                              <p:par>
                                <p:cTn id="152" presetID="2" presetClass="entr" presetSubtype="4" fill="hold" nodeType="clickEffect">
                                  <p:stCondLst>
                                    <p:cond delay="0"/>
                                  </p:stCondLst>
                                  <p:childTnLst>
                                    <p:set>
                                      <p:cBhvr>
                                        <p:cTn id="153" dur="1" fill="hold">
                                          <p:stCondLst>
                                            <p:cond delay="0"/>
                                          </p:stCondLst>
                                        </p:cTn>
                                        <p:tgtEl>
                                          <p:spTgt spid="1141890"/>
                                        </p:tgtEl>
                                        <p:attrNameLst>
                                          <p:attrName>style.visibility</p:attrName>
                                        </p:attrNameLst>
                                      </p:cBhvr>
                                      <p:to>
                                        <p:strVal val="visible"/>
                                      </p:to>
                                    </p:set>
                                    <p:anim calcmode="lin" valueType="num">
                                      <p:cBhvr additive="base">
                                        <p:cTn id="154" dur="500" fill="hold"/>
                                        <p:tgtEl>
                                          <p:spTgt spid="1141890"/>
                                        </p:tgtEl>
                                        <p:attrNameLst>
                                          <p:attrName>ppt_x</p:attrName>
                                        </p:attrNameLst>
                                      </p:cBhvr>
                                      <p:tavLst>
                                        <p:tav tm="0">
                                          <p:val>
                                            <p:strVal val="#ppt_x"/>
                                          </p:val>
                                        </p:tav>
                                        <p:tav tm="100000">
                                          <p:val>
                                            <p:strVal val="#ppt_x"/>
                                          </p:val>
                                        </p:tav>
                                      </p:tavLst>
                                    </p:anim>
                                    <p:anim calcmode="lin" valueType="num">
                                      <p:cBhvr additive="base">
                                        <p:cTn id="155" dur="500" fill="hold"/>
                                        <p:tgtEl>
                                          <p:spTgt spid="1141890"/>
                                        </p:tgtEl>
                                        <p:attrNameLst>
                                          <p:attrName>ppt_y</p:attrName>
                                        </p:attrNameLst>
                                      </p:cBhvr>
                                      <p:tavLst>
                                        <p:tav tm="0">
                                          <p:val>
                                            <p:strVal val="1+#ppt_h/2"/>
                                          </p:val>
                                        </p:tav>
                                        <p:tav tm="100000">
                                          <p:val>
                                            <p:strVal val="#ppt_y"/>
                                          </p:val>
                                        </p:tav>
                                      </p:tavLst>
                                    </p:anim>
                                  </p:childTnLst>
                                </p:cTn>
                              </p:par>
                            </p:childTnLst>
                          </p:cTn>
                        </p:par>
                        <p:par>
                          <p:cTn id="156" fill="hold">
                            <p:stCondLst>
                              <p:cond delay="500"/>
                            </p:stCondLst>
                            <p:childTnLst>
                              <p:par>
                                <p:cTn id="157" presetID="22" presetClass="entr" presetSubtype="8" fill="hold" nodeType="afterEffect">
                                  <p:stCondLst>
                                    <p:cond delay="0"/>
                                  </p:stCondLst>
                                  <p:childTnLst>
                                    <p:set>
                                      <p:cBhvr>
                                        <p:cTn id="158" dur="1" fill="hold">
                                          <p:stCondLst>
                                            <p:cond delay="0"/>
                                          </p:stCondLst>
                                        </p:cTn>
                                        <p:tgtEl>
                                          <p:spTgt spid="1141842"/>
                                        </p:tgtEl>
                                        <p:attrNameLst>
                                          <p:attrName>style.visibility</p:attrName>
                                        </p:attrNameLst>
                                      </p:cBhvr>
                                      <p:to>
                                        <p:strVal val="visible"/>
                                      </p:to>
                                    </p:set>
                                    <p:animEffect transition="in" filter="wipe(left)">
                                      <p:cBhvr>
                                        <p:cTn id="159" dur="500"/>
                                        <p:tgtEl>
                                          <p:spTgt spid="1141842"/>
                                        </p:tgtEl>
                                      </p:cBhvr>
                                    </p:animEffect>
                                  </p:childTnLst>
                                  <p:subTnLst>
                                    <p:animClr clrSpc="rgb" dir="cw">
                                      <p:cBhvr override="childStyle">
                                        <p:cTn dur="1" fill="hold" display="0" masterRel="nextClick" afterEffect="1"/>
                                        <p:tgtEl>
                                          <p:spTgt spid="1141842"/>
                                        </p:tgtEl>
                                        <p:attrNameLst>
                                          <p:attrName>ppt_c</p:attrName>
                                        </p:attrNameLst>
                                      </p:cBhvr>
                                      <p:to>
                                        <a:schemeClr val="hlink"/>
                                      </p:to>
                                    </p:animClr>
                                  </p:subTnLst>
                                </p:cTn>
                              </p:par>
                            </p:childTnLst>
                          </p:cTn>
                        </p:par>
                        <p:par>
                          <p:cTn id="160" fill="hold">
                            <p:stCondLst>
                              <p:cond delay="1000"/>
                            </p:stCondLst>
                            <p:childTnLst>
                              <p:par>
                                <p:cTn id="161" presetID="22" presetClass="entr" presetSubtype="8" fill="hold" nodeType="afterEffect">
                                  <p:stCondLst>
                                    <p:cond delay="0"/>
                                  </p:stCondLst>
                                  <p:childTnLst>
                                    <p:set>
                                      <p:cBhvr>
                                        <p:cTn id="162" dur="1" fill="hold">
                                          <p:stCondLst>
                                            <p:cond delay="0"/>
                                          </p:stCondLst>
                                        </p:cTn>
                                        <p:tgtEl>
                                          <p:spTgt spid="1141863"/>
                                        </p:tgtEl>
                                        <p:attrNameLst>
                                          <p:attrName>style.visibility</p:attrName>
                                        </p:attrNameLst>
                                      </p:cBhvr>
                                      <p:to>
                                        <p:strVal val="visible"/>
                                      </p:to>
                                    </p:set>
                                    <p:animEffect transition="in" filter="wipe(left)">
                                      <p:cBhvr>
                                        <p:cTn id="163" dur="500"/>
                                        <p:tgtEl>
                                          <p:spTgt spid="1141863"/>
                                        </p:tgtEl>
                                      </p:cBhvr>
                                    </p:animEffect>
                                  </p:childTnLst>
                                  <p:subTnLst>
                                    <p:animClr clrSpc="rgb" dir="cw">
                                      <p:cBhvr override="childStyle">
                                        <p:cTn dur="1" fill="hold" display="0" masterRel="nextClick" afterEffect="1"/>
                                        <p:tgtEl>
                                          <p:spTgt spid="1141863"/>
                                        </p:tgtEl>
                                        <p:attrNameLst>
                                          <p:attrName>ppt_c</p:attrName>
                                        </p:attrNameLst>
                                      </p:cBhvr>
                                      <p:to>
                                        <a:schemeClr val="hlink"/>
                                      </p:to>
                                    </p:animClr>
                                  </p:sub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1141832"/>
                                        </p:tgtEl>
                                        <p:attrNameLst>
                                          <p:attrName>style.visibility</p:attrName>
                                        </p:attrNameLst>
                                      </p:cBhvr>
                                      <p:to>
                                        <p:strVal val="visible"/>
                                      </p:to>
                                    </p:set>
                                    <p:animEffect transition="in" filter="wipe(left)">
                                      <p:cBhvr>
                                        <p:cTn id="168" dur="500"/>
                                        <p:tgtEl>
                                          <p:spTgt spid="1141832"/>
                                        </p:tgtEl>
                                      </p:cBhvr>
                                    </p:animEffect>
                                  </p:childTnLst>
                                  <p:subTnLst>
                                    <p:animClr clrSpc="rgb" dir="cw">
                                      <p:cBhvr override="childStyle">
                                        <p:cTn dur="1" fill="hold" display="0" masterRel="nextClick" afterEffect="1"/>
                                        <p:tgtEl>
                                          <p:spTgt spid="1141832"/>
                                        </p:tgtEl>
                                        <p:attrNameLst>
                                          <p:attrName>ppt_c</p:attrName>
                                        </p:attrNameLst>
                                      </p:cBhvr>
                                      <p:to>
                                        <a:schemeClr val="hlink"/>
                                      </p:to>
                                    </p:animClr>
                                  </p:subTnLst>
                                </p:cTn>
                              </p:par>
                            </p:childTnLst>
                          </p:cTn>
                        </p:par>
                        <p:par>
                          <p:cTn id="169" fill="hold">
                            <p:stCondLst>
                              <p:cond delay="500"/>
                            </p:stCondLst>
                            <p:childTnLst>
                              <p:par>
                                <p:cTn id="170" presetID="22" presetClass="entr" presetSubtype="1" fill="hold" grpId="0" nodeType="afterEffect">
                                  <p:stCondLst>
                                    <p:cond delay="0"/>
                                  </p:stCondLst>
                                  <p:childTnLst>
                                    <p:set>
                                      <p:cBhvr>
                                        <p:cTn id="171" dur="1" fill="hold">
                                          <p:stCondLst>
                                            <p:cond delay="0"/>
                                          </p:stCondLst>
                                        </p:cTn>
                                        <p:tgtEl>
                                          <p:spTgt spid="1141831"/>
                                        </p:tgtEl>
                                        <p:attrNameLst>
                                          <p:attrName>style.visibility</p:attrName>
                                        </p:attrNameLst>
                                      </p:cBhvr>
                                      <p:to>
                                        <p:strVal val="visible"/>
                                      </p:to>
                                    </p:set>
                                    <p:animEffect transition="in" filter="wipe(up)">
                                      <p:cBhvr>
                                        <p:cTn id="172" dur="500"/>
                                        <p:tgtEl>
                                          <p:spTgt spid="1141831"/>
                                        </p:tgtEl>
                                      </p:cBhvr>
                                    </p:animEffect>
                                  </p:childTnLst>
                                  <p:subTnLst>
                                    <p:animClr clrSpc="rgb" dir="cw">
                                      <p:cBhvr override="childStyle">
                                        <p:cTn dur="1" fill="hold" display="0" masterRel="nextClick" afterEffect="1"/>
                                        <p:tgtEl>
                                          <p:spTgt spid="1141831"/>
                                        </p:tgtEl>
                                        <p:attrNameLst>
                                          <p:attrName>ppt_c</p:attrName>
                                        </p:attrNameLst>
                                      </p:cBhvr>
                                      <p:to>
                                        <a:schemeClr val="hlink"/>
                                      </p:to>
                                    </p:animClr>
                                  </p:subTnLst>
                                </p:cTn>
                              </p:par>
                            </p:childTnLst>
                          </p:cTn>
                        </p:par>
                        <p:par>
                          <p:cTn id="173" fill="hold">
                            <p:stCondLst>
                              <p:cond delay="1000"/>
                            </p:stCondLst>
                            <p:childTnLst>
                              <p:par>
                                <p:cTn id="174" presetID="22" presetClass="entr" presetSubtype="2" fill="hold" grpId="0" nodeType="afterEffect">
                                  <p:stCondLst>
                                    <p:cond delay="0"/>
                                  </p:stCondLst>
                                  <p:childTnLst>
                                    <p:set>
                                      <p:cBhvr>
                                        <p:cTn id="175" dur="1" fill="hold">
                                          <p:stCondLst>
                                            <p:cond delay="0"/>
                                          </p:stCondLst>
                                        </p:cTn>
                                        <p:tgtEl>
                                          <p:spTgt spid="1141830"/>
                                        </p:tgtEl>
                                        <p:attrNameLst>
                                          <p:attrName>style.visibility</p:attrName>
                                        </p:attrNameLst>
                                      </p:cBhvr>
                                      <p:to>
                                        <p:strVal val="visible"/>
                                      </p:to>
                                    </p:set>
                                    <p:animEffect transition="in" filter="wipe(right)">
                                      <p:cBhvr>
                                        <p:cTn id="176" dur="500"/>
                                        <p:tgtEl>
                                          <p:spTgt spid="1141830"/>
                                        </p:tgtEl>
                                      </p:cBhvr>
                                    </p:animEffect>
                                  </p:childTnLst>
                                  <p:subTnLst>
                                    <p:animClr clrSpc="rgb" dir="cw">
                                      <p:cBhvr override="childStyle">
                                        <p:cTn dur="1" fill="hold" display="0" masterRel="nextClick" afterEffect="1"/>
                                        <p:tgtEl>
                                          <p:spTgt spid="1141830"/>
                                        </p:tgtEl>
                                        <p:attrNameLst>
                                          <p:attrName>ppt_c</p:attrName>
                                        </p:attrNameLst>
                                      </p:cBhvr>
                                      <p:to>
                                        <a:schemeClr val="hlink"/>
                                      </p:to>
                                    </p:animClr>
                                  </p:subTnLst>
                                </p:cTn>
                              </p:par>
                            </p:childTnLst>
                          </p:cTn>
                        </p:par>
                        <p:par>
                          <p:cTn id="177" fill="hold">
                            <p:stCondLst>
                              <p:cond delay="1500"/>
                            </p:stCondLst>
                            <p:childTnLst>
                              <p:par>
                                <p:cTn id="178" presetID="22" presetClass="entr" presetSubtype="4" fill="hold" grpId="0" nodeType="afterEffect">
                                  <p:stCondLst>
                                    <p:cond delay="0"/>
                                  </p:stCondLst>
                                  <p:childTnLst>
                                    <p:set>
                                      <p:cBhvr>
                                        <p:cTn id="179" dur="1" fill="hold">
                                          <p:stCondLst>
                                            <p:cond delay="0"/>
                                          </p:stCondLst>
                                        </p:cTn>
                                        <p:tgtEl>
                                          <p:spTgt spid="1141829"/>
                                        </p:tgtEl>
                                        <p:attrNameLst>
                                          <p:attrName>style.visibility</p:attrName>
                                        </p:attrNameLst>
                                      </p:cBhvr>
                                      <p:to>
                                        <p:strVal val="visible"/>
                                      </p:to>
                                    </p:set>
                                    <p:animEffect transition="in" filter="wipe(down)">
                                      <p:cBhvr>
                                        <p:cTn id="180" dur="500"/>
                                        <p:tgtEl>
                                          <p:spTgt spid="1141829"/>
                                        </p:tgtEl>
                                      </p:cBhvr>
                                    </p:animEffect>
                                  </p:childTnLst>
                                  <p:subTnLst>
                                    <p:animClr clrSpc="rgb" dir="cw">
                                      <p:cBhvr override="childStyle">
                                        <p:cTn dur="1" fill="hold" display="0" masterRel="nextClick" afterEffect="1"/>
                                        <p:tgtEl>
                                          <p:spTgt spid="1141829"/>
                                        </p:tgtEl>
                                        <p:attrNameLst>
                                          <p:attrName>ppt_c</p:attrName>
                                        </p:attrNameLst>
                                      </p:cBhvr>
                                      <p:to>
                                        <a:schemeClr val="hlink"/>
                                      </p:to>
                                    </p:animClr>
                                  </p:subTnLst>
                                </p:cTn>
                              </p:par>
                            </p:childTnLst>
                          </p:cTn>
                        </p:par>
                        <p:par>
                          <p:cTn id="181" fill="hold">
                            <p:stCondLst>
                              <p:cond delay="2000"/>
                            </p:stCondLst>
                            <p:childTnLst>
                              <p:par>
                                <p:cTn id="182" presetID="22" presetClass="entr" presetSubtype="8" fill="hold" nodeType="afterEffect">
                                  <p:stCondLst>
                                    <p:cond delay="0"/>
                                  </p:stCondLst>
                                  <p:childTnLst>
                                    <p:set>
                                      <p:cBhvr>
                                        <p:cTn id="183" dur="1" fill="hold">
                                          <p:stCondLst>
                                            <p:cond delay="0"/>
                                          </p:stCondLst>
                                        </p:cTn>
                                        <p:tgtEl>
                                          <p:spTgt spid="1141826"/>
                                        </p:tgtEl>
                                        <p:attrNameLst>
                                          <p:attrName>style.visibility</p:attrName>
                                        </p:attrNameLst>
                                      </p:cBhvr>
                                      <p:to>
                                        <p:strVal val="visible"/>
                                      </p:to>
                                    </p:set>
                                    <p:animEffect transition="in" filter="wipe(left)">
                                      <p:cBhvr>
                                        <p:cTn id="184" dur="500"/>
                                        <p:tgtEl>
                                          <p:spTgt spid="1141826"/>
                                        </p:tgtEl>
                                      </p:cBhvr>
                                    </p:animEffect>
                                  </p:childTnLst>
                                  <p:subTnLst>
                                    <p:animClr clrSpc="rgb" dir="cw">
                                      <p:cBhvr override="childStyle">
                                        <p:cTn dur="1" fill="hold" display="0" masterRel="nextClick" afterEffect="1"/>
                                        <p:tgtEl>
                                          <p:spTgt spid="1141826"/>
                                        </p:tgtEl>
                                        <p:attrNameLst>
                                          <p:attrName>ppt_c</p:attrName>
                                        </p:attrNameLst>
                                      </p:cBhvr>
                                      <p:to>
                                        <a:schemeClr val="hlink"/>
                                      </p:to>
                                    </p:animClr>
                                  </p:sub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grpId="0" nodeType="clickEffect">
                                  <p:stCondLst>
                                    <p:cond delay="0"/>
                                  </p:stCondLst>
                                  <p:childTnLst>
                                    <p:set>
                                      <p:cBhvr>
                                        <p:cTn id="188" dur="1" fill="hold">
                                          <p:stCondLst>
                                            <p:cond delay="0"/>
                                          </p:stCondLst>
                                        </p:cTn>
                                        <p:tgtEl>
                                          <p:spTgt spid="1141895"/>
                                        </p:tgtEl>
                                        <p:attrNameLst>
                                          <p:attrName>style.visibility</p:attrName>
                                        </p:attrNameLst>
                                      </p:cBhvr>
                                      <p:to>
                                        <p:strVal val="visible"/>
                                      </p:to>
                                    </p:set>
                                    <p:animEffect transition="in" filter="wipe(down)">
                                      <p:cBhvr>
                                        <p:cTn id="189" dur="500"/>
                                        <p:tgtEl>
                                          <p:spTgt spid="1141895"/>
                                        </p:tgtEl>
                                      </p:cBhvr>
                                    </p:animEffect>
                                  </p:childTnLst>
                                  <p:subTnLst>
                                    <p:set>
                                      <p:cBhvr override="childStyle">
                                        <p:cTn dur="1" fill="hold" display="0" masterRel="nextClick" afterEffect="1"/>
                                        <p:tgtEl>
                                          <p:spTgt spid="1141895"/>
                                        </p:tgtEl>
                                        <p:attrNameLst>
                                          <p:attrName>style.visibility</p:attrName>
                                        </p:attrNameLst>
                                      </p:cBhvr>
                                      <p:to>
                                        <p:strVal val="hidden"/>
                                      </p:to>
                                    </p:set>
                                  </p:subTnLst>
                                </p:cTn>
                              </p:par>
                            </p:childTnLst>
                          </p:cTn>
                        </p:par>
                      </p:childTnLst>
                    </p:cTn>
                  </p:par>
                  <p:par>
                    <p:cTn id="190" fill="hold">
                      <p:stCondLst>
                        <p:cond delay="indefinite"/>
                      </p:stCondLst>
                      <p:childTnLst>
                        <p:par>
                          <p:cTn id="191" fill="hold">
                            <p:stCondLst>
                              <p:cond delay="0"/>
                            </p:stCondLst>
                            <p:childTnLst>
                              <p:par>
                                <p:cTn id="192" presetID="22" presetClass="entr" presetSubtype="4" fill="hold" grpId="0" nodeType="clickEffect">
                                  <p:stCondLst>
                                    <p:cond delay="0"/>
                                  </p:stCondLst>
                                  <p:childTnLst>
                                    <p:set>
                                      <p:cBhvr>
                                        <p:cTn id="193" dur="1" fill="hold">
                                          <p:stCondLst>
                                            <p:cond delay="0"/>
                                          </p:stCondLst>
                                        </p:cTn>
                                        <p:tgtEl>
                                          <p:spTgt spid="1141896"/>
                                        </p:tgtEl>
                                        <p:attrNameLst>
                                          <p:attrName>style.visibility</p:attrName>
                                        </p:attrNameLst>
                                      </p:cBhvr>
                                      <p:to>
                                        <p:strVal val="visible"/>
                                      </p:to>
                                    </p:set>
                                    <p:animEffect transition="in" filter="wipe(down)">
                                      <p:cBhvr>
                                        <p:cTn id="194" dur="500"/>
                                        <p:tgtEl>
                                          <p:spTgt spid="1141896"/>
                                        </p:tgtEl>
                                      </p:cBhvr>
                                    </p:animEffect>
                                  </p:childTnLst>
                                  <p:subTnLst>
                                    <p:set>
                                      <p:cBhvr override="childStyle">
                                        <p:cTn dur="1" fill="hold" display="0" masterRel="nextClick" afterEffect="1"/>
                                        <p:tgtEl>
                                          <p:spTgt spid="1141896"/>
                                        </p:tgtEl>
                                        <p:attrNameLst>
                                          <p:attrName>style.visibility</p:attrName>
                                        </p:attrNameLst>
                                      </p:cBhvr>
                                      <p:to>
                                        <p:strVal val="hidden"/>
                                      </p:to>
                                    </p:set>
                                  </p:subTnLst>
                                </p:cTn>
                              </p:par>
                            </p:childTnLst>
                          </p:cTn>
                        </p:par>
                      </p:childTnLst>
                    </p:cTn>
                  </p:par>
                  <p:par>
                    <p:cTn id="195" fill="hold">
                      <p:stCondLst>
                        <p:cond delay="indefinite"/>
                      </p:stCondLst>
                      <p:childTnLst>
                        <p:par>
                          <p:cTn id="196" fill="hold">
                            <p:stCondLst>
                              <p:cond delay="0"/>
                            </p:stCondLst>
                            <p:childTnLst>
                              <p:par>
                                <p:cTn id="197" presetID="3" presetClass="entr" presetSubtype="10" fill="hold" nodeType="clickEffect">
                                  <p:stCondLst>
                                    <p:cond delay="0"/>
                                  </p:stCondLst>
                                  <p:childTnLst>
                                    <p:set>
                                      <p:cBhvr>
                                        <p:cTn id="198" dur="1" fill="hold">
                                          <p:stCondLst>
                                            <p:cond delay="0"/>
                                          </p:stCondLst>
                                        </p:cTn>
                                        <p:tgtEl>
                                          <p:spTgt spid="1141866"/>
                                        </p:tgtEl>
                                        <p:attrNameLst>
                                          <p:attrName>style.visibility</p:attrName>
                                        </p:attrNameLst>
                                      </p:cBhvr>
                                      <p:to>
                                        <p:strVal val="visible"/>
                                      </p:to>
                                    </p:set>
                                    <p:animEffect transition="in" filter="blinds(horizontal)">
                                      <p:cBhvr>
                                        <p:cTn id="199" dur="500"/>
                                        <p:tgtEl>
                                          <p:spTgt spid="1141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1762" grpId="0" animBg="1" autoUpdateAnimBg="0"/>
      <p:bldP spid="1141765" grpId="0" animBg="1"/>
      <p:bldP spid="1141766" grpId="0" animBg="1"/>
      <p:bldP spid="1141767" grpId="0" animBg="1"/>
      <p:bldP spid="1141768" grpId="0" animBg="1"/>
      <p:bldP spid="1141769" grpId="0" animBg="1" autoUpdateAnimBg="0"/>
      <p:bldP spid="1141770" grpId="0" animBg="1"/>
      <p:bldP spid="1141771" grpId="0" animBg="1"/>
      <p:bldP spid="1141772" grpId="0" animBg="1"/>
      <p:bldP spid="1141773" grpId="0" animBg="1"/>
      <p:bldP spid="1141774" grpId="0" animBg="1" autoUpdateAnimBg="0"/>
      <p:bldP spid="1141810" grpId="0" animBg="1" autoUpdateAnimBg="0"/>
      <p:bldP spid="1141829" grpId="0" animBg="1"/>
      <p:bldP spid="1141830" grpId="0" animBg="1"/>
      <p:bldP spid="1141831" grpId="0" animBg="1"/>
      <p:bldP spid="1141832" grpId="0" animBg="1"/>
      <p:bldP spid="1141893" grpId="0" animBg="1" autoUpdateAnimBg="0"/>
      <p:bldP spid="1141894" grpId="0" animBg="1" autoUpdateAnimBg="0"/>
      <p:bldP spid="1141895" grpId="0" animBg="1" autoUpdateAnimBg="0"/>
      <p:bldP spid="1141896"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Grp="1" noChangeArrowheads="1"/>
          </p:cNvSpPr>
          <p:nvPr>
            <p:ph type="title"/>
          </p:nvPr>
        </p:nvSpPr>
        <p:spPr/>
        <p:txBody>
          <a:bodyPr/>
          <a:lstStyle/>
          <a:p>
            <a:r>
              <a:rPr lang="zh-CN" altLang="en-US" sz="3200" b="0" dirty="0"/>
              <a:t>多级反馈队列调度算法</a:t>
            </a:r>
          </a:p>
        </p:txBody>
      </p:sp>
      <p:sp>
        <p:nvSpPr>
          <p:cNvPr id="1143811" name="Rectangle 3"/>
          <p:cNvSpPr>
            <a:spLocks noGrp="1" noChangeArrowheads="1"/>
          </p:cNvSpPr>
          <p:nvPr>
            <p:ph type="body" idx="1"/>
          </p:nvPr>
        </p:nvSpPr>
        <p:spPr>
          <a:xfrm>
            <a:off x="1828800" y="1447800"/>
            <a:ext cx="8458200" cy="5638800"/>
          </a:xfrm>
        </p:spPr>
        <p:txBody>
          <a:bodyPr/>
          <a:lstStyle/>
          <a:p>
            <a:pPr lvl="1"/>
            <a:r>
              <a:rPr lang="zh-CN" altLang="en-US" sz="3100" b="1">
                <a:ea typeface="楷体_GB2312" pitchFamily="49" charset="-122"/>
              </a:rPr>
              <a:t>注意</a:t>
            </a:r>
            <a:endParaRPr lang="zh-CN" altLang="en-US" sz="3100" b="1">
              <a:solidFill>
                <a:srgbClr val="D20000"/>
              </a:solidFill>
              <a:ea typeface="楷体_GB2312" pitchFamily="49" charset="-122"/>
            </a:endParaRPr>
          </a:p>
          <a:p>
            <a:pPr lvl="2"/>
            <a:r>
              <a:rPr lang="zh-CN" altLang="en-US" sz="2600" b="1">
                <a:ea typeface="楷体_GB2312" pitchFamily="49" charset="-122"/>
              </a:rPr>
              <a:t>仅当第</a:t>
            </a:r>
            <a:r>
              <a:rPr lang="en-US" altLang="zh-CN" sz="2600" b="1">
                <a:ea typeface="楷体_GB2312" pitchFamily="49" charset="-122"/>
              </a:rPr>
              <a:t>1~(i-1) </a:t>
            </a:r>
            <a:r>
              <a:rPr lang="zh-CN" altLang="en-US" sz="2600" b="1">
                <a:ea typeface="楷体_GB2312" pitchFamily="49" charset="-122"/>
              </a:rPr>
              <a:t>队列均空时，才会调度第</a:t>
            </a:r>
            <a:r>
              <a:rPr lang="en-US" altLang="zh-CN" sz="2600" b="1">
                <a:ea typeface="楷体_GB2312" pitchFamily="49" charset="-122"/>
              </a:rPr>
              <a:t>i</a:t>
            </a:r>
            <a:r>
              <a:rPr lang="zh-CN" altLang="en-US" sz="2600" b="1">
                <a:ea typeface="楷体_GB2312" pitchFamily="49" charset="-122"/>
              </a:rPr>
              <a:t>队列中的进程运行</a:t>
            </a:r>
          </a:p>
          <a:p>
            <a:pPr lvl="2"/>
            <a:r>
              <a:rPr lang="zh-CN" altLang="en-US" sz="2600" b="1">
                <a:solidFill>
                  <a:srgbClr val="990000"/>
                </a:solidFill>
                <a:ea typeface="楷体_GB2312" pitchFamily="49" charset="-122"/>
              </a:rPr>
              <a:t>第</a:t>
            </a:r>
            <a:r>
              <a:rPr lang="en-US" altLang="zh-CN" sz="2600" b="1">
                <a:solidFill>
                  <a:srgbClr val="990000"/>
                </a:solidFill>
                <a:ea typeface="楷体_GB2312" pitchFamily="49" charset="-122"/>
              </a:rPr>
              <a:t>i</a:t>
            </a:r>
            <a:r>
              <a:rPr lang="zh-CN" altLang="en-US" sz="2600" b="1">
                <a:solidFill>
                  <a:srgbClr val="990000"/>
                </a:solidFill>
                <a:ea typeface="楷体_GB2312" pitchFamily="49" charset="-122"/>
              </a:rPr>
              <a:t>队列</a:t>
            </a:r>
            <a:r>
              <a:rPr lang="zh-CN" altLang="en-US" sz="2600" b="1">
                <a:ea typeface="楷体_GB2312" pitchFamily="49" charset="-122"/>
              </a:rPr>
              <a:t>中某进程正在运行时，又有</a:t>
            </a:r>
            <a:r>
              <a:rPr lang="zh-CN" altLang="en-US" sz="2600" b="1">
                <a:solidFill>
                  <a:srgbClr val="990000"/>
                </a:solidFill>
                <a:ea typeface="楷体_GB2312" pitchFamily="49" charset="-122"/>
              </a:rPr>
              <a:t>新</a:t>
            </a:r>
            <a:r>
              <a:rPr lang="zh-CN" altLang="en-US" sz="2600" b="1">
                <a:ea typeface="楷体_GB2312" pitchFamily="49" charset="-122"/>
              </a:rPr>
              <a:t>进程进入</a:t>
            </a:r>
            <a:r>
              <a:rPr lang="zh-CN" altLang="en-US" sz="2600" b="1">
                <a:solidFill>
                  <a:srgbClr val="990000"/>
                </a:solidFill>
                <a:ea typeface="楷体_GB2312" pitchFamily="49" charset="-122"/>
              </a:rPr>
              <a:t>优先权较高</a:t>
            </a:r>
            <a:r>
              <a:rPr lang="zh-CN" altLang="en-US" sz="2600" b="1">
                <a:ea typeface="楷体_GB2312" pitchFamily="49" charset="-122"/>
              </a:rPr>
              <a:t>的队列</a:t>
            </a:r>
            <a:r>
              <a:rPr lang="en-US" altLang="zh-CN" sz="2600" b="1">
                <a:ea typeface="楷体_GB2312" pitchFamily="49" charset="-122"/>
              </a:rPr>
              <a:t>(</a:t>
            </a:r>
            <a:r>
              <a:rPr lang="zh-CN" altLang="en-US" sz="2600" b="1">
                <a:ea typeface="楷体_GB2312" pitchFamily="49" charset="-122"/>
              </a:rPr>
              <a:t>第</a:t>
            </a:r>
            <a:r>
              <a:rPr lang="en-US" altLang="zh-CN" sz="2600" b="1">
                <a:ea typeface="楷体_GB2312" pitchFamily="49" charset="-122"/>
              </a:rPr>
              <a:t>1~(i-1)</a:t>
            </a:r>
            <a:r>
              <a:rPr lang="zh-CN" altLang="en-US" sz="2600" b="1">
                <a:ea typeface="楷体_GB2312" pitchFamily="49" charset="-122"/>
              </a:rPr>
              <a:t>中的任何一个队列</a:t>
            </a:r>
            <a:r>
              <a:rPr lang="en-US" altLang="zh-CN" sz="2600" b="1">
                <a:ea typeface="楷体_GB2312" pitchFamily="49" charset="-122"/>
              </a:rPr>
              <a:t>)</a:t>
            </a:r>
            <a:r>
              <a:rPr lang="zh-CN" altLang="en-US" sz="2600" b="1">
                <a:ea typeface="楷体_GB2312" pitchFamily="49" charset="-122"/>
              </a:rPr>
              <a:t>，则此时</a:t>
            </a:r>
            <a:r>
              <a:rPr lang="zh-CN" altLang="en-US" sz="2600" b="1">
                <a:solidFill>
                  <a:srgbClr val="990000"/>
                </a:solidFill>
                <a:ea typeface="楷体_GB2312" pitchFamily="49" charset="-122"/>
              </a:rPr>
              <a:t>新进程将抢占</a:t>
            </a:r>
            <a:r>
              <a:rPr lang="zh-CN" altLang="en-US" sz="2600" b="1">
                <a:ea typeface="楷体_GB2312" pitchFamily="49" charset="-122"/>
              </a:rPr>
              <a:t>正在运行进程的处理机，调度程序把正在运行的进程</a:t>
            </a:r>
            <a:r>
              <a:rPr lang="zh-CN" altLang="en-US" sz="2600" b="1">
                <a:solidFill>
                  <a:srgbClr val="D20000"/>
                </a:solidFill>
                <a:ea typeface="楷体_GB2312" pitchFamily="49" charset="-122"/>
              </a:rPr>
              <a:t>放回到第</a:t>
            </a:r>
            <a:r>
              <a:rPr lang="en-US" altLang="zh-CN" sz="2600" b="1">
                <a:solidFill>
                  <a:srgbClr val="D20000"/>
                </a:solidFill>
                <a:ea typeface="楷体_GB2312" pitchFamily="49" charset="-122"/>
              </a:rPr>
              <a:t>i</a:t>
            </a:r>
            <a:r>
              <a:rPr lang="zh-CN" altLang="en-US" sz="2600" b="1">
                <a:solidFill>
                  <a:srgbClr val="D20000"/>
                </a:solidFill>
                <a:ea typeface="楷体_GB2312" pitchFamily="49" charset="-122"/>
              </a:rPr>
              <a:t>队列</a:t>
            </a:r>
            <a:r>
              <a:rPr lang="zh-CN" altLang="en-US" sz="2600" b="1">
                <a:ea typeface="楷体_GB2312" pitchFamily="49" charset="-122"/>
              </a:rPr>
              <a:t>的末尾</a:t>
            </a:r>
          </a:p>
          <a:p>
            <a:pPr lvl="2"/>
            <a:r>
              <a:rPr lang="zh-CN" altLang="en-US" sz="2600" b="1">
                <a:solidFill>
                  <a:srgbClr val="990000"/>
                </a:solidFill>
                <a:ea typeface="楷体_GB2312" pitchFamily="49" charset="-122"/>
              </a:rPr>
              <a:t>第</a:t>
            </a:r>
            <a:r>
              <a:rPr lang="en-US" altLang="zh-CN" sz="2600" b="1">
                <a:solidFill>
                  <a:srgbClr val="990000"/>
                </a:solidFill>
                <a:ea typeface="楷体_GB2312" pitchFamily="49" charset="-122"/>
              </a:rPr>
              <a:t>i</a:t>
            </a:r>
            <a:r>
              <a:rPr lang="zh-CN" altLang="en-US" sz="2600" b="1">
                <a:solidFill>
                  <a:srgbClr val="990000"/>
                </a:solidFill>
                <a:ea typeface="楷体_GB2312" pitchFamily="49" charset="-122"/>
              </a:rPr>
              <a:t>队列</a:t>
            </a:r>
            <a:r>
              <a:rPr lang="zh-CN" altLang="en-US" sz="2600" b="1">
                <a:ea typeface="楷体_GB2312" pitchFamily="49" charset="-122"/>
              </a:rPr>
              <a:t>中某进程正在运行时，该进程因等待事件发生而进入阻塞队列，等待事件发生后，调度程序把进程</a:t>
            </a:r>
            <a:r>
              <a:rPr lang="zh-CN" altLang="en-US" sz="2600" b="1">
                <a:solidFill>
                  <a:srgbClr val="D20000"/>
                </a:solidFill>
                <a:ea typeface="楷体_GB2312" pitchFamily="49" charset="-122"/>
              </a:rPr>
              <a:t>放回到第</a:t>
            </a:r>
            <a:r>
              <a:rPr lang="en-US" altLang="zh-CN" sz="2600" b="1">
                <a:solidFill>
                  <a:srgbClr val="D20000"/>
                </a:solidFill>
                <a:ea typeface="楷体_GB2312" pitchFamily="49" charset="-122"/>
              </a:rPr>
              <a:t>i</a:t>
            </a:r>
            <a:r>
              <a:rPr lang="zh-CN" altLang="en-US" sz="2600" b="1">
                <a:solidFill>
                  <a:srgbClr val="D20000"/>
                </a:solidFill>
                <a:ea typeface="楷体_GB2312" pitchFamily="49" charset="-122"/>
              </a:rPr>
              <a:t>队列</a:t>
            </a:r>
            <a:r>
              <a:rPr lang="zh-CN" altLang="en-US" sz="2600" b="1">
                <a:ea typeface="楷体_GB2312" pitchFamily="49" charset="-122"/>
              </a:rPr>
              <a:t>的末尾</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834" name="Rectangle 2"/>
          <p:cNvSpPr>
            <a:spLocks noGrp="1" noChangeArrowheads="1"/>
          </p:cNvSpPr>
          <p:nvPr>
            <p:ph type="title"/>
          </p:nvPr>
        </p:nvSpPr>
        <p:spPr/>
        <p:txBody>
          <a:bodyPr/>
          <a:lstStyle/>
          <a:p>
            <a:r>
              <a:rPr lang="zh-CN" altLang="en-US" sz="3200" b="0" dirty="0"/>
              <a:t>多级反馈队列调度算法</a:t>
            </a:r>
          </a:p>
        </p:txBody>
      </p:sp>
      <p:sp>
        <p:nvSpPr>
          <p:cNvPr id="1144835" name="Rectangle 3"/>
          <p:cNvSpPr>
            <a:spLocks noGrp="1" noChangeArrowheads="1"/>
          </p:cNvSpPr>
          <p:nvPr>
            <p:ph type="body" idx="1"/>
          </p:nvPr>
        </p:nvSpPr>
        <p:spPr>
          <a:xfrm>
            <a:off x="1447800" y="1295400"/>
            <a:ext cx="10058400" cy="5334000"/>
          </a:xfrm>
        </p:spPr>
        <p:txBody>
          <a:bodyPr/>
          <a:lstStyle/>
          <a:p>
            <a:pPr>
              <a:lnSpc>
                <a:spcPct val="90000"/>
              </a:lnSpc>
            </a:pPr>
            <a:r>
              <a:rPr lang="zh-CN" altLang="en-US" b="1" dirty="0">
                <a:ea typeface="楷体_GB2312" pitchFamily="49" charset="-122"/>
              </a:rPr>
              <a:t>多级反馈队列调度算法的性能</a:t>
            </a:r>
          </a:p>
          <a:p>
            <a:pPr lvl="1">
              <a:lnSpc>
                <a:spcPct val="90000"/>
              </a:lnSpc>
            </a:pPr>
            <a:r>
              <a:rPr lang="zh-CN" altLang="en-US" sz="2400" b="1" dirty="0">
                <a:ea typeface="楷体_GB2312" pitchFamily="49" charset="-122"/>
              </a:rPr>
              <a:t>终端型作业用户：短作业优先</a:t>
            </a:r>
          </a:p>
          <a:p>
            <a:pPr lvl="2">
              <a:lnSpc>
                <a:spcPct val="90000"/>
              </a:lnSpc>
            </a:pPr>
            <a:r>
              <a:rPr lang="zh-CN" altLang="en-US" sz="2600" b="1" dirty="0">
                <a:ea typeface="楷体_GB2312" pitchFamily="49" charset="-122"/>
              </a:rPr>
              <a:t>终端型作业用户所提交的作业多属于</a:t>
            </a:r>
            <a:r>
              <a:rPr lang="zh-CN" altLang="en-US" sz="2600" b="1" dirty="0">
                <a:solidFill>
                  <a:srgbClr val="D20000"/>
                </a:solidFill>
                <a:ea typeface="楷体_GB2312" pitchFamily="49" charset="-122"/>
              </a:rPr>
              <a:t>交互型</a:t>
            </a:r>
            <a:r>
              <a:rPr lang="zh-CN" altLang="en-US" sz="2600" b="1" dirty="0">
                <a:ea typeface="楷体_GB2312" pitchFamily="49" charset="-122"/>
              </a:rPr>
              <a:t>作业，通常</a:t>
            </a:r>
            <a:r>
              <a:rPr lang="zh-CN" altLang="en-US" sz="2600" b="1" dirty="0">
                <a:solidFill>
                  <a:srgbClr val="D20000"/>
                </a:solidFill>
                <a:ea typeface="楷体_GB2312" pitchFamily="49" charset="-122"/>
              </a:rPr>
              <a:t>较小</a:t>
            </a:r>
            <a:r>
              <a:rPr lang="zh-CN" altLang="en-US" sz="2600" b="1" dirty="0">
                <a:ea typeface="楷体_GB2312" pitchFamily="49" charset="-122"/>
              </a:rPr>
              <a:t>，系统只要能使这些作业在第一队列所</a:t>
            </a:r>
            <a:r>
              <a:rPr lang="zh-CN" altLang="en-US" sz="2600" b="1" dirty="0">
                <a:solidFill>
                  <a:srgbClr val="D20000"/>
                </a:solidFill>
                <a:ea typeface="楷体_GB2312" pitchFamily="49" charset="-122"/>
              </a:rPr>
              <a:t>规定的时间片内完成</a:t>
            </a:r>
            <a:r>
              <a:rPr lang="zh-CN" altLang="en-US" sz="2600" b="1" dirty="0">
                <a:ea typeface="楷体_GB2312" pitchFamily="49" charset="-122"/>
              </a:rPr>
              <a:t>即可</a:t>
            </a:r>
          </a:p>
          <a:p>
            <a:pPr lvl="1">
              <a:lnSpc>
                <a:spcPct val="90000"/>
              </a:lnSpc>
            </a:pPr>
            <a:r>
              <a:rPr lang="zh-CN" altLang="en-US" sz="2400" b="1" dirty="0">
                <a:ea typeface="楷体_GB2312" pitchFamily="49" charset="-122"/>
              </a:rPr>
              <a:t>短批处理作业用户：周转时间较短</a:t>
            </a:r>
          </a:p>
          <a:p>
            <a:pPr lvl="2">
              <a:lnSpc>
                <a:spcPct val="90000"/>
              </a:lnSpc>
            </a:pPr>
            <a:r>
              <a:rPr lang="zh-CN" altLang="en-US" sz="2600" b="1" dirty="0">
                <a:ea typeface="楷体_GB2312" pitchFamily="49" charset="-122"/>
              </a:rPr>
              <a:t>若在第</a:t>
            </a:r>
            <a:r>
              <a:rPr lang="en-US" altLang="zh-CN" sz="2600" b="1" dirty="0">
                <a:ea typeface="楷体_GB2312" pitchFamily="49" charset="-122"/>
              </a:rPr>
              <a:t>1</a:t>
            </a:r>
            <a:r>
              <a:rPr lang="zh-CN" altLang="en-US" sz="2600" b="1" dirty="0">
                <a:ea typeface="楷体_GB2312" pitchFamily="49" charset="-122"/>
              </a:rPr>
              <a:t>队列中执行一个时间片即可完成，便可获得与终端型作业一样的响应时间</a:t>
            </a:r>
          </a:p>
          <a:p>
            <a:pPr lvl="2">
              <a:lnSpc>
                <a:spcPct val="90000"/>
              </a:lnSpc>
            </a:pPr>
            <a:r>
              <a:rPr lang="zh-CN" altLang="en-US" sz="2600" b="1" dirty="0">
                <a:ea typeface="楷体_GB2312" pitchFamily="49" charset="-122"/>
              </a:rPr>
              <a:t>如在第一个队列中不能完成，只需在第</a:t>
            </a:r>
            <a:r>
              <a:rPr lang="en-US" altLang="zh-CN" sz="2600" b="1" dirty="0">
                <a:ea typeface="楷体_GB2312" pitchFamily="49" charset="-122"/>
              </a:rPr>
              <a:t>2</a:t>
            </a:r>
            <a:r>
              <a:rPr lang="zh-CN" altLang="en-US" sz="2600" b="1" dirty="0">
                <a:ea typeface="楷体_GB2312" pitchFamily="49" charset="-122"/>
              </a:rPr>
              <a:t>、</a:t>
            </a:r>
            <a:r>
              <a:rPr lang="en-US" altLang="zh-CN" sz="2600" b="1" dirty="0">
                <a:ea typeface="楷体_GB2312" pitchFamily="49" charset="-122"/>
              </a:rPr>
              <a:t>3</a:t>
            </a:r>
            <a:r>
              <a:rPr lang="zh-CN" altLang="en-US" sz="2600" b="1" dirty="0">
                <a:ea typeface="楷体_GB2312" pitchFamily="49" charset="-122"/>
              </a:rPr>
              <a:t>队列中各执行一个时间片</a:t>
            </a:r>
          </a:p>
          <a:p>
            <a:pPr lvl="1">
              <a:lnSpc>
                <a:spcPct val="90000"/>
              </a:lnSpc>
            </a:pPr>
            <a:r>
              <a:rPr lang="zh-CN" altLang="en-US" sz="2400" b="1" dirty="0">
                <a:ea typeface="楷体_GB2312" pitchFamily="49" charset="-122"/>
              </a:rPr>
              <a:t>长批处理作业用户：不会长期得不到处理</a:t>
            </a:r>
          </a:p>
          <a:p>
            <a:pPr lvl="2">
              <a:lnSpc>
                <a:spcPct val="90000"/>
              </a:lnSpc>
            </a:pPr>
            <a:r>
              <a:rPr lang="zh-CN" altLang="en-US" sz="2600" b="1" dirty="0">
                <a:ea typeface="楷体_GB2312" pitchFamily="49" charset="-122"/>
              </a:rPr>
              <a:t>长作业将依次在第</a:t>
            </a:r>
            <a:r>
              <a:rPr lang="en-US" altLang="zh-CN" sz="2600" b="1" dirty="0">
                <a:ea typeface="楷体_GB2312" pitchFamily="49" charset="-122"/>
              </a:rPr>
              <a:t>1</a:t>
            </a:r>
            <a:r>
              <a:rPr lang="zh-CN" altLang="en-US" sz="2600" b="1" dirty="0">
                <a:ea typeface="楷体_GB2312" pitchFamily="49" charset="-122"/>
              </a:rPr>
              <a:t>，</a:t>
            </a:r>
            <a:r>
              <a:rPr lang="en-US" altLang="zh-CN" sz="2600" b="1" dirty="0">
                <a:ea typeface="楷体_GB2312" pitchFamily="49" charset="-122"/>
              </a:rPr>
              <a:t>2</a:t>
            </a:r>
            <a:r>
              <a:rPr lang="zh-CN" altLang="en-US" sz="2600" b="1" dirty="0">
                <a:ea typeface="楷体_GB2312" pitchFamily="49" charset="-122"/>
              </a:rPr>
              <a:t>，</a:t>
            </a:r>
            <a:r>
              <a:rPr lang="en-US" altLang="zh-CN" sz="2600" b="1" dirty="0">
                <a:ea typeface="楷体_GB2312" pitchFamily="49" charset="-122"/>
              </a:rPr>
              <a:t>3…</a:t>
            </a:r>
            <a:r>
              <a:rPr lang="zh-CN" altLang="en-US" sz="2600" b="1" dirty="0">
                <a:ea typeface="楷体_GB2312" pitchFamily="49" charset="-122"/>
              </a:rPr>
              <a:t>，</a:t>
            </a:r>
            <a:r>
              <a:rPr lang="en-US" altLang="zh-CN" sz="2600" b="1" dirty="0">
                <a:ea typeface="楷体_GB2312" pitchFamily="49" charset="-122"/>
              </a:rPr>
              <a:t>n</a:t>
            </a:r>
            <a:r>
              <a:rPr lang="zh-CN" altLang="en-US" sz="2600" b="1" dirty="0">
                <a:ea typeface="楷体_GB2312" pitchFamily="49" charset="-122"/>
              </a:rPr>
              <a:t>队列中执行，最终按轮转方式运行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44835">
                                            <p:txEl>
                                              <p:pRg st="0" end="0"/>
                                            </p:txEl>
                                          </p:spTgt>
                                        </p:tgtEl>
                                        <p:attrNameLst>
                                          <p:attrName>style.visibility</p:attrName>
                                        </p:attrNameLst>
                                      </p:cBhvr>
                                      <p:to>
                                        <p:strVal val="visible"/>
                                      </p:to>
                                    </p:set>
                                    <p:animEffect transition="in" filter="blinds(horizontal)">
                                      <p:cBhvr>
                                        <p:cTn id="7" dur="500"/>
                                        <p:tgtEl>
                                          <p:spTgt spid="1144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4835">
                                            <p:txEl>
                                              <p:pRg st="1" end="1"/>
                                            </p:txEl>
                                          </p:spTgt>
                                        </p:tgtEl>
                                        <p:attrNameLst>
                                          <p:attrName>style.visibility</p:attrName>
                                        </p:attrNameLst>
                                      </p:cBhvr>
                                      <p:to>
                                        <p:strVal val="visible"/>
                                      </p:to>
                                    </p:set>
                                    <p:animEffect transition="in" filter="blinds(horizontal)">
                                      <p:cBhvr>
                                        <p:cTn id="12" dur="500"/>
                                        <p:tgtEl>
                                          <p:spTgt spid="1144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44835">
                                            <p:txEl>
                                              <p:pRg st="2" end="2"/>
                                            </p:txEl>
                                          </p:spTgt>
                                        </p:tgtEl>
                                        <p:attrNameLst>
                                          <p:attrName>style.visibility</p:attrName>
                                        </p:attrNameLst>
                                      </p:cBhvr>
                                      <p:to>
                                        <p:strVal val="visible"/>
                                      </p:to>
                                    </p:set>
                                    <p:animEffect transition="in" filter="blinds(horizontal)">
                                      <p:cBhvr>
                                        <p:cTn id="17" dur="500"/>
                                        <p:tgtEl>
                                          <p:spTgt spid="1144835">
                                            <p:txEl>
                                              <p:pRg st="2" end="2"/>
                                            </p:txEl>
                                          </p:spTgt>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144835">
                                            <p:txEl>
                                              <p:pRg st="3" end="3"/>
                                            </p:txEl>
                                          </p:spTgt>
                                        </p:tgtEl>
                                        <p:attrNameLst>
                                          <p:attrName>style.visibility</p:attrName>
                                        </p:attrNameLst>
                                      </p:cBhvr>
                                      <p:to>
                                        <p:strVal val="visible"/>
                                      </p:to>
                                    </p:set>
                                    <p:animEffect transition="in" filter="blinds(horizontal)">
                                      <p:cBhvr>
                                        <p:cTn id="21" dur="500"/>
                                        <p:tgtEl>
                                          <p:spTgt spid="114483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44835">
                                            <p:txEl>
                                              <p:pRg st="4" end="4"/>
                                            </p:txEl>
                                          </p:spTgt>
                                        </p:tgtEl>
                                        <p:attrNameLst>
                                          <p:attrName>style.visibility</p:attrName>
                                        </p:attrNameLst>
                                      </p:cBhvr>
                                      <p:to>
                                        <p:strVal val="visible"/>
                                      </p:to>
                                    </p:set>
                                    <p:animEffect transition="in" filter="blinds(horizontal)">
                                      <p:cBhvr>
                                        <p:cTn id="26" dur="500"/>
                                        <p:tgtEl>
                                          <p:spTgt spid="1144835">
                                            <p:txEl>
                                              <p:pRg st="4" end="4"/>
                                            </p:txEl>
                                          </p:spTgt>
                                        </p:tgtEl>
                                      </p:cBhvr>
                                    </p:animEffect>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1144835">
                                            <p:txEl>
                                              <p:pRg st="5" end="5"/>
                                            </p:txEl>
                                          </p:spTgt>
                                        </p:tgtEl>
                                        <p:attrNameLst>
                                          <p:attrName>style.visibility</p:attrName>
                                        </p:attrNameLst>
                                      </p:cBhvr>
                                      <p:to>
                                        <p:strVal val="visible"/>
                                      </p:to>
                                    </p:set>
                                    <p:animEffect transition="in" filter="blinds(horizontal)">
                                      <p:cBhvr>
                                        <p:cTn id="30" dur="500"/>
                                        <p:tgtEl>
                                          <p:spTgt spid="1144835">
                                            <p:txEl>
                                              <p:pRg st="5" end="5"/>
                                            </p:txEl>
                                          </p:spTgt>
                                        </p:tgtEl>
                                      </p:cBhvr>
                                    </p:animEffect>
                                  </p:childTnLst>
                                </p:cTn>
                              </p:par>
                            </p:childTnLst>
                          </p:cTn>
                        </p:par>
                        <p:par>
                          <p:cTn id="31" fill="hold">
                            <p:stCondLst>
                              <p:cond delay="1000"/>
                            </p:stCondLst>
                            <p:childTnLst>
                              <p:par>
                                <p:cTn id="32" presetID="3" presetClass="entr" presetSubtype="10" fill="hold" grpId="0" nodeType="afterEffect">
                                  <p:stCondLst>
                                    <p:cond delay="0"/>
                                  </p:stCondLst>
                                  <p:childTnLst>
                                    <p:set>
                                      <p:cBhvr>
                                        <p:cTn id="33" dur="1" fill="hold">
                                          <p:stCondLst>
                                            <p:cond delay="0"/>
                                          </p:stCondLst>
                                        </p:cTn>
                                        <p:tgtEl>
                                          <p:spTgt spid="1144835">
                                            <p:txEl>
                                              <p:pRg st="6" end="6"/>
                                            </p:txEl>
                                          </p:spTgt>
                                        </p:tgtEl>
                                        <p:attrNameLst>
                                          <p:attrName>style.visibility</p:attrName>
                                        </p:attrNameLst>
                                      </p:cBhvr>
                                      <p:to>
                                        <p:strVal val="visible"/>
                                      </p:to>
                                    </p:set>
                                    <p:animEffect transition="in" filter="blinds(horizontal)">
                                      <p:cBhvr>
                                        <p:cTn id="34" dur="500"/>
                                        <p:tgtEl>
                                          <p:spTgt spid="1144835">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144835">
                                            <p:txEl>
                                              <p:pRg st="7" end="7"/>
                                            </p:txEl>
                                          </p:spTgt>
                                        </p:tgtEl>
                                        <p:attrNameLst>
                                          <p:attrName>style.visibility</p:attrName>
                                        </p:attrNameLst>
                                      </p:cBhvr>
                                      <p:to>
                                        <p:strVal val="visible"/>
                                      </p:to>
                                    </p:set>
                                    <p:animEffect transition="in" filter="blinds(horizontal)">
                                      <p:cBhvr>
                                        <p:cTn id="39" dur="500"/>
                                        <p:tgtEl>
                                          <p:spTgt spid="11448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3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834" name="Rectangle 2"/>
          <p:cNvSpPr>
            <a:spLocks noGrp="1" noChangeArrowheads="1"/>
          </p:cNvSpPr>
          <p:nvPr>
            <p:ph type="title"/>
          </p:nvPr>
        </p:nvSpPr>
        <p:spPr/>
        <p:txBody>
          <a:bodyPr/>
          <a:lstStyle/>
          <a:p>
            <a:r>
              <a:rPr lang="zh-CN" altLang="en-US" sz="3200" b="0" dirty="0"/>
              <a:t>几种进程调度算法总结</a:t>
            </a:r>
          </a:p>
        </p:txBody>
      </p:sp>
      <p:graphicFrame>
        <p:nvGraphicFramePr>
          <p:cNvPr id="4" name="内容占位符 3">
            <a:extLst>
              <a:ext uri="{FF2B5EF4-FFF2-40B4-BE49-F238E27FC236}">
                <a16:creationId xmlns:a16="http://schemas.microsoft.com/office/drawing/2014/main" id="{839ECA61-396B-0399-DF7E-D1519ADBA69D}"/>
              </a:ext>
            </a:extLst>
          </p:cNvPr>
          <p:cNvGraphicFramePr>
            <a:graphicFrameLocks noGrp="1"/>
          </p:cNvGraphicFramePr>
          <p:nvPr>
            <p:ph idx="1"/>
            <p:extLst>
              <p:ext uri="{D42A27DB-BD31-4B8C-83A1-F6EECF244321}">
                <p14:modId xmlns:p14="http://schemas.microsoft.com/office/powerpoint/2010/main" val="4061212307"/>
              </p:ext>
            </p:extLst>
          </p:nvPr>
        </p:nvGraphicFramePr>
        <p:xfrm>
          <a:off x="685800" y="1905000"/>
          <a:ext cx="10871198" cy="3276600"/>
        </p:xfrm>
        <a:graphic>
          <a:graphicData uri="http://schemas.openxmlformats.org/drawingml/2006/table">
            <a:tbl>
              <a:tblPr firstRow="1" bandRow="1">
                <a:tableStyleId>{5940675A-B579-460E-94D1-54222C63F5DA}</a:tableStyleId>
              </a:tblPr>
              <a:tblGrid>
                <a:gridCol w="1396999">
                  <a:extLst>
                    <a:ext uri="{9D8B030D-6E8A-4147-A177-3AD203B41FA5}">
                      <a16:colId xmlns:a16="http://schemas.microsoft.com/office/drawing/2014/main" val="1794666791"/>
                    </a:ext>
                  </a:extLst>
                </a:gridCol>
                <a:gridCol w="1888067">
                  <a:extLst>
                    <a:ext uri="{9D8B030D-6E8A-4147-A177-3AD203B41FA5}">
                      <a16:colId xmlns:a16="http://schemas.microsoft.com/office/drawing/2014/main" val="1208246011"/>
                    </a:ext>
                  </a:extLst>
                </a:gridCol>
                <a:gridCol w="1896533">
                  <a:extLst>
                    <a:ext uri="{9D8B030D-6E8A-4147-A177-3AD203B41FA5}">
                      <a16:colId xmlns:a16="http://schemas.microsoft.com/office/drawing/2014/main" val="410398377"/>
                    </a:ext>
                  </a:extLst>
                </a:gridCol>
                <a:gridCol w="1896533">
                  <a:extLst>
                    <a:ext uri="{9D8B030D-6E8A-4147-A177-3AD203B41FA5}">
                      <a16:colId xmlns:a16="http://schemas.microsoft.com/office/drawing/2014/main" val="4282484096"/>
                    </a:ext>
                  </a:extLst>
                </a:gridCol>
                <a:gridCol w="1896533">
                  <a:extLst>
                    <a:ext uri="{9D8B030D-6E8A-4147-A177-3AD203B41FA5}">
                      <a16:colId xmlns:a16="http://schemas.microsoft.com/office/drawing/2014/main" val="1266320126"/>
                    </a:ext>
                  </a:extLst>
                </a:gridCol>
                <a:gridCol w="1896533">
                  <a:extLst>
                    <a:ext uri="{9D8B030D-6E8A-4147-A177-3AD203B41FA5}">
                      <a16:colId xmlns:a16="http://schemas.microsoft.com/office/drawing/2014/main" val="1689836156"/>
                    </a:ext>
                  </a:extLst>
                </a:gridCol>
              </a:tblGrid>
              <a:tr h="370840">
                <a:tc>
                  <a:txBody>
                    <a:bodyPr/>
                    <a:lstStyle/>
                    <a:p>
                      <a:pPr algn="ctr"/>
                      <a:endParaRPr lang="zh-CN" altLang="en-US" dirty="0"/>
                    </a:p>
                  </a:txBody>
                  <a:tcPr/>
                </a:tc>
                <a:tc>
                  <a:txBody>
                    <a:bodyPr/>
                    <a:lstStyle/>
                    <a:p>
                      <a:pPr algn="ctr"/>
                      <a:r>
                        <a:rPr lang="zh-CN" altLang="en-US" b="1" dirty="0"/>
                        <a:t>先来先服务</a:t>
                      </a:r>
                    </a:p>
                  </a:txBody>
                  <a:tcPr/>
                </a:tc>
                <a:tc>
                  <a:txBody>
                    <a:bodyPr/>
                    <a:lstStyle/>
                    <a:p>
                      <a:pPr algn="ctr"/>
                      <a:r>
                        <a:rPr lang="zh-CN" altLang="en-US" b="1" dirty="0"/>
                        <a:t>短作业优先</a:t>
                      </a:r>
                    </a:p>
                  </a:txBody>
                  <a:tcPr/>
                </a:tc>
                <a:tc>
                  <a:txBody>
                    <a:bodyPr/>
                    <a:lstStyle/>
                    <a:p>
                      <a:pPr algn="ctr"/>
                      <a:r>
                        <a:rPr lang="zh-CN" altLang="en-US" b="1" dirty="0"/>
                        <a:t>高响应比优先</a:t>
                      </a:r>
                    </a:p>
                  </a:txBody>
                  <a:tcPr/>
                </a:tc>
                <a:tc>
                  <a:txBody>
                    <a:bodyPr/>
                    <a:lstStyle/>
                    <a:p>
                      <a:pPr algn="ctr"/>
                      <a:r>
                        <a:rPr lang="zh-CN" altLang="en-US" b="1" dirty="0"/>
                        <a:t>时间片轮转</a:t>
                      </a:r>
                    </a:p>
                  </a:txBody>
                  <a:tcPr/>
                </a:tc>
                <a:tc>
                  <a:txBody>
                    <a:bodyPr/>
                    <a:lstStyle/>
                    <a:p>
                      <a:pPr algn="ctr"/>
                      <a:r>
                        <a:rPr lang="zh-CN" altLang="en-US" b="1" dirty="0"/>
                        <a:t>多级反馈队列</a:t>
                      </a:r>
                    </a:p>
                  </a:txBody>
                  <a:tcPr/>
                </a:tc>
                <a:extLst>
                  <a:ext uri="{0D108BD9-81ED-4DB2-BD59-A6C34878D82A}">
                    <a16:rowId xmlns:a16="http://schemas.microsoft.com/office/drawing/2014/main" val="209646266"/>
                  </a:ext>
                </a:extLst>
              </a:tr>
              <a:tr h="426720">
                <a:tc>
                  <a:txBody>
                    <a:bodyPr/>
                    <a:lstStyle/>
                    <a:p>
                      <a:pPr algn="ctr"/>
                      <a:r>
                        <a:rPr lang="zh-CN" altLang="en-US" dirty="0"/>
                        <a:t>能否抢占</a:t>
                      </a:r>
                    </a:p>
                  </a:txBody>
                  <a:tcPr/>
                </a:tc>
                <a:tc>
                  <a:txBody>
                    <a:bodyPr/>
                    <a:lstStyle/>
                    <a:p>
                      <a:pPr algn="ctr"/>
                      <a:r>
                        <a:rPr lang="zh-CN" altLang="en-US" dirty="0"/>
                        <a:t>否</a:t>
                      </a:r>
                    </a:p>
                  </a:txBody>
                  <a:tcPr/>
                </a:tc>
                <a:tc>
                  <a:txBody>
                    <a:bodyPr/>
                    <a:lstStyle/>
                    <a:p>
                      <a:pPr algn="ctr"/>
                      <a:r>
                        <a:rPr lang="zh-CN" altLang="en-US" dirty="0"/>
                        <a:t>可以</a:t>
                      </a:r>
                    </a:p>
                  </a:txBody>
                  <a:tcPr/>
                </a:tc>
                <a:tc>
                  <a:txBody>
                    <a:bodyPr/>
                    <a:lstStyle/>
                    <a:p>
                      <a:pPr algn="ctr"/>
                      <a:r>
                        <a:rPr lang="zh-CN" altLang="en-US" dirty="0"/>
                        <a:t>可以</a:t>
                      </a:r>
                    </a:p>
                  </a:txBody>
                  <a:tcPr/>
                </a:tc>
                <a:tc>
                  <a:txBody>
                    <a:bodyPr/>
                    <a:lstStyle/>
                    <a:p>
                      <a:pPr algn="ctr"/>
                      <a:r>
                        <a:rPr lang="zh-CN" altLang="en-US" dirty="0"/>
                        <a:t>可以</a:t>
                      </a:r>
                    </a:p>
                  </a:txBody>
                  <a:tcPr/>
                </a:tc>
                <a:tc>
                  <a:txBody>
                    <a:bodyPr/>
                    <a:lstStyle/>
                    <a:p>
                      <a:pPr algn="ctr"/>
                      <a:r>
                        <a:rPr lang="zh-CN" altLang="en-US" dirty="0"/>
                        <a:t>队列内算法不一定</a:t>
                      </a:r>
                    </a:p>
                  </a:txBody>
                  <a:tcPr/>
                </a:tc>
                <a:extLst>
                  <a:ext uri="{0D108BD9-81ED-4DB2-BD59-A6C34878D82A}">
                    <a16:rowId xmlns:a16="http://schemas.microsoft.com/office/drawing/2014/main" val="1443337822"/>
                  </a:ext>
                </a:extLst>
              </a:tr>
              <a:tr h="558800">
                <a:tc>
                  <a:txBody>
                    <a:bodyPr/>
                    <a:lstStyle/>
                    <a:p>
                      <a:pPr algn="ctr"/>
                      <a:r>
                        <a:rPr lang="zh-CN" altLang="en-US" dirty="0"/>
                        <a:t>优点</a:t>
                      </a:r>
                    </a:p>
                  </a:txBody>
                  <a:tcPr/>
                </a:tc>
                <a:tc>
                  <a:txBody>
                    <a:bodyPr/>
                    <a:lstStyle/>
                    <a:p>
                      <a:pPr algn="ctr"/>
                      <a:r>
                        <a:rPr lang="zh-CN" altLang="en-US" dirty="0"/>
                        <a:t>公平，实现简单</a:t>
                      </a:r>
                    </a:p>
                  </a:txBody>
                  <a:tcPr/>
                </a:tc>
                <a:tc>
                  <a:txBody>
                    <a:bodyPr/>
                    <a:lstStyle/>
                    <a:p>
                      <a:pPr algn="ctr"/>
                      <a:r>
                        <a:rPr lang="zh-CN" altLang="en-US" dirty="0"/>
                        <a:t>平均等待时间、平均周转时间最优</a:t>
                      </a:r>
                    </a:p>
                  </a:txBody>
                  <a:tcPr/>
                </a:tc>
                <a:tc>
                  <a:txBody>
                    <a:bodyPr/>
                    <a:lstStyle/>
                    <a:p>
                      <a:pPr algn="ctr"/>
                      <a:r>
                        <a:rPr lang="zh-CN" altLang="en-US" dirty="0"/>
                        <a:t>兼顾长短作业</a:t>
                      </a:r>
                    </a:p>
                  </a:txBody>
                  <a:tcPr/>
                </a:tc>
                <a:tc>
                  <a:txBody>
                    <a:bodyPr/>
                    <a:lstStyle/>
                    <a:p>
                      <a:pPr algn="ctr"/>
                      <a:r>
                        <a:rPr lang="zh-CN" altLang="en-US" dirty="0"/>
                        <a:t>兼顾长短作业</a:t>
                      </a:r>
                    </a:p>
                  </a:txBody>
                  <a:tcPr/>
                </a:tc>
                <a:tc>
                  <a:txBody>
                    <a:bodyPr/>
                    <a:lstStyle/>
                    <a:p>
                      <a:pPr algn="ctr"/>
                      <a:r>
                        <a:rPr lang="zh-CN" altLang="en-US" dirty="0"/>
                        <a:t>兼顾长短作业，有较好的响应时间，可行性强</a:t>
                      </a:r>
                    </a:p>
                  </a:txBody>
                  <a:tcPr/>
                </a:tc>
                <a:extLst>
                  <a:ext uri="{0D108BD9-81ED-4DB2-BD59-A6C34878D82A}">
                    <a16:rowId xmlns:a16="http://schemas.microsoft.com/office/drawing/2014/main" val="2371635247"/>
                  </a:ext>
                </a:extLst>
              </a:tr>
              <a:tr h="426720">
                <a:tc>
                  <a:txBody>
                    <a:bodyPr/>
                    <a:lstStyle/>
                    <a:p>
                      <a:pPr algn="ctr"/>
                      <a:r>
                        <a:rPr lang="zh-CN" altLang="en-US" dirty="0"/>
                        <a:t>缺点</a:t>
                      </a:r>
                    </a:p>
                  </a:txBody>
                  <a:tcPr/>
                </a:tc>
                <a:tc>
                  <a:txBody>
                    <a:bodyPr/>
                    <a:lstStyle/>
                    <a:p>
                      <a:pPr algn="ctr"/>
                      <a:r>
                        <a:rPr lang="zh-CN" altLang="en-US" dirty="0"/>
                        <a:t>不利于短作业</a:t>
                      </a:r>
                    </a:p>
                  </a:txBody>
                  <a:tcPr/>
                </a:tc>
                <a:tc>
                  <a:txBody>
                    <a:bodyPr/>
                    <a:lstStyle/>
                    <a:p>
                      <a:pPr algn="ctr"/>
                      <a:r>
                        <a:rPr lang="zh-CN" altLang="en-US" dirty="0"/>
                        <a:t>长作业会饥饿，估计时间不易确定</a:t>
                      </a:r>
                    </a:p>
                  </a:txBody>
                  <a:tcPr/>
                </a:tc>
                <a:tc>
                  <a:txBody>
                    <a:bodyPr/>
                    <a:lstStyle/>
                    <a:p>
                      <a:pPr algn="ctr"/>
                      <a:r>
                        <a:rPr lang="zh-CN" altLang="en-US" dirty="0"/>
                        <a:t>计算响应比的开销大</a:t>
                      </a:r>
                    </a:p>
                  </a:txBody>
                  <a:tcPr/>
                </a:tc>
                <a:tc>
                  <a:txBody>
                    <a:bodyPr/>
                    <a:lstStyle/>
                    <a:p>
                      <a:pPr algn="ctr"/>
                      <a:r>
                        <a:rPr lang="zh-CN" altLang="en-US" dirty="0"/>
                        <a:t>平均等待时间较长，上下文切换浪费时间</a:t>
                      </a:r>
                    </a:p>
                  </a:txBody>
                  <a:tcPr/>
                </a:tc>
                <a:tc>
                  <a:txBody>
                    <a:bodyPr/>
                    <a:lstStyle/>
                    <a:p>
                      <a:pPr algn="ctr"/>
                      <a:r>
                        <a:rPr lang="zh-CN" altLang="en-US" dirty="0"/>
                        <a:t>最复杂</a:t>
                      </a:r>
                    </a:p>
                  </a:txBody>
                  <a:tcPr/>
                </a:tc>
                <a:extLst>
                  <a:ext uri="{0D108BD9-81ED-4DB2-BD59-A6C34878D82A}">
                    <a16:rowId xmlns:a16="http://schemas.microsoft.com/office/drawing/2014/main" val="289831538"/>
                  </a:ext>
                </a:extLst>
              </a:tr>
              <a:tr h="436880">
                <a:tc>
                  <a:txBody>
                    <a:bodyPr/>
                    <a:lstStyle/>
                    <a:p>
                      <a:pPr algn="ctr"/>
                      <a:r>
                        <a:rPr lang="zh-CN" altLang="en-US" dirty="0"/>
                        <a:t>适用于</a:t>
                      </a:r>
                    </a:p>
                  </a:txBody>
                  <a:tcPr/>
                </a:tc>
                <a:tc>
                  <a:txBody>
                    <a:bodyPr/>
                    <a:lstStyle/>
                    <a:p>
                      <a:pPr algn="ctr"/>
                      <a:r>
                        <a:rPr lang="zh-CN" altLang="en-US" dirty="0"/>
                        <a:t>无</a:t>
                      </a:r>
                    </a:p>
                  </a:txBody>
                  <a:tcPr/>
                </a:tc>
                <a:tc>
                  <a:txBody>
                    <a:bodyPr/>
                    <a:lstStyle/>
                    <a:p>
                      <a:pPr algn="ctr"/>
                      <a:r>
                        <a:rPr lang="zh-CN" altLang="en-US" dirty="0"/>
                        <a:t>批处理系统</a:t>
                      </a:r>
                    </a:p>
                  </a:txBody>
                  <a:tcPr/>
                </a:tc>
                <a:tc>
                  <a:txBody>
                    <a:bodyPr/>
                    <a:lstStyle/>
                    <a:p>
                      <a:pPr algn="ctr"/>
                      <a:r>
                        <a:rPr lang="zh-CN" altLang="en-US" dirty="0"/>
                        <a:t>无</a:t>
                      </a:r>
                    </a:p>
                  </a:txBody>
                  <a:tcPr/>
                </a:tc>
                <a:tc>
                  <a:txBody>
                    <a:bodyPr/>
                    <a:lstStyle/>
                    <a:p>
                      <a:pPr algn="ctr"/>
                      <a:r>
                        <a:rPr lang="zh-CN" altLang="en-US" dirty="0"/>
                        <a:t>分时系统</a:t>
                      </a:r>
                    </a:p>
                  </a:txBody>
                  <a:tcPr/>
                </a:tc>
                <a:tc>
                  <a:txBody>
                    <a:bodyPr/>
                    <a:lstStyle/>
                    <a:p>
                      <a:pPr algn="ctr"/>
                      <a:r>
                        <a:rPr lang="zh-CN" altLang="en-US" dirty="0"/>
                        <a:t>相当通用</a:t>
                      </a:r>
                    </a:p>
                  </a:txBody>
                  <a:tcPr/>
                </a:tc>
                <a:extLst>
                  <a:ext uri="{0D108BD9-81ED-4DB2-BD59-A6C34878D82A}">
                    <a16:rowId xmlns:a16="http://schemas.microsoft.com/office/drawing/2014/main" val="2956397323"/>
                  </a:ext>
                </a:extLst>
              </a:tr>
            </a:tbl>
          </a:graphicData>
        </a:graphic>
      </p:graphicFrame>
    </p:spTree>
    <p:extLst>
      <p:ext uri="{BB962C8B-B14F-4D97-AF65-F5344CB8AC3E}">
        <p14:creationId xmlns:p14="http://schemas.microsoft.com/office/powerpoint/2010/main" val="3599168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954" name="Rectangle 2"/>
          <p:cNvSpPr>
            <a:spLocks noGrp="1" noChangeArrowheads="1"/>
          </p:cNvSpPr>
          <p:nvPr>
            <p:ph type="title" idx="4294967295"/>
          </p:nvPr>
        </p:nvSpPr>
        <p:spPr/>
        <p:txBody>
          <a:bodyPr/>
          <a:lstStyle/>
          <a:p>
            <a:pPr eaLnBrk="1" hangingPunct="1"/>
            <a:r>
              <a:rPr lang="zh-CN" altLang="en-US">
                <a:ea typeface="宋体" pitchFamily="2" charset="-122"/>
              </a:rPr>
              <a:t>其他调度算法</a:t>
            </a:r>
          </a:p>
        </p:txBody>
      </p:sp>
      <p:sp>
        <p:nvSpPr>
          <p:cNvPr id="1149955" name="Rectangle 3"/>
          <p:cNvSpPr>
            <a:spLocks noGrp="1" noChangeArrowheads="1"/>
          </p:cNvSpPr>
          <p:nvPr>
            <p:ph type="body" idx="4294967295"/>
          </p:nvPr>
        </p:nvSpPr>
        <p:spPr/>
        <p:txBody>
          <a:bodyPr/>
          <a:lstStyle/>
          <a:p>
            <a:pPr eaLnBrk="1" hangingPunct="1"/>
            <a:r>
              <a:rPr lang="zh-CN" altLang="en-US" dirty="0">
                <a:ea typeface="宋体" pitchFamily="2" charset="-122"/>
              </a:rPr>
              <a:t>保证调度</a:t>
            </a:r>
          </a:p>
          <a:p>
            <a:pPr lvl="1" eaLnBrk="1" hangingPunct="1">
              <a:lnSpc>
                <a:spcPct val="130000"/>
              </a:lnSpc>
              <a:spcBef>
                <a:spcPts val="0"/>
              </a:spcBef>
            </a:pPr>
            <a:r>
              <a:rPr lang="zh-CN" altLang="en-US" dirty="0">
                <a:ea typeface="宋体" pitchFamily="2" charset="-122"/>
              </a:rPr>
              <a:t>保证每个进程享用</a:t>
            </a:r>
            <a:r>
              <a:rPr lang="en-US" altLang="zh-CN" dirty="0">
                <a:ea typeface="宋体" pitchFamily="2" charset="-122"/>
              </a:rPr>
              <a:t>CPU</a:t>
            </a:r>
            <a:r>
              <a:rPr lang="zh-CN" altLang="en-US" dirty="0">
                <a:ea typeface="宋体" pitchFamily="2" charset="-122"/>
              </a:rPr>
              <a:t>的时间完全一样，即如果系统中共有</a:t>
            </a:r>
            <a:r>
              <a:rPr lang="en-US" altLang="zh-CN" dirty="0">
                <a:ea typeface="宋体" pitchFamily="2" charset="-122"/>
              </a:rPr>
              <a:t>n</a:t>
            </a:r>
            <a:r>
              <a:rPr lang="zh-CN" altLang="en-US" dirty="0">
                <a:ea typeface="宋体" pitchFamily="2" charset="-122"/>
              </a:rPr>
              <a:t>个进程，保证每个进程使用 </a:t>
            </a:r>
            <a:r>
              <a:rPr lang="en-US" altLang="zh-CN" dirty="0">
                <a:ea typeface="宋体" pitchFamily="2" charset="-122"/>
              </a:rPr>
              <a:t>1/n  CPU </a:t>
            </a:r>
            <a:r>
              <a:rPr lang="zh-CN" altLang="en-US" dirty="0">
                <a:ea typeface="宋体" pitchFamily="2" charset="-122"/>
              </a:rPr>
              <a:t>时间。</a:t>
            </a:r>
          </a:p>
          <a:p>
            <a:pPr eaLnBrk="1" hangingPunct="1"/>
            <a:r>
              <a:rPr lang="zh-CN" altLang="en-US" dirty="0">
                <a:ea typeface="宋体" pitchFamily="2" charset="-122"/>
              </a:rPr>
              <a:t>彩票调度</a:t>
            </a:r>
          </a:p>
          <a:p>
            <a:pPr lvl="1" eaLnBrk="1" hangingPunct="1">
              <a:lnSpc>
                <a:spcPct val="130000"/>
              </a:lnSpc>
              <a:spcBef>
                <a:spcPts val="0"/>
              </a:spcBef>
            </a:pPr>
            <a:r>
              <a:rPr lang="zh-CN" altLang="en-US" dirty="0">
                <a:ea typeface="宋体" pitchFamily="2" charset="-122"/>
              </a:rPr>
              <a:t>概率调度算法，发布一定数量的彩票给相应的进程，调度器每次随机抽取一张，彩票数量多的进程获得</a:t>
            </a:r>
            <a:r>
              <a:rPr lang="en-US" altLang="zh-CN" dirty="0">
                <a:ea typeface="宋体" pitchFamily="2" charset="-122"/>
              </a:rPr>
              <a:t>CPU</a:t>
            </a:r>
            <a:r>
              <a:rPr lang="zh-CN" altLang="en-US" dirty="0">
                <a:ea typeface="宋体" pitchFamily="2" charset="-122"/>
              </a:rPr>
              <a:t>的概率就大。</a:t>
            </a:r>
          </a:p>
          <a:p>
            <a:pPr eaLnBrk="1" hangingPunct="1"/>
            <a:r>
              <a:rPr lang="zh-CN" altLang="en-US" dirty="0">
                <a:ea typeface="宋体" pitchFamily="2" charset="-122"/>
              </a:rPr>
              <a:t>用户公平调度</a:t>
            </a:r>
            <a:endParaRPr lang="en-US" altLang="zh-CN" dirty="0">
              <a:ea typeface="宋体" pitchFamily="2" charset="-122"/>
            </a:endParaRPr>
          </a:p>
          <a:p>
            <a:pPr lvl="1" eaLnBrk="1" hangingPunct="1">
              <a:lnSpc>
                <a:spcPct val="130000"/>
              </a:lnSpc>
              <a:spcBef>
                <a:spcPts val="0"/>
              </a:spcBef>
            </a:pPr>
            <a:r>
              <a:rPr lang="zh-CN" altLang="en-US" dirty="0">
                <a:ea typeface="宋体" pitchFamily="2" charset="-122"/>
              </a:rPr>
              <a:t>按照每个用户而不是每个进程来公平分配</a:t>
            </a:r>
            <a:r>
              <a:rPr lang="en-US" altLang="zh-CN" dirty="0">
                <a:ea typeface="宋体" pitchFamily="2" charset="-122"/>
              </a:rPr>
              <a:t>CPU</a:t>
            </a:r>
            <a:r>
              <a:rPr lang="zh-CN" altLang="en-US" dirty="0">
                <a:ea typeface="宋体" pitchFamily="2" charset="-122"/>
              </a:rPr>
              <a:t>。如果一个用户的进程数量多，则其所拥有的每个进程获得</a:t>
            </a:r>
            <a:r>
              <a:rPr lang="en-US" altLang="zh-CN" dirty="0">
                <a:ea typeface="宋体" pitchFamily="2" charset="-122"/>
              </a:rPr>
              <a:t>CPU</a:t>
            </a:r>
            <a:r>
              <a:rPr lang="zh-CN" altLang="en-US" dirty="0">
                <a:ea typeface="宋体" pitchFamily="2" charset="-122"/>
              </a:rPr>
              <a:t>时间将短。</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50978" name="Rectangle 2"/>
          <p:cNvSpPr>
            <a:spLocks noGrp="1" noChangeArrowheads="1"/>
          </p:cNvSpPr>
          <p:nvPr>
            <p:ph type="title" idx="4294967295"/>
          </p:nvPr>
        </p:nvSpPr>
        <p:spPr/>
        <p:txBody>
          <a:bodyPr/>
          <a:lstStyle/>
          <a:p>
            <a:pPr eaLnBrk="1" hangingPunct="1"/>
            <a:r>
              <a:rPr lang="zh-CN" altLang="en-US">
                <a:ea typeface="宋体" pitchFamily="2" charset="-122"/>
              </a:rPr>
              <a:t>其他调度算法</a:t>
            </a:r>
          </a:p>
        </p:txBody>
      </p:sp>
      <p:sp>
        <p:nvSpPr>
          <p:cNvPr id="1150979" name="Rectangle 4"/>
          <p:cNvSpPr>
            <a:spLocks noGrp="1" noChangeArrowheads="1"/>
          </p:cNvSpPr>
          <p:nvPr>
            <p:ph type="body" idx="4294967295"/>
          </p:nvPr>
        </p:nvSpPr>
        <p:spPr/>
        <p:txBody>
          <a:bodyPr/>
          <a:lstStyle/>
          <a:p>
            <a:pPr eaLnBrk="1" hangingPunct="1"/>
            <a:r>
              <a:rPr lang="zh-CN" altLang="en-US">
                <a:ea typeface="宋体" pitchFamily="2" charset="-122"/>
              </a:rPr>
              <a:t>混合调度算法 </a:t>
            </a:r>
            <a:r>
              <a:rPr lang="en-US" altLang="zh-CN">
                <a:ea typeface="宋体" pitchFamily="2" charset="-122"/>
              </a:rPr>
              <a:t>(Multiple queue)</a:t>
            </a:r>
          </a:p>
          <a:p>
            <a:pPr lvl="1" eaLnBrk="1" hangingPunct="1"/>
            <a:r>
              <a:rPr lang="zh-CN" altLang="en-US">
                <a:ea typeface="宋体" pitchFamily="2" charset="-122"/>
              </a:rPr>
              <a:t>将优先级分类</a:t>
            </a:r>
            <a:endParaRPr lang="en-US" altLang="zh-CN">
              <a:ea typeface="宋体" pitchFamily="2" charset="-122"/>
            </a:endParaRPr>
          </a:p>
          <a:p>
            <a:pPr lvl="1" eaLnBrk="1" hangingPunct="1"/>
            <a:r>
              <a:rPr lang="zh-CN" altLang="en-US">
                <a:ea typeface="宋体" pitchFamily="2" charset="-122"/>
              </a:rPr>
              <a:t>动态调整进程的优先级类别</a:t>
            </a:r>
          </a:p>
          <a:p>
            <a:pPr lvl="1" eaLnBrk="1" hangingPunct="1"/>
            <a:endParaRPr lang="zh-CN" altLang="en-US">
              <a:ea typeface="宋体" pitchFamily="2" charset="-122"/>
            </a:endParaRPr>
          </a:p>
        </p:txBody>
      </p:sp>
      <p:pic>
        <p:nvPicPr>
          <p:cNvPr id="1078277" name="Picture 5" descr="2-42"/>
          <p:cNvPicPr>
            <a:picLocks noChangeAspect="1" noChangeArrowheads="1"/>
          </p:cNvPicPr>
          <p:nvPr/>
        </p:nvPicPr>
        <p:blipFill>
          <a:blip r:embed="rId2"/>
          <a:srcRect/>
          <a:stretch>
            <a:fillRect/>
          </a:stretch>
        </p:blipFill>
        <p:spPr bwMode="auto">
          <a:xfrm>
            <a:off x="2667000" y="2971801"/>
            <a:ext cx="6096000" cy="259397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078277"/>
                                        </p:tgtEl>
                                        <p:attrNameLst>
                                          <p:attrName>style.visibility</p:attrName>
                                        </p:attrNameLst>
                                      </p:cBhvr>
                                      <p:to>
                                        <p:strVal val="visible"/>
                                      </p:to>
                                    </p:set>
                                    <p:anim to="" calcmode="lin" valueType="num">
                                      <p:cBhvr>
                                        <p:cTn id="7" dur="1" fill="hold"/>
                                        <p:tgtEl>
                                          <p:spTgt spid="107827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002" name="Rectangle 2"/>
          <p:cNvSpPr>
            <a:spLocks noGrp="1" noChangeArrowheads="1"/>
          </p:cNvSpPr>
          <p:nvPr>
            <p:ph type="title" idx="4294967295"/>
          </p:nvPr>
        </p:nvSpPr>
        <p:spPr/>
        <p:txBody>
          <a:bodyPr/>
          <a:lstStyle/>
          <a:p>
            <a:pPr eaLnBrk="1" hangingPunct="1"/>
            <a:r>
              <a:rPr lang="zh-CN" altLang="en-US">
                <a:ea typeface="宋体" pitchFamily="2" charset="-122"/>
              </a:rPr>
              <a:t>实时调度</a:t>
            </a:r>
          </a:p>
        </p:txBody>
      </p:sp>
      <p:sp>
        <p:nvSpPr>
          <p:cNvPr id="1152003" name="Rectangle 3"/>
          <p:cNvSpPr>
            <a:spLocks noGrp="1" noChangeArrowheads="1"/>
          </p:cNvSpPr>
          <p:nvPr>
            <p:ph type="body" idx="4294967295"/>
          </p:nvPr>
        </p:nvSpPr>
        <p:spPr/>
        <p:txBody>
          <a:bodyPr/>
          <a:lstStyle/>
          <a:p>
            <a:pPr eaLnBrk="1" hangingPunct="1">
              <a:lnSpc>
                <a:spcPct val="130000"/>
              </a:lnSpc>
              <a:spcBef>
                <a:spcPts val="0"/>
              </a:spcBef>
            </a:pPr>
            <a:r>
              <a:rPr lang="zh-CN" altLang="en-US" b="1" dirty="0">
                <a:ea typeface="宋体" pitchFamily="2" charset="-122"/>
              </a:rPr>
              <a:t>前面的算法关注平均化的分析</a:t>
            </a:r>
          </a:p>
          <a:p>
            <a:pPr lvl="1" eaLnBrk="1" hangingPunct="1">
              <a:lnSpc>
                <a:spcPct val="130000"/>
              </a:lnSpc>
              <a:spcBef>
                <a:spcPts val="0"/>
              </a:spcBef>
            </a:pPr>
            <a:r>
              <a:rPr lang="zh-CN" altLang="en-US" b="1" dirty="0">
                <a:ea typeface="宋体" pitchFamily="2" charset="-122"/>
              </a:rPr>
              <a:t>平均响应时间，吞吐量</a:t>
            </a:r>
          </a:p>
          <a:p>
            <a:pPr eaLnBrk="1" hangingPunct="1">
              <a:lnSpc>
                <a:spcPct val="130000"/>
              </a:lnSpc>
              <a:spcBef>
                <a:spcPts val="0"/>
              </a:spcBef>
            </a:pPr>
            <a:r>
              <a:rPr lang="zh-CN" altLang="en-US" b="1" dirty="0">
                <a:ea typeface="宋体" pitchFamily="2" charset="-122"/>
              </a:rPr>
              <a:t>对于实时系统，必须在截止日期前完成每一个任务</a:t>
            </a:r>
            <a:endParaRPr lang="en-US" altLang="zh-CN" b="1" dirty="0">
              <a:ea typeface="宋体" pitchFamily="2" charset="-122"/>
            </a:endParaRPr>
          </a:p>
          <a:p>
            <a:pPr lvl="1" eaLnBrk="1" hangingPunct="1">
              <a:lnSpc>
                <a:spcPct val="130000"/>
              </a:lnSpc>
              <a:spcBef>
                <a:spcPts val="0"/>
              </a:spcBef>
            </a:pPr>
            <a:r>
              <a:rPr lang="zh-CN" altLang="en-US" b="1" dirty="0">
                <a:ea typeface="宋体" pitchFamily="2" charset="-122"/>
              </a:rPr>
              <a:t>在截止时间之前多少完成则无关紧要</a:t>
            </a:r>
            <a:endParaRPr lang="en-US" altLang="zh-CN" b="1" dirty="0">
              <a:ea typeface="宋体" pitchFamily="2" charset="-122"/>
            </a:endParaRPr>
          </a:p>
          <a:p>
            <a:pPr lvl="1" eaLnBrk="1" hangingPunct="1"/>
            <a:endParaRPr lang="en-US" altLang="zh-CN" b="1" dirty="0">
              <a:ea typeface="宋体"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3026" name="Rectangle 2"/>
          <p:cNvSpPr>
            <a:spLocks noGrp="1" noChangeArrowheads="1"/>
          </p:cNvSpPr>
          <p:nvPr>
            <p:ph type="title" idx="4294967295"/>
          </p:nvPr>
        </p:nvSpPr>
        <p:spPr/>
        <p:txBody>
          <a:bodyPr/>
          <a:lstStyle/>
          <a:p>
            <a:pPr eaLnBrk="1" hangingPunct="1"/>
            <a:r>
              <a:rPr lang="zh-CN" altLang="en-US" dirty="0">
                <a:ea typeface="宋体" pitchFamily="2" charset="-122"/>
              </a:rPr>
              <a:t>实时调度</a:t>
            </a:r>
          </a:p>
        </p:txBody>
      </p:sp>
      <p:sp>
        <p:nvSpPr>
          <p:cNvPr id="1153027" name="Rectangle 3"/>
          <p:cNvSpPr>
            <a:spLocks noGrp="1" noChangeArrowheads="1"/>
          </p:cNvSpPr>
          <p:nvPr>
            <p:ph type="body" idx="4294967295"/>
          </p:nvPr>
        </p:nvSpPr>
        <p:spPr/>
        <p:txBody>
          <a:bodyPr/>
          <a:lstStyle/>
          <a:p>
            <a:pPr eaLnBrk="1" hangingPunct="1"/>
            <a:r>
              <a:rPr lang="zh-CN" altLang="en-US" b="1" dirty="0">
                <a:ea typeface="宋体" pitchFamily="2" charset="-122"/>
              </a:rPr>
              <a:t>视频输出</a:t>
            </a:r>
            <a:endParaRPr lang="en-US" altLang="zh-CN" b="1" dirty="0">
              <a:ea typeface="宋体" pitchFamily="2" charset="-122"/>
            </a:endParaRPr>
          </a:p>
          <a:p>
            <a:pPr lvl="1" eaLnBrk="1" hangingPunct="1"/>
            <a:r>
              <a:rPr lang="zh-CN" altLang="en-US" b="1" dirty="0">
                <a:ea typeface="宋体" pitchFamily="2" charset="-122"/>
              </a:rPr>
              <a:t>在</a:t>
            </a:r>
            <a:r>
              <a:rPr lang="en-US" altLang="zh-CN" b="1" dirty="0">
                <a:ea typeface="宋体" pitchFamily="2" charset="-122"/>
              </a:rPr>
              <a:t>NTSC</a:t>
            </a:r>
            <a:r>
              <a:rPr lang="zh-CN" altLang="en-US" b="1" dirty="0">
                <a:ea typeface="宋体" pitchFamily="2" charset="-122"/>
              </a:rPr>
              <a:t>制式下，只要每</a:t>
            </a:r>
            <a:r>
              <a:rPr lang="en-US" altLang="zh-CN" b="1" dirty="0">
                <a:ea typeface="宋体" pitchFamily="2" charset="-122"/>
              </a:rPr>
              <a:t>33</a:t>
            </a:r>
            <a:r>
              <a:rPr lang="zh-CN" altLang="en-US" b="1" dirty="0">
                <a:ea typeface="宋体" pitchFamily="2" charset="-122"/>
              </a:rPr>
              <a:t>毫秒发出一个图像帧</a:t>
            </a:r>
            <a:endParaRPr lang="en-US" altLang="zh-CN" b="1" dirty="0">
              <a:ea typeface="宋体" pitchFamily="2" charset="-122"/>
            </a:endParaRPr>
          </a:p>
          <a:p>
            <a:pPr eaLnBrk="1" hangingPunct="1"/>
            <a:r>
              <a:rPr lang="zh-CN" altLang="en-US" b="1" dirty="0">
                <a:ea typeface="宋体" pitchFamily="2" charset="-122"/>
              </a:rPr>
              <a:t>物理控制系统</a:t>
            </a:r>
          </a:p>
          <a:p>
            <a:pPr lvl="1" eaLnBrk="1" hangingPunct="1"/>
            <a:r>
              <a:rPr lang="zh-CN" altLang="en-US" b="1" dirty="0">
                <a:ea typeface="宋体" pitchFamily="2" charset="-122"/>
              </a:rPr>
              <a:t>汽车测速机制等</a:t>
            </a:r>
            <a:r>
              <a:rPr lang="en-US" altLang="zh-CN" b="1" dirty="0">
                <a:ea typeface="宋体" pitchFamily="2" charset="-122"/>
              </a:rPr>
              <a:t>, </a:t>
            </a:r>
            <a:r>
              <a:rPr lang="zh-CN" altLang="en-US" b="1" dirty="0">
                <a:ea typeface="宋体" pitchFamily="2" charset="-122"/>
              </a:rPr>
              <a:t>核反应堆控制温度系统</a:t>
            </a:r>
          </a:p>
          <a:p>
            <a:pPr lvl="1" eaLnBrk="1" hangingPunct="1"/>
            <a:endParaRPr lang="en-US" altLang="zh-CN" b="1" dirty="0">
              <a:ea typeface="宋体" pitchFamily="2" charset="-122"/>
            </a:endParaRPr>
          </a:p>
          <a:p>
            <a:pPr eaLnBrk="1" hangingPunct="1"/>
            <a:r>
              <a:rPr lang="zh-CN" altLang="en-US" b="1" dirty="0">
                <a:ea typeface="宋体" pitchFamily="2" charset="-122"/>
              </a:rPr>
              <a:t>那我们应该怎么处理这类实时系统</a:t>
            </a:r>
            <a:r>
              <a:rPr lang="en-US" altLang="zh-CN" b="1" dirty="0">
                <a:ea typeface="宋体" pitchFamily="2" charset="-122"/>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381000" y="838200"/>
            <a:ext cx="8534400" cy="381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a:lnSpc>
                <a:spcPct val="85000"/>
              </a:lnSpc>
              <a:defRPr/>
            </a:pPr>
            <a:r>
              <a:rPr lang="zh-CN" altLang="en-US" sz="2800" b="1" kern="0" dirty="0">
                <a:solidFill>
                  <a:schemeClr val="tx2"/>
                </a:solidFill>
                <a:latin typeface="+mj-lt"/>
                <a:cs typeface="+mj-cs"/>
              </a:rPr>
              <a:t>实现实时调度的基本条件</a:t>
            </a:r>
          </a:p>
        </p:txBody>
      </p:sp>
      <p:sp>
        <p:nvSpPr>
          <p:cNvPr id="3" name="Rectangle 3"/>
          <p:cNvSpPr txBox="1">
            <a:spLocks noChangeArrowheads="1"/>
          </p:cNvSpPr>
          <p:nvPr/>
        </p:nvSpPr>
        <p:spPr bwMode="gray">
          <a:xfrm>
            <a:off x="1447800" y="1333500"/>
            <a:ext cx="8534400" cy="5029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265113" indent="-265113">
              <a:spcBef>
                <a:spcPct val="35000"/>
              </a:spcBef>
              <a:buClr>
                <a:schemeClr val="hlink"/>
              </a:buClr>
              <a:buSzPct val="85000"/>
              <a:buFont typeface="Wingdings" pitchFamily="2" charset="2"/>
              <a:buChar char="Ü"/>
              <a:defRPr/>
            </a:pPr>
            <a:r>
              <a:rPr lang="en-US" altLang="zh-CN" sz="2200" b="1" kern="0" dirty="0">
                <a:latin typeface="+mn-lt"/>
              </a:rPr>
              <a:t>1</a:t>
            </a:r>
            <a:r>
              <a:rPr lang="zh-CN" altLang="en-US" sz="2200" b="1" kern="0" dirty="0">
                <a:latin typeface="+mn-lt"/>
              </a:rPr>
              <a:t>、提供必要的调度信息</a:t>
            </a:r>
            <a:endParaRPr lang="en-US" altLang="zh-CN" sz="2200" b="1" kern="0" dirty="0">
              <a:latin typeface="+mn-lt"/>
            </a:endParaRPr>
          </a:p>
          <a:p>
            <a:pPr marL="625475" lvl="1" indent="-176213">
              <a:spcBef>
                <a:spcPct val="35000"/>
              </a:spcBef>
              <a:buClr>
                <a:schemeClr val="hlink"/>
              </a:buClr>
              <a:buFontTx/>
              <a:buChar char="–"/>
            </a:pPr>
            <a:r>
              <a:rPr lang="zh-CN" altLang="en-US" sz="2200" b="1" kern="0" dirty="0">
                <a:latin typeface="+mn-lt"/>
              </a:rPr>
              <a:t>（</a:t>
            </a:r>
            <a:r>
              <a:rPr lang="en-US" altLang="zh-CN" sz="2200" b="1" kern="0" dirty="0">
                <a:latin typeface="+mn-lt"/>
              </a:rPr>
              <a:t>1</a:t>
            </a:r>
            <a:r>
              <a:rPr lang="zh-CN" altLang="en-US" sz="2200" b="1" kern="0" dirty="0">
                <a:latin typeface="+mn-lt"/>
              </a:rPr>
              <a:t>）就绪时间；</a:t>
            </a:r>
          </a:p>
          <a:p>
            <a:pPr marL="625475" lvl="1" indent="-176213">
              <a:spcBef>
                <a:spcPct val="35000"/>
              </a:spcBef>
              <a:buClr>
                <a:schemeClr val="hlink"/>
              </a:buClr>
              <a:buFontTx/>
              <a:buChar char="–"/>
            </a:pPr>
            <a:r>
              <a:rPr lang="zh-CN" altLang="en-US" sz="2200" b="1" kern="0" dirty="0">
                <a:latin typeface="+mn-lt"/>
              </a:rPr>
              <a:t>（</a:t>
            </a:r>
            <a:r>
              <a:rPr lang="en-US" altLang="zh-CN" sz="2200" b="1" kern="0" dirty="0">
                <a:latin typeface="+mn-lt"/>
              </a:rPr>
              <a:t>2</a:t>
            </a:r>
            <a:r>
              <a:rPr lang="zh-CN" altLang="en-US" sz="2200" b="1" kern="0" dirty="0">
                <a:latin typeface="+mn-lt"/>
              </a:rPr>
              <a:t>）开始</a:t>
            </a:r>
            <a:r>
              <a:rPr lang="en-US" altLang="zh-CN" sz="2200" b="1" kern="0" dirty="0">
                <a:latin typeface="+mn-lt"/>
              </a:rPr>
              <a:t>/</a:t>
            </a:r>
            <a:r>
              <a:rPr lang="zh-CN" altLang="en-US" sz="2200" b="1" kern="0" dirty="0">
                <a:latin typeface="+mn-lt"/>
              </a:rPr>
              <a:t>完成截止时间；</a:t>
            </a:r>
          </a:p>
          <a:p>
            <a:pPr marL="625475" lvl="1" indent="-176213">
              <a:spcBef>
                <a:spcPct val="35000"/>
              </a:spcBef>
              <a:buClr>
                <a:schemeClr val="hlink"/>
              </a:buClr>
              <a:buFontTx/>
              <a:buChar char="–"/>
            </a:pPr>
            <a:r>
              <a:rPr lang="zh-CN" altLang="en-US" sz="2200" b="1" kern="0" dirty="0">
                <a:latin typeface="+mn-lt"/>
              </a:rPr>
              <a:t>（</a:t>
            </a:r>
            <a:r>
              <a:rPr lang="en-US" altLang="zh-CN" sz="2200" b="1" kern="0" dirty="0">
                <a:latin typeface="+mn-lt"/>
              </a:rPr>
              <a:t>3</a:t>
            </a:r>
            <a:r>
              <a:rPr lang="zh-CN" altLang="en-US" sz="2200" b="1" kern="0" dirty="0">
                <a:latin typeface="+mn-lt"/>
              </a:rPr>
              <a:t>）处理时间；</a:t>
            </a:r>
          </a:p>
          <a:p>
            <a:pPr marL="625475" lvl="1" indent="-176213">
              <a:spcBef>
                <a:spcPct val="35000"/>
              </a:spcBef>
              <a:buClr>
                <a:schemeClr val="hlink"/>
              </a:buClr>
              <a:buFontTx/>
              <a:buChar char="–"/>
            </a:pPr>
            <a:r>
              <a:rPr lang="zh-CN" altLang="en-US" sz="2200" b="1" kern="0" dirty="0">
                <a:latin typeface="+mn-lt"/>
              </a:rPr>
              <a:t>（</a:t>
            </a:r>
            <a:r>
              <a:rPr lang="en-US" altLang="zh-CN" sz="2200" b="1" kern="0" dirty="0">
                <a:latin typeface="+mn-lt"/>
              </a:rPr>
              <a:t>4</a:t>
            </a:r>
            <a:r>
              <a:rPr lang="zh-CN" altLang="en-US" sz="2200" b="1" kern="0" dirty="0">
                <a:latin typeface="+mn-lt"/>
              </a:rPr>
              <a:t>）资源要求；</a:t>
            </a:r>
          </a:p>
          <a:p>
            <a:pPr marL="625475" lvl="1" indent="-176213">
              <a:spcBef>
                <a:spcPct val="35000"/>
              </a:spcBef>
              <a:buClr>
                <a:schemeClr val="hlink"/>
              </a:buClr>
              <a:buFontTx/>
              <a:buChar char="–"/>
            </a:pPr>
            <a:r>
              <a:rPr lang="zh-CN" altLang="en-US" sz="2200" b="1" kern="0" dirty="0">
                <a:latin typeface="+mn-lt"/>
              </a:rPr>
              <a:t>（</a:t>
            </a:r>
            <a:r>
              <a:rPr lang="en-US" altLang="zh-CN" sz="2200" b="1" kern="0" dirty="0">
                <a:latin typeface="+mn-lt"/>
              </a:rPr>
              <a:t>5</a:t>
            </a:r>
            <a:r>
              <a:rPr lang="zh-CN" altLang="en-US" sz="2200" b="1" kern="0" dirty="0">
                <a:latin typeface="+mn-lt"/>
              </a:rPr>
              <a:t>）优先级；</a:t>
            </a:r>
          </a:p>
          <a:p>
            <a:pPr marL="265113" indent="-265113">
              <a:spcBef>
                <a:spcPct val="35000"/>
              </a:spcBef>
              <a:buClr>
                <a:schemeClr val="hlink"/>
              </a:buClr>
              <a:buSzPct val="85000"/>
              <a:buFont typeface="Wingdings" pitchFamily="2" charset="2"/>
              <a:buChar char="Ü"/>
              <a:defRPr/>
            </a:pPr>
            <a:r>
              <a:rPr lang="en-US" altLang="zh-CN" sz="2200" b="1" kern="0" dirty="0">
                <a:latin typeface="+mn-lt"/>
              </a:rPr>
              <a:t>2</a:t>
            </a:r>
            <a:r>
              <a:rPr lang="zh-CN" altLang="en-US" sz="2200" b="1" kern="0" dirty="0">
                <a:latin typeface="+mn-lt"/>
              </a:rPr>
              <a:t>、系统处理能力强</a:t>
            </a:r>
          </a:p>
        </p:txBody>
      </p:sp>
      <p:graphicFrame>
        <p:nvGraphicFramePr>
          <p:cNvPr id="4" name="Object 1030"/>
          <p:cNvGraphicFramePr>
            <a:graphicFrameLocks noChangeAspect="1"/>
          </p:cNvGraphicFramePr>
          <p:nvPr>
            <p:extLst>
              <p:ext uri="{D42A27DB-BD31-4B8C-83A1-F6EECF244321}">
                <p14:modId xmlns:p14="http://schemas.microsoft.com/office/powerpoint/2010/main" val="3625466087"/>
              </p:ext>
            </p:extLst>
          </p:nvPr>
        </p:nvGraphicFramePr>
        <p:xfrm>
          <a:off x="2133600" y="4335463"/>
          <a:ext cx="3762375" cy="2027237"/>
        </p:xfrm>
        <a:graphic>
          <a:graphicData uri="http://schemas.openxmlformats.org/presentationml/2006/ole">
            <mc:AlternateContent xmlns:mc="http://schemas.openxmlformats.org/markup-compatibility/2006">
              <mc:Choice xmlns:v="urn:schemas-microsoft-com:vml" Requires="v">
                <p:oleObj name="公式" r:id="rId3" imgW="1625400" imgH="876240" progId="">
                  <p:embed/>
                </p:oleObj>
              </mc:Choice>
              <mc:Fallback>
                <p:oleObj name="公式" r:id="rId3" imgW="1625400" imgH="876240" progId="">
                  <p:embed/>
                  <p:pic>
                    <p:nvPicPr>
                      <p:cNvPr id="0" name="Object 10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335463"/>
                        <a:ext cx="3762375" cy="2027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033"/>
          <p:cNvSpPr txBox="1">
            <a:spLocks noChangeArrowheads="1"/>
          </p:cNvSpPr>
          <p:nvPr/>
        </p:nvSpPr>
        <p:spPr bwMode="auto">
          <a:xfrm>
            <a:off x="4876800" y="6076890"/>
            <a:ext cx="7069564" cy="400110"/>
          </a:xfrm>
          <a:prstGeom prst="rect">
            <a:avLst/>
          </a:prstGeom>
          <a:noFill/>
          <a:ln w="9525">
            <a:noFill/>
            <a:miter lim="800000"/>
            <a:headEnd/>
            <a:tailEnd/>
          </a:ln>
        </p:spPr>
        <p:txBody>
          <a:bodyPr wrap="none">
            <a:spAutoFit/>
          </a:bodyPr>
          <a:lstStyle/>
          <a:p>
            <a:r>
              <a:rPr lang="zh-CN" altLang="en-US" b="1" dirty="0"/>
              <a:t>其中，</a:t>
            </a:r>
            <a:r>
              <a:rPr lang="en-US" altLang="zh-CN" b="1" dirty="0" err="1"/>
              <a:t>Ci</a:t>
            </a:r>
            <a:r>
              <a:rPr lang="zh-CN" altLang="en-US" b="1" dirty="0"/>
              <a:t>为处理时间，</a:t>
            </a:r>
            <a:r>
              <a:rPr lang="en-US" altLang="zh-CN" b="1" dirty="0"/>
              <a:t>Pi</a:t>
            </a:r>
            <a:r>
              <a:rPr lang="zh-CN" altLang="en-US" b="1" dirty="0"/>
              <a:t>为周期时间（基于周期性实时任务）</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533400" y="838200"/>
            <a:ext cx="8534400" cy="381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a:lnSpc>
                <a:spcPct val="85000"/>
              </a:lnSpc>
              <a:defRPr/>
            </a:pPr>
            <a:r>
              <a:rPr lang="zh-CN" altLang="en-US" sz="2800" b="1" kern="0" dirty="0">
                <a:solidFill>
                  <a:schemeClr val="tx2"/>
                </a:solidFill>
                <a:latin typeface="+mj-lt"/>
                <a:cs typeface="+mj-cs"/>
              </a:rPr>
              <a:t>实现实时调度的基本条件</a:t>
            </a:r>
          </a:p>
        </p:txBody>
      </p:sp>
      <p:sp>
        <p:nvSpPr>
          <p:cNvPr id="3" name="Rectangle 3"/>
          <p:cNvSpPr txBox="1">
            <a:spLocks noChangeArrowheads="1"/>
          </p:cNvSpPr>
          <p:nvPr/>
        </p:nvSpPr>
        <p:spPr bwMode="gray">
          <a:xfrm>
            <a:off x="1143000" y="1447800"/>
            <a:ext cx="8534400" cy="5029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265113" indent="-265113">
              <a:spcBef>
                <a:spcPct val="35000"/>
              </a:spcBef>
              <a:buClr>
                <a:schemeClr val="hlink"/>
              </a:buClr>
              <a:buSzPct val="85000"/>
              <a:buFont typeface="Wingdings" pitchFamily="2" charset="2"/>
              <a:buChar char="Ü"/>
            </a:pPr>
            <a:r>
              <a:rPr lang="en-US" altLang="zh-CN" sz="2200" b="1" kern="0" dirty="0">
                <a:latin typeface="+mn-lt"/>
              </a:rPr>
              <a:t>3</a:t>
            </a:r>
            <a:r>
              <a:rPr lang="zh-CN" altLang="en-US" sz="2200" b="1" kern="0" dirty="0">
                <a:latin typeface="+mn-lt"/>
              </a:rPr>
              <a:t>、采用抢占调度方式</a:t>
            </a:r>
            <a:endParaRPr lang="en-US" altLang="zh-CN" sz="2200" b="1" kern="0" dirty="0">
              <a:latin typeface="+mn-lt"/>
            </a:endParaRPr>
          </a:p>
          <a:p>
            <a:pPr marL="625475" lvl="1" indent="-176213">
              <a:spcBef>
                <a:spcPct val="35000"/>
              </a:spcBef>
              <a:buClr>
                <a:schemeClr val="hlink"/>
              </a:buClr>
              <a:buFontTx/>
              <a:buChar char="–"/>
            </a:pPr>
            <a:r>
              <a:rPr lang="zh-CN" altLang="en-US" sz="2200" b="1" kern="0" dirty="0">
                <a:latin typeface="+mn-lt"/>
              </a:rPr>
              <a:t> 抢占方式：一般都采用此方式</a:t>
            </a:r>
          </a:p>
          <a:p>
            <a:pPr marL="625475" lvl="1" indent="-176213">
              <a:spcBef>
                <a:spcPct val="35000"/>
              </a:spcBef>
              <a:buClr>
                <a:schemeClr val="hlink"/>
              </a:buClr>
              <a:buFontTx/>
              <a:buChar char="–"/>
            </a:pPr>
            <a:r>
              <a:rPr lang="zh-CN" altLang="en-US" sz="2200" b="1" kern="0" dirty="0">
                <a:latin typeface="+mn-lt"/>
              </a:rPr>
              <a:t> 非抢占方式（实现简单）：一般应使实时任务较小，以及时放弃</a:t>
            </a:r>
            <a:r>
              <a:rPr lang="en-US" altLang="zh-CN" sz="2200" b="1" kern="0" dirty="0">
                <a:latin typeface="+mn-lt"/>
              </a:rPr>
              <a:t>CPU</a:t>
            </a:r>
            <a:r>
              <a:rPr lang="zh-CN" altLang="en-US" sz="2200" b="1" kern="0" dirty="0">
                <a:latin typeface="+mn-lt"/>
              </a:rPr>
              <a:t>。</a:t>
            </a:r>
          </a:p>
          <a:p>
            <a:pPr marL="265113" indent="-265113">
              <a:spcBef>
                <a:spcPct val="35000"/>
              </a:spcBef>
              <a:buClr>
                <a:schemeClr val="hlink"/>
              </a:buClr>
              <a:buSzPct val="85000"/>
              <a:buFont typeface="Wingdings" pitchFamily="2" charset="2"/>
              <a:buChar char="Ü"/>
              <a:defRPr/>
            </a:pPr>
            <a:r>
              <a:rPr lang="en-US" altLang="zh-CN" sz="2200" b="1" kern="0" dirty="0">
                <a:latin typeface="+mn-lt"/>
              </a:rPr>
              <a:t>4</a:t>
            </a:r>
            <a:r>
              <a:rPr lang="zh-CN" altLang="en-US" sz="2200" b="1" kern="0" dirty="0">
                <a:latin typeface="+mn-lt"/>
              </a:rPr>
              <a:t>、具有快速切换机制</a:t>
            </a:r>
            <a:endParaRPr lang="en-US" altLang="zh-CN" sz="2200" b="1" kern="0" dirty="0">
              <a:latin typeface="+mn-lt"/>
            </a:endParaRPr>
          </a:p>
          <a:p>
            <a:pPr marL="625475" lvl="1" indent="-176213">
              <a:spcBef>
                <a:spcPct val="35000"/>
              </a:spcBef>
              <a:buClr>
                <a:schemeClr val="hlink"/>
              </a:buClr>
              <a:buSzPct val="85000"/>
              <a:buFontTx/>
              <a:buChar char="–"/>
            </a:pPr>
            <a:r>
              <a:rPr lang="zh-CN" altLang="en-US" sz="2200" b="1" kern="0" dirty="0">
                <a:latin typeface="+mn-lt"/>
              </a:rPr>
              <a:t> 要求系统具有快速硬件中断机构，具有快速响应外部中断能力。</a:t>
            </a:r>
          </a:p>
          <a:p>
            <a:pPr marL="625475" lvl="1" indent="-176213">
              <a:spcBef>
                <a:spcPct val="35000"/>
              </a:spcBef>
              <a:buClr>
                <a:schemeClr val="hlink"/>
              </a:buClr>
              <a:buSzPct val="85000"/>
              <a:buFontTx/>
              <a:buChar char="–"/>
            </a:pPr>
            <a:r>
              <a:rPr lang="zh-CN" altLang="en-US" sz="2200" b="1" kern="0" dirty="0">
                <a:latin typeface="+mn-lt"/>
              </a:rPr>
              <a:t> 快速任务分派。</a:t>
            </a:r>
          </a:p>
          <a:p>
            <a:pPr marL="265113" indent="-265113">
              <a:spcBef>
                <a:spcPct val="35000"/>
              </a:spcBef>
              <a:buClr>
                <a:schemeClr val="hlink"/>
              </a:buClr>
              <a:buSzPct val="85000"/>
              <a:buFont typeface="Wingdings" pitchFamily="2" charset="2"/>
              <a:buChar char="Ü"/>
              <a:defRPr/>
            </a:pPr>
            <a:endParaRPr lang="zh-CN" altLang="en-US" sz="2200" b="1" kern="0" dirty="0">
              <a:latin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457200" y="762000"/>
            <a:ext cx="8534400" cy="381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lnSpc>
                <a:spcPct val="85000"/>
              </a:lnSpc>
              <a:defRPr/>
            </a:pPr>
            <a:r>
              <a:rPr lang="zh-CN" altLang="en-US" sz="2800" b="1" kern="0" dirty="0">
                <a:solidFill>
                  <a:schemeClr val="tx2"/>
                </a:solidFill>
              </a:rPr>
              <a:t>实时调度算法的分类</a:t>
            </a:r>
          </a:p>
        </p:txBody>
      </p:sp>
      <p:sp>
        <p:nvSpPr>
          <p:cNvPr id="3" name="Rectangle 3"/>
          <p:cNvSpPr txBox="1">
            <a:spLocks noChangeArrowheads="1"/>
          </p:cNvSpPr>
          <p:nvPr/>
        </p:nvSpPr>
        <p:spPr bwMode="gray">
          <a:xfrm>
            <a:off x="1143000" y="1524000"/>
            <a:ext cx="8534400" cy="5029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265113" indent="-265113">
              <a:spcBef>
                <a:spcPct val="35000"/>
              </a:spcBef>
              <a:buClr>
                <a:schemeClr val="hlink"/>
              </a:buClr>
              <a:buSzPct val="85000"/>
              <a:buFont typeface="Wingdings" pitchFamily="2" charset="2"/>
              <a:buChar char="Ü"/>
            </a:pPr>
            <a:r>
              <a:rPr lang="zh-CN" altLang="en-US" sz="2200" b="1" kern="0" dirty="0">
                <a:latin typeface="+mn-lt"/>
              </a:rPr>
              <a:t>非抢占式调度算法</a:t>
            </a:r>
            <a:endParaRPr lang="en-US" altLang="zh-CN" sz="2200" b="1" kern="0" dirty="0">
              <a:latin typeface="+mn-lt"/>
            </a:endParaRPr>
          </a:p>
          <a:p>
            <a:pPr marL="625475" lvl="1" indent="-176213">
              <a:spcBef>
                <a:spcPct val="35000"/>
              </a:spcBef>
              <a:buClr>
                <a:schemeClr val="hlink"/>
              </a:buClr>
              <a:buFontTx/>
              <a:buChar char="–"/>
            </a:pPr>
            <a:r>
              <a:rPr lang="zh-CN" altLang="en-US" sz="2200" b="1" kern="0" dirty="0">
                <a:latin typeface="+mn-lt"/>
              </a:rPr>
              <a:t> 时间片轮转：工业生产的群控系统。响应时间：秒级</a:t>
            </a:r>
          </a:p>
          <a:p>
            <a:pPr marL="625475" lvl="1" indent="-176213">
              <a:spcBef>
                <a:spcPct val="35000"/>
              </a:spcBef>
              <a:buClr>
                <a:schemeClr val="hlink"/>
              </a:buClr>
              <a:buFontTx/>
              <a:buChar char="–"/>
            </a:pPr>
            <a:r>
              <a:rPr lang="zh-CN" altLang="en-US" sz="2200" b="1" kern="0" dirty="0">
                <a:latin typeface="+mn-lt"/>
              </a:rPr>
              <a:t> 优先级调度：有一定要求的实时控制系统。响应时间：秒</a:t>
            </a:r>
            <a:r>
              <a:rPr lang="en-US" altLang="zh-CN" sz="2200" b="1" kern="0" dirty="0">
                <a:latin typeface="+mn-lt"/>
              </a:rPr>
              <a:t>-</a:t>
            </a:r>
            <a:r>
              <a:rPr lang="zh-CN" altLang="en-US" sz="2200" b="1" kern="0" dirty="0">
                <a:latin typeface="+mn-lt"/>
              </a:rPr>
              <a:t>毫秒级</a:t>
            </a:r>
          </a:p>
          <a:p>
            <a:pPr marL="265113" indent="-265113">
              <a:spcBef>
                <a:spcPct val="35000"/>
              </a:spcBef>
              <a:buClr>
                <a:schemeClr val="hlink"/>
              </a:buClr>
              <a:buSzPct val="85000"/>
              <a:buFont typeface="Wingdings" pitchFamily="2" charset="2"/>
              <a:buChar char="Ü"/>
              <a:defRPr/>
            </a:pPr>
            <a:r>
              <a:rPr lang="zh-CN" altLang="en-US" sz="2200" b="1" kern="0" dirty="0">
                <a:latin typeface="+mn-lt"/>
              </a:rPr>
              <a:t>抢占式调度算法</a:t>
            </a:r>
            <a:endParaRPr lang="en-US" altLang="zh-CN" sz="2200" b="1" kern="0" dirty="0">
              <a:latin typeface="+mn-lt"/>
            </a:endParaRPr>
          </a:p>
          <a:p>
            <a:pPr marL="625475" lvl="1" indent="-176213">
              <a:spcBef>
                <a:spcPct val="35000"/>
              </a:spcBef>
              <a:buClr>
                <a:schemeClr val="hlink"/>
              </a:buClr>
              <a:buSzPct val="85000"/>
              <a:buFontTx/>
              <a:buChar char="–"/>
            </a:pPr>
            <a:r>
              <a:rPr lang="zh-CN" altLang="en-US" sz="2200" b="1" kern="0" dirty="0">
                <a:latin typeface="+mn-lt"/>
              </a:rPr>
              <a:t> 时钟中断抢占式优先权：大多数实时系统。响应时间：毫秒级。</a:t>
            </a:r>
            <a:endParaRPr lang="en-US" altLang="zh-CN" sz="2200" b="1" kern="0" dirty="0">
              <a:latin typeface="+mn-lt"/>
            </a:endParaRPr>
          </a:p>
          <a:p>
            <a:pPr marL="1082675" lvl="2" indent="-176213">
              <a:spcBef>
                <a:spcPct val="35000"/>
              </a:spcBef>
              <a:buClr>
                <a:schemeClr val="hlink"/>
              </a:buClr>
              <a:buSzPct val="85000"/>
              <a:buFontTx/>
              <a:buChar char="–"/>
            </a:pPr>
            <a:r>
              <a:rPr lang="zh-CN" altLang="en-US" sz="2200" b="1" kern="0" dirty="0">
                <a:solidFill>
                  <a:srgbClr val="FF0000"/>
                </a:solidFill>
                <a:effectLst>
                  <a:outerShdw blurRad="38100" dist="38100" dir="2700000" algn="tl">
                    <a:srgbClr val="000000">
                      <a:alpha val="43137"/>
                    </a:srgbClr>
                  </a:outerShdw>
                </a:effectLst>
                <a:latin typeface="+mn-lt"/>
              </a:rPr>
              <a:t>基于抢占点抢占。</a:t>
            </a:r>
          </a:p>
          <a:p>
            <a:pPr marL="625475" lvl="1" indent="-176213">
              <a:spcBef>
                <a:spcPct val="35000"/>
              </a:spcBef>
              <a:buClr>
                <a:schemeClr val="hlink"/>
              </a:buClr>
              <a:buSzPct val="85000"/>
              <a:buFontTx/>
              <a:buChar char="–"/>
            </a:pPr>
            <a:r>
              <a:rPr lang="zh-CN" altLang="en-US" sz="2200" b="1" kern="0" dirty="0">
                <a:latin typeface="+mn-lt"/>
              </a:rPr>
              <a:t> 立即抢占：响应时间：毫秒</a:t>
            </a:r>
            <a:r>
              <a:rPr lang="en-US" altLang="zh-CN" sz="2200" b="1" kern="0" dirty="0">
                <a:latin typeface="+mn-lt"/>
              </a:rPr>
              <a:t>-</a:t>
            </a:r>
            <a:r>
              <a:rPr lang="zh-CN" altLang="en-US" sz="2200" b="1" kern="0" dirty="0">
                <a:latin typeface="+mn-lt"/>
              </a:rPr>
              <a:t>微秒级</a:t>
            </a:r>
            <a:endParaRPr lang="en-US" altLang="zh-CN" sz="2200" b="1" kern="0" dirty="0">
              <a:latin typeface="+mn-lt"/>
            </a:endParaRPr>
          </a:p>
          <a:p>
            <a:pPr marL="1082675" lvl="2" indent="-176213">
              <a:spcBef>
                <a:spcPct val="35000"/>
              </a:spcBef>
              <a:buClr>
                <a:schemeClr val="hlink"/>
              </a:buClr>
              <a:buSzPct val="85000"/>
              <a:buFontTx/>
              <a:buChar char="–"/>
            </a:pPr>
            <a:r>
              <a:rPr lang="zh-CN" altLang="en-US" sz="2200" b="1" kern="0" dirty="0">
                <a:solidFill>
                  <a:srgbClr val="FF0000"/>
                </a:solidFill>
                <a:effectLst>
                  <a:outerShdw blurRad="38100" dist="38100" dir="2700000" algn="tl">
                    <a:srgbClr val="000000">
                      <a:alpha val="43137"/>
                    </a:srgbClr>
                  </a:outerShdw>
                </a:effectLst>
                <a:latin typeface="+mn-lt"/>
              </a:rPr>
              <a:t>只要不在临界区即抢占。</a:t>
            </a:r>
          </a:p>
          <a:p>
            <a:pPr marL="265113" indent="-265113">
              <a:spcBef>
                <a:spcPct val="35000"/>
              </a:spcBef>
              <a:buClr>
                <a:schemeClr val="hlink"/>
              </a:buClr>
              <a:buSzPct val="85000"/>
              <a:buFont typeface="Wingdings" pitchFamily="2" charset="2"/>
              <a:buChar char="Ü"/>
              <a:defRPr/>
            </a:pPr>
            <a:endParaRPr lang="zh-CN" altLang="en-US" sz="2200" b="1" kern="0" dirty="0">
              <a:latin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2268539" y="1733491"/>
            <a:ext cx="1368425" cy="431800"/>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进程</a:t>
            </a:r>
            <a:r>
              <a:rPr lang="en-US" altLang="zh-CN">
                <a:ea typeface="宋体" charset="-122"/>
              </a:rPr>
              <a:t>1</a:t>
            </a:r>
          </a:p>
        </p:txBody>
      </p:sp>
      <p:sp>
        <p:nvSpPr>
          <p:cNvPr id="36867" name="Rectangle 5"/>
          <p:cNvSpPr>
            <a:spLocks noChangeArrowheads="1"/>
          </p:cNvSpPr>
          <p:nvPr/>
        </p:nvSpPr>
        <p:spPr bwMode="auto">
          <a:xfrm>
            <a:off x="3636964" y="1733491"/>
            <a:ext cx="1368425" cy="431800"/>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进程</a:t>
            </a:r>
            <a:r>
              <a:rPr lang="en-US" altLang="zh-CN">
                <a:ea typeface="宋体" charset="-122"/>
              </a:rPr>
              <a:t>2</a:t>
            </a:r>
          </a:p>
        </p:txBody>
      </p:sp>
      <p:sp>
        <p:nvSpPr>
          <p:cNvPr id="36868" name="Rectangle 6"/>
          <p:cNvSpPr>
            <a:spLocks noChangeArrowheads="1"/>
          </p:cNvSpPr>
          <p:nvPr/>
        </p:nvSpPr>
        <p:spPr bwMode="auto">
          <a:xfrm>
            <a:off x="5940426" y="1733491"/>
            <a:ext cx="1368425" cy="431800"/>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进程</a:t>
            </a:r>
            <a:r>
              <a:rPr lang="en-US" altLang="zh-CN">
                <a:ea typeface="宋体" charset="-122"/>
              </a:rPr>
              <a:t>n</a:t>
            </a:r>
          </a:p>
        </p:txBody>
      </p:sp>
      <p:sp>
        <p:nvSpPr>
          <p:cNvPr id="36869" name="Rectangle 7"/>
          <p:cNvSpPr>
            <a:spLocks noChangeArrowheads="1"/>
          </p:cNvSpPr>
          <p:nvPr/>
        </p:nvSpPr>
        <p:spPr bwMode="auto">
          <a:xfrm>
            <a:off x="7308851" y="1733491"/>
            <a:ext cx="1368425" cy="431800"/>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实时进程</a:t>
            </a:r>
          </a:p>
        </p:txBody>
      </p:sp>
      <p:sp>
        <p:nvSpPr>
          <p:cNvPr id="36871" name="Line 9"/>
          <p:cNvSpPr>
            <a:spLocks noChangeShapeType="1"/>
          </p:cNvSpPr>
          <p:nvPr/>
        </p:nvSpPr>
        <p:spPr bwMode="auto">
          <a:xfrm>
            <a:off x="2916238" y="2093854"/>
            <a:ext cx="0" cy="792162"/>
          </a:xfrm>
          <a:prstGeom prst="line">
            <a:avLst/>
          </a:prstGeom>
          <a:noFill/>
          <a:ln w="25400">
            <a:solidFill>
              <a:schemeClr val="tx1"/>
            </a:solidFill>
            <a:miter lim="800000"/>
            <a:headEnd/>
            <a:tailEnd/>
          </a:ln>
        </p:spPr>
        <p:txBody>
          <a:bodyPr wrap="none"/>
          <a:lstStyle/>
          <a:p>
            <a:endParaRPr lang="zh-CN" altLang="en-US"/>
          </a:p>
        </p:txBody>
      </p:sp>
      <p:sp>
        <p:nvSpPr>
          <p:cNvPr id="36872" name="Line 10"/>
          <p:cNvSpPr>
            <a:spLocks noChangeShapeType="1"/>
          </p:cNvSpPr>
          <p:nvPr/>
        </p:nvSpPr>
        <p:spPr bwMode="auto">
          <a:xfrm>
            <a:off x="7308850" y="2093854"/>
            <a:ext cx="0" cy="863600"/>
          </a:xfrm>
          <a:prstGeom prst="line">
            <a:avLst/>
          </a:prstGeom>
          <a:noFill/>
          <a:ln w="25400">
            <a:solidFill>
              <a:schemeClr val="tx1"/>
            </a:solidFill>
            <a:miter lim="800000"/>
            <a:headEnd/>
            <a:tailEnd/>
          </a:ln>
        </p:spPr>
        <p:txBody>
          <a:bodyPr wrap="none"/>
          <a:lstStyle/>
          <a:p>
            <a:endParaRPr lang="zh-CN" altLang="en-US"/>
          </a:p>
        </p:txBody>
      </p:sp>
      <p:sp>
        <p:nvSpPr>
          <p:cNvPr id="36873" name="Line 11"/>
          <p:cNvSpPr>
            <a:spLocks noChangeShapeType="1"/>
          </p:cNvSpPr>
          <p:nvPr/>
        </p:nvSpPr>
        <p:spPr bwMode="auto">
          <a:xfrm>
            <a:off x="2916238" y="2812991"/>
            <a:ext cx="4392612" cy="0"/>
          </a:xfrm>
          <a:prstGeom prst="line">
            <a:avLst/>
          </a:prstGeom>
          <a:noFill/>
          <a:ln w="25400">
            <a:solidFill>
              <a:schemeClr val="tx1"/>
            </a:solidFill>
            <a:miter lim="800000"/>
            <a:headEnd type="stealth" w="med" len="med"/>
            <a:tailEnd type="stealth" w="med" len="med"/>
          </a:ln>
        </p:spPr>
        <p:txBody>
          <a:bodyPr wrap="none"/>
          <a:lstStyle/>
          <a:p>
            <a:endParaRPr lang="zh-CN" altLang="en-US"/>
          </a:p>
        </p:txBody>
      </p:sp>
      <p:sp>
        <p:nvSpPr>
          <p:cNvPr id="36874" name="Text Box 12"/>
          <p:cNvSpPr txBox="1">
            <a:spLocks noChangeArrowheads="1"/>
          </p:cNvSpPr>
          <p:nvPr/>
        </p:nvSpPr>
        <p:spPr bwMode="auto">
          <a:xfrm>
            <a:off x="4137025" y="2771716"/>
            <a:ext cx="1210588" cy="400110"/>
          </a:xfrm>
          <a:prstGeom prst="rect">
            <a:avLst/>
          </a:prstGeom>
          <a:noFill/>
          <a:ln w="25400">
            <a:noFill/>
            <a:miter lim="800000"/>
            <a:headEnd/>
            <a:tailEnd/>
          </a:ln>
        </p:spPr>
        <p:txBody>
          <a:bodyPr wrap="none">
            <a:spAutoFit/>
          </a:bodyPr>
          <a:lstStyle/>
          <a:p>
            <a:r>
              <a:rPr lang="zh-CN" altLang="en-US" dirty="0">
                <a:solidFill>
                  <a:srgbClr val="FF0000"/>
                </a:solidFill>
                <a:ea typeface="宋体" charset="-122"/>
              </a:rPr>
              <a:t>调度时间</a:t>
            </a:r>
          </a:p>
        </p:txBody>
      </p:sp>
      <p:sp>
        <p:nvSpPr>
          <p:cNvPr id="36875" name="Text Box 13"/>
          <p:cNvSpPr txBox="1">
            <a:spLocks noChangeArrowheads="1"/>
          </p:cNvSpPr>
          <p:nvPr/>
        </p:nvSpPr>
        <p:spPr bwMode="auto">
          <a:xfrm>
            <a:off x="1614488" y="725429"/>
            <a:ext cx="2236510" cy="400110"/>
          </a:xfrm>
          <a:prstGeom prst="rect">
            <a:avLst/>
          </a:prstGeom>
          <a:noFill/>
          <a:ln w="25400">
            <a:noFill/>
            <a:miter lim="800000"/>
            <a:headEnd/>
            <a:tailEnd/>
          </a:ln>
        </p:spPr>
        <p:txBody>
          <a:bodyPr wrap="none">
            <a:spAutoFit/>
          </a:bodyPr>
          <a:lstStyle/>
          <a:p>
            <a:r>
              <a:rPr lang="zh-CN" altLang="en-US">
                <a:ea typeface="宋体" charset="-122"/>
              </a:rPr>
              <a:t>实时进程要求调度</a:t>
            </a:r>
          </a:p>
        </p:txBody>
      </p:sp>
      <p:sp>
        <p:nvSpPr>
          <p:cNvPr id="36876" name="Line 14"/>
          <p:cNvSpPr>
            <a:spLocks noChangeShapeType="1"/>
          </p:cNvSpPr>
          <p:nvPr/>
        </p:nvSpPr>
        <p:spPr bwMode="auto">
          <a:xfrm>
            <a:off x="2916238" y="1230254"/>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6877" name="Line 15"/>
          <p:cNvSpPr>
            <a:spLocks noChangeShapeType="1"/>
          </p:cNvSpPr>
          <p:nvPr/>
        </p:nvSpPr>
        <p:spPr bwMode="auto">
          <a:xfrm>
            <a:off x="7308850" y="1230254"/>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6878" name="Text Box 16"/>
          <p:cNvSpPr txBox="1">
            <a:spLocks noChangeArrowheads="1"/>
          </p:cNvSpPr>
          <p:nvPr/>
        </p:nvSpPr>
        <p:spPr bwMode="auto">
          <a:xfrm>
            <a:off x="5791200" y="653991"/>
            <a:ext cx="2236510" cy="400110"/>
          </a:xfrm>
          <a:prstGeom prst="rect">
            <a:avLst/>
          </a:prstGeom>
          <a:noFill/>
          <a:ln w="25400">
            <a:noFill/>
            <a:miter lim="800000"/>
            <a:headEnd/>
            <a:tailEnd/>
          </a:ln>
        </p:spPr>
        <p:txBody>
          <a:bodyPr wrap="none">
            <a:spAutoFit/>
          </a:bodyPr>
          <a:lstStyle/>
          <a:p>
            <a:r>
              <a:rPr lang="zh-CN" altLang="en-US">
                <a:ea typeface="宋体" charset="-122"/>
              </a:rPr>
              <a:t>调度实时进程运行</a:t>
            </a:r>
          </a:p>
        </p:txBody>
      </p:sp>
      <p:sp>
        <p:nvSpPr>
          <p:cNvPr id="36879" name="Text Box 17"/>
          <p:cNvSpPr txBox="1">
            <a:spLocks noChangeArrowheads="1"/>
          </p:cNvSpPr>
          <p:nvPr/>
        </p:nvSpPr>
        <p:spPr bwMode="auto">
          <a:xfrm>
            <a:off x="3840164" y="3317816"/>
            <a:ext cx="2193229" cy="400110"/>
          </a:xfrm>
          <a:prstGeom prst="rect">
            <a:avLst/>
          </a:prstGeom>
          <a:noFill/>
          <a:ln w="25400">
            <a:noFill/>
            <a:miter lim="800000"/>
            <a:headEnd/>
            <a:tailEnd/>
          </a:ln>
        </p:spPr>
        <p:txBody>
          <a:bodyPr wrap="none">
            <a:spAutoFit/>
          </a:bodyPr>
          <a:lstStyle/>
          <a:p>
            <a:r>
              <a:rPr lang="en-US" altLang="zh-CN" dirty="0">
                <a:ea typeface="宋体" charset="-122"/>
              </a:rPr>
              <a:t>a </a:t>
            </a:r>
            <a:r>
              <a:rPr lang="zh-CN" altLang="en-US" dirty="0">
                <a:ea typeface="宋体" charset="-122"/>
              </a:rPr>
              <a:t>非抢占轮转调度</a:t>
            </a:r>
          </a:p>
        </p:txBody>
      </p:sp>
      <p:sp>
        <p:nvSpPr>
          <p:cNvPr id="36880" name="Rectangle 18"/>
          <p:cNvSpPr>
            <a:spLocks noChangeArrowheads="1"/>
          </p:cNvSpPr>
          <p:nvPr/>
        </p:nvSpPr>
        <p:spPr bwMode="auto">
          <a:xfrm>
            <a:off x="2890838" y="4735515"/>
            <a:ext cx="2951163" cy="504825"/>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当前进程</a:t>
            </a:r>
          </a:p>
        </p:txBody>
      </p:sp>
      <p:sp>
        <p:nvSpPr>
          <p:cNvPr id="36881" name="Rectangle 19"/>
          <p:cNvSpPr>
            <a:spLocks noChangeArrowheads="1"/>
          </p:cNvSpPr>
          <p:nvPr/>
        </p:nvSpPr>
        <p:spPr bwMode="auto">
          <a:xfrm>
            <a:off x="5842001" y="4735515"/>
            <a:ext cx="1512887" cy="504825"/>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实时进程</a:t>
            </a:r>
          </a:p>
        </p:txBody>
      </p:sp>
      <p:sp>
        <p:nvSpPr>
          <p:cNvPr id="36882" name="Text Box 21"/>
          <p:cNvSpPr txBox="1">
            <a:spLocks noChangeArrowheads="1"/>
          </p:cNvSpPr>
          <p:nvPr/>
        </p:nvSpPr>
        <p:spPr bwMode="auto">
          <a:xfrm>
            <a:off x="2241550" y="3800477"/>
            <a:ext cx="2236510" cy="400110"/>
          </a:xfrm>
          <a:prstGeom prst="rect">
            <a:avLst/>
          </a:prstGeom>
          <a:noFill/>
          <a:ln w="25400">
            <a:noFill/>
            <a:miter lim="800000"/>
            <a:headEnd/>
            <a:tailEnd/>
          </a:ln>
        </p:spPr>
        <p:txBody>
          <a:bodyPr wrap="none">
            <a:spAutoFit/>
          </a:bodyPr>
          <a:lstStyle/>
          <a:p>
            <a:r>
              <a:rPr lang="zh-CN" altLang="en-US">
                <a:ea typeface="宋体" charset="-122"/>
              </a:rPr>
              <a:t>实时进程要求调度</a:t>
            </a:r>
          </a:p>
        </p:txBody>
      </p:sp>
      <p:sp>
        <p:nvSpPr>
          <p:cNvPr id="36883" name="Line 22"/>
          <p:cNvSpPr>
            <a:spLocks noChangeShapeType="1"/>
          </p:cNvSpPr>
          <p:nvPr/>
        </p:nvSpPr>
        <p:spPr bwMode="auto">
          <a:xfrm>
            <a:off x="3543300" y="4305302"/>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6884" name="Text Box 23"/>
          <p:cNvSpPr txBox="1">
            <a:spLocks noChangeArrowheads="1"/>
          </p:cNvSpPr>
          <p:nvPr/>
        </p:nvSpPr>
        <p:spPr bwMode="auto">
          <a:xfrm>
            <a:off x="5334000" y="3800477"/>
            <a:ext cx="2236510" cy="400110"/>
          </a:xfrm>
          <a:prstGeom prst="rect">
            <a:avLst/>
          </a:prstGeom>
          <a:noFill/>
          <a:ln w="25400">
            <a:noFill/>
            <a:miter lim="800000"/>
            <a:headEnd/>
            <a:tailEnd/>
          </a:ln>
        </p:spPr>
        <p:txBody>
          <a:bodyPr wrap="none">
            <a:spAutoFit/>
          </a:bodyPr>
          <a:lstStyle/>
          <a:p>
            <a:r>
              <a:rPr lang="zh-CN" altLang="en-US">
                <a:ea typeface="宋体" charset="-122"/>
              </a:rPr>
              <a:t>当前进程运行完成</a:t>
            </a:r>
          </a:p>
        </p:txBody>
      </p:sp>
      <p:sp>
        <p:nvSpPr>
          <p:cNvPr id="36885" name="Line 24"/>
          <p:cNvSpPr>
            <a:spLocks noChangeShapeType="1"/>
          </p:cNvSpPr>
          <p:nvPr/>
        </p:nvSpPr>
        <p:spPr bwMode="auto">
          <a:xfrm>
            <a:off x="5848350" y="4305302"/>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6886" name="Text Box 25"/>
          <p:cNvSpPr txBox="1">
            <a:spLocks noChangeArrowheads="1"/>
          </p:cNvSpPr>
          <p:nvPr/>
        </p:nvSpPr>
        <p:spPr bwMode="auto">
          <a:xfrm>
            <a:off x="4518025" y="6103939"/>
            <a:ext cx="2449710" cy="400110"/>
          </a:xfrm>
          <a:prstGeom prst="rect">
            <a:avLst/>
          </a:prstGeom>
          <a:noFill/>
          <a:ln w="25400">
            <a:noFill/>
            <a:miter lim="800000"/>
            <a:headEnd/>
            <a:tailEnd/>
          </a:ln>
        </p:spPr>
        <p:txBody>
          <a:bodyPr wrap="none">
            <a:spAutoFit/>
          </a:bodyPr>
          <a:lstStyle/>
          <a:p>
            <a:r>
              <a:rPr lang="en-US" altLang="zh-CN" dirty="0">
                <a:ea typeface="宋体" charset="-122"/>
              </a:rPr>
              <a:t>b </a:t>
            </a:r>
            <a:r>
              <a:rPr lang="zh-CN" altLang="en-US" dirty="0">
                <a:ea typeface="宋体" charset="-122"/>
              </a:rPr>
              <a:t>非抢占优先权调度</a:t>
            </a:r>
          </a:p>
        </p:txBody>
      </p:sp>
      <p:sp>
        <p:nvSpPr>
          <p:cNvPr id="36887" name="Line 27"/>
          <p:cNvSpPr>
            <a:spLocks noChangeShapeType="1"/>
          </p:cNvSpPr>
          <p:nvPr/>
        </p:nvSpPr>
        <p:spPr bwMode="auto">
          <a:xfrm>
            <a:off x="3538537" y="5240340"/>
            <a:ext cx="0" cy="360363"/>
          </a:xfrm>
          <a:prstGeom prst="line">
            <a:avLst/>
          </a:prstGeom>
          <a:noFill/>
          <a:ln w="25400">
            <a:solidFill>
              <a:schemeClr val="tx1"/>
            </a:solidFill>
            <a:miter lim="800000"/>
            <a:headEnd/>
            <a:tailEnd/>
          </a:ln>
        </p:spPr>
        <p:txBody>
          <a:bodyPr wrap="none"/>
          <a:lstStyle/>
          <a:p>
            <a:endParaRPr lang="zh-CN" altLang="en-US"/>
          </a:p>
        </p:txBody>
      </p:sp>
      <p:sp>
        <p:nvSpPr>
          <p:cNvPr id="36888" name="Line 28"/>
          <p:cNvSpPr>
            <a:spLocks noChangeShapeType="1"/>
          </p:cNvSpPr>
          <p:nvPr/>
        </p:nvSpPr>
        <p:spPr bwMode="auto">
          <a:xfrm>
            <a:off x="5842000" y="5240339"/>
            <a:ext cx="0" cy="287338"/>
          </a:xfrm>
          <a:prstGeom prst="line">
            <a:avLst/>
          </a:prstGeom>
          <a:noFill/>
          <a:ln w="25400">
            <a:solidFill>
              <a:schemeClr val="tx1"/>
            </a:solidFill>
            <a:miter lim="800000"/>
            <a:headEnd/>
            <a:tailEnd/>
          </a:ln>
        </p:spPr>
        <p:txBody>
          <a:bodyPr wrap="none"/>
          <a:lstStyle/>
          <a:p>
            <a:endParaRPr lang="zh-CN" altLang="en-US"/>
          </a:p>
        </p:txBody>
      </p:sp>
      <p:sp>
        <p:nvSpPr>
          <p:cNvPr id="36889" name="Line 29"/>
          <p:cNvSpPr>
            <a:spLocks noChangeShapeType="1"/>
          </p:cNvSpPr>
          <p:nvPr/>
        </p:nvSpPr>
        <p:spPr bwMode="auto">
          <a:xfrm>
            <a:off x="3578543" y="5384802"/>
            <a:ext cx="2232025" cy="0"/>
          </a:xfrm>
          <a:prstGeom prst="line">
            <a:avLst/>
          </a:prstGeom>
          <a:noFill/>
          <a:ln w="25400">
            <a:solidFill>
              <a:schemeClr val="tx1"/>
            </a:solidFill>
            <a:miter lim="800000"/>
            <a:headEnd type="stealth" w="med" len="med"/>
            <a:tailEnd type="stealth" w="med" len="med"/>
          </a:ln>
        </p:spPr>
        <p:txBody>
          <a:bodyPr wrap="none"/>
          <a:lstStyle/>
          <a:p>
            <a:endParaRPr lang="zh-CN" altLang="en-US"/>
          </a:p>
        </p:txBody>
      </p:sp>
      <p:sp>
        <p:nvSpPr>
          <p:cNvPr id="36890" name="Text Box 30"/>
          <p:cNvSpPr txBox="1">
            <a:spLocks noChangeArrowheads="1"/>
          </p:cNvSpPr>
          <p:nvPr/>
        </p:nvSpPr>
        <p:spPr bwMode="auto">
          <a:xfrm>
            <a:off x="4043362" y="5345114"/>
            <a:ext cx="1409700" cy="400110"/>
          </a:xfrm>
          <a:prstGeom prst="rect">
            <a:avLst/>
          </a:prstGeom>
          <a:noFill/>
          <a:ln w="25400">
            <a:noFill/>
            <a:miter lim="800000"/>
            <a:headEnd/>
            <a:tailEnd/>
          </a:ln>
        </p:spPr>
        <p:txBody>
          <a:bodyPr>
            <a:spAutoFit/>
          </a:bodyPr>
          <a:lstStyle/>
          <a:p>
            <a:r>
              <a:rPr lang="zh-CN" altLang="en-US" dirty="0">
                <a:solidFill>
                  <a:srgbClr val="FF0000"/>
                </a:solidFill>
                <a:ea typeface="宋体" charset="-122"/>
              </a:rPr>
              <a:t>调度时间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71"/>
                                        </p:tgtEl>
                                        <p:attrNameLst>
                                          <p:attrName>style.visibility</p:attrName>
                                        </p:attrNameLst>
                                      </p:cBhvr>
                                      <p:to>
                                        <p:strVal val="visible"/>
                                      </p:to>
                                    </p:set>
                                  </p:childTnLst>
                                </p:cTn>
                              </p:par>
                            </p:childTnLst>
                          </p:cTn>
                        </p:par>
                        <p:par>
                          <p:cTn id="7" fill="hold">
                            <p:stCondLst>
                              <p:cond delay="0"/>
                            </p:stCondLst>
                            <p:childTnLst>
                              <p:par>
                                <p:cTn id="8" presetID="12" presetClass="entr" presetSubtype="8" fill="hold" grpId="0" nodeType="afterEffect">
                                  <p:stCondLst>
                                    <p:cond delay="0"/>
                                  </p:stCondLst>
                                  <p:childTnLst>
                                    <p:set>
                                      <p:cBhvr>
                                        <p:cTn id="9" dur="1" fill="hold">
                                          <p:stCondLst>
                                            <p:cond delay="0"/>
                                          </p:stCondLst>
                                        </p:cTn>
                                        <p:tgtEl>
                                          <p:spTgt spid="36873"/>
                                        </p:tgtEl>
                                        <p:attrNameLst>
                                          <p:attrName>style.visibility</p:attrName>
                                        </p:attrNameLst>
                                      </p:cBhvr>
                                      <p:to>
                                        <p:strVal val="visible"/>
                                      </p:to>
                                    </p:set>
                                    <p:animEffect transition="in" filter="slide(fromLeft)">
                                      <p:cBhvr>
                                        <p:cTn id="10" dur="500"/>
                                        <p:tgtEl>
                                          <p:spTgt spid="3687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6874"/>
                                        </p:tgtEl>
                                        <p:attrNameLst>
                                          <p:attrName>style.visibility</p:attrName>
                                        </p:attrNameLst>
                                      </p:cBhvr>
                                      <p:to>
                                        <p:strVal val="visible"/>
                                      </p:to>
                                    </p:set>
                                    <p:animEffect transition="in" filter="blinds(horizontal)">
                                      <p:cBhvr>
                                        <p:cTn id="13" dur="500"/>
                                        <p:tgtEl>
                                          <p:spTgt spid="36874"/>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368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887"/>
                                        </p:tgtEl>
                                        <p:attrNameLst>
                                          <p:attrName>style.visibility</p:attrName>
                                        </p:attrNameLst>
                                      </p:cBhvr>
                                      <p:to>
                                        <p:strVal val="visible"/>
                                      </p:to>
                                    </p:set>
                                  </p:childTnLst>
                                </p:cTn>
                              </p:par>
                            </p:childTnLst>
                          </p:cTn>
                        </p:par>
                        <p:par>
                          <p:cTn id="21" fill="hold">
                            <p:stCondLst>
                              <p:cond delay="0"/>
                            </p:stCondLst>
                            <p:childTnLst>
                              <p:par>
                                <p:cTn id="22" presetID="12" presetClass="entr" presetSubtype="8" fill="hold" grpId="0" nodeType="afterEffect">
                                  <p:stCondLst>
                                    <p:cond delay="0"/>
                                  </p:stCondLst>
                                  <p:childTnLst>
                                    <p:set>
                                      <p:cBhvr>
                                        <p:cTn id="23" dur="1" fill="hold">
                                          <p:stCondLst>
                                            <p:cond delay="0"/>
                                          </p:stCondLst>
                                        </p:cTn>
                                        <p:tgtEl>
                                          <p:spTgt spid="36889"/>
                                        </p:tgtEl>
                                        <p:attrNameLst>
                                          <p:attrName>style.visibility</p:attrName>
                                        </p:attrNameLst>
                                      </p:cBhvr>
                                      <p:to>
                                        <p:strVal val="visible"/>
                                      </p:to>
                                    </p:set>
                                    <p:animEffect transition="in" filter="slide(fromLeft)">
                                      <p:cBhvr>
                                        <p:cTn id="24" dur="500"/>
                                        <p:tgtEl>
                                          <p:spTgt spid="3688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6890"/>
                                        </p:tgtEl>
                                        <p:attrNameLst>
                                          <p:attrName>style.visibility</p:attrName>
                                        </p:attrNameLst>
                                      </p:cBhvr>
                                      <p:to>
                                        <p:strVal val="visible"/>
                                      </p:to>
                                    </p:set>
                                    <p:animEffect transition="in" filter="blinds(horizontal)">
                                      <p:cBhvr>
                                        <p:cTn id="27" dur="500"/>
                                        <p:tgtEl>
                                          <p:spTgt spid="36890"/>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368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animBg="1"/>
      <p:bldP spid="36872" grpId="0" animBg="1"/>
      <p:bldP spid="36873" grpId="0" animBg="1"/>
      <p:bldP spid="36874" grpId="0"/>
      <p:bldP spid="36887" grpId="0" animBg="1"/>
      <p:bldP spid="36888" grpId="0" animBg="1"/>
      <p:bldP spid="36889" grpId="0" animBg="1"/>
      <p:bldP spid="3689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5"/>
          <p:cNvSpPr txBox="1">
            <a:spLocks noChangeArrowheads="1"/>
          </p:cNvSpPr>
          <p:nvPr/>
        </p:nvSpPr>
        <p:spPr bwMode="auto">
          <a:xfrm>
            <a:off x="2669759" y="2995524"/>
            <a:ext cx="4487126" cy="400110"/>
          </a:xfrm>
          <a:prstGeom prst="rect">
            <a:avLst/>
          </a:prstGeom>
          <a:noFill/>
          <a:ln w="25400">
            <a:noFill/>
            <a:miter lim="800000"/>
            <a:headEnd/>
            <a:tailEnd/>
          </a:ln>
        </p:spPr>
        <p:txBody>
          <a:bodyPr wrap="none">
            <a:spAutoFit/>
          </a:bodyPr>
          <a:lstStyle/>
          <a:p>
            <a:r>
              <a:rPr lang="en-US" altLang="zh-CN" dirty="0">
                <a:ea typeface="宋体" charset="-122"/>
              </a:rPr>
              <a:t>c </a:t>
            </a:r>
            <a:r>
              <a:rPr lang="zh-CN" altLang="en-US" dirty="0">
                <a:ea typeface="宋体" charset="-122"/>
              </a:rPr>
              <a:t>基于时钟中断抢占的优先权抢占调度</a:t>
            </a:r>
          </a:p>
        </p:txBody>
      </p:sp>
      <p:sp>
        <p:nvSpPr>
          <p:cNvPr id="37891" name="Rectangle 16"/>
          <p:cNvSpPr>
            <a:spLocks noChangeArrowheads="1"/>
          </p:cNvSpPr>
          <p:nvPr/>
        </p:nvSpPr>
        <p:spPr bwMode="auto">
          <a:xfrm>
            <a:off x="3000376" y="4724401"/>
            <a:ext cx="2951163" cy="504825"/>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当前进程</a:t>
            </a:r>
          </a:p>
        </p:txBody>
      </p:sp>
      <p:sp>
        <p:nvSpPr>
          <p:cNvPr id="37892" name="Rectangle 17"/>
          <p:cNvSpPr>
            <a:spLocks noChangeArrowheads="1"/>
          </p:cNvSpPr>
          <p:nvPr/>
        </p:nvSpPr>
        <p:spPr bwMode="auto">
          <a:xfrm>
            <a:off x="5951539" y="4724401"/>
            <a:ext cx="1512887" cy="504825"/>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实时进程</a:t>
            </a:r>
          </a:p>
        </p:txBody>
      </p:sp>
      <p:sp>
        <p:nvSpPr>
          <p:cNvPr id="37893" name="Text Box 18"/>
          <p:cNvSpPr txBox="1">
            <a:spLocks noChangeArrowheads="1"/>
          </p:cNvSpPr>
          <p:nvPr/>
        </p:nvSpPr>
        <p:spPr bwMode="auto">
          <a:xfrm>
            <a:off x="2351088" y="3789363"/>
            <a:ext cx="2236510" cy="400110"/>
          </a:xfrm>
          <a:prstGeom prst="rect">
            <a:avLst/>
          </a:prstGeom>
          <a:noFill/>
          <a:ln w="25400">
            <a:noFill/>
            <a:miter lim="800000"/>
            <a:headEnd/>
            <a:tailEnd/>
          </a:ln>
        </p:spPr>
        <p:txBody>
          <a:bodyPr wrap="none">
            <a:spAutoFit/>
          </a:bodyPr>
          <a:lstStyle/>
          <a:p>
            <a:r>
              <a:rPr lang="zh-CN" altLang="en-US" dirty="0">
                <a:ea typeface="宋体" charset="-122"/>
              </a:rPr>
              <a:t>实时进程要求调度</a:t>
            </a:r>
          </a:p>
        </p:txBody>
      </p:sp>
      <p:sp>
        <p:nvSpPr>
          <p:cNvPr id="37894" name="Line 19"/>
          <p:cNvSpPr>
            <a:spLocks noChangeShapeType="1"/>
          </p:cNvSpPr>
          <p:nvPr/>
        </p:nvSpPr>
        <p:spPr bwMode="auto">
          <a:xfrm>
            <a:off x="3652838" y="4294188"/>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7895" name="Text Box 20"/>
          <p:cNvSpPr txBox="1">
            <a:spLocks noChangeArrowheads="1"/>
          </p:cNvSpPr>
          <p:nvPr/>
        </p:nvSpPr>
        <p:spPr bwMode="auto">
          <a:xfrm>
            <a:off x="5087939" y="3789363"/>
            <a:ext cx="2749471" cy="400110"/>
          </a:xfrm>
          <a:prstGeom prst="rect">
            <a:avLst/>
          </a:prstGeom>
          <a:noFill/>
          <a:ln w="25400">
            <a:noFill/>
            <a:miter lim="800000"/>
            <a:headEnd/>
            <a:tailEnd/>
          </a:ln>
        </p:spPr>
        <p:txBody>
          <a:bodyPr wrap="none">
            <a:spAutoFit/>
          </a:bodyPr>
          <a:lstStyle/>
          <a:p>
            <a:r>
              <a:rPr lang="zh-CN" altLang="en-US" dirty="0">
                <a:ea typeface="宋体" charset="-122"/>
              </a:rPr>
              <a:t>抢占时刻（其它中断）</a:t>
            </a:r>
          </a:p>
        </p:txBody>
      </p:sp>
      <p:sp>
        <p:nvSpPr>
          <p:cNvPr id="37896" name="Line 21"/>
          <p:cNvSpPr>
            <a:spLocks noChangeShapeType="1"/>
          </p:cNvSpPr>
          <p:nvPr/>
        </p:nvSpPr>
        <p:spPr bwMode="auto">
          <a:xfrm>
            <a:off x="5957888" y="4294188"/>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7897" name="Text Box 22"/>
          <p:cNvSpPr txBox="1">
            <a:spLocks noChangeArrowheads="1"/>
          </p:cNvSpPr>
          <p:nvPr/>
        </p:nvSpPr>
        <p:spPr bwMode="auto">
          <a:xfrm>
            <a:off x="4070350" y="5876925"/>
            <a:ext cx="2706190" cy="400110"/>
          </a:xfrm>
          <a:prstGeom prst="rect">
            <a:avLst/>
          </a:prstGeom>
          <a:noFill/>
          <a:ln w="25400">
            <a:noFill/>
            <a:miter lim="800000"/>
            <a:headEnd/>
            <a:tailEnd/>
          </a:ln>
        </p:spPr>
        <p:txBody>
          <a:bodyPr wrap="none">
            <a:spAutoFit/>
          </a:bodyPr>
          <a:lstStyle/>
          <a:p>
            <a:r>
              <a:rPr lang="en-US" altLang="zh-CN" dirty="0">
                <a:ea typeface="宋体" charset="-122"/>
              </a:rPr>
              <a:t>b </a:t>
            </a:r>
            <a:r>
              <a:rPr lang="zh-CN" altLang="en-US" dirty="0">
                <a:ea typeface="宋体" charset="-122"/>
              </a:rPr>
              <a:t>立即抢占优先权调度</a:t>
            </a:r>
          </a:p>
        </p:txBody>
      </p:sp>
      <p:sp>
        <p:nvSpPr>
          <p:cNvPr id="37898" name="Rectangle 24"/>
          <p:cNvSpPr>
            <a:spLocks noChangeArrowheads="1"/>
          </p:cNvSpPr>
          <p:nvPr/>
        </p:nvSpPr>
        <p:spPr bwMode="auto">
          <a:xfrm>
            <a:off x="2887247" y="1843000"/>
            <a:ext cx="2951163" cy="504825"/>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当前进程</a:t>
            </a:r>
          </a:p>
        </p:txBody>
      </p:sp>
      <p:sp>
        <p:nvSpPr>
          <p:cNvPr id="37899" name="Rectangle 25"/>
          <p:cNvSpPr>
            <a:spLocks noChangeArrowheads="1"/>
          </p:cNvSpPr>
          <p:nvPr/>
        </p:nvSpPr>
        <p:spPr bwMode="auto">
          <a:xfrm>
            <a:off x="5838410" y="1843000"/>
            <a:ext cx="1512887" cy="504825"/>
          </a:xfrm>
          <a:prstGeom prst="rect">
            <a:avLst/>
          </a:prstGeom>
          <a:solidFill>
            <a:schemeClr val="accent1"/>
          </a:solidFill>
          <a:ln w="25400">
            <a:solidFill>
              <a:schemeClr val="tx1"/>
            </a:solidFill>
            <a:miter lim="800000"/>
            <a:headEnd/>
            <a:tailEnd/>
          </a:ln>
        </p:spPr>
        <p:txBody>
          <a:bodyPr wrap="none" anchor="ctr"/>
          <a:lstStyle/>
          <a:p>
            <a:r>
              <a:rPr lang="zh-CN" altLang="en-US">
                <a:ea typeface="宋体" charset="-122"/>
              </a:rPr>
              <a:t>实时进程</a:t>
            </a:r>
          </a:p>
        </p:txBody>
      </p:sp>
      <p:sp>
        <p:nvSpPr>
          <p:cNvPr id="37900" name="Text Box 26"/>
          <p:cNvSpPr txBox="1">
            <a:spLocks noChangeArrowheads="1"/>
          </p:cNvSpPr>
          <p:nvPr/>
        </p:nvSpPr>
        <p:spPr bwMode="auto">
          <a:xfrm>
            <a:off x="2237959" y="907962"/>
            <a:ext cx="2236510" cy="400110"/>
          </a:xfrm>
          <a:prstGeom prst="rect">
            <a:avLst/>
          </a:prstGeom>
          <a:noFill/>
          <a:ln w="25400">
            <a:noFill/>
            <a:miter lim="800000"/>
            <a:headEnd/>
            <a:tailEnd/>
          </a:ln>
        </p:spPr>
        <p:txBody>
          <a:bodyPr wrap="none">
            <a:spAutoFit/>
          </a:bodyPr>
          <a:lstStyle/>
          <a:p>
            <a:r>
              <a:rPr lang="zh-CN" altLang="en-US" dirty="0">
                <a:ea typeface="宋体" charset="-122"/>
              </a:rPr>
              <a:t>实时进程要求调度</a:t>
            </a:r>
          </a:p>
        </p:txBody>
      </p:sp>
      <p:sp>
        <p:nvSpPr>
          <p:cNvPr id="37901" name="Line 27"/>
          <p:cNvSpPr>
            <a:spLocks noChangeShapeType="1"/>
          </p:cNvSpPr>
          <p:nvPr/>
        </p:nvSpPr>
        <p:spPr bwMode="auto">
          <a:xfrm>
            <a:off x="3461921" y="1412787"/>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7902" name="Text Box 28"/>
          <p:cNvSpPr txBox="1">
            <a:spLocks noChangeArrowheads="1"/>
          </p:cNvSpPr>
          <p:nvPr/>
        </p:nvSpPr>
        <p:spPr bwMode="auto">
          <a:xfrm>
            <a:off x="5484397" y="907962"/>
            <a:ext cx="1980029" cy="400110"/>
          </a:xfrm>
          <a:prstGeom prst="rect">
            <a:avLst/>
          </a:prstGeom>
          <a:noFill/>
          <a:ln w="25400">
            <a:noFill/>
            <a:miter lim="800000"/>
            <a:headEnd/>
            <a:tailEnd/>
          </a:ln>
        </p:spPr>
        <p:txBody>
          <a:bodyPr wrap="none">
            <a:spAutoFit/>
          </a:bodyPr>
          <a:lstStyle/>
          <a:p>
            <a:r>
              <a:rPr lang="zh-CN" altLang="en-US" dirty="0">
                <a:ea typeface="宋体" charset="-122"/>
              </a:rPr>
              <a:t>时钟中断到达时</a:t>
            </a:r>
          </a:p>
        </p:txBody>
      </p:sp>
      <p:sp>
        <p:nvSpPr>
          <p:cNvPr id="37903" name="Line 29"/>
          <p:cNvSpPr>
            <a:spLocks noChangeShapeType="1"/>
          </p:cNvSpPr>
          <p:nvPr/>
        </p:nvSpPr>
        <p:spPr bwMode="auto">
          <a:xfrm>
            <a:off x="5844759" y="1412787"/>
            <a:ext cx="0" cy="431800"/>
          </a:xfrm>
          <a:prstGeom prst="line">
            <a:avLst/>
          </a:prstGeom>
          <a:noFill/>
          <a:ln w="25400" cap="rnd">
            <a:solidFill>
              <a:schemeClr val="tx1"/>
            </a:solidFill>
            <a:prstDash val="sysDot"/>
            <a:miter lim="800000"/>
            <a:headEnd/>
            <a:tailEnd type="triangle" w="med" len="med"/>
          </a:ln>
        </p:spPr>
        <p:txBody>
          <a:bodyPr wrap="none"/>
          <a:lstStyle/>
          <a:p>
            <a:endParaRPr lang="zh-CN" altLang="en-US"/>
          </a:p>
        </p:txBody>
      </p:sp>
      <p:sp>
        <p:nvSpPr>
          <p:cNvPr id="37904" name="Line 30"/>
          <p:cNvSpPr>
            <a:spLocks noChangeShapeType="1"/>
          </p:cNvSpPr>
          <p:nvPr/>
        </p:nvSpPr>
        <p:spPr bwMode="auto">
          <a:xfrm>
            <a:off x="3648075" y="5229226"/>
            <a:ext cx="0" cy="360363"/>
          </a:xfrm>
          <a:prstGeom prst="line">
            <a:avLst/>
          </a:prstGeom>
          <a:noFill/>
          <a:ln w="25400">
            <a:solidFill>
              <a:schemeClr val="tx1"/>
            </a:solidFill>
            <a:miter lim="800000"/>
            <a:headEnd/>
            <a:tailEnd/>
          </a:ln>
        </p:spPr>
        <p:txBody>
          <a:bodyPr wrap="none"/>
          <a:lstStyle/>
          <a:p>
            <a:endParaRPr lang="zh-CN" altLang="en-US"/>
          </a:p>
        </p:txBody>
      </p:sp>
      <p:sp>
        <p:nvSpPr>
          <p:cNvPr id="37905" name="Line 31"/>
          <p:cNvSpPr>
            <a:spLocks noChangeShapeType="1"/>
          </p:cNvSpPr>
          <p:nvPr/>
        </p:nvSpPr>
        <p:spPr bwMode="auto">
          <a:xfrm>
            <a:off x="5951538" y="5229225"/>
            <a:ext cx="0" cy="287338"/>
          </a:xfrm>
          <a:prstGeom prst="line">
            <a:avLst/>
          </a:prstGeom>
          <a:noFill/>
          <a:ln w="25400">
            <a:solidFill>
              <a:schemeClr val="tx1"/>
            </a:solidFill>
            <a:miter lim="800000"/>
            <a:headEnd/>
            <a:tailEnd/>
          </a:ln>
        </p:spPr>
        <p:txBody>
          <a:bodyPr wrap="none"/>
          <a:lstStyle/>
          <a:p>
            <a:endParaRPr lang="zh-CN" altLang="en-US"/>
          </a:p>
        </p:txBody>
      </p:sp>
      <p:sp>
        <p:nvSpPr>
          <p:cNvPr id="37906" name="Line 32"/>
          <p:cNvSpPr>
            <a:spLocks noChangeShapeType="1"/>
          </p:cNvSpPr>
          <p:nvPr/>
        </p:nvSpPr>
        <p:spPr bwMode="auto">
          <a:xfrm>
            <a:off x="3648076" y="5373688"/>
            <a:ext cx="2303463" cy="0"/>
          </a:xfrm>
          <a:prstGeom prst="line">
            <a:avLst/>
          </a:prstGeom>
          <a:noFill/>
          <a:ln w="25400">
            <a:solidFill>
              <a:schemeClr val="tx1"/>
            </a:solidFill>
            <a:miter lim="800000"/>
            <a:headEnd type="stealth" w="med" len="med"/>
            <a:tailEnd type="stealth" w="med" len="med"/>
          </a:ln>
        </p:spPr>
        <p:txBody>
          <a:bodyPr wrap="none"/>
          <a:lstStyle/>
          <a:p>
            <a:endParaRPr lang="zh-CN" altLang="en-US"/>
          </a:p>
        </p:txBody>
      </p:sp>
      <p:sp>
        <p:nvSpPr>
          <p:cNvPr id="37907" name="Text Box 33"/>
          <p:cNvSpPr txBox="1">
            <a:spLocks noChangeArrowheads="1"/>
          </p:cNvSpPr>
          <p:nvPr/>
        </p:nvSpPr>
        <p:spPr bwMode="auto">
          <a:xfrm>
            <a:off x="4251513" y="5351929"/>
            <a:ext cx="1409700" cy="400110"/>
          </a:xfrm>
          <a:prstGeom prst="rect">
            <a:avLst/>
          </a:prstGeom>
          <a:noFill/>
          <a:ln w="25400">
            <a:noFill/>
            <a:miter lim="800000"/>
            <a:headEnd/>
            <a:tailEnd/>
          </a:ln>
        </p:spPr>
        <p:txBody>
          <a:bodyPr>
            <a:spAutoFit/>
          </a:bodyPr>
          <a:lstStyle/>
          <a:p>
            <a:r>
              <a:rPr lang="zh-CN" altLang="en-US" dirty="0">
                <a:solidFill>
                  <a:srgbClr val="FF0000"/>
                </a:solidFill>
                <a:ea typeface="宋体" charset="-122"/>
              </a:rPr>
              <a:t>调度时间</a:t>
            </a:r>
          </a:p>
        </p:txBody>
      </p:sp>
      <p:sp>
        <p:nvSpPr>
          <p:cNvPr id="37908" name="Line 34"/>
          <p:cNvSpPr>
            <a:spLocks noChangeShapeType="1"/>
          </p:cNvSpPr>
          <p:nvPr/>
        </p:nvSpPr>
        <p:spPr bwMode="auto">
          <a:xfrm>
            <a:off x="3461921" y="2349412"/>
            <a:ext cx="0" cy="360362"/>
          </a:xfrm>
          <a:prstGeom prst="line">
            <a:avLst/>
          </a:prstGeom>
          <a:noFill/>
          <a:ln w="25400">
            <a:solidFill>
              <a:schemeClr val="tx1"/>
            </a:solidFill>
            <a:miter lim="800000"/>
            <a:headEnd/>
            <a:tailEnd/>
          </a:ln>
        </p:spPr>
        <p:txBody>
          <a:bodyPr wrap="none"/>
          <a:lstStyle/>
          <a:p>
            <a:endParaRPr lang="zh-CN" altLang="en-US"/>
          </a:p>
        </p:txBody>
      </p:sp>
      <p:sp>
        <p:nvSpPr>
          <p:cNvPr id="37909" name="Line 35"/>
          <p:cNvSpPr>
            <a:spLocks noChangeShapeType="1"/>
          </p:cNvSpPr>
          <p:nvPr/>
        </p:nvSpPr>
        <p:spPr bwMode="auto">
          <a:xfrm>
            <a:off x="5836821" y="2420849"/>
            <a:ext cx="0" cy="287338"/>
          </a:xfrm>
          <a:prstGeom prst="line">
            <a:avLst/>
          </a:prstGeom>
          <a:noFill/>
          <a:ln w="25400">
            <a:solidFill>
              <a:schemeClr val="tx1"/>
            </a:solidFill>
            <a:miter lim="800000"/>
            <a:headEnd/>
            <a:tailEnd/>
          </a:ln>
        </p:spPr>
        <p:txBody>
          <a:bodyPr wrap="none"/>
          <a:lstStyle/>
          <a:p>
            <a:endParaRPr lang="zh-CN" altLang="en-US"/>
          </a:p>
        </p:txBody>
      </p:sp>
      <p:sp>
        <p:nvSpPr>
          <p:cNvPr id="37910" name="Line 36"/>
          <p:cNvSpPr>
            <a:spLocks noChangeShapeType="1"/>
          </p:cNvSpPr>
          <p:nvPr/>
        </p:nvSpPr>
        <p:spPr bwMode="auto">
          <a:xfrm>
            <a:off x="3461921" y="2563724"/>
            <a:ext cx="2374900" cy="1588"/>
          </a:xfrm>
          <a:prstGeom prst="line">
            <a:avLst/>
          </a:prstGeom>
          <a:noFill/>
          <a:ln w="25400">
            <a:solidFill>
              <a:schemeClr val="tx1"/>
            </a:solidFill>
            <a:miter lim="800000"/>
            <a:headEnd type="stealth" w="med" len="med"/>
            <a:tailEnd type="stealth" w="med" len="med"/>
          </a:ln>
        </p:spPr>
        <p:txBody>
          <a:bodyPr wrap="none"/>
          <a:lstStyle/>
          <a:p>
            <a:endParaRPr lang="zh-CN" altLang="en-US"/>
          </a:p>
        </p:txBody>
      </p:sp>
      <p:sp>
        <p:nvSpPr>
          <p:cNvPr id="37911" name="Text Box 37"/>
          <p:cNvSpPr txBox="1">
            <a:spLocks noChangeArrowheads="1"/>
          </p:cNvSpPr>
          <p:nvPr/>
        </p:nvSpPr>
        <p:spPr bwMode="auto">
          <a:xfrm>
            <a:off x="4032488" y="2532162"/>
            <a:ext cx="1409700" cy="400110"/>
          </a:xfrm>
          <a:prstGeom prst="rect">
            <a:avLst/>
          </a:prstGeom>
          <a:noFill/>
          <a:ln w="25400">
            <a:noFill/>
            <a:miter lim="800000"/>
            <a:headEnd/>
            <a:tailEnd/>
          </a:ln>
        </p:spPr>
        <p:txBody>
          <a:bodyPr>
            <a:spAutoFit/>
          </a:bodyPr>
          <a:lstStyle/>
          <a:p>
            <a:r>
              <a:rPr lang="zh-CN" altLang="en-US" dirty="0">
                <a:solidFill>
                  <a:srgbClr val="FF0000"/>
                </a:solidFill>
                <a:ea typeface="宋体" charset="-122"/>
              </a:rPr>
              <a:t>调度时间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908"/>
                                        </p:tgtEl>
                                        <p:attrNameLst>
                                          <p:attrName>style.visibility</p:attrName>
                                        </p:attrNameLst>
                                      </p:cBhvr>
                                      <p:to>
                                        <p:strVal val="visible"/>
                                      </p:to>
                                    </p:set>
                                  </p:childTnLst>
                                </p:cTn>
                              </p:par>
                            </p:childTnLst>
                          </p:cTn>
                        </p:par>
                        <p:par>
                          <p:cTn id="7" fill="hold">
                            <p:stCondLst>
                              <p:cond delay="0"/>
                            </p:stCondLst>
                            <p:childTnLst>
                              <p:par>
                                <p:cTn id="8" presetID="12" presetClass="entr" presetSubtype="8" fill="hold" grpId="0" nodeType="afterEffect">
                                  <p:stCondLst>
                                    <p:cond delay="0"/>
                                  </p:stCondLst>
                                  <p:childTnLst>
                                    <p:set>
                                      <p:cBhvr>
                                        <p:cTn id="9" dur="1" fill="hold">
                                          <p:stCondLst>
                                            <p:cond delay="0"/>
                                          </p:stCondLst>
                                        </p:cTn>
                                        <p:tgtEl>
                                          <p:spTgt spid="37910"/>
                                        </p:tgtEl>
                                        <p:attrNameLst>
                                          <p:attrName>style.visibility</p:attrName>
                                        </p:attrNameLst>
                                      </p:cBhvr>
                                      <p:to>
                                        <p:strVal val="visible"/>
                                      </p:to>
                                    </p:set>
                                    <p:animEffect transition="in" filter="slide(fromLeft)">
                                      <p:cBhvr>
                                        <p:cTn id="10" dur="500"/>
                                        <p:tgtEl>
                                          <p:spTgt spid="3791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7911"/>
                                        </p:tgtEl>
                                        <p:attrNameLst>
                                          <p:attrName>style.visibility</p:attrName>
                                        </p:attrNameLst>
                                      </p:cBhvr>
                                      <p:to>
                                        <p:strVal val="visible"/>
                                      </p:to>
                                    </p:set>
                                    <p:animEffect transition="in" filter="blinds(horizontal)">
                                      <p:cBhvr>
                                        <p:cTn id="13" dur="500"/>
                                        <p:tgtEl>
                                          <p:spTgt spid="37911"/>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3790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904"/>
                                        </p:tgtEl>
                                        <p:attrNameLst>
                                          <p:attrName>style.visibility</p:attrName>
                                        </p:attrNameLst>
                                      </p:cBhvr>
                                      <p:to>
                                        <p:strVal val="visible"/>
                                      </p:to>
                                    </p:set>
                                  </p:childTnLst>
                                </p:cTn>
                              </p:par>
                            </p:childTnLst>
                          </p:cTn>
                        </p:par>
                        <p:par>
                          <p:cTn id="21" fill="hold">
                            <p:stCondLst>
                              <p:cond delay="0"/>
                            </p:stCondLst>
                            <p:childTnLst>
                              <p:par>
                                <p:cTn id="22" presetID="12" presetClass="entr" presetSubtype="8" fill="hold" grpId="0" nodeType="afterEffect">
                                  <p:stCondLst>
                                    <p:cond delay="0"/>
                                  </p:stCondLst>
                                  <p:childTnLst>
                                    <p:set>
                                      <p:cBhvr>
                                        <p:cTn id="23" dur="1" fill="hold">
                                          <p:stCondLst>
                                            <p:cond delay="0"/>
                                          </p:stCondLst>
                                        </p:cTn>
                                        <p:tgtEl>
                                          <p:spTgt spid="37906"/>
                                        </p:tgtEl>
                                        <p:attrNameLst>
                                          <p:attrName>style.visibility</p:attrName>
                                        </p:attrNameLst>
                                      </p:cBhvr>
                                      <p:to>
                                        <p:strVal val="visible"/>
                                      </p:to>
                                    </p:set>
                                    <p:animEffect transition="in" filter="slide(fromLeft)">
                                      <p:cBhvr>
                                        <p:cTn id="24" dur="500"/>
                                        <p:tgtEl>
                                          <p:spTgt spid="3790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7907"/>
                                        </p:tgtEl>
                                        <p:attrNameLst>
                                          <p:attrName>style.visibility</p:attrName>
                                        </p:attrNameLst>
                                      </p:cBhvr>
                                      <p:to>
                                        <p:strVal val="visible"/>
                                      </p:to>
                                    </p:set>
                                    <p:animEffect transition="in" filter="blinds(horizontal)">
                                      <p:cBhvr>
                                        <p:cTn id="27" dur="500"/>
                                        <p:tgtEl>
                                          <p:spTgt spid="37907"/>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379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4" grpId="0" animBg="1"/>
      <p:bldP spid="37905" grpId="0" animBg="1"/>
      <p:bldP spid="37906" grpId="0" animBg="1"/>
      <p:bldP spid="37907" grpId="0"/>
      <p:bldP spid="37908" grpId="0" animBg="1"/>
      <p:bldP spid="37909" grpId="0" animBg="1"/>
      <p:bldP spid="37910" grpId="0" animBg="1"/>
      <p:bldP spid="379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5074" name="Rectangle 2"/>
          <p:cNvSpPr>
            <a:spLocks noGrp="1" noChangeArrowheads="1"/>
          </p:cNvSpPr>
          <p:nvPr>
            <p:ph type="title" idx="4294967295"/>
          </p:nvPr>
        </p:nvSpPr>
        <p:spPr/>
        <p:txBody>
          <a:bodyPr/>
          <a:lstStyle/>
          <a:p>
            <a:pPr eaLnBrk="1" hangingPunct="1"/>
            <a:r>
              <a:rPr lang="zh-CN" altLang="en-US" dirty="0">
                <a:ea typeface="宋体" pitchFamily="2" charset="-122"/>
              </a:rPr>
              <a:t>常用的几种实时调度算法</a:t>
            </a:r>
          </a:p>
        </p:txBody>
      </p:sp>
      <p:sp>
        <p:nvSpPr>
          <p:cNvPr id="1155075" name="Rectangle 3"/>
          <p:cNvSpPr>
            <a:spLocks noGrp="1" noChangeArrowheads="1"/>
          </p:cNvSpPr>
          <p:nvPr>
            <p:ph type="body" sz="half" idx="4294967295"/>
          </p:nvPr>
        </p:nvSpPr>
        <p:spPr>
          <a:xfrm>
            <a:off x="1828800" y="1447800"/>
            <a:ext cx="8458200" cy="5029200"/>
          </a:xfrm>
        </p:spPr>
        <p:txBody>
          <a:bodyPr/>
          <a:lstStyle/>
          <a:p>
            <a:pPr eaLnBrk="1" hangingPunct="1">
              <a:spcBef>
                <a:spcPts val="1200"/>
              </a:spcBef>
              <a:buNone/>
            </a:pPr>
            <a:r>
              <a:rPr lang="zh-CN" altLang="en-US" b="1" dirty="0">
                <a:effectLst>
                  <a:outerShdw blurRad="38100" dist="38100" dir="2700000" algn="tl">
                    <a:srgbClr val="000000">
                      <a:alpha val="43137"/>
                    </a:srgbClr>
                  </a:outerShdw>
                </a:effectLst>
                <a:ea typeface="宋体" pitchFamily="2" charset="-122"/>
              </a:rPr>
              <a:t>最早截止时间优先算法（</a:t>
            </a:r>
            <a:r>
              <a:rPr lang="en-US" altLang="zh-CN" b="1" dirty="0">
                <a:effectLst>
                  <a:outerShdw blurRad="38100" dist="38100" dir="2700000" algn="tl">
                    <a:srgbClr val="000000">
                      <a:alpha val="43137"/>
                    </a:srgbClr>
                  </a:outerShdw>
                </a:effectLst>
                <a:ea typeface="宋体" pitchFamily="2" charset="-122"/>
              </a:rPr>
              <a:t>EDF</a:t>
            </a:r>
            <a:r>
              <a:rPr lang="zh-CN" altLang="en-US" b="1" dirty="0">
                <a:effectLst>
                  <a:outerShdw blurRad="38100" dist="38100" dir="2700000" algn="tl">
                    <a:srgbClr val="000000">
                      <a:alpha val="43137"/>
                    </a:srgbClr>
                  </a:outerShdw>
                </a:effectLst>
                <a:ea typeface="宋体" pitchFamily="2" charset="-122"/>
              </a:rPr>
              <a:t>）</a:t>
            </a:r>
            <a:endParaRPr lang="en-US" altLang="zh-CN" b="1" dirty="0">
              <a:effectLst>
                <a:outerShdw blurRad="38100" dist="38100" dir="2700000" algn="tl">
                  <a:srgbClr val="000000">
                    <a:alpha val="43137"/>
                  </a:srgbClr>
                </a:outerShdw>
              </a:effectLst>
              <a:ea typeface="宋体" pitchFamily="2" charset="-122"/>
            </a:endParaRPr>
          </a:p>
          <a:p>
            <a:pPr eaLnBrk="1" hangingPunct="1"/>
            <a:r>
              <a:rPr lang="zh-CN" altLang="en-US" dirty="0">
                <a:ea typeface="宋体" pitchFamily="2" charset="-122"/>
              </a:rPr>
              <a:t>根据任务的截止时间来确定任务的优先级</a:t>
            </a:r>
            <a:endParaRPr lang="en-US" altLang="zh-CN" dirty="0">
              <a:ea typeface="宋体" pitchFamily="2" charset="-122"/>
            </a:endParaRPr>
          </a:p>
          <a:p>
            <a:pPr eaLnBrk="1" hangingPunct="1"/>
            <a:r>
              <a:rPr lang="zh-CN" altLang="en-US" dirty="0">
                <a:ea typeface="宋体" pitchFamily="2" charset="-122"/>
              </a:rPr>
              <a:t>总是运行最早结束的作业</a:t>
            </a:r>
          </a:p>
          <a:p>
            <a:pPr eaLnBrk="1" hangingPunct="1"/>
            <a:r>
              <a:rPr lang="zh-CN" altLang="en-US" dirty="0">
                <a:ea typeface="宋体" pitchFamily="2" charset="-122"/>
              </a:rPr>
              <a:t>如果一个新到达的进程比正在运行的进程截止期靠前</a:t>
            </a:r>
            <a:endParaRPr lang="en-US" altLang="zh-CN" dirty="0">
              <a:ea typeface="宋体" pitchFamily="2" charset="-122"/>
            </a:endParaRPr>
          </a:p>
          <a:p>
            <a:pPr lvl="1" eaLnBrk="1" hangingPunct="1"/>
            <a:r>
              <a:rPr lang="zh-CN" altLang="en-US" dirty="0">
                <a:ea typeface="宋体" pitchFamily="2" charset="-122"/>
              </a:rPr>
              <a:t>非抢占：非周期实时任务</a:t>
            </a:r>
            <a:endParaRPr lang="en-US" altLang="zh-CN" dirty="0">
              <a:ea typeface="宋体" pitchFamily="2" charset="-122"/>
            </a:endParaRPr>
          </a:p>
          <a:p>
            <a:pPr lvl="1" eaLnBrk="1" hangingPunct="1"/>
            <a:r>
              <a:rPr lang="zh-CN" altLang="en-US" dirty="0">
                <a:ea typeface="宋体" pitchFamily="2" charset="-122"/>
              </a:rPr>
              <a:t>抢占：周期实时任务</a:t>
            </a:r>
            <a:endParaRPr lang="en-US" altLang="zh-CN" dirty="0">
              <a:ea typeface="宋体" pitchFamily="2" charset="-122"/>
            </a:endParaRPr>
          </a:p>
          <a:p>
            <a:pPr eaLnBrk="1" hangingPunct="1"/>
            <a:r>
              <a:rPr lang="zh-CN" altLang="en-US" b="1" dirty="0">
                <a:solidFill>
                  <a:srgbClr val="008000"/>
                </a:solidFill>
                <a:ea typeface="宋体" pitchFamily="2" charset="-122"/>
              </a:rPr>
              <a:t>如果一组任务可以被调度的话：</a:t>
            </a:r>
          </a:p>
        </p:txBody>
      </p:sp>
      <p:sp>
        <p:nvSpPr>
          <p:cNvPr id="1069062" name="Rectangle 6"/>
          <p:cNvSpPr>
            <a:spLocks noChangeArrowheads="1"/>
          </p:cNvSpPr>
          <p:nvPr/>
        </p:nvSpPr>
        <p:spPr bwMode="auto">
          <a:xfrm>
            <a:off x="2438400" y="4953000"/>
            <a:ext cx="6934200" cy="427038"/>
          </a:xfrm>
          <a:prstGeom prst="rect">
            <a:avLst/>
          </a:prstGeom>
          <a:noFill/>
          <a:ln w="9525">
            <a:noFill/>
            <a:miter lim="800000"/>
            <a:headEnd/>
            <a:tailEnd/>
          </a:ln>
        </p:spPr>
        <p:txBody>
          <a:bodyPr>
            <a:spAutoFit/>
          </a:bodyPr>
          <a:lstStyle/>
          <a:p>
            <a:pPr algn="ctr"/>
            <a:r>
              <a:rPr lang="en-US" altLang="zh-CN" sz="2200" b="1" dirty="0">
                <a:solidFill>
                  <a:srgbClr val="CA14C1"/>
                </a:solidFill>
                <a:latin typeface="Times New Roman" pitchFamily="18" charset="0"/>
              </a:rPr>
              <a:t>EDF </a:t>
            </a:r>
            <a:r>
              <a:rPr lang="zh-CN" altLang="en-US" sz="2200" b="1" dirty="0">
                <a:solidFill>
                  <a:srgbClr val="CA14C1"/>
                </a:solidFill>
                <a:latin typeface="Times New Roman" pitchFamily="18" charset="0"/>
              </a:rPr>
              <a:t>最优，如果可能它可以满足所有任务的截止日期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69062"/>
                                        </p:tgtEl>
                                        <p:attrNameLst>
                                          <p:attrName>style.visibility</p:attrName>
                                        </p:attrNameLst>
                                      </p:cBhvr>
                                      <p:to>
                                        <p:strVal val="visible"/>
                                      </p:to>
                                    </p:set>
                                    <p:anim to="" calcmode="lin" valueType="num">
                                      <p:cBhvr>
                                        <p:cTn id="7" dur="1" fill="hold"/>
                                        <p:tgtEl>
                                          <p:spTgt spid="106906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06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pPr eaLnBrk="1" hangingPunct="1">
              <a:defRPr/>
            </a:pPr>
            <a:r>
              <a:rPr lang="zh-CN" altLang="en-US" dirty="0">
                <a:ea typeface="宋体" pitchFamily="2" charset="-122"/>
              </a:rPr>
              <a:t>最早截止时间优先</a:t>
            </a:r>
            <a:r>
              <a:rPr lang="en-US" altLang="zh-CN" dirty="0">
                <a:ea typeface="宋体" pitchFamily="2" charset="-122"/>
              </a:rPr>
              <a:t>EDF</a:t>
            </a:r>
            <a:r>
              <a:rPr lang="zh-CN" altLang="en-US" dirty="0">
                <a:ea typeface="宋体" pitchFamily="2" charset="-122"/>
              </a:rPr>
              <a:t>例</a:t>
            </a:r>
          </a:p>
        </p:txBody>
      </p:sp>
      <p:sp>
        <p:nvSpPr>
          <p:cNvPr id="39940" name="Line 6"/>
          <p:cNvSpPr>
            <a:spLocks noChangeShapeType="1"/>
          </p:cNvSpPr>
          <p:nvPr/>
        </p:nvSpPr>
        <p:spPr bwMode="auto">
          <a:xfrm>
            <a:off x="3216276" y="3644900"/>
            <a:ext cx="7127875"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41" name="Rectangle 7"/>
          <p:cNvSpPr>
            <a:spLocks noChangeArrowheads="1"/>
          </p:cNvSpPr>
          <p:nvPr/>
        </p:nvSpPr>
        <p:spPr bwMode="auto">
          <a:xfrm>
            <a:off x="3503613" y="3141664"/>
            <a:ext cx="1511300" cy="503237"/>
          </a:xfrm>
          <a:prstGeom prst="rect">
            <a:avLst/>
          </a:prstGeom>
          <a:solidFill>
            <a:schemeClr val="accent1"/>
          </a:solidFill>
          <a:ln w="28575">
            <a:solidFill>
              <a:schemeClr val="tx1"/>
            </a:solidFill>
            <a:miter lim="800000"/>
            <a:headEnd/>
            <a:tailEnd/>
          </a:ln>
        </p:spPr>
        <p:txBody>
          <a:bodyPr wrap="none" anchor="ctr"/>
          <a:lstStyle/>
          <a:p>
            <a:r>
              <a:rPr lang="en-US" altLang="zh-CN">
                <a:ea typeface="宋体" charset="-122"/>
              </a:rPr>
              <a:t>1</a:t>
            </a:r>
          </a:p>
        </p:txBody>
      </p:sp>
      <p:sp>
        <p:nvSpPr>
          <p:cNvPr id="39942" name="Rectangle 9"/>
          <p:cNvSpPr>
            <a:spLocks noChangeArrowheads="1"/>
          </p:cNvSpPr>
          <p:nvPr/>
        </p:nvSpPr>
        <p:spPr bwMode="auto">
          <a:xfrm>
            <a:off x="5016500" y="3141664"/>
            <a:ext cx="1511300" cy="503237"/>
          </a:xfrm>
          <a:prstGeom prst="rect">
            <a:avLst/>
          </a:prstGeom>
          <a:solidFill>
            <a:schemeClr val="accent1"/>
          </a:solidFill>
          <a:ln w="28575">
            <a:solidFill>
              <a:schemeClr val="tx1"/>
            </a:solidFill>
            <a:miter lim="800000"/>
            <a:headEnd/>
            <a:tailEnd/>
          </a:ln>
        </p:spPr>
        <p:txBody>
          <a:bodyPr wrap="none" anchor="ctr"/>
          <a:lstStyle/>
          <a:p>
            <a:r>
              <a:rPr lang="en-US" altLang="zh-CN">
                <a:ea typeface="宋体" charset="-122"/>
              </a:rPr>
              <a:t>3</a:t>
            </a:r>
          </a:p>
        </p:txBody>
      </p:sp>
      <p:sp>
        <p:nvSpPr>
          <p:cNvPr id="39943" name="Rectangle 10"/>
          <p:cNvSpPr>
            <a:spLocks noChangeArrowheads="1"/>
          </p:cNvSpPr>
          <p:nvPr/>
        </p:nvSpPr>
        <p:spPr bwMode="auto">
          <a:xfrm>
            <a:off x="6527800" y="3141664"/>
            <a:ext cx="1511300" cy="503237"/>
          </a:xfrm>
          <a:prstGeom prst="rect">
            <a:avLst/>
          </a:prstGeom>
          <a:solidFill>
            <a:schemeClr val="accent1"/>
          </a:solidFill>
          <a:ln w="28575">
            <a:solidFill>
              <a:schemeClr val="tx1"/>
            </a:solidFill>
            <a:miter lim="800000"/>
            <a:headEnd/>
            <a:tailEnd/>
          </a:ln>
        </p:spPr>
        <p:txBody>
          <a:bodyPr wrap="none" anchor="ctr"/>
          <a:lstStyle/>
          <a:p>
            <a:r>
              <a:rPr lang="en-US" altLang="zh-CN">
                <a:ea typeface="宋体" charset="-122"/>
              </a:rPr>
              <a:t>4</a:t>
            </a:r>
          </a:p>
        </p:txBody>
      </p:sp>
      <p:sp>
        <p:nvSpPr>
          <p:cNvPr id="39944" name="Rectangle 11"/>
          <p:cNvSpPr>
            <a:spLocks noChangeArrowheads="1"/>
          </p:cNvSpPr>
          <p:nvPr/>
        </p:nvSpPr>
        <p:spPr bwMode="auto">
          <a:xfrm>
            <a:off x="8040688" y="3141664"/>
            <a:ext cx="1511300" cy="503237"/>
          </a:xfrm>
          <a:prstGeom prst="rect">
            <a:avLst/>
          </a:prstGeom>
          <a:solidFill>
            <a:schemeClr val="accent1"/>
          </a:solidFill>
          <a:ln w="28575">
            <a:solidFill>
              <a:schemeClr val="tx1"/>
            </a:solidFill>
            <a:miter lim="800000"/>
            <a:headEnd/>
            <a:tailEnd/>
          </a:ln>
        </p:spPr>
        <p:txBody>
          <a:bodyPr wrap="none" anchor="ctr"/>
          <a:lstStyle/>
          <a:p>
            <a:r>
              <a:rPr lang="en-US" altLang="zh-CN">
                <a:ea typeface="宋体" charset="-122"/>
              </a:rPr>
              <a:t>2</a:t>
            </a:r>
          </a:p>
        </p:txBody>
      </p:sp>
      <p:sp>
        <p:nvSpPr>
          <p:cNvPr id="39945" name="Line 12"/>
          <p:cNvSpPr>
            <a:spLocks noChangeShapeType="1"/>
          </p:cNvSpPr>
          <p:nvPr/>
        </p:nvSpPr>
        <p:spPr bwMode="auto">
          <a:xfrm flipV="1">
            <a:off x="4367213" y="2276475"/>
            <a:ext cx="0" cy="865188"/>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46" name="Line 13"/>
          <p:cNvSpPr>
            <a:spLocks noChangeShapeType="1"/>
          </p:cNvSpPr>
          <p:nvPr/>
        </p:nvSpPr>
        <p:spPr bwMode="auto">
          <a:xfrm flipV="1">
            <a:off x="5951538" y="2276475"/>
            <a:ext cx="0" cy="865188"/>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47" name="Line 14"/>
          <p:cNvSpPr>
            <a:spLocks noChangeShapeType="1"/>
          </p:cNvSpPr>
          <p:nvPr/>
        </p:nvSpPr>
        <p:spPr bwMode="auto">
          <a:xfrm flipV="1">
            <a:off x="7319963" y="2276475"/>
            <a:ext cx="0" cy="865188"/>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48" name="Line 15"/>
          <p:cNvSpPr>
            <a:spLocks noChangeShapeType="1"/>
          </p:cNvSpPr>
          <p:nvPr/>
        </p:nvSpPr>
        <p:spPr bwMode="auto">
          <a:xfrm flipV="1">
            <a:off x="9048750" y="2276475"/>
            <a:ext cx="0" cy="865188"/>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49" name="Line 16"/>
          <p:cNvSpPr>
            <a:spLocks noChangeShapeType="1"/>
          </p:cNvSpPr>
          <p:nvPr/>
        </p:nvSpPr>
        <p:spPr bwMode="auto">
          <a:xfrm flipV="1">
            <a:off x="3512503" y="3644900"/>
            <a:ext cx="0" cy="86360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50" name="Line 17"/>
          <p:cNvSpPr>
            <a:spLocks noChangeShapeType="1"/>
          </p:cNvSpPr>
          <p:nvPr/>
        </p:nvSpPr>
        <p:spPr bwMode="auto">
          <a:xfrm flipV="1">
            <a:off x="4440238" y="3644900"/>
            <a:ext cx="0" cy="86360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51" name="Line 18"/>
          <p:cNvSpPr>
            <a:spLocks noChangeShapeType="1"/>
          </p:cNvSpPr>
          <p:nvPr/>
        </p:nvSpPr>
        <p:spPr bwMode="auto">
          <a:xfrm flipV="1">
            <a:off x="4800600" y="3644900"/>
            <a:ext cx="0" cy="86360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52" name="Line 20"/>
          <p:cNvSpPr>
            <a:spLocks noChangeShapeType="1"/>
          </p:cNvSpPr>
          <p:nvPr/>
        </p:nvSpPr>
        <p:spPr bwMode="auto">
          <a:xfrm flipV="1">
            <a:off x="5808663" y="3644901"/>
            <a:ext cx="0" cy="936625"/>
          </a:xfrm>
          <a:prstGeom prst="line">
            <a:avLst/>
          </a:prstGeom>
          <a:noFill/>
          <a:ln w="28575">
            <a:solidFill>
              <a:schemeClr val="tx1"/>
            </a:solidFill>
            <a:miter lim="800000"/>
            <a:headEnd/>
            <a:tailEnd type="triangle" w="med" len="med"/>
          </a:ln>
        </p:spPr>
        <p:txBody>
          <a:bodyPr wrap="none"/>
          <a:lstStyle/>
          <a:p>
            <a:endParaRPr lang="zh-CN" altLang="en-US"/>
          </a:p>
        </p:txBody>
      </p:sp>
      <p:sp>
        <p:nvSpPr>
          <p:cNvPr id="39953" name="Text Box 21"/>
          <p:cNvSpPr txBox="1">
            <a:spLocks noChangeArrowheads="1"/>
          </p:cNvSpPr>
          <p:nvPr/>
        </p:nvSpPr>
        <p:spPr bwMode="auto">
          <a:xfrm>
            <a:off x="4295775" y="1844675"/>
            <a:ext cx="350838" cy="400110"/>
          </a:xfrm>
          <a:prstGeom prst="rect">
            <a:avLst/>
          </a:prstGeom>
          <a:noFill/>
          <a:ln w="9525">
            <a:noFill/>
            <a:miter lim="800000"/>
            <a:headEnd/>
            <a:tailEnd/>
          </a:ln>
        </p:spPr>
        <p:txBody>
          <a:bodyPr>
            <a:spAutoFit/>
          </a:bodyPr>
          <a:lstStyle/>
          <a:p>
            <a:r>
              <a:rPr lang="en-US" altLang="zh-CN">
                <a:ea typeface="宋体" charset="-122"/>
              </a:rPr>
              <a:t>1</a:t>
            </a:r>
          </a:p>
        </p:txBody>
      </p:sp>
      <p:sp>
        <p:nvSpPr>
          <p:cNvPr id="39954" name="Text Box 22"/>
          <p:cNvSpPr txBox="1">
            <a:spLocks noChangeArrowheads="1"/>
          </p:cNvSpPr>
          <p:nvPr/>
        </p:nvSpPr>
        <p:spPr bwMode="auto">
          <a:xfrm>
            <a:off x="5735639" y="1844675"/>
            <a:ext cx="350837" cy="400110"/>
          </a:xfrm>
          <a:prstGeom prst="rect">
            <a:avLst/>
          </a:prstGeom>
          <a:noFill/>
          <a:ln w="9525">
            <a:noFill/>
            <a:miter lim="800000"/>
            <a:headEnd/>
            <a:tailEnd/>
          </a:ln>
        </p:spPr>
        <p:txBody>
          <a:bodyPr>
            <a:spAutoFit/>
          </a:bodyPr>
          <a:lstStyle/>
          <a:p>
            <a:r>
              <a:rPr lang="en-US" altLang="zh-CN">
                <a:ea typeface="宋体" charset="-122"/>
              </a:rPr>
              <a:t>3</a:t>
            </a:r>
          </a:p>
        </p:txBody>
      </p:sp>
      <p:sp>
        <p:nvSpPr>
          <p:cNvPr id="39955" name="Text Box 23"/>
          <p:cNvSpPr txBox="1">
            <a:spLocks noChangeArrowheads="1"/>
          </p:cNvSpPr>
          <p:nvPr/>
        </p:nvSpPr>
        <p:spPr bwMode="auto">
          <a:xfrm>
            <a:off x="7104064" y="1844675"/>
            <a:ext cx="350837" cy="400110"/>
          </a:xfrm>
          <a:prstGeom prst="rect">
            <a:avLst/>
          </a:prstGeom>
          <a:noFill/>
          <a:ln w="9525">
            <a:noFill/>
            <a:miter lim="800000"/>
            <a:headEnd/>
            <a:tailEnd/>
          </a:ln>
        </p:spPr>
        <p:txBody>
          <a:bodyPr>
            <a:spAutoFit/>
          </a:bodyPr>
          <a:lstStyle/>
          <a:p>
            <a:r>
              <a:rPr lang="en-US" altLang="zh-CN">
                <a:ea typeface="宋体" charset="-122"/>
              </a:rPr>
              <a:t>4</a:t>
            </a:r>
          </a:p>
        </p:txBody>
      </p:sp>
      <p:sp>
        <p:nvSpPr>
          <p:cNvPr id="39956" name="Text Box 24"/>
          <p:cNvSpPr txBox="1">
            <a:spLocks noChangeArrowheads="1"/>
          </p:cNvSpPr>
          <p:nvPr/>
        </p:nvSpPr>
        <p:spPr bwMode="auto">
          <a:xfrm>
            <a:off x="8832850" y="1916113"/>
            <a:ext cx="350838" cy="400110"/>
          </a:xfrm>
          <a:prstGeom prst="rect">
            <a:avLst/>
          </a:prstGeom>
          <a:noFill/>
          <a:ln w="9525">
            <a:noFill/>
            <a:miter lim="800000"/>
            <a:headEnd/>
            <a:tailEnd/>
          </a:ln>
        </p:spPr>
        <p:txBody>
          <a:bodyPr>
            <a:spAutoFit/>
          </a:bodyPr>
          <a:lstStyle/>
          <a:p>
            <a:r>
              <a:rPr lang="en-US" altLang="zh-CN">
                <a:ea typeface="宋体" charset="-122"/>
              </a:rPr>
              <a:t>2</a:t>
            </a:r>
          </a:p>
        </p:txBody>
      </p:sp>
      <p:sp>
        <p:nvSpPr>
          <p:cNvPr id="39957" name="Text Box 25"/>
          <p:cNvSpPr txBox="1">
            <a:spLocks noChangeArrowheads="1"/>
          </p:cNvSpPr>
          <p:nvPr/>
        </p:nvSpPr>
        <p:spPr bwMode="auto">
          <a:xfrm>
            <a:off x="3368040" y="4581525"/>
            <a:ext cx="350838" cy="400110"/>
          </a:xfrm>
          <a:prstGeom prst="rect">
            <a:avLst/>
          </a:prstGeom>
          <a:noFill/>
          <a:ln w="9525">
            <a:noFill/>
            <a:miter lim="800000"/>
            <a:headEnd/>
            <a:tailEnd/>
          </a:ln>
        </p:spPr>
        <p:txBody>
          <a:bodyPr>
            <a:spAutoFit/>
          </a:bodyPr>
          <a:lstStyle/>
          <a:p>
            <a:r>
              <a:rPr lang="en-US" altLang="zh-CN">
                <a:ea typeface="宋体" charset="-122"/>
              </a:rPr>
              <a:t>1</a:t>
            </a:r>
          </a:p>
        </p:txBody>
      </p:sp>
      <p:sp>
        <p:nvSpPr>
          <p:cNvPr id="39958" name="Text Box 26"/>
          <p:cNvSpPr txBox="1">
            <a:spLocks noChangeArrowheads="1"/>
          </p:cNvSpPr>
          <p:nvPr/>
        </p:nvSpPr>
        <p:spPr bwMode="auto">
          <a:xfrm>
            <a:off x="4224339" y="4581525"/>
            <a:ext cx="350837" cy="400110"/>
          </a:xfrm>
          <a:prstGeom prst="rect">
            <a:avLst/>
          </a:prstGeom>
          <a:noFill/>
          <a:ln w="9525">
            <a:noFill/>
            <a:miter lim="800000"/>
            <a:headEnd/>
            <a:tailEnd/>
          </a:ln>
        </p:spPr>
        <p:txBody>
          <a:bodyPr>
            <a:spAutoFit/>
          </a:bodyPr>
          <a:lstStyle/>
          <a:p>
            <a:r>
              <a:rPr lang="en-US" altLang="zh-CN" dirty="0">
                <a:ea typeface="宋体" charset="-122"/>
              </a:rPr>
              <a:t>2</a:t>
            </a:r>
          </a:p>
        </p:txBody>
      </p:sp>
      <p:sp>
        <p:nvSpPr>
          <p:cNvPr id="39959" name="Text Box 27"/>
          <p:cNvSpPr txBox="1">
            <a:spLocks noChangeArrowheads="1"/>
          </p:cNvSpPr>
          <p:nvPr/>
        </p:nvSpPr>
        <p:spPr bwMode="auto">
          <a:xfrm>
            <a:off x="4583114" y="4581525"/>
            <a:ext cx="350837" cy="400110"/>
          </a:xfrm>
          <a:prstGeom prst="rect">
            <a:avLst/>
          </a:prstGeom>
          <a:noFill/>
          <a:ln w="9525">
            <a:noFill/>
            <a:miter lim="800000"/>
            <a:headEnd/>
            <a:tailEnd/>
          </a:ln>
        </p:spPr>
        <p:txBody>
          <a:bodyPr>
            <a:spAutoFit/>
          </a:bodyPr>
          <a:lstStyle/>
          <a:p>
            <a:r>
              <a:rPr lang="en-US" altLang="zh-CN" dirty="0">
                <a:ea typeface="宋体" charset="-122"/>
              </a:rPr>
              <a:t>3</a:t>
            </a:r>
          </a:p>
        </p:txBody>
      </p:sp>
      <p:sp>
        <p:nvSpPr>
          <p:cNvPr id="39960" name="Text Box 28"/>
          <p:cNvSpPr txBox="1">
            <a:spLocks noChangeArrowheads="1"/>
          </p:cNvSpPr>
          <p:nvPr/>
        </p:nvSpPr>
        <p:spPr bwMode="auto">
          <a:xfrm>
            <a:off x="5591175" y="4581525"/>
            <a:ext cx="350838" cy="400110"/>
          </a:xfrm>
          <a:prstGeom prst="rect">
            <a:avLst/>
          </a:prstGeom>
          <a:noFill/>
          <a:ln w="9525">
            <a:noFill/>
            <a:miter lim="800000"/>
            <a:headEnd/>
            <a:tailEnd/>
          </a:ln>
        </p:spPr>
        <p:txBody>
          <a:bodyPr>
            <a:spAutoFit/>
          </a:bodyPr>
          <a:lstStyle/>
          <a:p>
            <a:r>
              <a:rPr lang="en-US" altLang="zh-CN" dirty="0">
                <a:ea typeface="宋体" charset="-122"/>
              </a:rPr>
              <a:t>4</a:t>
            </a:r>
          </a:p>
        </p:txBody>
      </p:sp>
      <p:sp>
        <p:nvSpPr>
          <p:cNvPr id="39961" name="Text Box 29"/>
          <p:cNvSpPr txBox="1">
            <a:spLocks noChangeArrowheads="1"/>
          </p:cNvSpPr>
          <p:nvPr/>
        </p:nvSpPr>
        <p:spPr bwMode="auto">
          <a:xfrm>
            <a:off x="9912350" y="3789363"/>
            <a:ext cx="350838" cy="400110"/>
          </a:xfrm>
          <a:prstGeom prst="rect">
            <a:avLst/>
          </a:prstGeom>
          <a:noFill/>
          <a:ln w="9525">
            <a:noFill/>
            <a:miter lim="800000"/>
            <a:headEnd/>
            <a:tailEnd/>
          </a:ln>
        </p:spPr>
        <p:txBody>
          <a:bodyPr>
            <a:spAutoFit/>
          </a:bodyPr>
          <a:lstStyle/>
          <a:p>
            <a:r>
              <a:rPr lang="en-US" altLang="zh-CN">
                <a:ea typeface="宋体" charset="-122"/>
              </a:rPr>
              <a:t>t</a:t>
            </a:r>
          </a:p>
        </p:txBody>
      </p:sp>
      <p:sp>
        <p:nvSpPr>
          <p:cNvPr id="39962" name="Text Box 30"/>
          <p:cNvSpPr txBox="1">
            <a:spLocks noChangeArrowheads="1"/>
          </p:cNvSpPr>
          <p:nvPr/>
        </p:nvSpPr>
        <p:spPr bwMode="auto">
          <a:xfrm>
            <a:off x="1919289" y="2276475"/>
            <a:ext cx="1723549" cy="400110"/>
          </a:xfrm>
          <a:prstGeom prst="rect">
            <a:avLst/>
          </a:prstGeom>
          <a:noFill/>
          <a:ln w="9525">
            <a:noFill/>
            <a:miter lim="800000"/>
            <a:headEnd/>
            <a:tailEnd/>
          </a:ln>
        </p:spPr>
        <p:txBody>
          <a:bodyPr wrap="none">
            <a:spAutoFit/>
          </a:bodyPr>
          <a:lstStyle/>
          <a:p>
            <a:r>
              <a:rPr lang="zh-CN" altLang="en-US">
                <a:ea typeface="宋体" charset="-122"/>
              </a:rPr>
              <a:t>开始截止时间</a:t>
            </a:r>
          </a:p>
        </p:txBody>
      </p:sp>
      <p:sp>
        <p:nvSpPr>
          <p:cNvPr id="39963" name="Text Box 31"/>
          <p:cNvSpPr txBox="1">
            <a:spLocks noChangeArrowheads="1"/>
          </p:cNvSpPr>
          <p:nvPr/>
        </p:nvSpPr>
        <p:spPr bwMode="auto">
          <a:xfrm>
            <a:off x="1828800" y="4437063"/>
            <a:ext cx="1210588" cy="400110"/>
          </a:xfrm>
          <a:prstGeom prst="rect">
            <a:avLst/>
          </a:prstGeom>
          <a:noFill/>
          <a:ln w="9525">
            <a:noFill/>
            <a:miter lim="800000"/>
            <a:headEnd/>
            <a:tailEnd/>
          </a:ln>
        </p:spPr>
        <p:txBody>
          <a:bodyPr wrap="none">
            <a:spAutoFit/>
          </a:bodyPr>
          <a:lstStyle/>
          <a:p>
            <a:r>
              <a:rPr lang="zh-CN" altLang="en-US">
                <a:ea typeface="宋体" charset="-122"/>
              </a:rPr>
              <a:t>任务到达</a:t>
            </a:r>
          </a:p>
        </p:txBody>
      </p:sp>
      <p:sp>
        <p:nvSpPr>
          <p:cNvPr id="39964" name="Text Box 32"/>
          <p:cNvSpPr txBox="1">
            <a:spLocks noChangeArrowheads="1"/>
          </p:cNvSpPr>
          <p:nvPr/>
        </p:nvSpPr>
        <p:spPr bwMode="auto">
          <a:xfrm>
            <a:off x="1847850" y="3213100"/>
            <a:ext cx="1210588" cy="400110"/>
          </a:xfrm>
          <a:prstGeom prst="rect">
            <a:avLst/>
          </a:prstGeom>
          <a:noFill/>
          <a:ln w="9525">
            <a:noFill/>
            <a:miter lim="800000"/>
            <a:headEnd/>
            <a:tailEnd/>
          </a:ln>
        </p:spPr>
        <p:txBody>
          <a:bodyPr wrap="none">
            <a:spAutoFit/>
          </a:bodyPr>
          <a:lstStyle/>
          <a:p>
            <a:r>
              <a:rPr lang="zh-CN" altLang="en-US">
                <a:ea typeface="宋体" charset="-122"/>
              </a:rPr>
              <a:t>任务执行</a:t>
            </a:r>
          </a:p>
        </p:txBody>
      </p:sp>
      <p:sp>
        <p:nvSpPr>
          <p:cNvPr id="39965" name="Text Box 33"/>
          <p:cNvSpPr txBox="1">
            <a:spLocks noChangeArrowheads="1"/>
          </p:cNvSpPr>
          <p:nvPr/>
        </p:nvSpPr>
        <p:spPr bwMode="auto">
          <a:xfrm>
            <a:off x="4953000" y="5373688"/>
            <a:ext cx="3520516" cy="400110"/>
          </a:xfrm>
          <a:prstGeom prst="rect">
            <a:avLst/>
          </a:prstGeom>
          <a:noFill/>
          <a:ln w="9525">
            <a:noFill/>
            <a:miter lim="800000"/>
            <a:headEnd/>
            <a:tailEnd/>
          </a:ln>
        </p:spPr>
        <p:txBody>
          <a:bodyPr wrap="none">
            <a:spAutoFit/>
          </a:bodyPr>
          <a:lstStyle/>
          <a:p>
            <a:r>
              <a:rPr lang="en-US" altLang="zh-CN" dirty="0">
                <a:ea typeface="宋体" charset="-122"/>
              </a:rPr>
              <a:t>EDF</a:t>
            </a:r>
            <a:r>
              <a:rPr lang="zh-CN" altLang="en-US" dirty="0">
                <a:ea typeface="宋体" charset="-122"/>
              </a:rPr>
              <a:t>算法用于非抢占调度方式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950"/>
                                        </p:tgtEl>
                                        <p:attrNameLst>
                                          <p:attrName>style.visibility</p:attrName>
                                        </p:attrNameLst>
                                      </p:cBhvr>
                                      <p:to>
                                        <p:strVal val="visible"/>
                                      </p:to>
                                    </p:set>
                                    <p:animEffect transition="in" filter="slide(fromBottom)">
                                      <p:cBhvr>
                                        <p:cTn id="7" dur="500"/>
                                        <p:tgtEl>
                                          <p:spTgt spid="3995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995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1000"/>
                                  </p:stCondLst>
                                  <p:childTnLst>
                                    <p:set>
                                      <p:cBhvr>
                                        <p:cTn id="12" dur="1" fill="hold">
                                          <p:stCondLst>
                                            <p:cond delay="0"/>
                                          </p:stCondLst>
                                        </p:cTn>
                                        <p:tgtEl>
                                          <p:spTgt spid="39959"/>
                                        </p:tgtEl>
                                        <p:attrNameLst>
                                          <p:attrName>style.visibility</p:attrName>
                                        </p:attrNameLst>
                                      </p:cBhvr>
                                      <p:to>
                                        <p:strVal val="visible"/>
                                      </p:to>
                                    </p:set>
                                  </p:childTnLst>
                                </p:cTn>
                              </p:par>
                            </p:childTnLst>
                          </p:cTn>
                        </p:par>
                        <p:par>
                          <p:cTn id="13" fill="hold">
                            <p:stCondLst>
                              <p:cond delay="1500"/>
                            </p:stCondLst>
                            <p:childTnLst>
                              <p:par>
                                <p:cTn id="14" presetID="12" presetClass="entr" presetSubtype="4" fill="hold" grpId="0" nodeType="afterEffect">
                                  <p:stCondLst>
                                    <p:cond delay="0"/>
                                  </p:stCondLst>
                                  <p:childTnLst>
                                    <p:set>
                                      <p:cBhvr>
                                        <p:cTn id="15" dur="1" fill="hold">
                                          <p:stCondLst>
                                            <p:cond delay="0"/>
                                          </p:stCondLst>
                                        </p:cTn>
                                        <p:tgtEl>
                                          <p:spTgt spid="39951"/>
                                        </p:tgtEl>
                                        <p:attrNameLst>
                                          <p:attrName>style.visibility</p:attrName>
                                        </p:attrNameLst>
                                      </p:cBhvr>
                                      <p:to>
                                        <p:strVal val="visible"/>
                                      </p:to>
                                    </p:set>
                                    <p:animEffect transition="in" filter="slide(fromBottom)">
                                      <p:cBhvr>
                                        <p:cTn id="16" dur="500"/>
                                        <p:tgtEl>
                                          <p:spTgt spid="3995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39952"/>
                                        </p:tgtEl>
                                        <p:attrNameLst>
                                          <p:attrName>style.visibility</p:attrName>
                                        </p:attrNameLst>
                                      </p:cBhvr>
                                      <p:to>
                                        <p:strVal val="visible"/>
                                      </p:to>
                                    </p:set>
                                    <p:animEffect transition="in" filter="slide(fromBottom)">
                                      <p:cBhvr>
                                        <p:cTn id="21" dur="500"/>
                                        <p:tgtEl>
                                          <p:spTgt spid="39952"/>
                                        </p:tgtEl>
                                      </p:cBhvr>
                                    </p:animEffect>
                                  </p:childTnLst>
                                </p:cTn>
                              </p:par>
                              <p:par>
                                <p:cTn id="22" presetID="1" presetClass="entr" presetSubtype="0" fill="hold" nodeType="withEffect">
                                  <p:stCondLst>
                                    <p:cond delay="0"/>
                                  </p:stCondLst>
                                  <p:childTnLst>
                                    <p:set>
                                      <p:cBhvr>
                                        <p:cTn id="23" dur="1" fill="hold">
                                          <p:stCondLst>
                                            <p:cond delay="0"/>
                                          </p:stCondLst>
                                        </p:cTn>
                                        <p:tgtEl>
                                          <p:spTgt spid="399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0" grpId="0" animBg="1"/>
      <p:bldP spid="39951" grpId="0" animBg="1"/>
      <p:bldP spid="39952" grpId="0" animBg="1"/>
      <p:bldP spid="3995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defRPr/>
            </a:pPr>
            <a:r>
              <a:rPr lang="zh-CN" altLang="en-US" dirty="0">
                <a:ea typeface="宋体" pitchFamily="2" charset="-122"/>
              </a:rPr>
              <a:t>最低松弛度优先</a:t>
            </a:r>
            <a:r>
              <a:rPr lang="en-US" altLang="zh-CN" dirty="0">
                <a:ea typeface="宋体" pitchFamily="2" charset="-122"/>
              </a:rPr>
              <a:t>LLF</a:t>
            </a:r>
            <a:r>
              <a:rPr lang="zh-CN" altLang="en-US" dirty="0">
                <a:ea typeface="宋体" pitchFamily="2" charset="-122"/>
              </a:rPr>
              <a:t>算法</a:t>
            </a:r>
          </a:p>
        </p:txBody>
      </p:sp>
      <p:sp>
        <p:nvSpPr>
          <p:cNvPr id="40963" name="Rectangle 3"/>
          <p:cNvSpPr>
            <a:spLocks noGrp="1" noChangeArrowheads="1"/>
          </p:cNvSpPr>
          <p:nvPr>
            <p:ph type="body" sz="half" idx="1"/>
          </p:nvPr>
        </p:nvSpPr>
        <p:spPr>
          <a:xfrm>
            <a:off x="1600200" y="1524000"/>
            <a:ext cx="8280400" cy="3590925"/>
          </a:xfrm>
        </p:spPr>
        <p:txBody>
          <a:bodyPr/>
          <a:lstStyle/>
          <a:p>
            <a:pPr eaLnBrk="1" hangingPunct="1"/>
            <a:r>
              <a:rPr lang="zh-CN" altLang="en-US" sz="2400" b="1" dirty="0">
                <a:latin typeface="楷体_GB2312" pitchFamily="49" charset="-122"/>
                <a:ea typeface="楷体_GB2312" pitchFamily="49" charset="-122"/>
              </a:rPr>
              <a:t>松弛度：</a:t>
            </a:r>
          </a:p>
          <a:p>
            <a:pPr lvl="1" eaLnBrk="1" hangingPunct="1"/>
            <a:r>
              <a:rPr lang="zh-CN" altLang="en-US" sz="2400" b="1" dirty="0">
                <a:latin typeface="楷体_GB2312" pitchFamily="49" charset="-122"/>
                <a:ea typeface="楷体_GB2312" pitchFamily="49" charset="-122"/>
              </a:rPr>
              <a:t>若</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进程需在</a:t>
            </a:r>
            <a:r>
              <a:rPr lang="en-US" altLang="zh-CN" sz="2400" b="1" dirty="0">
                <a:latin typeface="楷体_GB2312" pitchFamily="49" charset="-122"/>
                <a:ea typeface="楷体_GB2312" pitchFamily="49" charset="-122"/>
              </a:rPr>
              <a:t>200ms</a:t>
            </a:r>
            <a:r>
              <a:rPr lang="zh-CN" altLang="en-US" sz="2400" b="1" dirty="0">
                <a:latin typeface="楷体_GB2312" pitchFamily="49" charset="-122"/>
                <a:ea typeface="楷体_GB2312" pitchFamily="49" charset="-122"/>
              </a:rPr>
              <a:t>时完成，其本身运行需要</a:t>
            </a:r>
            <a:r>
              <a:rPr lang="en-US" altLang="zh-CN" sz="2400" b="1" dirty="0">
                <a:latin typeface="楷体_GB2312" pitchFamily="49" charset="-122"/>
                <a:ea typeface="楷体_GB2312" pitchFamily="49" charset="-122"/>
              </a:rPr>
              <a:t>100ms</a:t>
            </a:r>
            <a:r>
              <a:rPr lang="zh-CN" altLang="en-US" sz="2400" b="1" dirty="0">
                <a:latin typeface="楷体_GB2312" pitchFamily="49" charset="-122"/>
                <a:ea typeface="楷体_GB2312" pitchFamily="49" charset="-122"/>
              </a:rPr>
              <a:t>，当前时刻是</a:t>
            </a:r>
            <a:r>
              <a:rPr lang="en-US" altLang="zh-CN" sz="2400" b="1" dirty="0">
                <a:latin typeface="楷体_GB2312" pitchFamily="49" charset="-122"/>
                <a:ea typeface="楷体_GB2312" pitchFamily="49" charset="-122"/>
              </a:rPr>
              <a:t>10ms</a:t>
            </a:r>
            <a:r>
              <a:rPr lang="zh-CN" altLang="en-US" sz="2400" b="1" dirty="0">
                <a:latin typeface="楷体_GB2312" pitchFamily="49" charset="-122"/>
                <a:ea typeface="楷体_GB2312" pitchFamily="49" charset="-122"/>
              </a:rPr>
              <a:t>，则</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的松弛度为：</a:t>
            </a:r>
            <a:r>
              <a:rPr lang="en-US" altLang="zh-CN" sz="2400" b="1" dirty="0">
                <a:latin typeface="楷体_GB2312" pitchFamily="49" charset="-122"/>
                <a:ea typeface="楷体_GB2312" pitchFamily="49" charset="-122"/>
              </a:rPr>
              <a:t>200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100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90</a:t>
            </a:r>
          </a:p>
          <a:p>
            <a:pPr lvl="1" eaLnBrk="1" hangingPunct="1"/>
            <a:r>
              <a:rPr lang="zh-CN" altLang="en-US" sz="2400" b="1" dirty="0">
                <a:latin typeface="楷体_GB2312" pitchFamily="49" charset="-122"/>
                <a:ea typeface="楷体_GB2312" pitchFamily="49" charset="-122"/>
              </a:rPr>
              <a:t>主要用于可抢占的调度方式中</a:t>
            </a:r>
          </a:p>
          <a:p>
            <a:pPr lvl="1" eaLnBrk="1" hangingPunct="1"/>
            <a:r>
              <a:rPr lang="zh-CN" altLang="en-US" sz="2400" b="1" dirty="0">
                <a:latin typeface="楷体_GB2312" pitchFamily="49" charset="-122"/>
                <a:ea typeface="楷体_GB2312" pitchFamily="49" charset="-122"/>
              </a:rPr>
              <a:t>例：两个周期性实时任务</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，任务</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每</a:t>
            </a:r>
            <a:r>
              <a:rPr lang="en-US" altLang="zh-CN" sz="2400" b="1" dirty="0">
                <a:latin typeface="楷体_GB2312" pitchFamily="49" charset="-122"/>
                <a:ea typeface="楷体_GB2312" pitchFamily="49" charset="-122"/>
              </a:rPr>
              <a:t>20</a:t>
            </a:r>
            <a:r>
              <a:rPr lang="zh-CN" altLang="en-US" sz="2400" b="1" dirty="0">
                <a:latin typeface="楷体_GB2312" pitchFamily="49" charset="-122"/>
                <a:ea typeface="楷体_GB2312" pitchFamily="49" charset="-122"/>
              </a:rPr>
              <a:t>毫秒执行一次，执行时间是</a:t>
            </a:r>
            <a:r>
              <a:rPr lang="en-US" altLang="zh-CN" sz="2400" b="1" dirty="0">
                <a:latin typeface="楷体_GB2312" pitchFamily="49" charset="-122"/>
                <a:ea typeface="楷体_GB2312" pitchFamily="49" charset="-122"/>
              </a:rPr>
              <a:t>10</a:t>
            </a:r>
            <a:r>
              <a:rPr lang="zh-CN" altLang="en-US" sz="2400" b="1" dirty="0">
                <a:latin typeface="楷体_GB2312" pitchFamily="49" charset="-122"/>
                <a:ea typeface="楷体_GB2312" pitchFamily="49" charset="-122"/>
              </a:rPr>
              <a:t>毫秒；任务</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每</a:t>
            </a:r>
            <a:r>
              <a:rPr lang="en-US" altLang="zh-CN" sz="2400" b="1" dirty="0">
                <a:latin typeface="楷体_GB2312" pitchFamily="49" charset="-122"/>
                <a:ea typeface="楷体_GB2312" pitchFamily="49" charset="-122"/>
              </a:rPr>
              <a:t>50</a:t>
            </a:r>
            <a:r>
              <a:rPr lang="zh-CN" altLang="en-US" sz="2400" b="1" dirty="0">
                <a:latin typeface="楷体_GB2312" pitchFamily="49" charset="-122"/>
                <a:ea typeface="楷体_GB2312" pitchFamily="49" charset="-122"/>
              </a:rPr>
              <a:t>毫秒执行一次，执行时间是</a:t>
            </a:r>
            <a:r>
              <a:rPr lang="en-US" altLang="zh-CN" sz="2400" b="1" dirty="0">
                <a:latin typeface="楷体_GB2312" pitchFamily="49" charset="-122"/>
                <a:ea typeface="楷体_GB2312" pitchFamily="49" charset="-122"/>
              </a:rPr>
              <a:t>25</a:t>
            </a:r>
            <a:r>
              <a:rPr lang="zh-CN" altLang="en-US" sz="2400" b="1" dirty="0">
                <a:latin typeface="楷体_GB2312" pitchFamily="49" charset="-122"/>
                <a:ea typeface="楷体_GB2312" pitchFamily="49" charset="-122"/>
              </a:rPr>
              <a:t>毫秒。</a:t>
            </a:r>
          </a:p>
          <a:p>
            <a:pPr lvl="1" eaLnBrk="1" hangingPunct="1"/>
            <a:endParaRPr lang="en-US" altLang="zh-CN" sz="2400" b="1" dirty="0">
              <a:latin typeface="楷体_GB2312" pitchFamily="49" charset="-122"/>
              <a:ea typeface="楷体_GB2312"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eaLnBrk="1" hangingPunct="1">
              <a:defRPr/>
            </a:pPr>
            <a:r>
              <a:rPr lang="zh-CN" altLang="en-US" dirty="0">
                <a:ea typeface="宋体" pitchFamily="2" charset="-122"/>
              </a:rPr>
              <a:t>最低松弛度优先</a:t>
            </a:r>
            <a:r>
              <a:rPr lang="en-US" altLang="zh-CN" dirty="0">
                <a:ea typeface="宋体" pitchFamily="2" charset="-122"/>
              </a:rPr>
              <a:t>LLF</a:t>
            </a:r>
            <a:r>
              <a:rPr lang="zh-CN" altLang="en-US" dirty="0">
                <a:ea typeface="宋体" pitchFamily="2" charset="-122"/>
              </a:rPr>
              <a:t>算法</a:t>
            </a:r>
            <a:endParaRPr lang="en-US" altLang="zh-CN" dirty="0">
              <a:ea typeface="宋体" pitchFamily="2" charset="-122"/>
            </a:endParaRPr>
          </a:p>
        </p:txBody>
      </p:sp>
      <p:sp>
        <p:nvSpPr>
          <p:cNvPr id="41987" name="Line 5"/>
          <p:cNvSpPr>
            <a:spLocks noChangeShapeType="1"/>
          </p:cNvSpPr>
          <p:nvPr/>
        </p:nvSpPr>
        <p:spPr bwMode="auto">
          <a:xfrm>
            <a:off x="2822575" y="5287963"/>
            <a:ext cx="6985000" cy="0"/>
          </a:xfrm>
          <a:prstGeom prst="line">
            <a:avLst/>
          </a:prstGeom>
          <a:noFill/>
          <a:ln w="25400">
            <a:solidFill>
              <a:schemeClr val="tx1"/>
            </a:solidFill>
            <a:miter lim="800000"/>
            <a:headEnd type="oval" w="med" len="med"/>
            <a:tailEnd type="triangle" w="med" len="med"/>
          </a:ln>
        </p:spPr>
        <p:txBody>
          <a:bodyPr wrap="none"/>
          <a:lstStyle/>
          <a:p>
            <a:endParaRPr lang="zh-CN" altLang="en-US"/>
          </a:p>
        </p:txBody>
      </p:sp>
      <p:sp>
        <p:nvSpPr>
          <p:cNvPr id="41988" name="Line 6"/>
          <p:cNvSpPr>
            <a:spLocks noChangeShapeType="1"/>
          </p:cNvSpPr>
          <p:nvPr/>
        </p:nvSpPr>
        <p:spPr bwMode="auto">
          <a:xfrm flipV="1">
            <a:off x="2822575" y="4711701"/>
            <a:ext cx="0" cy="576263"/>
          </a:xfrm>
          <a:prstGeom prst="line">
            <a:avLst/>
          </a:prstGeom>
          <a:noFill/>
          <a:ln w="25400">
            <a:solidFill>
              <a:schemeClr val="tx1"/>
            </a:solidFill>
            <a:prstDash val="sysDash"/>
            <a:miter lim="800000"/>
            <a:headEnd/>
            <a:tailEnd/>
          </a:ln>
        </p:spPr>
        <p:txBody>
          <a:bodyPr wrap="none"/>
          <a:lstStyle/>
          <a:p>
            <a:endParaRPr lang="zh-CN" altLang="en-US"/>
          </a:p>
        </p:txBody>
      </p:sp>
      <p:sp>
        <p:nvSpPr>
          <p:cNvPr id="41989" name="Line 7"/>
          <p:cNvSpPr>
            <a:spLocks noChangeShapeType="1"/>
          </p:cNvSpPr>
          <p:nvPr/>
        </p:nvSpPr>
        <p:spPr bwMode="auto">
          <a:xfrm>
            <a:off x="2822576" y="4711700"/>
            <a:ext cx="792163" cy="0"/>
          </a:xfrm>
          <a:prstGeom prst="line">
            <a:avLst/>
          </a:prstGeom>
          <a:noFill/>
          <a:ln w="25400">
            <a:solidFill>
              <a:schemeClr val="tx1"/>
            </a:solidFill>
            <a:miter lim="800000"/>
            <a:headEnd/>
            <a:tailEnd/>
          </a:ln>
        </p:spPr>
        <p:txBody>
          <a:bodyPr wrap="none"/>
          <a:lstStyle/>
          <a:p>
            <a:endParaRPr lang="zh-CN" altLang="en-US"/>
          </a:p>
        </p:txBody>
      </p:sp>
      <p:sp>
        <p:nvSpPr>
          <p:cNvPr id="41990" name="Line 8"/>
          <p:cNvSpPr>
            <a:spLocks noChangeShapeType="1"/>
          </p:cNvSpPr>
          <p:nvPr/>
        </p:nvSpPr>
        <p:spPr bwMode="auto">
          <a:xfrm>
            <a:off x="3614738"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1991" name="Line 9"/>
          <p:cNvSpPr>
            <a:spLocks noChangeShapeType="1"/>
          </p:cNvSpPr>
          <p:nvPr/>
        </p:nvSpPr>
        <p:spPr bwMode="auto">
          <a:xfrm>
            <a:off x="3614738" y="5791200"/>
            <a:ext cx="1439862" cy="0"/>
          </a:xfrm>
          <a:prstGeom prst="line">
            <a:avLst/>
          </a:prstGeom>
          <a:noFill/>
          <a:ln w="25400">
            <a:solidFill>
              <a:schemeClr val="tx1"/>
            </a:solidFill>
            <a:miter lim="800000"/>
            <a:headEnd/>
            <a:tailEnd/>
          </a:ln>
        </p:spPr>
        <p:txBody>
          <a:bodyPr wrap="none"/>
          <a:lstStyle/>
          <a:p>
            <a:endParaRPr lang="zh-CN" altLang="en-US"/>
          </a:p>
        </p:txBody>
      </p:sp>
      <p:sp>
        <p:nvSpPr>
          <p:cNvPr id="41992" name="Line 10"/>
          <p:cNvSpPr>
            <a:spLocks noChangeShapeType="1"/>
          </p:cNvSpPr>
          <p:nvPr/>
        </p:nvSpPr>
        <p:spPr bwMode="auto">
          <a:xfrm flipV="1">
            <a:off x="5054600"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1993" name="Line 11"/>
          <p:cNvSpPr>
            <a:spLocks noChangeShapeType="1"/>
          </p:cNvSpPr>
          <p:nvPr/>
        </p:nvSpPr>
        <p:spPr bwMode="auto">
          <a:xfrm>
            <a:off x="5054600" y="4711700"/>
            <a:ext cx="647700" cy="0"/>
          </a:xfrm>
          <a:prstGeom prst="line">
            <a:avLst/>
          </a:prstGeom>
          <a:noFill/>
          <a:ln w="25400">
            <a:solidFill>
              <a:schemeClr val="tx1"/>
            </a:solidFill>
            <a:miter lim="800000"/>
            <a:headEnd/>
            <a:tailEnd/>
          </a:ln>
        </p:spPr>
        <p:txBody>
          <a:bodyPr wrap="none"/>
          <a:lstStyle/>
          <a:p>
            <a:endParaRPr lang="zh-CN" altLang="en-US"/>
          </a:p>
        </p:txBody>
      </p:sp>
      <p:sp>
        <p:nvSpPr>
          <p:cNvPr id="41994" name="Line 12"/>
          <p:cNvSpPr>
            <a:spLocks noChangeShapeType="1"/>
          </p:cNvSpPr>
          <p:nvPr/>
        </p:nvSpPr>
        <p:spPr bwMode="auto">
          <a:xfrm>
            <a:off x="5702300"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1995" name="Line 13"/>
          <p:cNvSpPr>
            <a:spLocks noChangeShapeType="1"/>
          </p:cNvSpPr>
          <p:nvPr/>
        </p:nvSpPr>
        <p:spPr bwMode="auto">
          <a:xfrm>
            <a:off x="5702301" y="5791200"/>
            <a:ext cx="360363" cy="0"/>
          </a:xfrm>
          <a:prstGeom prst="line">
            <a:avLst/>
          </a:prstGeom>
          <a:noFill/>
          <a:ln w="25400">
            <a:solidFill>
              <a:schemeClr val="tx1"/>
            </a:solidFill>
            <a:miter lim="800000"/>
            <a:headEnd/>
            <a:tailEnd/>
          </a:ln>
        </p:spPr>
        <p:txBody>
          <a:bodyPr wrap="none"/>
          <a:lstStyle/>
          <a:p>
            <a:endParaRPr lang="zh-CN" altLang="en-US"/>
          </a:p>
        </p:txBody>
      </p:sp>
      <p:sp>
        <p:nvSpPr>
          <p:cNvPr id="41996" name="Line 14"/>
          <p:cNvSpPr>
            <a:spLocks noChangeShapeType="1"/>
          </p:cNvSpPr>
          <p:nvPr/>
        </p:nvSpPr>
        <p:spPr bwMode="auto">
          <a:xfrm flipV="1">
            <a:off x="6062663"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1997" name="Line 15"/>
          <p:cNvSpPr>
            <a:spLocks noChangeShapeType="1"/>
          </p:cNvSpPr>
          <p:nvPr/>
        </p:nvSpPr>
        <p:spPr bwMode="auto">
          <a:xfrm>
            <a:off x="6062664" y="4711700"/>
            <a:ext cx="720725" cy="0"/>
          </a:xfrm>
          <a:prstGeom prst="line">
            <a:avLst/>
          </a:prstGeom>
          <a:noFill/>
          <a:ln w="25400">
            <a:solidFill>
              <a:schemeClr val="tx1"/>
            </a:solidFill>
            <a:miter lim="800000"/>
            <a:headEnd/>
            <a:tailEnd/>
          </a:ln>
        </p:spPr>
        <p:txBody>
          <a:bodyPr wrap="none"/>
          <a:lstStyle/>
          <a:p>
            <a:endParaRPr lang="zh-CN" altLang="en-US"/>
          </a:p>
        </p:txBody>
      </p:sp>
      <p:sp>
        <p:nvSpPr>
          <p:cNvPr id="41998" name="Line 16"/>
          <p:cNvSpPr>
            <a:spLocks noChangeShapeType="1"/>
          </p:cNvSpPr>
          <p:nvPr/>
        </p:nvSpPr>
        <p:spPr bwMode="auto">
          <a:xfrm>
            <a:off x="6783388"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1999" name="Line 17"/>
          <p:cNvSpPr>
            <a:spLocks noChangeShapeType="1"/>
          </p:cNvSpPr>
          <p:nvPr/>
        </p:nvSpPr>
        <p:spPr bwMode="auto">
          <a:xfrm>
            <a:off x="6783388" y="5791200"/>
            <a:ext cx="1008062" cy="0"/>
          </a:xfrm>
          <a:prstGeom prst="line">
            <a:avLst/>
          </a:prstGeom>
          <a:noFill/>
          <a:ln w="25400">
            <a:solidFill>
              <a:schemeClr val="tx1"/>
            </a:solidFill>
            <a:miter lim="800000"/>
            <a:headEnd/>
            <a:tailEnd/>
          </a:ln>
        </p:spPr>
        <p:txBody>
          <a:bodyPr wrap="none"/>
          <a:lstStyle/>
          <a:p>
            <a:endParaRPr lang="zh-CN" altLang="en-US"/>
          </a:p>
        </p:txBody>
      </p:sp>
      <p:sp>
        <p:nvSpPr>
          <p:cNvPr id="42000" name="Line 18"/>
          <p:cNvSpPr>
            <a:spLocks noChangeShapeType="1"/>
          </p:cNvSpPr>
          <p:nvPr/>
        </p:nvSpPr>
        <p:spPr bwMode="auto">
          <a:xfrm flipV="1">
            <a:off x="7800975"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2001" name="Line 19"/>
          <p:cNvSpPr>
            <a:spLocks noChangeShapeType="1"/>
          </p:cNvSpPr>
          <p:nvPr/>
        </p:nvSpPr>
        <p:spPr bwMode="auto">
          <a:xfrm>
            <a:off x="7800975" y="4711700"/>
            <a:ext cx="647700" cy="0"/>
          </a:xfrm>
          <a:prstGeom prst="line">
            <a:avLst/>
          </a:prstGeom>
          <a:noFill/>
          <a:ln w="25400">
            <a:solidFill>
              <a:schemeClr val="tx1"/>
            </a:solidFill>
            <a:miter lim="800000"/>
            <a:headEnd/>
            <a:tailEnd/>
          </a:ln>
        </p:spPr>
        <p:txBody>
          <a:bodyPr wrap="none"/>
          <a:lstStyle/>
          <a:p>
            <a:endParaRPr lang="zh-CN" altLang="en-US"/>
          </a:p>
        </p:txBody>
      </p:sp>
      <p:sp>
        <p:nvSpPr>
          <p:cNvPr id="42002" name="Line 20"/>
          <p:cNvSpPr>
            <a:spLocks noChangeShapeType="1"/>
          </p:cNvSpPr>
          <p:nvPr/>
        </p:nvSpPr>
        <p:spPr bwMode="auto">
          <a:xfrm>
            <a:off x="8450263" y="4711700"/>
            <a:ext cx="0" cy="1079500"/>
          </a:xfrm>
          <a:prstGeom prst="line">
            <a:avLst/>
          </a:prstGeom>
          <a:noFill/>
          <a:ln w="25400">
            <a:solidFill>
              <a:schemeClr val="tx1"/>
            </a:solidFill>
            <a:prstDash val="sysDash"/>
            <a:miter lim="800000"/>
            <a:headEnd/>
            <a:tailEnd/>
          </a:ln>
        </p:spPr>
        <p:txBody>
          <a:bodyPr wrap="none"/>
          <a:lstStyle/>
          <a:p>
            <a:endParaRPr lang="zh-CN" altLang="en-US"/>
          </a:p>
        </p:txBody>
      </p:sp>
      <p:sp>
        <p:nvSpPr>
          <p:cNvPr id="42003" name="Line 21"/>
          <p:cNvSpPr>
            <a:spLocks noChangeShapeType="1"/>
          </p:cNvSpPr>
          <p:nvPr/>
        </p:nvSpPr>
        <p:spPr bwMode="auto">
          <a:xfrm>
            <a:off x="8450263" y="5791200"/>
            <a:ext cx="576262" cy="0"/>
          </a:xfrm>
          <a:prstGeom prst="line">
            <a:avLst/>
          </a:prstGeom>
          <a:noFill/>
          <a:ln w="25400">
            <a:solidFill>
              <a:schemeClr val="tx1"/>
            </a:solidFill>
            <a:miter lim="800000"/>
            <a:headEnd/>
            <a:tailEnd/>
          </a:ln>
        </p:spPr>
        <p:txBody>
          <a:bodyPr wrap="none"/>
          <a:lstStyle/>
          <a:p>
            <a:endParaRPr lang="zh-CN" altLang="en-US"/>
          </a:p>
        </p:txBody>
      </p:sp>
      <p:sp>
        <p:nvSpPr>
          <p:cNvPr id="42004" name="Text Box 22"/>
          <p:cNvSpPr txBox="1">
            <a:spLocks noChangeArrowheads="1"/>
          </p:cNvSpPr>
          <p:nvPr/>
        </p:nvSpPr>
        <p:spPr bwMode="auto">
          <a:xfrm>
            <a:off x="2686051" y="4075113"/>
            <a:ext cx="954107" cy="400110"/>
          </a:xfrm>
          <a:prstGeom prst="rect">
            <a:avLst/>
          </a:prstGeom>
          <a:noFill/>
          <a:ln w="25400">
            <a:noFill/>
            <a:miter lim="800000"/>
            <a:headEnd/>
            <a:tailEnd/>
          </a:ln>
        </p:spPr>
        <p:txBody>
          <a:bodyPr wrap="none">
            <a:spAutoFit/>
          </a:bodyPr>
          <a:lstStyle/>
          <a:p>
            <a:r>
              <a:rPr lang="en-US" altLang="zh-CN" dirty="0">
                <a:ea typeface="宋体" charset="-122"/>
              </a:rPr>
              <a:t>A1(10)</a:t>
            </a:r>
          </a:p>
        </p:txBody>
      </p:sp>
      <p:sp>
        <p:nvSpPr>
          <p:cNvPr id="42005" name="Text Box 23"/>
          <p:cNvSpPr txBox="1">
            <a:spLocks noChangeArrowheads="1"/>
          </p:cNvSpPr>
          <p:nvPr/>
        </p:nvSpPr>
        <p:spPr bwMode="auto">
          <a:xfrm>
            <a:off x="4702176" y="4135438"/>
            <a:ext cx="954107" cy="400110"/>
          </a:xfrm>
          <a:prstGeom prst="rect">
            <a:avLst/>
          </a:prstGeom>
          <a:noFill/>
          <a:ln w="25400">
            <a:noFill/>
            <a:miter lim="800000"/>
            <a:headEnd/>
            <a:tailEnd/>
          </a:ln>
        </p:spPr>
        <p:txBody>
          <a:bodyPr wrap="none">
            <a:spAutoFit/>
          </a:bodyPr>
          <a:lstStyle/>
          <a:p>
            <a:r>
              <a:rPr lang="en-US" altLang="zh-CN" dirty="0">
                <a:solidFill>
                  <a:srgbClr val="FF0000"/>
                </a:solidFill>
                <a:ea typeface="宋体" charset="-122"/>
              </a:rPr>
              <a:t>A2(10)</a:t>
            </a:r>
          </a:p>
        </p:txBody>
      </p:sp>
      <p:sp>
        <p:nvSpPr>
          <p:cNvPr id="42006" name="Text Box 24"/>
          <p:cNvSpPr txBox="1">
            <a:spLocks noChangeArrowheads="1"/>
          </p:cNvSpPr>
          <p:nvPr/>
        </p:nvSpPr>
        <p:spPr bwMode="auto">
          <a:xfrm>
            <a:off x="5919789" y="4135438"/>
            <a:ext cx="954107" cy="400110"/>
          </a:xfrm>
          <a:prstGeom prst="rect">
            <a:avLst/>
          </a:prstGeom>
          <a:noFill/>
          <a:ln w="25400">
            <a:noFill/>
            <a:miter lim="800000"/>
            <a:headEnd/>
            <a:tailEnd/>
          </a:ln>
        </p:spPr>
        <p:txBody>
          <a:bodyPr wrap="none">
            <a:spAutoFit/>
          </a:bodyPr>
          <a:lstStyle/>
          <a:p>
            <a:r>
              <a:rPr lang="en-US" altLang="zh-CN" dirty="0">
                <a:ea typeface="宋体" charset="-122"/>
              </a:rPr>
              <a:t>A3(10)</a:t>
            </a:r>
          </a:p>
        </p:txBody>
      </p:sp>
      <p:sp>
        <p:nvSpPr>
          <p:cNvPr id="42007" name="Text Box 25"/>
          <p:cNvSpPr txBox="1">
            <a:spLocks noChangeArrowheads="1"/>
          </p:cNvSpPr>
          <p:nvPr/>
        </p:nvSpPr>
        <p:spPr bwMode="auto">
          <a:xfrm>
            <a:off x="7945439" y="4135438"/>
            <a:ext cx="954107" cy="400110"/>
          </a:xfrm>
          <a:prstGeom prst="rect">
            <a:avLst/>
          </a:prstGeom>
          <a:noFill/>
          <a:ln w="25400">
            <a:noFill/>
            <a:miter lim="800000"/>
            <a:headEnd/>
            <a:tailEnd/>
          </a:ln>
        </p:spPr>
        <p:txBody>
          <a:bodyPr wrap="none">
            <a:spAutoFit/>
          </a:bodyPr>
          <a:lstStyle/>
          <a:p>
            <a:r>
              <a:rPr lang="en-US" altLang="zh-CN" dirty="0">
                <a:solidFill>
                  <a:srgbClr val="FF0000"/>
                </a:solidFill>
                <a:ea typeface="宋体" charset="-122"/>
              </a:rPr>
              <a:t>A4(10)</a:t>
            </a:r>
          </a:p>
        </p:txBody>
      </p:sp>
      <p:sp>
        <p:nvSpPr>
          <p:cNvPr id="42008" name="Text Box 26"/>
          <p:cNvSpPr txBox="1">
            <a:spLocks noChangeArrowheads="1"/>
          </p:cNvSpPr>
          <p:nvPr/>
        </p:nvSpPr>
        <p:spPr bwMode="auto">
          <a:xfrm>
            <a:off x="9809163" y="5011738"/>
            <a:ext cx="255198" cy="400110"/>
          </a:xfrm>
          <a:prstGeom prst="rect">
            <a:avLst/>
          </a:prstGeom>
          <a:noFill/>
          <a:ln w="25400">
            <a:noFill/>
            <a:miter lim="800000"/>
            <a:headEnd/>
            <a:tailEnd/>
          </a:ln>
        </p:spPr>
        <p:txBody>
          <a:bodyPr wrap="none">
            <a:spAutoFit/>
          </a:bodyPr>
          <a:lstStyle/>
          <a:p>
            <a:r>
              <a:rPr lang="en-US" altLang="zh-CN">
                <a:ea typeface="宋体" charset="-122"/>
              </a:rPr>
              <a:t>t</a:t>
            </a:r>
          </a:p>
        </p:txBody>
      </p:sp>
      <p:sp>
        <p:nvSpPr>
          <p:cNvPr id="42009" name="Text Box 27"/>
          <p:cNvSpPr txBox="1">
            <a:spLocks noChangeArrowheads="1"/>
          </p:cNvSpPr>
          <p:nvPr/>
        </p:nvSpPr>
        <p:spPr bwMode="auto">
          <a:xfrm>
            <a:off x="2606675" y="5287963"/>
            <a:ext cx="327334" cy="400110"/>
          </a:xfrm>
          <a:prstGeom prst="rect">
            <a:avLst/>
          </a:prstGeom>
          <a:noFill/>
          <a:ln w="25400">
            <a:noFill/>
            <a:miter lim="800000"/>
            <a:headEnd/>
            <a:tailEnd/>
          </a:ln>
        </p:spPr>
        <p:txBody>
          <a:bodyPr wrap="none">
            <a:spAutoFit/>
          </a:bodyPr>
          <a:lstStyle/>
          <a:p>
            <a:r>
              <a:rPr lang="en-US" altLang="zh-CN">
                <a:ea typeface="宋体" charset="-122"/>
              </a:rPr>
              <a:t>0</a:t>
            </a:r>
          </a:p>
        </p:txBody>
      </p:sp>
      <p:sp>
        <p:nvSpPr>
          <p:cNvPr id="42010" name="Text Box 28"/>
          <p:cNvSpPr txBox="1">
            <a:spLocks noChangeArrowheads="1"/>
          </p:cNvSpPr>
          <p:nvPr/>
        </p:nvSpPr>
        <p:spPr bwMode="auto">
          <a:xfrm>
            <a:off x="3387725" y="5287963"/>
            <a:ext cx="470000" cy="400110"/>
          </a:xfrm>
          <a:prstGeom prst="rect">
            <a:avLst/>
          </a:prstGeom>
          <a:noFill/>
          <a:ln w="25400">
            <a:noFill/>
            <a:miter lim="800000"/>
            <a:headEnd/>
            <a:tailEnd/>
          </a:ln>
        </p:spPr>
        <p:txBody>
          <a:bodyPr wrap="none">
            <a:spAutoFit/>
          </a:bodyPr>
          <a:lstStyle/>
          <a:p>
            <a:r>
              <a:rPr lang="en-US" altLang="zh-CN">
                <a:ea typeface="宋体" charset="-122"/>
              </a:rPr>
              <a:t>10</a:t>
            </a:r>
          </a:p>
        </p:txBody>
      </p:sp>
      <p:sp>
        <p:nvSpPr>
          <p:cNvPr id="42011" name="Text Box 29"/>
          <p:cNvSpPr txBox="1">
            <a:spLocks noChangeArrowheads="1"/>
          </p:cNvSpPr>
          <p:nvPr/>
        </p:nvSpPr>
        <p:spPr bwMode="auto">
          <a:xfrm>
            <a:off x="4037013" y="5287963"/>
            <a:ext cx="470000" cy="400110"/>
          </a:xfrm>
          <a:prstGeom prst="rect">
            <a:avLst/>
          </a:prstGeom>
          <a:noFill/>
          <a:ln w="25400">
            <a:noFill/>
            <a:miter lim="800000"/>
            <a:headEnd/>
            <a:tailEnd/>
          </a:ln>
        </p:spPr>
        <p:txBody>
          <a:bodyPr wrap="none">
            <a:spAutoFit/>
          </a:bodyPr>
          <a:lstStyle/>
          <a:p>
            <a:r>
              <a:rPr lang="en-US" altLang="zh-CN">
                <a:ea typeface="宋体" charset="-122"/>
              </a:rPr>
              <a:t>20</a:t>
            </a:r>
          </a:p>
        </p:txBody>
      </p:sp>
      <p:sp>
        <p:nvSpPr>
          <p:cNvPr id="42012" name="Text Box 30"/>
          <p:cNvSpPr txBox="1">
            <a:spLocks noChangeArrowheads="1"/>
          </p:cNvSpPr>
          <p:nvPr/>
        </p:nvSpPr>
        <p:spPr bwMode="auto">
          <a:xfrm>
            <a:off x="4622800" y="5287963"/>
            <a:ext cx="649288" cy="400110"/>
          </a:xfrm>
          <a:prstGeom prst="rect">
            <a:avLst/>
          </a:prstGeom>
          <a:noFill/>
          <a:ln w="25400">
            <a:noFill/>
            <a:miter lim="800000"/>
            <a:headEnd/>
            <a:tailEnd/>
          </a:ln>
        </p:spPr>
        <p:txBody>
          <a:bodyPr>
            <a:spAutoFit/>
          </a:bodyPr>
          <a:lstStyle/>
          <a:p>
            <a:r>
              <a:rPr lang="en-US" altLang="zh-CN">
                <a:ea typeface="宋体" charset="-122"/>
              </a:rPr>
              <a:t>30</a:t>
            </a:r>
          </a:p>
        </p:txBody>
      </p:sp>
      <p:sp>
        <p:nvSpPr>
          <p:cNvPr id="42013" name="Text Box 31"/>
          <p:cNvSpPr txBox="1">
            <a:spLocks noChangeArrowheads="1"/>
          </p:cNvSpPr>
          <p:nvPr/>
        </p:nvSpPr>
        <p:spPr bwMode="auto">
          <a:xfrm>
            <a:off x="5270500" y="5287963"/>
            <a:ext cx="470000" cy="400110"/>
          </a:xfrm>
          <a:prstGeom prst="rect">
            <a:avLst/>
          </a:prstGeom>
          <a:noFill/>
          <a:ln w="25400">
            <a:noFill/>
            <a:miter lim="800000"/>
            <a:headEnd/>
            <a:tailEnd/>
          </a:ln>
        </p:spPr>
        <p:txBody>
          <a:bodyPr wrap="none">
            <a:spAutoFit/>
          </a:bodyPr>
          <a:lstStyle/>
          <a:p>
            <a:r>
              <a:rPr lang="en-US" altLang="zh-CN">
                <a:ea typeface="宋体" charset="-122"/>
              </a:rPr>
              <a:t>40</a:t>
            </a:r>
          </a:p>
        </p:txBody>
      </p:sp>
      <p:sp>
        <p:nvSpPr>
          <p:cNvPr id="42014" name="Text Box 32"/>
          <p:cNvSpPr txBox="1">
            <a:spLocks noChangeArrowheads="1"/>
          </p:cNvSpPr>
          <p:nvPr/>
        </p:nvSpPr>
        <p:spPr bwMode="auto">
          <a:xfrm>
            <a:off x="6049963" y="5287963"/>
            <a:ext cx="470000" cy="400110"/>
          </a:xfrm>
          <a:prstGeom prst="rect">
            <a:avLst/>
          </a:prstGeom>
          <a:noFill/>
          <a:ln w="25400">
            <a:noFill/>
            <a:miter lim="800000"/>
            <a:headEnd/>
            <a:tailEnd/>
          </a:ln>
        </p:spPr>
        <p:txBody>
          <a:bodyPr wrap="none">
            <a:spAutoFit/>
          </a:bodyPr>
          <a:lstStyle/>
          <a:p>
            <a:r>
              <a:rPr lang="en-US" altLang="zh-CN">
                <a:ea typeface="宋体" charset="-122"/>
              </a:rPr>
              <a:t>50</a:t>
            </a:r>
          </a:p>
        </p:txBody>
      </p:sp>
      <p:sp>
        <p:nvSpPr>
          <p:cNvPr id="42015" name="Text Box 33"/>
          <p:cNvSpPr txBox="1">
            <a:spLocks noChangeArrowheads="1"/>
          </p:cNvSpPr>
          <p:nvPr/>
        </p:nvSpPr>
        <p:spPr bwMode="auto">
          <a:xfrm>
            <a:off x="6854826" y="5287963"/>
            <a:ext cx="576263" cy="400110"/>
          </a:xfrm>
          <a:prstGeom prst="rect">
            <a:avLst/>
          </a:prstGeom>
          <a:noFill/>
          <a:ln w="25400">
            <a:noFill/>
            <a:miter lim="800000"/>
            <a:headEnd/>
            <a:tailEnd/>
          </a:ln>
        </p:spPr>
        <p:txBody>
          <a:bodyPr>
            <a:spAutoFit/>
          </a:bodyPr>
          <a:lstStyle/>
          <a:p>
            <a:r>
              <a:rPr lang="en-US" altLang="zh-CN">
                <a:ea typeface="宋体" charset="-122"/>
              </a:rPr>
              <a:t>60</a:t>
            </a:r>
          </a:p>
        </p:txBody>
      </p:sp>
      <p:sp>
        <p:nvSpPr>
          <p:cNvPr id="42016" name="Text Box 34"/>
          <p:cNvSpPr txBox="1">
            <a:spLocks noChangeArrowheads="1"/>
          </p:cNvSpPr>
          <p:nvPr/>
        </p:nvSpPr>
        <p:spPr bwMode="auto">
          <a:xfrm>
            <a:off x="7513638" y="5287963"/>
            <a:ext cx="470000" cy="400110"/>
          </a:xfrm>
          <a:prstGeom prst="rect">
            <a:avLst/>
          </a:prstGeom>
          <a:noFill/>
          <a:ln w="25400">
            <a:noFill/>
            <a:miter lim="800000"/>
            <a:headEnd/>
            <a:tailEnd/>
          </a:ln>
        </p:spPr>
        <p:txBody>
          <a:bodyPr wrap="none">
            <a:spAutoFit/>
          </a:bodyPr>
          <a:lstStyle/>
          <a:p>
            <a:r>
              <a:rPr lang="en-US" altLang="zh-CN">
                <a:ea typeface="宋体" charset="-122"/>
              </a:rPr>
              <a:t>70</a:t>
            </a:r>
          </a:p>
        </p:txBody>
      </p:sp>
      <p:sp>
        <p:nvSpPr>
          <p:cNvPr id="42017" name="Text Box 35"/>
          <p:cNvSpPr txBox="1">
            <a:spLocks noChangeArrowheads="1"/>
          </p:cNvSpPr>
          <p:nvPr/>
        </p:nvSpPr>
        <p:spPr bwMode="auto">
          <a:xfrm>
            <a:off x="8367713" y="5287963"/>
            <a:ext cx="470000" cy="400110"/>
          </a:xfrm>
          <a:prstGeom prst="rect">
            <a:avLst/>
          </a:prstGeom>
          <a:noFill/>
          <a:ln w="25400">
            <a:noFill/>
            <a:miter lim="800000"/>
            <a:headEnd/>
            <a:tailEnd/>
          </a:ln>
        </p:spPr>
        <p:txBody>
          <a:bodyPr wrap="none">
            <a:spAutoFit/>
          </a:bodyPr>
          <a:lstStyle/>
          <a:p>
            <a:r>
              <a:rPr lang="en-US" altLang="zh-CN">
                <a:ea typeface="宋体" charset="-122"/>
              </a:rPr>
              <a:t>80</a:t>
            </a:r>
          </a:p>
        </p:txBody>
      </p:sp>
      <p:sp>
        <p:nvSpPr>
          <p:cNvPr id="42018" name="Text Box 36"/>
          <p:cNvSpPr txBox="1">
            <a:spLocks noChangeArrowheads="1"/>
          </p:cNvSpPr>
          <p:nvPr/>
        </p:nvSpPr>
        <p:spPr bwMode="auto">
          <a:xfrm>
            <a:off x="2057400" y="5588000"/>
            <a:ext cx="689612" cy="400110"/>
          </a:xfrm>
          <a:prstGeom prst="rect">
            <a:avLst/>
          </a:prstGeom>
          <a:noFill/>
          <a:ln w="25400">
            <a:noFill/>
            <a:miter lim="800000"/>
            <a:headEnd/>
            <a:tailEnd/>
          </a:ln>
        </p:spPr>
        <p:txBody>
          <a:bodyPr wrap="none">
            <a:spAutoFit/>
          </a:bodyPr>
          <a:lstStyle/>
          <a:p>
            <a:r>
              <a:rPr lang="en-US" altLang="zh-CN" dirty="0">
                <a:ea typeface="宋体" charset="-122"/>
              </a:rPr>
              <a:t>t1=0</a:t>
            </a:r>
          </a:p>
        </p:txBody>
      </p:sp>
      <p:sp>
        <p:nvSpPr>
          <p:cNvPr id="42019" name="Text Box 37"/>
          <p:cNvSpPr txBox="1">
            <a:spLocks noChangeArrowheads="1"/>
          </p:cNvSpPr>
          <p:nvPr/>
        </p:nvSpPr>
        <p:spPr bwMode="auto">
          <a:xfrm>
            <a:off x="3832226" y="5765800"/>
            <a:ext cx="954107" cy="400110"/>
          </a:xfrm>
          <a:prstGeom prst="rect">
            <a:avLst/>
          </a:prstGeom>
          <a:noFill/>
          <a:ln w="25400">
            <a:noFill/>
            <a:miter lim="800000"/>
            <a:headEnd/>
            <a:tailEnd/>
          </a:ln>
        </p:spPr>
        <p:txBody>
          <a:bodyPr wrap="none">
            <a:spAutoFit/>
          </a:bodyPr>
          <a:lstStyle/>
          <a:p>
            <a:r>
              <a:rPr lang="en-US" altLang="zh-CN" dirty="0">
                <a:ea typeface="宋体" charset="-122"/>
              </a:rPr>
              <a:t>B1(20)</a:t>
            </a:r>
          </a:p>
        </p:txBody>
      </p:sp>
      <p:sp>
        <p:nvSpPr>
          <p:cNvPr id="42020" name="Text Box 38"/>
          <p:cNvSpPr txBox="1">
            <a:spLocks noChangeArrowheads="1"/>
          </p:cNvSpPr>
          <p:nvPr/>
        </p:nvSpPr>
        <p:spPr bwMode="auto">
          <a:xfrm>
            <a:off x="5497514" y="5765800"/>
            <a:ext cx="811441" cy="400110"/>
          </a:xfrm>
          <a:prstGeom prst="rect">
            <a:avLst/>
          </a:prstGeom>
          <a:noFill/>
          <a:ln w="25400">
            <a:noFill/>
            <a:miter lim="800000"/>
            <a:headEnd/>
            <a:tailEnd/>
          </a:ln>
        </p:spPr>
        <p:txBody>
          <a:bodyPr wrap="none">
            <a:spAutoFit/>
          </a:bodyPr>
          <a:lstStyle/>
          <a:p>
            <a:r>
              <a:rPr lang="en-US" altLang="zh-CN">
                <a:ea typeface="宋体" charset="-122"/>
              </a:rPr>
              <a:t>B1(5)</a:t>
            </a:r>
          </a:p>
        </p:txBody>
      </p:sp>
      <p:sp>
        <p:nvSpPr>
          <p:cNvPr id="42021" name="Text Box 39"/>
          <p:cNvSpPr txBox="1">
            <a:spLocks noChangeArrowheads="1"/>
          </p:cNvSpPr>
          <p:nvPr/>
        </p:nvSpPr>
        <p:spPr bwMode="auto">
          <a:xfrm>
            <a:off x="6783389" y="5791200"/>
            <a:ext cx="954107" cy="400110"/>
          </a:xfrm>
          <a:prstGeom prst="rect">
            <a:avLst/>
          </a:prstGeom>
          <a:noFill/>
          <a:ln w="25400">
            <a:noFill/>
            <a:miter lim="800000"/>
            <a:headEnd/>
            <a:tailEnd/>
          </a:ln>
        </p:spPr>
        <p:txBody>
          <a:bodyPr wrap="none">
            <a:spAutoFit/>
          </a:bodyPr>
          <a:lstStyle/>
          <a:p>
            <a:r>
              <a:rPr lang="en-US" altLang="zh-CN" dirty="0">
                <a:ea typeface="宋体" charset="-122"/>
              </a:rPr>
              <a:t>B2(15)</a:t>
            </a:r>
          </a:p>
        </p:txBody>
      </p:sp>
      <p:sp>
        <p:nvSpPr>
          <p:cNvPr id="42022" name="Text Box 40"/>
          <p:cNvSpPr txBox="1">
            <a:spLocks noChangeArrowheads="1"/>
          </p:cNvSpPr>
          <p:nvPr/>
        </p:nvSpPr>
        <p:spPr bwMode="auto">
          <a:xfrm>
            <a:off x="8305801" y="5765800"/>
            <a:ext cx="954107" cy="400110"/>
          </a:xfrm>
          <a:prstGeom prst="rect">
            <a:avLst/>
          </a:prstGeom>
          <a:noFill/>
          <a:ln w="25400">
            <a:noFill/>
            <a:miter lim="800000"/>
            <a:headEnd/>
            <a:tailEnd/>
          </a:ln>
        </p:spPr>
        <p:txBody>
          <a:bodyPr wrap="none">
            <a:spAutoFit/>
          </a:bodyPr>
          <a:lstStyle/>
          <a:p>
            <a:r>
              <a:rPr lang="en-US" altLang="zh-CN" dirty="0">
                <a:ea typeface="宋体" charset="-122"/>
              </a:rPr>
              <a:t>B2(10)</a:t>
            </a:r>
          </a:p>
        </p:txBody>
      </p:sp>
      <p:sp>
        <p:nvSpPr>
          <p:cNvPr id="42023" name="Text Box 41"/>
          <p:cNvSpPr txBox="1">
            <a:spLocks noChangeArrowheads="1"/>
          </p:cNvSpPr>
          <p:nvPr/>
        </p:nvSpPr>
        <p:spPr bwMode="auto">
          <a:xfrm>
            <a:off x="2759075" y="4854575"/>
            <a:ext cx="397866" cy="400110"/>
          </a:xfrm>
          <a:prstGeom prst="rect">
            <a:avLst/>
          </a:prstGeom>
          <a:noFill/>
          <a:ln w="25400">
            <a:noFill/>
            <a:miter lim="800000"/>
            <a:headEnd/>
            <a:tailEnd/>
          </a:ln>
        </p:spPr>
        <p:txBody>
          <a:bodyPr wrap="none">
            <a:spAutoFit/>
          </a:bodyPr>
          <a:lstStyle/>
          <a:p>
            <a:r>
              <a:rPr lang="en-US" altLang="zh-CN">
                <a:ea typeface="宋体" charset="-122"/>
              </a:rPr>
              <a:t>t1</a:t>
            </a:r>
          </a:p>
        </p:txBody>
      </p:sp>
      <p:sp>
        <p:nvSpPr>
          <p:cNvPr id="42024" name="Text Box 42"/>
          <p:cNvSpPr txBox="1">
            <a:spLocks noChangeArrowheads="1"/>
          </p:cNvSpPr>
          <p:nvPr/>
        </p:nvSpPr>
        <p:spPr bwMode="auto">
          <a:xfrm>
            <a:off x="3551238" y="4854575"/>
            <a:ext cx="397866" cy="400110"/>
          </a:xfrm>
          <a:prstGeom prst="rect">
            <a:avLst/>
          </a:prstGeom>
          <a:noFill/>
          <a:ln w="25400">
            <a:noFill/>
            <a:miter lim="800000"/>
            <a:headEnd/>
            <a:tailEnd/>
          </a:ln>
        </p:spPr>
        <p:txBody>
          <a:bodyPr wrap="none">
            <a:spAutoFit/>
          </a:bodyPr>
          <a:lstStyle/>
          <a:p>
            <a:r>
              <a:rPr lang="en-US" altLang="zh-CN">
                <a:ea typeface="宋体" charset="-122"/>
              </a:rPr>
              <a:t>t2</a:t>
            </a:r>
          </a:p>
        </p:txBody>
      </p:sp>
      <p:sp>
        <p:nvSpPr>
          <p:cNvPr id="42025" name="Text Box 43"/>
          <p:cNvSpPr txBox="1">
            <a:spLocks noChangeArrowheads="1"/>
          </p:cNvSpPr>
          <p:nvPr/>
        </p:nvSpPr>
        <p:spPr bwMode="auto">
          <a:xfrm>
            <a:off x="4838700" y="4854575"/>
            <a:ext cx="397866" cy="400110"/>
          </a:xfrm>
          <a:prstGeom prst="rect">
            <a:avLst/>
          </a:prstGeom>
          <a:noFill/>
          <a:ln w="25400">
            <a:noFill/>
            <a:miter lim="800000"/>
            <a:headEnd/>
            <a:tailEnd/>
          </a:ln>
        </p:spPr>
        <p:txBody>
          <a:bodyPr wrap="none">
            <a:spAutoFit/>
          </a:bodyPr>
          <a:lstStyle/>
          <a:p>
            <a:r>
              <a:rPr lang="en-US" altLang="zh-CN">
                <a:ea typeface="宋体" charset="-122"/>
              </a:rPr>
              <a:t>t3</a:t>
            </a:r>
          </a:p>
        </p:txBody>
      </p:sp>
      <p:sp>
        <p:nvSpPr>
          <p:cNvPr id="42026" name="Text Box 44"/>
          <p:cNvSpPr txBox="1">
            <a:spLocks noChangeArrowheads="1"/>
          </p:cNvSpPr>
          <p:nvPr/>
        </p:nvSpPr>
        <p:spPr bwMode="auto">
          <a:xfrm>
            <a:off x="5486400" y="4854575"/>
            <a:ext cx="397866" cy="400110"/>
          </a:xfrm>
          <a:prstGeom prst="rect">
            <a:avLst/>
          </a:prstGeom>
          <a:noFill/>
          <a:ln w="25400">
            <a:noFill/>
            <a:miter lim="800000"/>
            <a:headEnd/>
            <a:tailEnd/>
          </a:ln>
        </p:spPr>
        <p:txBody>
          <a:bodyPr wrap="none">
            <a:spAutoFit/>
          </a:bodyPr>
          <a:lstStyle/>
          <a:p>
            <a:r>
              <a:rPr lang="en-US" altLang="zh-CN">
                <a:ea typeface="宋体" charset="-122"/>
              </a:rPr>
              <a:t>t4</a:t>
            </a:r>
          </a:p>
        </p:txBody>
      </p:sp>
      <p:sp>
        <p:nvSpPr>
          <p:cNvPr id="42027" name="Text Box 45"/>
          <p:cNvSpPr txBox="1">
            <a:spLocks noChangeArrowheads="1"/>
          </p:cNvSpPr>
          <p:nvPr/>
        </p:nvSpPr>
        <p:spPr bwMode="auto">
          <a:xfrm>
            <a:off x="5991225" y="4854575"/>
            <a:ext cx="397866" cy="400110"/>
          </a:xfrm>
          <a:prstGeom prst="rect">
            <a:avLst/>
          </a:prstGeom>
          <a:noFill/>
          <a:ln w="25400">
            <a:noFill/>
            <a:miter lim="800000"/>
            <a:headEnd/>
            <a:tailEnd/>
          </a:ln>
        </p:spPr>
        <p:txBody>
          <a:bodyPr wrap="none">
            <a:spAutoFit/>
          </a:bodyPr>
          <a:lstStyle/>
          <a:p>
            <a:r>
              <a:rPr lang="en-US" altLang="zh-CN">
                <a:ea typeface="宋体" charset="-122"/>
              </a:rPr>
              <a:t>t5</a:t>
            </a:r>
          </a:p>
        </p:txBody>
      </p:sp>
      <p:sp>
        <p:nvSpPr>
          <p:cNvPr id="42028" name="Text Box 46"/>
          <p:cNvSpPr txBox="1">
            <a:spLocks noChangeArrowheads="1"/>
          </p:cNvSpPr>
          <p:nvPr/>
        </p:nvSpPr>
        <p:spPr bwMode="auto">
          <a:xfrm>
            <a:off x="6711950" y="4854575"/>
            <a:ext cx="397866" cy="400110"/>
          </a:xfrm>
          <a:prstGeom prst="rect">
            <a:avLst/>
          </a:prstGeom>
          <a:noFill/>
          <a:ln w="25400">
            <a:noFill/>
            <a:miter lim="800000"/>
            <a:headEnd/>
            <a:tailEnd/>
          </a:ln>
        </p:spPr>
        <p:txBody>
          <a:bodyPr wrap="none">
            <a:spAutoFit/>
          </a:bodyPr>
          <a:lstStyle/>
          <a:p>
            <a:r>
              <a:rPr lang="en-US" altLang="zh-CN">
                <a:ea typeface="宋体" charset="-122"/>
              </a:rPr>
              <a:t>t6</a:t>
            </a:r>
          </a:p>
        </p:txBody>
      </p:sp>
      <p:sp>
        <p:nvSpPr>
          <p:cNvPr id="42029" name="Text Box 47"/>
          <p:cNvSpPr txBox="1">
            <a:spLocks noChangeArrowheads="1"/>
          </p:cNvSpPr>
          <p:nvPr/>
        </p:nvSpPr>
        <p:spPr bwMode="auto">
          <a:xfrm>
            <a:off x="7729538" y="4854575"/>
            <a:ext cx="397866" cy="400110"/>
          </a:xfrm>
          <a:prstGeom prst="rect">
            <a:avLst/>
          </a:prstGeom>
          <a:noFill/>
          <a:ln w="25400">
            <a:noFill/>
            <a:miter lim="800000"/>
            <a:headEnd/>
            <a:tailEnd/>
          </a:ln>
        </p:spPr>
        <p:txBody>
          <a:bodyPr wrap="none">
            <a:spAutoFit/>
          </a:bodyPr>
          <a:lstStyle/>
          <a:p>
            <a:r>
              <a:rPr lang="en-US" altLang="zh-CN">
                <a:ea typeface="宋体" charset="-122"/>
              </a:rPr>
              <a:t>t7</a:t>
            </a:r>
          </a:p>
        </p:txBody>
      </p:sp>
      <p:sp>
        <p:nvSpPr>
          <p:cNvPr id="42030" name="Text Box 48"/>
          <p:cNvSpPr txBox="1">
            <a:spLocks noChangeArrowheads="1"/>
          </p:cNvSpPr>
          <p:nvPr/>
        </p:nvSpPr>
        <p:spPr bwMode="auto">
          <a:xfrm>
            <a:off x="8377238" y="4854575"/>
            <a:ext cx="397866" cy="400110"/>
          </a:xfrm>
          <a:prstGeom prst="rect">
            <a:avLst/>
          </a:prstGeom>
          <a:noFill/>
          <a:ln w="25400">
            <a:noFill/>
            <a:miter lim="800000"/>
            <a:headEnd/>
            <a:tailEnd/>
          </a:ln>
        </p:spPr>
        <p:txBody>
          <a:bodyPr wrap="none">
            <a:spAutoFit/>
          </a:bodyPr>
          <a:lstStyle/>
          <a:p>
            <a:r>
              <a:rPr lang="en-US" altLang="zh-CN">
                <a:ea typeface="宋体" charset="-122"/>
              </a:rPr>
              <a:t>t8</a:t>
            </a:r>
          </a:p>
        </p:txBody>
      </p:sp>
      <p:sp>
        <p:nvSpPr>
          <p:cNvPr id="42031" name="Line 49"/>
          <p:cNvSpPr>
            <a:spLocks noChangeShapeType="1"/>
          </p:cNvSpPr>
          <p:nvPr/>
        </p:nvSpPr>
        <p:spPr bwMode="auto">
          <a:xfrm>
            <a:off x="5054600" y="5287963"/>
            <a:ext cx="14288"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2" name="Line 50"/>
          <p:cNvSpPr>
            <a:spLocks noChangeShapeType="1"/>
          </p:cNvSpPr>
          <p:nvPr/>
        </p:nvSpPr>
        <p:spPr bwMode="auto">
          <a:xfrm>
            <a:off x="5688014"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3" name="Line 51"/>
          <p:cNvSpPr>
            <a:spLocks noChangeShapeType="1"/>
          </p:cNvSpPr>
          <p:nvPr/>
        </p:nvSpPr>
        <p:spPr bwMode="auto">
          <a:xfrm>
            <a:off x="6048375" y="5287963"/>
            <a:ext cx="14288"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4" name="Line 52"/>
          <p:cNvSpPr>
            <a:spLocks noChangeShapeType="1"/>
          </p:cNvSpPr>
          <p:nvPr/>
        </p:nvSpPr>
        <p:spPr bwMode="auto">
          <a:xfrm>
            <a:off x="7129464"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5" name="Line 53"/>
          <p:cNvSpPr>
            <a:spLocks noChangeShapeType="1"/>
          </p:cNvSpPr>
          <p:nvPr/>
        </p:nvSpPr>
        <p:spPr bwMode="auto">
          <a:xfrm>
            <a:off x="3614739"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6" name="Line 54"/>
          <p:cNvSpPr>
            <a:spLocks noChangeShapeType="1"/>
          </p:cNvSpPr>
          <p:nvPr/>
        </p:nvSpPr>
        <p:spPr bwMode="auto">
          <a:xfrm>
            <a:off x="4319589"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7" name="Line 55"/>
          <p:cNvSpPr>
            <a:spLocks noChangeShapeType="1"/>
          </p:cNvSpPr>
          <p:nvPr/>
        </p:nvSpPr>
        <p:spPr bwMode="auto">
          <a:xfrm>
            <a:off x="8450264"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8" name="Line 56"/>
          <p:cNvSpPr>
            <a:spLocks noChangeShapeType="1"/>
          </p:cNvSpPr>
          <p:nvPr/>
        </p:nvSpPr>
        <p:spPr bwMode="auto">
          <a:xfrm>
            <a:off x="6408739"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sp>
        <p:nvSpPr>
          <p:cNvPr id="42039" name="Line 57"/>
          <p:cNvSpPr>
            <a:spLocks noChangeShapeType="1"/>
          </p:cNvSpPr>
          <p:nvPr/>
        </p:nvSpPr>
        <p:spPr bwMode="auto">
          <a:xfrm>
            <a:off x="7786689" y="5287963"/>
            <a:ext cx="14287" cy="0"/>
          </a:xfrm>
          <a:prstGeom prst="line">
            <a:avLst/>
          </a:prstGeom>
          <a:noFill/>
          <a:ln w="9525">
            <a:solidFill>
              <a:schemeClr val="tx1"/>
            </a:solidFill>
            <a:miter lim="800000"/>
            <a:headEnd type="oval" w="med" len="med"/>
            <a:tailEnd type="oval" w="med" len="med"/>
          </a:ln>
        </p:spPr>
        <p:txBody>
          <a:bodyPr wrap="none"/>
          <a:lstStyle/>
          <a:p>
            <a:endParaRPr lang="zh-CN" altLang="en-US"/>
          </a:p>
        </p:txBody>
      </p:sp>
      <p:grpSp>
        <p:nvGrpSpPr>
          <p:cNvPr id="90" name="组合 89"/>
          <p:cNvGrpSpPr/>
          <p:nvPr/>
        </p:nvGrpSpPr>
        <p:grpSpPr>
          <a:xfrm>
            <a:off x="2209800" y="1295401"/>
            <a:ext cx="7775186" cy="2297173"/>
            <a:chOff x="796925" y="4114800"/>
            <a:chExt cx="7775186" cy="2297173"/>
          </a:xfrm>
        </p:grpSpPr>
        <p:sp>
          <p:nvSpPr>
            <p:cNvPr id="91" name="Line 1030"/>
            <p:cNvSpPr>
              <a:spLocks noChangeShapeType="1"/>
            </p:cNvSpPr>
            <p:nvPr/>
          </p:nvSpPr>
          <p:spPr bwMode="auto">
            <a:xfrm>
              <a:off x="1042988" y="5291138"/>
              <a:ext cx="7200900"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92" name="Line 1031"/>
            <p:cNvSpPr>
              <a:spLocks noChangeShapeType="1"/>
            </p:cNvSpPr>
            <p:nvPr/>
          </p:nvSpPr>
          <p:spPr bwMode="auto">
            <a:xfrm>
              <a:off x="1835150"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3" name="Line 1032"/>
            <p:cNvSpPr>
              <a:spLocks noChangeShapeType="1"/>
            </p:cNvSpPr>
            <p:nvPr/>
          </p:nvSpPr>
          <p:spPr bwMode="auto">
            <a:xfrm>
              <a:off x="2627313"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4" name="Line 1033"/>
            <p:cNvSpPr>
              <a:spLocks noChangeShapeType="1"/>
            </p:cNvSpPr>
            <p:nvPr/>
          </p:nvSpPr>
          <p:spPr bwMode="auto">
            <a:xfrm>
              <a:off x="3419475"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5" name="Line 1034"/>
            <p:cNvSpPr>
              <a:spLocks noChangeShapeType="1"/>
            </p:cNvSpPr>
            <p:nvPr/>
          </p:nvSpPr>
          <p:spPr bwMode="auto">
            <a:xfrm>
              <a:off x="4140200"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6" name="Line 1035"/>
            <p:cNvSpPr>
              <a:spLocks noChangeShapeType="1"/>
            </p:cNvSpPr>
            <p:nvPr/>
          </p:nvSpPr>
          <p:spPr bwMode="auto">
            <a:xfrm>
              <a:off x="4859338"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7" name="Line 1036"/>
            <p:cNvSpPr>
              <a:spLocks noChangeShapeType="1"/>
            </p:cNvSpPr>
            <p:nvPr/>
          </p:nvSpPr>
          <p:spPr bwMode="auto">
            <a:xfrm>
              <a:off x="5580063"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8" name="Line 1037"/>
            <p:cNvSpPr>
              <a:spLocks noChangeShapeType="1"/>
            </p:cNvSpPr>
            <p:nvPr/>
          </p:nvSpPr>
          <p:spPr bwMode="auto">
            <a:xfrm>
              <a:off x="6300788"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99" name="Line 1038"/>
            <p:cNvSpPr>
              <a:spLocks noChangeShapeType="1"/>
            </p:cNvSpPr>
            <p:nvPr/>
          </p:nvSpPr>
          <p:spPr bwMode="auto">
            <a:xfrm>
              <a:off x="7019925" y="4643438"/>
              <a:ext cx="0" cy="647700"/>
            </a:xfrm>
            <a:prstGeom prst="line">
              <a:avLst/>
            </a:prstGeom>
            <a:noFill/>
            <a:ln w="28575">
              <a:solidFill>
                <a:schemeClr val="tx1"/>
              </a:solidFill>
              <a:miter lim="800000"/>
              <a:headEnd/>
              <a:tailEnd/>
            </a:ln>
          </p:spPr>
          <p:txBody>
            <a:bodyPr wrap="none"/>
            <a:lstStyle/>
            <a:p>
              <a:endParaRPr lang="zh-CN" altLang="en-US"/>
            </a:p>
          </p:txBody>
        </p:sp>
        <p:sp>
          <p:nvSpPr>
            <p:cNvPr id="100" name="Line 1039"/>
            <p:cNvSpPr>
              <a:spLocks noChangeShapeType="1"/>
            </p:cNvSpPr>
            <p:nvPr/>
          </p:nvSpPr>
          <p:spPr bwMode="auto">
            <a:xfrm>
              <a:off x="2987675" y="5291138"/>
              <a:ext cx="0" cy="647700"/>
            </a:xfrm>
            <a:prstGeom prst="line">
              <a:avLst/>
            </a:prstGeom>
            <a:noFill/>
            <a:ln w="28575">
              <a:solidFill>
                <a:schemeClr val="tx1"/>
              </a:solidFill>
              <a:miter lim="800000"/>
              <a:headEnd/>
              <a:tailEnd/>
            </a:ln>
          </p:spPr>
          <p:txBody>
            <a:bodyPr wrap="none"/>
            <a:lstStyle/>
            <a:p>
              <a:endParaRPr lang="zh-CN" altLang="en-US"/>
            </a:p>
          </p:txBody>
        </p:sp>
        <p:sp>
          <p:nvSpPr>
            <p:cNvPr id="101" name="Line 1040"/>
            <p:cNvSpPr>
              <a:spLocks noChangeShapeType="1"/>
            </p:cNvSpPr>
            <p:nvPr/>
          </p:nvSpPr>
          <p:spPr bwMode="auto">
            <a:xfrm>
              <a:off x="4859338" y="5291138"/>
              <a:ext cx="0" cy="647700"/>
            </a:xfrm>
            <a:prstGeom prst="line">
              <a:avLst/>
            </a:prstGeom>
            <a:noFill/>
            <a:ln w="28575">
              <a:solidFill>
                <a:schemeClr val="tx1"/>
              </a:solidFill>
              <a:miter lim="800000"/>
              <a:headEnd/>
              <a:tailEnd/>
            </a:ln>
          </p:spPr>
          <p:txBody>
            <a:bodyPr wrap="none"/>
            <a:lstStyle/>
            <a:p>
              <a:endParaRPr lang="zh-CN" altLang="en-US"/>
            </a:p>
          </p:txBody>
        </p:sp>
        <p:sp>
          <p:nvSpPr>
            <p:cNvPr id="102" name="Line 1041"/>
            <p:cNvSpPr>
              <a:spLocks noChangeShapeType="1"/>
            </p:cNvSpPr>
            <p:nvPr/>
          </p:nvSpPr>
          <p:spPr bwMode="auto">
            <a:xfrm>
              <a:off x="6659563" y="5291138"/>
              <a:ext cx="0" cy="647700"/>
            </a:xfrm>
            <a:prstGeom prst="line">
              <a:avLst/>
            </a:prstGeom>
            <a:noFill/>
            <a:ln w="28575">
              <a:solidFill>
                <a:schemeClr val="tx1"/>
              </a:solidFill>
              <a:miter lim="800000"/>
              <a:headEnd/>
              <a:tailEnd/>
            </a:ln>
          </p:spPr>
          <p:txBody>
            <a:bodyPr wrap="none"/>
            <a:lstStyle/>
            <a:p>
              <a:endParaRPr lang="zh-CN" altLang="en-US"/>
            </a:p>
          </p:txBody>
        </p:sp>
        <p:sp>
          <p:nvSpPr>
            <p:cNvPr id="103" name="Text Box 1042"/>
            <p:cNvSpPr txBox="1">
              <a:spLocks noChangeArrowheads="1"/>
            </p:cNvSpPr>
            <p:nvPr/>
          </p:nvSpPr>
          <p:spPr bwMode="auto">
            <a:xfrm>
              <a:off x="1547813" y="4138613"/>
              <a:ext cx="498855" cy="400110"/>
            </a:xfrm>
            <a:prstGeom prst="rect">
              <a:avLst/>
            </a:prstGeom>
            <a:noFill/>
            <a:ln w="9525">
              <a:noFill/>
              <a:miter lim="800000"/>
              <a:headEnd/>
              <a:tailEnd/>
            </a:ln>
          </p:spPr>
          <p:txBody>
            <a:bodyPr wrap="none">
              <a:spAutoFit/>
            </a:bodyPr>
            <a:lstStyle/>
            <a:p>
              <a:r>
                <a:rPr lang="en-US" altLang="zh-CN" dirty="0">
                  <a:ea typeface="宋体" charset="-122"/>
                </a:rPr>
                <a:t>A1</a:t>
              </a:r>
            </a:p>
          </p:txBody>
        </p:sp>
        <p:sp>
          <p:nvSpPr>
            <p:cNvPr id="104" name="Text Box 1043"/>
            <p:cNvSpPr txBox="1">
              <a:spLocks noChangeArrowheads="1"/>
            </p:cNvSpPr>
            <p:nvPr/>
          </p:nvSpPr>
          <p:spPr bwMode="auto">
            <a:xfrm>
              <a:off x="2411413" y="4138613"/>
              <a:ext cx="498855" cy="400110"/>
            </a:xfrm>
            <a:prstGeom prst="rect">
              <a:avLst/>
            </a:prstGeom>
            <a:noFill/>
            <a:ln w="9525">
              <a:noFill/>
              <a:miter lim="800000"/>
              <a:headEnd/>
              <a:tailEnd/>
            </a:ln>
          </p:spPr>
          <p:txBody>
            <a:bodyPr wrap="none">
              <a:spAutoFit/>
            </a:bodyPr>
            <a:lstStyle/>
            <a:p>
              <a:r>
                <a:rPr lang="en-US" altLang="zh-CN" dirty="0">
                  <a:ea typeface="宋体" charset="-122"/>
                </a:rPr>
                <a:t>A2</a:t>
              </a:r>
            </a:p>
          </p:txBody>
        </p:sp>
        <p:sp>
          <p:nvSpPr>
            <p:cNvPr id="105" name="Text Box 1044"/>
            <p:cNvSpPr txBox="1">
              <a:spLocks noChangeArrowheads="1"/>
            </p:cNvSpPr>
            <p:nvPr/>
          </p:nvSpPr>
          <p:spPr bwMode="auto">
            <a:xfrm>
              <a:off x="3203575" y="4138613"/>
              <a:ext cx="498855" cy="400110"/>
            </a:xfrm>
            <a:prstGeom prst="rect">
              <a:avLst/>
            </a:prstGeom>
            <a:noFill/>
            <a:ln w="9525">
              <a:noFill/>
              <a:miter lim="800000"/>
              <a:headEnd/>
              <a:tailEnd/>
            </a:ln>
          </p:spPr>
          <p:txBody>
            <a:bodyPr wrap="none">
              <a:spAutoFit/>
            </a:bodyPr>
            <a:lstStyle/>
            <a:p>
              <a:r>
                <a:rPr lang="en-US" altLang="zh-CN">
                  <a:ea typeface="宋体" charset="-122"/>
                </a:rPr>
                <a:t>A3</a:t>
              </a:r>
            </a:p>
          </p:txBody>
        </p:sp>
        <p:sp>
          <p:nvSpPr>
            <p:cNvPr id="106" name="Text Box 1045"/>
            <p:cNvSpPr txBox="1">
              <a:spLocks noChangeArrowheads="1"/>
            </p:cNvSpPr>
            <p:nvPr/>
          </p:nvSpPr>
          <p:spPr bwMode="auto">
            <a:xfrm>
              <a:off x="3995738" y="4138613"/>
              <a:ext cx="498855" cy="400110"/>
            </a:xfrm>
            <a:prstGeom prst="rect">
              <a:avLst/>
            </a:prstGeom>
            <a:noFill/>
            <a:ln w="9525">
              <a:noFill/>
              <a:miter lim="800000"/>
              <a:headEnd/>
              <a:tailEnd/>
            </a:ln>
          </p:spPr>
          <p:txBody>
            <a:bodyPr wrap="none">
              <a:spAutoFit/>
            </a:bodyPr>
            <a:lstStyle/>
            <a:p>
              <a:r>
                <a:rPr lang="en-US" altLang="zh-CN">
                  <a:ea typeface="宋体" charset="-122"/>
                </a:rPr>
                <a:t>A4</a:t>
              </a:r>
            </a:p>
          </p:txBody>
        </p:sp>
        <p:sp>
          <p:nvSpPr>
            <p:cNvPr id="107" name="Text Box 1046"/>
            <p:cNvSpPr txBox="1">
              <a:spLocks noChangeArrowheads="1"/>
            </p:cNvSpPr>
            <p:nvPr/>
          </p:nvSpPr>
          <p:spPr bwMode="auto">
            <a:xfrm>
              <a:off x="4716463" y="4114800"/>
              <a:ext cx="498855" cy="400110"/>
            </a:xfrm>
            <a:prstGeom prst="rect">
              <a:avLst/>
            </a:prstGeom>
            <a:noFill/>
            <a:ln w="9525">
              <a:noFill/>
              <a:miter lim="800000"/>
              <a:headEnd/>
              <a:tailEnd/>
            </a:ln>
          </p:spPr>
          <p:txBody>
            <a:bodyPr wrap="none">
              <a:spAutoFit/>
            </a:bodyPr>
            <a:lstStyle/>
            <a:p>
              <a:r>
                <a:rPr lang="en-US" altLang="zh-CN">
                  <a:ea typeface="宋体" charset="-122"/>
                </a:rPr>
                <a:t>A5</a:t>
              </a:r>
            </a:p>
          </p:txBody>
        </p:sp>
        <p:sp>
          <p:nvSpPr>
            <p:cNvPr id="108" name="Text Box 1047"/>
            <p:cNvSpPr txBox="1">
              <a:spLocks noChangeArrowheads="1"/>
            </p:cNvSpPr>
            <p:nvPr/>
          </p:nvSpPr>
          <p:spPr bwMode="auto">
            <a:xfrm>
              <a:off x="5364163" y="4138613"/>
              <a:ext cx="498855" cy="400110"/>
            </a:xfrm>
            <a:prstGeom prst="rect">
              <a:avLst/>
            </a:prstGeom>
            <a:noFill/>
            <a:ln w="9525">
              <a:noFill/>
              <a:miter lim="800000"/>
              <a:headEnd/>
              <a:tailEnd/>
            </a:ln>
          </p:spPr>
          <p:txBody>
            <a:bodyPr wrap="none">
              <a:spAutoFit/>
            </a:bodyPr>
            <a:lstStyle/>
            <a:p>
              <a:r>
                <a:rPr lang="en-US" altLang="zh-CN" dirty="0">
                  <a:ea typeface="宋体" charset="-122"/>
                </a:rPr>
                <a:t>A6</a:t>
              </a:r>
            </a:p>
          </p:txBody>
        </p:sp>
        <p:sp>
          <p:nvSpPr>
            <p:cNvPr id="109" name="Text Box 1048"/>
            <p:cNvSpPr txBox="1">
              <a:spLocks noChangeArrowheads="1"/>
            </p:cNvSpPr>
            <p:nvPr/>
          </p:nvSpPr>
          <p:spPr bwMode="auto">
            <a:xfrm>
              <a:off x="6011863" y="4138613"/>
              <a:ext cx="498855" cy="400110"/>
            </a:xfrm>
            <a:prstGeom prst="rect">
              <a:avLst/>
            </a:prstGeom>
            <a:noFill/>
            <a:ln w="9525">
              <a:noFill/>
              <a:miter lim="800000"/>
              <a:headEnd/>
              <a:tailEnd/>
            </a:ln>
          </p:spPr>
          <p:txBody>
            <a:bodyPr wrap="none">
              <a:spAutoFit/>
            </a:bodyPr>
            <a:lstStyle/>
            <a:p>
              <a:r>
                <a:rPr lang="en-US" altLang="zh-CN" dirty="0">
                  <a:ea typeface="宋体" charset="-122"/>
                </a:rPr>
                <a:t>A7</a:t>
              </a:r>
            </a:p>
          </p:txBody>
        </p:sp>
        <p:sp>
          <p:nvSpPr>
            <p:cNvPr id="110" name="Text Box 1049"/>
            <p:cNvSpPr txBox="1">
              <a:spLocks noChangeArrowheads="1"/>
            </p:cNvSpPr>
            <p:nvPr/>
          </p:nvSpPr>
          <p:spPr bwMode="auto">
            <a:xfrm>
              <a:off x="6804025" y="4138613"/>
              <a:ext cx="498855" cy="400110"/>
            </a:xfrm>
            <a:prstGeom prst="rect">
              <a:avLst/>
            </a:prstGeom>
            <a:noFill/>
            <a:ln w="9525">
              <a:noFill/>
              <a:miter lim="800000"/>
              <a:headEnd/>
              <a:tailEnd/>
            </a:ln>
          </p:spPr>
          <p:txBody>
            <a:bodyPr wrap="none">
              <a:spAutoFit/>
            </a:bodyPr>
            <a:lstStyle/>
            <a:p>
              <a:r>
                <a:rPr lang="en-US" altLang="zh-CN" dirty="0">
                  <a:ea typeface="宋体" charset="-122"/>
                </a:rPr>
                <a:t>A8</a:t>
              </a:r>
            </a:p>
          </p:txBody>
        </p:sp>
        <p:sp>
          <p:nvSpPr>
            <p:cNvPr id="111" name="Text Box 1050"/>
            <p:cNvSpPr txBox="1">
              <a:spLocks noChangeArrowheads="1"/>
            </p:cNvSpPr>
            <p:nvPr/>
          </p:nvSpPr>
          <p:spPr bwMode="auto">
            <a:xfrm>
              <a:off x="2773363" y="6011863"/>
              <a:ext cx="498855" cy="400110"/>
            </a:xfrm>
            <a:prstGeom prst="rect">
              <a:avLst/>
            </a:prstGeom>
            <a:noFill/>
            <a:ln w="9525">
              <a:noFill/>
              <a:miter lim="800000"/>
              <a:headEnd/>
              <a:tailEnd/>
            </a:ln>
          </p:spPr>
          <p:txBody>
            <a:bodyPr wrap="none">
              <a:spAutoFit/>
            </a:bodyPr>
            <a:lstStyle/>
            <a:p>
              <a:r>
                <a:rPr lang="en-US" altLang="zh-CN">
                  <a:ea typeface="宋体" charset="-122"/>
                </a:rPr>
                <a:t>B1</a:t>
              </a:r>
            </a:p>
          </p:txBody>
        </p:sp>
        <p:sp>
          <p:nvSpPr>
            <p:cNvPr id="112" name="Text Box 1051"/>
            <p:cNvSpPr txBox="1">
              <a:spLocks noChangeArrowheads="1"/>
            </p:cNvSpPr>
            <p:nvPr/>
          </p:nvSpPr>
          <p:spPr bwMode="auto">
            <a:xfrm>
              <a:off x="4643438" y="6011863"/>
              <a:ext cx="498855" cy="400110"/>
            </a:xfrm>
            <a:prstGeom prst="rect">
              <a:avLst/>
            </a:prstGeom>
            <a:noFill/>
            <a:ln w="9525">
              <a:noFill/>
              <a:miter lim="800000"/>
              <a:headEnd/>
              <a:tailEnd/>
            </a:ln>
          </p:spPr>
          <p:txBody>
            <a:bodyPr wrap="none">
              <a:spAutoFit/>
            </a:bodyPr>
            <a:lstStyle/>
            <a:p>
              <a:r>
                <a:rPr lang="en-US" altLang="zh-CN">
                  <a:ea typeface="宋体" charset="-122"/>
                </a:rPr>
                <a:t>B2</a:t>
              </a:r>
            </a:p>
          </p:txBody>
        </p:sp>
        <p:sp>
          <p:nvSpPr>
            <p:cNvPr id="113" name="Text Box 1052"/>
            <p:cNvSpPr txBox="1">
              <a:spLocks noChangeArrowheads="1"/>
            </p:cNvSpPr>
            <p:nvPr/>
          </p:nvSpPr>
          <p:spPr bwMode="auto">
            <a:xfrm>
              <a:off x="6443663" y="6011863"/>
              <a:ext cx="498855" cy="400110"/>
            </a:xfrm>
            <a:prstGeom prst="rect">
              <a:avLst/>
            </a:prstGeom>
            <a:noFill/>
            <a:ln w="9525">
              <a:noFill/>
              <a:miter lim="800000"/>
              <a:headEnd/>
              <a:tailEnd/>
            </a:ln>
          </p:spPr>
          <p:txBody>
            <a:bodyPr wrap="none">
              <a:spAutoFit/>
            </a:bodyPr>
            <a:lstStyle/>
            <a:p>
              <a:r>
                <a:rPr lang="en-US" altLang="zh-CN">
                  <a:ea typeface="宋体" charset="-122"/>
                </a:rPr>
                <a:t>B3</a:t>
              </a:r>
            </a:p>
          </p:txBody>
        </p:sp>
        <p:sp>
          <p:nvSpPr>
            <p:cNvPr id="114" name="Text Box 1053"/>
            <p:cNvSpPr txBox="1">
              <a:spLocks noChangeArrowheads="1"/>
            </p:cNvSpPr>
            <p:nvPr/>
          </p:nvSpPr>
          <p:spPr bwMode="auto">
            <a:xfrm>
              <a:off x="796925" y="5232400"/>
              <a:ext cx="327334" cy="400110"/>
            </a:xfrm>
            <a:prstGeom prst="rect">
              <a:avLst/>
            </a:prstGeom>
            <a:noFill/>
            <a:ln w="9525">
              <a:noFill/>
              <a:miter lim="800000"/>
              <a:headEnd/>
              <a:tailEnd/>
            </a:ln>
          </p:spPr>
          <p:txBody>
            <a:bodyPr wrap="none">
              <a:spAutoFit/>
            </a:bodyPr>
            <a:lstStyle/>
            <a:p>
              <a:r>
                <a:rPr lang="en-US" altLang="zh-CN" dirty="0">
                  <a:ea typeface="宋体" charset="-122"/>
                </a:rPr>
                <a:t>0</a:t>
              </a:r>
            </a:p>
          </p:txBody>
        </p:sp>
        <p:sp>
          <p:nvSpPr>
            <p:cNvPr id="115" name="Text Box 1054"/>
            <p:cNvSpPr txBox="1">
              <a:spLocks noChangeArrowheads="1"/>
            </p:cNvSpPr>
            <p:nvPr/>
          </p:nvSpPr>
          <p:spPr bwMode="auto">
            <a:xfrm>
              <a:off x="1536700" y="5265738"/>
              <a:ext cx="470000" cy="400110"/>
            </a:xfrm>
            <a:prstGeom prst="rect">
              <a:avLst/>
            </a:prstGeom>
            <a:noFill/>
            <a:ln w="9525">
              <a:noFill/>
              <a:miter lim="800000"/>
              <a:headEnd/>
              <a:tailEnd/>
            </a:ln>
          </p:spPr>
          <p:txBody>
            <a:bodyPr wrap="none">
              <a:spAutoFit/>
            </a:bodyPr>
            <a:lstStyle/>
            <a:p>
              <a:r>
                <a:rPr lang="en-US" altLang="zh-CN" dirty="0">
                  <a:ea typeface="宋体" charset="-122"/>
                </a:rPr>
                <a:t>20</a:t>
              </a:r>
            </a:p>
          </p:txBody>
        </p:sp>
        <p:sp>
          <p:nvSpPr>
            <p:cNvPr id="116" name="Text Box 1055"/>
            <p:cNvSpPr txBox="1">
              <a:spLocks noChangeArrowheads="1"/>
            </p:cNvSpPr>
            <p:nvPr/>
          </p:nvSpPr>
          <p:spPr bwMode="auto">
            <a:xfrm>
              <a:off x="2339975" y="5291138"/>
              <a:ext cx="470000" cy="400110"/>
            </a:xfrm>
            <a:prstGeom prst="rect">
              <a:avLst/>
            </a:prstGeom>
            <a:noFill/>
            <a:ln w="9525">
              <a:noFill/>
              <a:miter lim="800000"/>
              <a:headEnd/>
              <a:tailEnd/>
            </a:ln>
          </p:spPr>
          <p:txBody>
            <a:bodyPr wrap="none">
              <a:spAutoFit/>
            </a:bodyPr>
            <a:lstStyle/>
            <a:p>
              <a:r>
                <a:rPr lang="en-US" altLang="zh-CN" dirty="0">
                  <a:ea typeface="宋体" charset="-122"/>
                </a:rPr>
                <a:t>40</a:t>
              </a:r>
            </a:p>
          </p:txBody>
        </p:sp>
        <p:sp>
          <p:nvSpPr>
            <p:cNvPr id="117" name="Text Box 1056"/>
            <p:cNvSpPr txBox="1">
              <a:spLocks noChangeArrowheads="1"/>
            </p:cNvSpPr>
            <p:nvPr/>
          </p:nvSpPr>
          <p:spPr bwMode="auto">
            <a:xfrm>
              <a:off x="3203575" y="5291138"/>
              <a:ext cx="470000" cy="400110"/>
            </a:xfrm>
            <a:prstGeom prst="rect">
              <a:avLst/>
            </a:prstGeom>
            <a:noFill/>
            <a:ln w="9525">
              <a:noFill/>
              <a:miter lim="800000"/>
              <a:headEnd/>
              <a:tailEnd/>
            </a:ln>
          </p:spPr>
          <p:txBody>
            <a:bodyPr wrap="none">
              <a:spAutoFit/>
            </a:bodyPr>
            <a:lstStyle/>
            <a:p>
              <a:r>
                <a:rPr lang="en-US" altLang="zh-CN" dirty="0">
                  <a:ea typeface="宋体" charset="-122"/>
                </a:rPr>
                <a:t>60</a:t>
              </a:r>
            </a:p>
          </p:txBody>
        </p:sp>
        <p:sp>
          <p:nvSpPr>
            <p:cNvPr id="118" name="Text Box 1057"/>
            <p:cNvSpPr txBox="1">
              <a:spLocks noChangeArrowheads="1"/>
            </p:cNvSpPr>
            <p:nvPr/>
          </p:nvSpPr>
          <p:spPr bwMode="auto">
            <a:xfrm>
              <a:off x="3924300" y="5291138"/>
              <a:ext cx="470000" cy="400110"/>
            </a:xfrm>
            <a:prstGeom prst="rect">
              <a:avLst/>
            </a:prstGeom>
            <a:noFill/>
            <a:ln w="9525">
              <a:noFill/>
              <a:miter lim="800000"/>
              <a:headEnd/>
              <a:tailEnd/>
            </a:ln>
          </p:spPr>
          <p:txBody>
            <a:bodyPr wrap="none">
              <a:spAutoFit/>
            </a:bodyPr>
            <a:lstStyle/>
            <a:p>
              <a:r>
                <a:rPr lang="en-US" altLang="zh-CN">
                  <a:ea typeface="宋体" charset="-122"/>
                </a:rPr>
                <a:t>80</a:t>
              </a:r>
            </a:p>
          </p:txBody>
        </p:sp>
        <p:sp>
          <p:nvSpPr>
            <p:cNvPr id="119" name="Text Box 1058"/>
            <p:cNvSpPr txBox="1">
              <a:spLocks noChangeArrowheads="1"/>
            </p:cNvSpPr>
            <p:nvPr/>
          </p:nvSpPr>
          <p:spPr bwMode="auto">
            <a:xfrm>
              <a:off x="4489450" y="5291138"/>
              <a:ext cx="612668" cy="400110"/>
            </a:xfrm>
            <a:prstGeom prst="rect">
              <a:avLst/>
            </a:prstGeom>
            <a:noFill/>
            <a:ln w="9525">
              <a:noFill/>
              <a:miter lim="800000"/>
              <a:headEnd/>
              <a:tailEnd/>
            </a:ln>
          </p:spPr>
          <p:txBody>
            <a:bodyPr wrap="none">
              <a:spAutoFit/>
            </a:bodyPr>
            <a:lstStyle/>
            <a:p>
              <a:r>
                <a:rPr lang="en-US" altLang="zh-CN">
                  <a:ea typeface="宋体" charset="-122"/>
                </a:rPr>
                <a:t>100</a:t>
              </a:r>
            </a:p>
          </p:txBody>
        </p:sp>
        <p:sp>
          <p:nvSpPr>
            <p:cNvPr id="120" name="Text Box 1059"/>
            <p:cNvSpPr txBox="1">
              <a:spLocks noChangeArrowheads="1"/>
            </p:cNvSpPr>
            <p:nvPr/>
          </p:nvSpPr>
          <p:spPr bwMode="auto">
            <a:xfrm>
              <a:off x="5281613" y="5291138"/>
              <a:ext cx="612668" cy="400110"/>
            </a:xfrm>
            <a:prstGeom prst="rect">
              <a:avLst/>
            </a:prstGeom>
            <a:noFill/>
            <a:ln w="9525">
              <a:noFill/>
              <a:miter lim="800000"/>
              <a:headEnd/>
              <a:tailEnd/>
            </a:ln>
          </p:spPr>
          <p:txBody>
            <a:bodyPr wrap="none">
              <a:spAutoFit/>
            </a:bodyPr>
            <a:lstStyle/>
            <a:p>
              <a:r>
                <a:rPr lang="en-US" altLang="zh-CN" dirty="0">
                  <a:ea typeface="宋体" charset="-122"/>
                </a:rPr>
                <a:t>120</a:t>
              </a:r>
            </a:p>
          </p:txBody>
        </p:sp>
        <p:sp>
          <p:nvSpPr>
            <p:cNvPr id="121" name="Text Box 1060"/>
            <p:cNvSpPr txBox="1">
              <a:spLocks noChangeArrowheads="1"/>
            </p:cNvSpPr>
            <p:nvPr/>
          </p:nvSpPr>
          <p:spPr bwMode="auto">
            <a:xfrm>
              <a:off x="6011863" y="5291138"/>
              <a:ext cx="612668" cy="400110"/>
            </a:xfrm>
            <a:prstGeom prst="rect">
              <a:avLst/>
            </a:prstGeom>
            <a:noFill/>
            <a:ln w="9525">
              <a:noFill/>
              <a:miter lim="800000"/>
              <a:headEnd/>
              <a:tailEnd/>
            </a:ln>
          </p:spPr>
          <p:txBody>
            <a:bodyPr wrap="none">
              <a:spAutoFit/>
            </a:bodyPr>
            <a:lstStyle/>
            <a:p>
              <a:r>
                <a:rPr lang="en-US" altLang="zh-CN" dirty="0">
                  <a:ea typeface="宋体" charset="-122"/>
                </a:rPr>
                <a:t>140</a:t>
              </a:r>
            </a:p>
          </p:txBody>
        </p:sp>
        <p:sp>
          <p:nvSpPr>
            <p:cNvPr id="122" name="Text Box 1061"/>
            <p:cNvSpPr txBox="1">
              <a:spLocks noChangeArrowheads="1"/>
            </p:cNvSpPr>
            <p:nvPr/>
          </p:nvSpPr>
          <p:spPr bwMode="auto">
            <a:xfrm>
              <a:off x="6804025" y="5291138"/>
              <a:ext cx="612668" cy="400110"/>
            </a:xfrm>
            <a:prstGeom prst="rect">
              <a:avLst/>
            </a:prstGeom>
            <a:noFill/>
            <a:ln w="9525">
              <a:noFill/>
              <a:miter lim="800000"/>
              <a:headEnd/>
              <a:tailEnd/>
            </a:ln>
          </p:spPr>
          <p:txBody>
            <a:bodyPr wrap="none">
              <a:spAutoFit/>
            </a:bodyPr>
            <a:lstStyle/>
            <a:p>
              <a:r>
                <a:rPr lang="en-US" altLang="zh-CN" dirty="0">
                  <a:ea typeface="宋体" charset="-122"/>
                </a:rPr>
                <a:t>160</a:t>
              </a:r>
            </a:p>
          </p:txBody>
        </p:sp>
        <p:sp>
          <p:nvSpPr>
            <p:cNvPr id="123" name="Text Box 1062"/>
            <p:cNvSpPr txBox="1">
              <a:spLocks noChangeArrowheads="1"/>
            </p:cNvSpPr>
            <p:nvPr/>
          </p:nvSpPr>
          <p:spPr bwMode="auto">
            <a:xfrm>
              <a:off x="8316913" y="5003800"/>
              <a:ext cx="255198" cy="400110"/>
            </a:xfrm>
            <a:prstGeom prst="rect">
              <a:avLst/>
            </a:prstGeom>
            <a:noFill/>
            <a:ln w="9525">
              <a:noFill/>
              <a:miter lim="800000"/>
              <a:headEnd/>
              <a:tailEnd/>
            </a:ln>
          </p:spPr>
          <p:txBody>
            <a:bodyPr wrap="none">
              <a:spAutoFit/>
            </a:bodyPr>
            <a:lstStyle/>
            <a:p>
              <a:r>
                <a:rPr lang="en-US" altLang="zh-CN">
                  <a:ea typeface="宋体" charset="-122"/>
                </a:rPr>
                <a:t>t</a:t>
              </a:r>
            </a:p>
          </p:txBody>
        </p:sp>
      </p:grpSp>
      <p:sp>
        <p:nvSpPr>
          <p:cNvPr id="124" name="Text Box 1063"/>
          <p:cNvSpPr txBox="1">
            <a:spLocks noChangeArrowheads="1"/>
          </p:cNvSpPr>
          <p:nvPr/>
        </p:nvSpPr>
        <p:spPr bwMode="auto">
          <a:xfrm>
            <a:off x="4308475" y="3581400"/>
            <a:ext cx="3419526" cy="400110"/>
          </a:xfrm>
          <a:prstGeom prst="rect">
            <a:avLst/>
          </a:prstGeom>
          <a:noFill/>
          <a:ln w="9525">
            <a:noFill/>
            <a:miter lim="800000"/>
            <a:headEnd/>
            <a:tailEnd/>
          </a:ln>
        </p:spPr>
        <p:txBody>
          <a:bodyPr wrap="none">
            <a:spAutoFit/>
          </a:bodyPr>
          <a:lstStyle/>
          <a:p>
            <a:r>
              <a:rPr lang="en-US" altLang="zh-CN" dirty="0">
                <a:ea typeface="宋体" charset="-122"/>
              </a:rPr>
              <a:t>A/B</a:t>
            </a:r>
            <a:r>
              <a:rPr lang="zh-CN" altLang="en-US" dirty="0">
                <a:ea typeface="宋体" charset="-122"/>
              </a:rPr>
              <a:t>任务每次必须完成的时间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childTnLst>
                                </p:cTn>
                              </p:par>
                            </p:childTnLst>
                          </p:cTn>
                        </p:par>
                        <p:par>
                          <p:cTn id="7" fill="hold">
                            <p:stCondLst>
                              <p:cond delay="0"/>
                            </p:stCondLst>
                            <p:childTnLst>
                              <p:par>
                                <p:cTn id="8" presetID="18" presetClass="entr" presetSubtype="3" fill="hold" grpId="0" nodeType="afterEffect">
                                  <p:stCondLst>
                                    <p:cond delay="0"/>
                                  </p:stCondLst>
                                  <p:childTnLst>
                                    <p:set>
                                      <p:cBhvr>
                                        <p:cTn id="9" dur="1" fill="hold">
                                          <p:stCondLst>
                                            <p:cond delay="0"/>
                                          </p:stCondLst>
                                        </p:cTn>
                                        <p:tgtEl>
                                          <p:spTgt spid="41989"/>
                                        </p:tgtEl>
                                        <p:attrNameLst>
                                          <p:attrName>style.visibility</p:attrName>
                                        </p:attrNameLst>
                                      </p:cBhvr>
                                      <p:to>
                                        <p:strVal val="visible"/>
                                      </p:to>
                                    </p:set>
                                    <p:animEffect transition="in" filter="strips(upRight)">
                                      <p:cBhvr>
                                        <p:cTn id="10" dur="1000"/>
                                        <p:tgtEl>
                                          <p:spTgt spid="4198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2004"/>
                                        </p:tgtEl>
                                        <p:attrNameLst>
                                          <p:attrName>style.visibility</p:attrName>
                                        </p:attrNameLst>
                                      </p:cBhvr>
                                      <p:to>
                                        <p:strVal val="visible"/>
                                      </p:to>
                                    </p:set>
                                    <p:animEffect transition="in" filter="blinds(horizontal)">
                                      <p:cBhvr>
                                        <p:cTn id="13" dur="500"/>
                                        <p:tgtEl>
                                          <p:spTgt spid="4200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1990"/>
                                        </p:tgtEl>
                                        <p:attrNameLst>
                                          <p:attrName>style.visibility</p:attrName>
                                        </p:attrNameLst>
                                      </p:cBhvr>
                                      <p:to>
                                        <p:strVal val="visible"/>
                                      </p:to>
                                    </p:set>
                                  </p:childTnLst>
                                </p:cTn>
                              </p:par>
                            </p:childTnLst>
                          </p:cTn>
                        </p:par>
                        <p:par>
                          <p:cTn id="18" fill="hold">
                            <p:stCondLst>
                              <p:cond delay="0"/>
                            </p:stCondLst>
                            <p:childTnLst>
                              <p:par>
                                <p:cTn id="19" presetID="12" presetClass="entr" presetSubtype="8" fill="hold" grpId="0" nodeType="afterEffect">
                                  <p:stCondLst>
                                    <p:cond delay="0"/>
                                  </p:stCondLst>
                                  <p:childTnLst>
                                    <p:set>
                                      <p:cBhvr>
                                        <p:cTn id="20" dur="1" fill="hold">
                                          <p:stCondLst>
                                            <p:cond delay="0"/>
                                          </p:stCondLst>
                                        </p:cTn>
                                        <p:tgtEl>
                                          <p:spTgt spid="41991"/>
                                        </p:tgtEl>
                                        <p:attrNameLst>
                                          <p:attrName>style.visibility</p:attrName>
                                        </p:attrNameLst>
                                      </p:cBhvr>
                                      <p:to>
                                        <p:strVal val="visible"/>
                                      </p:to>
                                    </p:set>
                                    <p:animEffect transition="in" filter="slide(fromLeft)">
                                      <p:cBhvr>
                                        <p:cTn id="21" dur="1000"/>
                                        <p:tgtEl>
                                          <p:spTgt spid="4199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2019"/>
                                        </p:tgtEl>
                                        <p:attrNameLst>
                                          <p:attrName>style.visibility</p:attrName>
                                        </p:attrNameLst>
                                      </p:cBhvr>
                                      <p:to>
                                        <p:strVal val="visible"/>
                                      </p:to>
                                    </p:set>
                                    <p:animEffect transition="in" filter="blinds(horizontal)">
                                      <p:cBhvr>
                                        <p:cTn id="24" dur="500"/>
                                        <p:tgtEl>
                                          <p:spTgt spid="4201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992"/>
                                        </p:tgtEl>
                                        <p:attrNameLst>
                                          <p:attrName>style.visibility</p:attrName>
                                        </p:attrNameLst>
                                      </p:cBhvr>
                                      <p:to>
                                        <p:strVal val="visible"/>
                                      </p:to>
                                    </p:set>
                                  </p:childTnLst>
                                </p:cTn>
                              </p:par>
                            </p:childTnLst>
                          </p:cTn>
                        </p:par>
                        <p:par>
                          <p:cTn id="29" fill="hold">
                            <p:stCondLst>
                              <p:cond delay="0"/>
                            </p:stCondLst>
                            <p:childTnLst>
                              <p:par>
                                <p:cTn id="30" presetID="12" presetClass="entr" presetSubtype="8" fill="hold" grpId="0" nodeType="afterEffect">
                                  <p:stCondLst>
                                    <p:cond delay="0"/>
                                  </p:stCondLst>
                                  <p:childTnLst>
                                    <p:set>
                                      <p:cBhvr>
                                        <p:cTn id="31" dur="1" fill="hold">
                                          <p:stCondLst>
                                            <p:cond delay="0"/>
                                          </p:stCondLst>
                                        </p:cTn>
                                        <p:tgtEl>
                                          <p:spTgt spid="41993"/>
                                        </p:tgtEl>
                                        <p:attrNameLst>
                                          <p:attrName>style.visibility</p:attrName>
                                        </p:attrNameLst>
                                      </p:cBhvr>
                                      <p:to>
                                        <p:strVal val="visible"/>
                                      </p:to>
                                    </p:set>
                                    <p:animEffect transition="in" filter="slide(fromLeft)">
                                      <p:cBhvr>
                                        <p:cTn id="32" dur="1000"/>
                                        <p:tgtEl>
                                          <p:spTgt spid="4199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42005"/>
                                        </p:tgtEl>
                                        <p:attrNameLst>
                                          <p:attrName>style.visibility</p:attrName>
                                        </p:attrNameLst>
                                      </p:cBhvr>
                                      <p:to>
                                        <p:strVal val="visible"/>
                                      </p:to>
                                    </p:set>
                                    <p:animEffect transition="in" filter="blinds(horizontal)">
                                      <p:cBhvr>
                                        <p:cTn id="35" dur="500"/>
                                        <p:tgtEl>
                                          <p:spTgt spid="42005"/>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1994"/>
                                        </p:tgtEl>
                                        <p:attrNameLst>
                                          <p:attrName>style.visibility</p:attrName>
                                        </p:attrNameLst>
                                      </p:cBhvr>
                                      <p:to>
                                        <p:strVal val="visible"/>
                                      </p:to>
                                    </p:set>
                                  </p:childTnLst>
                                </p:cTn>
                              </p:par>
                            </p:childTnLst>
                          </p:cTn>
                        </p:par>
                        <p:par>
                          <p:cTn id="40" fill="hold">
                            <p:stCondLst>
                              <p:cond delay="0"/>
                            </p:stCondLst>
                            <p:childTnLst>
                              <p:par>
                                <p:cTn id="41" presetID="12" presetClass="entr" presetSubtype="8" fill="hold" grpId="0" nodeType="afterEffect">
                                  <p:stCondLst>
                                    <p:cond delay="0"/>
                                  </p:stCondLst>
                                  <p:childTnLst>
                                    <p:set>
                                      <p:cBhvr>
                                        <p:cTn id="42" dur="1" fill="hold">
                                          <p:stCondLst>
                                            <p:cond delay="0"/>
                                          </p:stCondLst>
                                        </p:cTn>
                                        <p:tgtEl>
                                          <p:spTgt spid="41995"/>
                                        </p:tgtEl>
                                        <p:attrNameLst>
                                          <p:attrName>style.visibility</p:attrName>
                                        </p:attrNameLst>
                                      </p:cBhvr>
                                      <p:to>
                                        <p:strVal val="visible"/>
                                      </p:to>
                                    </p:set>
                                    <p:animEffect transition="in" filter="slide(fromLeft)">
                                      <p:cBhvr>
                                        <p:cTn id="43" dur="1000"/>
                                        <p:tgtEl>
                                          <p:spTgt spid="4199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2020"/>
                                        </p:tgtEl>
                                        <p:attrNameLst>
                                          <p:attrName>style.visibility</p:attrName>
                                        </p:attrNameLst>
                                      </p:cBhvr>
                                      <p:to>
                                        <p:strVal val="visible"/>
                                      </p:to>
                                    </p:set>
                                    <p:animEffect transition="in" filter="blinds(horizontal)">
                                      <p:cBhvr>
                                        <p:cTn id="46" dur="500"/>
                                        <p:tgtEl>
                                          <p:spTgt spid="42020"/>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996"/>
                                        </p:tgtEl>
                                        <p:attrNameLst>
                                          <p:attrName>style.visibility</p:attrName>
                                        </p:attrNameLst>
                                      </p:cBhvr>
                                      <p:to>
                                        <p:strVal val="visible"/>
                                      </p:to>
                                    </p:set>
                                  </p:childTnLst>
                                </p:cTn>
                              </p:par>
                            </p:childTnLst>
                          </p:cTn>
                        </p:par>
                        <p:par>
                          <p:cTn id="51" fill="hold">
                            <p:stCondLst>
                              <p:cond delay="0"/>
                            </p:stCondLst>
                            <p:childTnLst>
                              <p:par>
                                <p:cTn id="52" presetID="12" presetClass="entr" presetSubtype="8" fill="hold" grpId="0" nodeType="afterEffect">
                                  <p:stCondLst>
                                    <p:cond delay="0"/>
                                  </p:stCondLst>
                                  <p:childTnLst>
                                    <p:set>
                                      <p:cBhvr>
                                        <p:cTn id="53" dur="1" fill="hold">
                                          <p:stCondLst>
                                            <p:cond delay="0"/>
                                          </p:stCondLst>
                                        </p:cTn>
                                        <p:tgtEl>
                                          <p:spTgt spid="41997"/>
                                        </p:tgtEl>
                                        <p:attrNameLst>
                                          <p:attrName>style.visibility</p:attrName>
                                        </p:attrNameLst>
                                      </p:cBhvr>
                                      <p:to>
                                        <p:strVal val="visible"/>
                                      </p:to>
                                    </p:set>
                                    <p:animEffect transition="in" filter="slide(fromLeft)">
                                      <p:cBhvr>
                                        <p:cTn id="54" dur="1000"/>
                                        <p:tgtEl>
                                          <p:spTgt spid="41997"/>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2006"/>
                                        </p:tgtEl>
                                        <p:attrNameLst>
                                          <p:attrName>style.visibility</p:attrName>
                                        </p:attrNameLst>
                                      </p:cBhvr>
                                      <p:to>
                                        <p:strVal val="visible"/>
                                      </p:to>
                                    </p:set>
                                    <p:animEffect transition="in" filter="blinds(horizontal)">
                                      <p:cBhvr>
                                        <p:cTn id="57" dur="500"/>
                                        <p:tgtEl>
                                          <p:spTgt spid="42006"/>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1998"/>
                                        </p:tgtEl>
                                        <p:attrNameLst>
                                          <p:attrName>style.visibility</p:attrName>
                                        </p:attrNameLst>
                                      </p:cBhvr>
                                      <p:to>
                                        <p:strVal val="visible"/>
                                      </p:to>
                                    </p:set>
                                  </p:childTnLst>
                                </p:cTn>
                              </p:par>
                            </p:childTnLst>
                          </p:cTn>
                        </p:par>
                        <p:par>
                          <p:cTn id="62" fill="hold">
                            <p:stCondLst>
                              <p:cond delay="0"/>
                            </p:stCondLst>
                            <p:childTnLst>
                              <p:par>
                                <p:cTn id="63" presetID="12" presetClass="entr" presetSubtype="8" fill="hold" grpId="0" nodeType="afterEffect">
                                  <p:stCondLst>
                                    <p:cond delay="0"/>
                                  </p:stCondLst>
                                  <p:childTnLst>
                                    <p:set>
                                      <p:cBhvr>
                                        <p:cTn id="64" dur="1" fill="hold">
                                          <p:stCondLst>
                                            <p:cond delay="0"/>
                                          </p:stCondLst>
                                        </p:cTn>
                                        <p:tgtEl>
                                          <p:spTgt spid="41999"/>
                                        </p:tgtEl>
                                        <p:attrNameLst>
                                          <p:attrName>style.visibility</p:attrName>
                                        </p:attrNameLst>
                                      </p:cBhvr>
                                      <p:to>
                                        <p:strVal val="visible"/>
                                      </p:to>
                                    </p:set>
                                    <p:animEffect transition="in" filter="slide(fromLeft)">
                                      <p:cBhvr>
                                        <p:cTn id="65" dur="1000"/>
                                        <p:tgtEl>
                                          <p:spTgt spid="41999"/>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42021"/>
                                        </p:tgtEl>
                                        <p:attrNameLst>
                                          <p:attrName>style.visibility</p:attrName>
                                        </p:attrNameLst>
                                      </p:cBhvr>
                                      <p:to>
                                        <p:strVal val="visible"/>
                                      </p:to>
                                    </p:set>
                                    <p:animEffect transition="in" filter="blinds(horizontal)">
                                      <p:cBhvr>
                                        <p:cTn id="68" dur="500"/>
                                        <p:tgtEl>
                                          <p:spTgt spid="42021"/>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2000"/>
                                        </p:tgtEl>
                                        <p:attrNameLst>
                                          <p:attrName>style.visibility</p:attrName>
                                        </p:attrNameLst>
                                      </p:cBhvr>
                                      <p:to>
                                        <p:strVal val="visible"/>
                                      </p:to>
                                    </p:set>
                                  </p:childTnLst>
                                </p:cTn>
                              </p:par>
                            </p:childTnLst>
                          </p:cTn>
                        </p:par>
                        <p:par>
                          <p:cTn id="73" fill="hold">
                            <p:stCondLst>
                              <p:cond delay="0"/>
                            </p:stCondLst>
                            <p:childTnLst>
                              <p:par>
                                <p:cTn id="74" presetID="12" presetClass="entr" presetSubtype="8" fill="hold" grpId="0" nodeType="afterEffect">
                                  <p:stCondLst>
                                    <p:cond delay="0"/>
                                  </p:stCondLst>
                                  <p:childTnLst>
                                    <p:set>
                                      <p:cBhvr>
                                        <p:cTn id="75" dur="1" fill="hold">
                                          <p:stCondLst>
                                            <p:cond delay="0"/>
                                          </p:stCondLst>
                                        </p:cTn>
                                        <p:tgtEl>
                                          <p:spTgt spid="42001"/>
                                        </p:tgtEl>
                                        <p:attrNameLst>
                                          <p:attrName>style.visibility</p:attrName>
                                        </p:attrNameLst>
                                      </p:cBhvr>
                                      <p:to>
                                        <p:strVal val="visible"/>
                                      </p:to>
                                    </p:set>
                                    <p:animEffect transition="in" filter="slide(fromLeft)">
                                      <p:cBhvr>
                                        <p:cTn id="76" dur="1000"/>
                                        <p:tgtEl>
                                          <p:spTgt spid="42001"/>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42007"/>
                                        </p:tgtEl>
                                        <p:attrNameLst>
                                          <p:attrName>style.visibility</p:attrName>
                                        </p:attrNameLst>
                                      </p:cBhvr>
                                      <p:to>
                                        <p:strVal val="visible"/>
                                      </p:to>
                                    </p:set>
                                    <p:animEffect transition="in" filter="blinds(horizontal)">
                                      <p:cBhvr>
                                        <p:cTn id="79" dur="500"/>
                                        <p:tgtEl>
                                          <p:spTgt spid="4200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2002"/>
                                        </p:tgtEl>
                                        <p:attrNameLst>
                                          <p:attrName>style.visibility</p:attrName>
                                        </p:attrNameLst>
                                      </p:cBhvr>
                                      <p:to>
                                        <p:strVal val="visible"/>
                                      </p:to>
                                    </p:set>
                                  </p:childTnLst>
                                </p:cTn>
                              </p:par>
                            </p:childTnLst>
                          </p:cTn>
                        </p:par>
                        <p:par>
                          <p:cTn id="84" fill="hold">
                            <p:stCondLst>
                              <p:cond delay="0"/>
                            </p:stCondLst>
                            <p:childTnLst>
                              <p:par>
                                <p:cTn id="85" presetID="12" presetClass="entr" presetSubtype="8" fill="hold" grpId="0" nodeType="afterEffect">
                                  <p:stCondLst>
                                    <p:cond delay="0"/>
                                  </p:stCondLst>
                                  <p:childTnLst>
                                    <p:set>
                                      <p:cBhvr>
                                        <p:cTn id="86" dur="1" fill="hold">
                                          <p:stCondLst>
                                            <p:cond delay="0"/>
                                          </p:stCondLst>
                                        </p:cTn>
                                        <p:tgtEl>
                                          <p:spTgt spid="42003"/>
                                        </p:tgtEl>
                                        <p:attrNameLst>
                                          <p:attrName>style.visibility</p:attrName>
                                        </p:attrNameLst>
                                      </p:cBhvr>
                                      <p:to>
                                        <p:strVal val="visible"/>
                                      </p:to>
                                    </p:set>
                                    <p:animEffect transition="in" filter="slide(fromLeft)">
                                      <p:cBhvr>
                                        <p:cTn id="87" dur="1000"/>
                                        <p:tgtEl>
                                          <p:spTgt spid="42003"/>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42022"/>
                                        </p:tgtEl>
                                        <p:attrNameLst>
                                          <p:attrName>style.visibility</p:attrName>
                                        </p:attrNameLst>
                                      </p:cBhvr>
                                      <p:to>
                                        <p:strVal val="visible"/>
                                      </p:to>
                                    </p:set>
                                    <p:animEffect transition="in" filter="blinds(horizontal)">
                                      <p:cBhvr>
                                        <p:cTn id="90" dur="500"/>
                                        <p:tgtEl>
                                          <p:spTgt spid="42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p:bldP spid="41989" grpId="0" animBg="1"/>
      <p:bldP spid="41990" grpId="0" animBg="1"/>
      <p:bldP spid="41991" grpId="0" animBg="1"/>
      <p:bldP spid="41992" grpId="0" animBg="1"/>
      <p:bldP spid="41993" grpId="0" animBg="1"/>
      <p:bldP spid="41994" grpId="0" animBg="1"/>
      <p:bldP spid="41995" grpId="0" animBg="1"/>
      <p:bldP spid="41996" grpId="0" animBg="1"/>
      <p:bldP spid="41997" grpId="0" animBg="1"/>
      <p:bldP spid="41998" grpId="0" animBg="1"/>
      <p:bldP spid="41999" grpId="0" animBg="1"/>
      <p:bldP spid="42000" grpId="0" animBg="1"/>
      <p:bldP spid="42001" grpId="0" animBg="1"/>
      <p:bldP spid="42002" grpId="0" animBg="1"/>
      <p:bldP spid="42003" grpId="0" animBg="1"/>
      <p:bldP spid="42004" grpId="0"/>
      <p:bldP spid="42005" grpId="0"/>
      <p:bldP spid="42006" grpId="0"/>
      <p:bldP spid="42007" grpId="0"/>
      <p:bldP spid="42019" grpId="0"/>
      <p:bldP spid="42020" grpId="0"/>
      <p:bldP spid="42021" grpId="0"/>
      <p:bldP spid="42022" grpId="0"/>
    </p:bldLst>
  </p:timing>
</p:sld>
</file>

<file path=ppt/theme/theme1.xml><?xml version="1.0" encoding="utf-8"?>
<a:theme xmlns:a="http://schemas.openxmlformats.org/drawingml/2006/main" name="2003 Template and Tutorial">
  <a:themeElements>
    <a:clrScheme name="">
      <a:dk1>
        <a:srgbClr val="000000"/>
      </a:dk1>
      <a:lt1>
        <a:srgbClr val="FFFFFF"/>
      </a:lt1>
      <a:dk2>
        <a:srgbClr val="002B73"/>
      </a:dk2>
      <a:lt2>
        <a:srgbClr val="B2B2B2"/>
      </a:lt2>
      <a:accent1>
        <a:srgbClr val="F7CF65"/>
      </a:accent1>
      <a:accent2>
        <a:srgbClr val="C63C21"/>
      </a:accent2>
      <a:accent3>
        <a:srgbClr val="FFFFFF"/>
      </a:accent3>
      <a:accent4>
        <a:srgbClr val="000000"/>
      </a:accent4>
      <a:accent5>
        <a:srgbClr val="FAE4B8"/>
      </a:accent5>
      <a:accent6>
        <a:srgbClr val="B3351D"/>
      </a:accent6>
      <a:hlink>
        <a:srgbClr val="4A73D0"/>
      </a:hlink>
      <a:folHlink>
        <a:srgbClr val="C6D2F0"/>
      </a:folHlink>
    </a:clrScheme>
    <a:fontScheme name="2003 Template and Tutorial">
      <a:majorFont>
        <a:latin typeface="Times New Roman"/>
        <a:ea typeface="仿宋_GB2312"/>
        <a:cs typeface=""/>
      </a:majorFont>
      <a:minorFont>
        <a:latin typeface="Times New Roman"/>
        <a:ea typeface="仿宋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2003 Template and Tutori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003 Template and Tutori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003 Template and Tutori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003 Template and Tutori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003 Template and Tutori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003 Template and Tutori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003 Template and Tutori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Settings\leblad\My Documents\2003 template\2003 Template and Tutorial.pot</Template>
  <TotalTime>9956</TotalTime>
  <Words>4336</Words>
  <Application>Microsoft Office PowerPoint</Application>
  <PresentationFormat>宽屏</PresentationFormat>
  <Paragraphs>1051</Paragraphs>
  <Slides>46</Slides>
  <Notes>14</Notes>
  <HiddenSlides>2</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58" baseType="lpstr">
      <vt:lpstr>楷体_GB2312</vt:lpstr>
      <vt:lpstr>隶书</vt:lpstr>
      <vt:lpstr>宋体</vt:lpstr>
      <vt:lpstr>Arial</vt:lpstr>
      <vt:lpstr>Courier New</vt:lpstr>
      <vt:lpstr>Tahoma</vt:lpstr>
      <vt:lpstr>Times</vt:lpstr>
      <vt:lpstr>Times New Roman</vt:lpstr>
      <vt:lpstr>Wingdings</vt:lpstr>
      <vt:lpstr>2003 Template and Tutorial</vt:lpstr>
      <vt:lpstr>Equation</vt:lpstr>
      <vt:lpstr>公式</vt:lpstr>
      <vt:lpstr>PowerPoint 演示文稿</vt:lpstr>
      <vt:lpstr>PowerPoint 演示文稿</vt:lpstr>
      <vt:lpstr>PowerPoint 演示文稿</vt:lpstr>
      <vt:lpstr>PowerPoint 演示文稿</vt:lpstr>
      <vt:lpstr>PowerPoint 演示文稿</vt:lpstr>
      <vt:lpstr>先来先服务和短作业优先算法</vt:lpstr>
      <vt:lpstr>先来先服务和短作业优先算法</vt:lpstr>
      <vt:lpstr>高响应比优先调度算法</vt:lpstr>
      <vt:lpstr>高响应比优先调度算法</vt:lpstr>
      <vt:lpstr>高优先权优先（HPF，Highest Priority First）调度算法</vt:lpstr>
      <vt:lpstr>高优先权优先（HPF，Highest Priority First）调度算法</vt:lpstr>
      <vt:lpstr>高优先权优先（HPF，Highest Priority First）调度算法</vt:lpstr>
      <vt:lpstr>高优先权优先调度算法</vt:lpstr>
      <vt:lpstr>高优先权优先调度算法</vt:lpstr>
      <vt:lpstr>PowerPoint 演示文稿</vt:lpstr>
      <vt:lpstr>高优先权优先调度算法</vt:lpstr>
      <vt:lpstr>PowerPoint 演示文稿</vt:lpstr>
      <vt:lpstr>PowerPoint 演示文稿</vt:lpstr>
      <vt:lpstr>练  习  </vt:lpstr>
      <vt:lpstr>PowerPoint 演示文稿</vt:lpstr>
      <vt:lpstr>PowerPoint 演示文稿</vt:lpstr>
      <vt:lpstr>PowerPoint 演示文稿</vt:lpstr>
      <vt:lpstr>基于时间片的轮转调度算法</vt:lpstr>
      <vt:lpstr>基于时间片的轮转调度算法</vt:lpstr>
      <vt:lpstr>基于时间片的轮转调度算法</vt:lpstr>
      <vt:lpstr>基于时间片的轮转调度算法</vt:lpstr>
      <vt:lpstr>PowerPoint 演示文稿</vt:lpstr>
      <vt:lpstr>PowerPoint 演示文稿</vt:lpstr>
      <vt:lpstr>多级反馈队列调度算法</vt:lpstr>
      <vt:lpstr>多级反馈队列调度算法</vt:lpstr>
      <vt:lpstr>多级反馈队列调度算法</vt:lpstr>
      <vt:lpstr>多级反馈队列调度算法</vt:lpstr>
      <vt:lpstr>几种进程调度算法总结</vt:lpstr>
      <vt:lpstr>其他调度算法</vt:lpstr>
      <vt:lpstr>其他调度算法</vt:lpstr>
      <vt:lpstr>实时调度</vt:lpstr>
      <vt:lpstr>实时调度</vt:lpstr>
      <vt:lpstr>PowerPoint 演示文稿</vt:lpstr>
      <vt:lpstr>PowerPoint 演示文稿</vt:lpstr>
      <vt:lpstr>PowerPoint 演示文稿</vt:lpstr>
      <vt:lpstr>PowerPoint 演示文稿</vt:lpstr>
      <vt:lpstr>PowerPoint 演示文稿</vt:lpstr>
      <vt:lpstr>常用的几种实时调度算法</vt:lpstr>
      <vt:lpstr>最早截止时间优先EDF例</vt:lpstr>
      <vt:lpstr>最低松弛度优先LLF算法</vt:lpstr>
      <vt:lpstr>最低松弛度优先LLF算法</vt:lpstr>
    </vt:vector>
  </TitlesOfParts>
  <Company>EMC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EMC Business Continuance</dc:title>
  <dc:creator>Cal Webb/Dave Rabinowitz</dc:creator>
  <dc:description>Version 2.0 - Cal Webb owner</dc:description>
  <cp:lastModifiedBy>阳莹 王</cp:lastModifiedBy>
  <cp:revision>696</cp:revision>
  <cp:lastPrinted>2001-03-14T15:52:57Z</cp:lastPrinted>
  <dcterms:created xsi:type="dcterms:W3CDTF">2002-01-14T16:49:47Z</dcterms:created>
  <dcterms:modified xsi:type="dcterms:W3CDTF">2024-04-02T01:18:03Z</dcterms:modified>
</cp:coreProperties>
</file>